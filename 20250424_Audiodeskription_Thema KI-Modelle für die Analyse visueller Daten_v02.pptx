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3"/>
  </p:notesMasterIdLst>
  <p:sldIdLst>
    <p:sldId id="256" r:id="rId2"/>
    <p:sldId id="287" r:id="rId3"/>
    <p:sldId id="266" r:id="rId4"/>
    <p:sldId id="288" r:id="rId5"/>
    <p:sldId id="283" r:id="rId6"/>
    <p:sldId id="289" r:id="rId7"/>
    <p:sldId id="290" r:id="rId8"/>
    <p:sldId id="275" r:id="rId9"/>
    <p:sldId id="271" r:id="rId10"/>
    <p:sldId id="285"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8086"/>
    <a:srgbClr val="488A88"/>
    <a:srgbClr val="424456"/>
    <a:srgbClr val="F6DC40"/>
    <a:srgbClr val="FFFF4F"/>
    <a:srgbClr val="C3E74F"/>
    <a:srgbClr val="72AF2F"/>
    <a:srgbClr val="5A8B25"/>
    <a:srgbClr val="FD2F2F"/>
    <a:srgbClr val="0025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157" autoAdjust="0"/>
    <p:restoredTop sz="96604" autoAdjust="0"/>
  </p:normalViewPr>
  <p:slideViewPr>
    <p:cSldViewPr>
      <p:cViewPr>
        <p:scale>
          <a:sx n="100" d="100"/>
          <a:sy n="100" d="100"/>
        </p:scale>
        <p:origin x="846" y="2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CE451F-3E05-4335-B799-31A1CA24BC8E}" type="datetimeFigureOut">
              <a:rPr lang="de-DE" smtClean="0"/>
              <a:t>25.04.2025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BF85D8-A6AA-4CB5-A30A-03B8A365335B}" type="slidenum">
              <a:rPr lang="de-DE" smtClean="0"/>
              <a:t>‹Nr.›</a:t>
            </a:fld>
            <a:endParaRPr lang="de-DE"/>
          </a:p>
        </p:txBody>
      </p:sp>
    </p:spTree>
    <p:extLst>
      <p:ext uri="{BB962C8B-B14F-4D97-AF65-F5344CB8AC3E}">
        <p14:creationId xmlns:p14="http://schemas.microsoft.com/office/powerpoint/2010/main" val="180583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Dietmar</a:t>
            </a:r>
          </a:p>
        </p:txBody>
      </p:sp>
      <p:sp>
        <p:nvSpPr>
          <p:cNvPr id="4" name="Foliennummernplatzhalter 3"/>
          <p:cNvSpPr>
            <a:spLocks noGrp="1"/>
          </p:cNvSpPr>
          <p:nvPr>
            <p:ph type="sldNum" sz="quarter" idx="10"/>
          </p:nvPr>
        </p:nvSpPr>
        <p:spPr/>
        <p:txBody>
          <a:bodyPr/>
          <a:lstStyle/>
          <a:p>
            <a:fld id="{D9BF85D8-A6AA-4CB5-A30A-03B8A365335B}" type="slidenum">
              <a:rPr lang="de-DE" smtClean="0"/>
              <a:t>3</a:t>
            </a:fld>
            <a:endParaRPr lang="de-DE"/>
          </a:p>
        </p:txBody>
      </p:sp>
    </p:spTree>
    <p:extLst>
      <p:ext uri="{BB962C8B-B14F-4D97-AF65-F5344CB8AC3E}">
        <p14:creationId xmlns:p14="http://schemas.microsoft.com/office/powerpoint/2010/main" val="2059787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8972-BEB8-AC5B-4D01-183EAD28684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5FB2332-2126-64A4-0D11-76AB5EF67E94}"/>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47DE7B2D-DCFC-991F-ADD9-A7093B6173E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Dietmar</a:t>
            </a:r>
          </a:p>
        </p:txBody>
      </p:sp>
      <p:sp>
        <p:nvSpPr>
          <p:cNvPr id="4" name="Foliennummernplatzhalter 3">
            <a:extLst>
              <a:ext uri="{FF2B5EF4-FFF2-40B4-BE49-F238E27FC236}">
                <a16:creationId xmlns:a16="http://schemas.microsoft.com/office/drawing/2014/main" id="{14EFC046-3875-49D8-8DC7-0DAA46C11E3A}"/>
              </a:ext>
            </a:extLst>
          </p:cNvPr>
          <p:cNvSpPr>
            <a:spLocks noGrp="1"/>
          </p:cNvSpPr>
          <p:nvPr>
            <p:ph type="sldNum" sz="quarter" idx="10"/>
          </p:nvPr>
        </p:nvSpPr>
        <p:spPr/>
        <p:txBody>
          <a:bodyPr/>
          <a:lstStyle/>
          <a:p>
            <a:fld id="{D9BF85D8-A6AA-4CB5-A30A-03B8A365335B}" type="slidenum">
              <a:rPr lang="de-DE" smtClean="0"/>
              <a:t>4</a:t>
            </a:fld>
            <a:endParaRPr lang="de-DE"/>
          </a:p>
        </p:txBody>
      </p:sp>
    </p:spTree>
    <p:extLst>
      <p:ext uri="{BB962C8B-B14F-4D97-AF65-F5344CB8AC3E}">
        <p14:creationId xmlns:p14="http://schemas.microsoft.com/office/powerpoint/2010/main" val="1421216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Larissa</a:t>
            </a:r>
          </a:p>
        </p:txBody>
      </p:sp>
      <p:sp>
        <p:nvSpPr>
          <p:cNvPr id="4" name="Foliennummernplatzhalter 3"/>
          <p:cNvSpPr>
            <a:spLocks noGrp="1"/>
          </p:cNvSpPr>
          <p:nvPr>
            <p:ph type="sldNum" sz="quarter" idx="10"/>
          </p:nvPr>
        </p:nvSpPr>
        <p:spPr/>
        <p:txBody>
          <a:bodyPr/>
          <a:lstStyle/>
          <a:p>
            <a:fld id="{D9BF85D8-A6AA-4CB5-A30A-03B8A365335B}" type="slidenum">
              <a:rPr lang="de-DE" smtClean="0"/>
              <a:t>8</a:t>
            </a:fld>
            <a:endParaRPr lang="de-DE"/>
          </a:p>
        </p:txBody>
      </p:sp>
    </p:spTree>
    <p:extLst>
      <p:ext uri="{BB962C8B-B14F-4D97-AF65-F5344CB8AC3E}">
        <p14:creationId xmlns:p14="http://schemas.microsoft.com/office/powerpoint/2010/main" val="2183786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9</a:t>
            </a:fld>
            <a:endParaRPr lang="de-DE"/>
          </a:p>
        </p:txBody>
      </p:sp>
    </p:spTree>
    <p:extLst>
      <p:ext uri="{BB962C8B-B14F-4D97-AF65-F5344CB8AC3E}">
        <p14:creationId xmlns:p14="http://schemas.microsoft.com/office/powerpoint/2010/main" val="2476695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10</a:t>
            </a:fld>
            <a:endParaRPr lang="de-DE"/>
          </a:p>
        </p:txBody>
      </p:sp>
    </p:spTree>
    <p:extLst>
      <p:ext uri="{BB962C8B-B14F-4D97-AF65-F5344CB8AC3E}">
        <p14:creationId xmlns:p14="http://schemas.microsoft.com/office/powerpoint/2010/main" val="3867160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3" name="Rechteck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4" name="Rechteck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5" name="Rechteck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6" name="Rechteck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Rechteck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0" name="Abgerundetes Rechteck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1" name="Abgerundetes Rechteck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Rechteck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hteck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hteck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9" name="Rechteck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el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de-DE"/>
              <a:t>Titelmasterformat durch Klicken bearbeiten</a:t>
            </a:r>
            <a:endParaRPr kumimoji="0" lang="en-US"/>
          </a:p>
        </p:txBody>
      </p:sp>
      <p:sp>
        <p:nvSpPr>
          <p:cNvPr id="9" name="Untertitel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a:t>Formatvorlage des Untertitelmasters durch Klicken bearbeiten</a:t>
            </a:r>
            <a:endParaRPr kumimoji="0" lang="en-US"/>
          </a:p>
        </p:txBody>
      </p:sp>
      <p:sp>
        <p:nvSpPr>
          <p:cNvPr id="28" name="Datumsplatzhalter 27"/>
          <p:cNvSpPr>
            <a:spLocks noGrp="1"/>
          </p:cNvSpPr>
          <p:nvPr>
            <p:ph type="dt" sz="half" idx="10"/>
          </p:nvPr>
        </p:nvSpPr>
        <p:spPr>
          <a:xfrm>
            <a:off x="8940800" y="4206240"/>
            <a:ext cx="1280160" cy="457200"/>
          </a:xfrm>
        </p:spPr>
        <p:txBody>
          <a:bodyPr/>
          <a:lstStyle/>
          <a:p>
            <a:fld id="{12C2D4DF-9C07-4E8A-A9C8-699C3432BB19}" type="datetime1">
              <a:rPr lang="de-DE" smtClean="0"/>
              <a:t>25.04.2025</a:t>
            </a:fld>
            <a:endParaRPr lang="en-US"/>
          </a:p>
        </p:txBody>
      </p:sp>
      <p:sp>
        <p:nvSpPr>
          <p:cNvPr id="17" name="Fußzeilenplatzhalter 16"/>
          <p:cNvSpPr>
            <a:spLocks noGrp="1"/>
          </p:cNvSpPr>
          <p:nvPr>
            <p:ph type="ftr" sz="quarter" idx="11"/>
          </p:nvPr>
        </p:nvSpPr>
        <p:spPr>
          <a:xfrm>
            <a:off x="7213600" y="4205288"/>
            <a:ext cx="1727200" cy="457200"/>
          </a:xfrm>
        </p:spPr>
        <p:txBody>
          <a:bodyPr/>
          <a:lstStyle/>
          <a:p>
            <a:endParaRPr lang="en-US"/>
          </a:p>
        </p:txBody>
      </p:sp>
      <p:sp>
        <p:nvSpPr>
          <p:cNvPr id="29" name="Foliennummernplatzhalt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9E567595-CCD6-4F78-8F27-840D13ABE7E3}" type="slidenum">
              <a:rPr lang="en-US" smtClean="0"/>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idx="1"/>
          </p:nvPr>
        </p:nvSpPr>
        <p:spPr/>
        <p:txBody>
          <a:body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198E5C24-D96E-4687-A8E5-4115C8070FE3}" type="datetime1">
              <a:rPr lang="de-DE" smtClean="0"/>
              <a:t>25.04.2025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a:xfrm>
            <a:off x="9418656" y="6391656"/>
            <a:ext cx="2651296" cy="365760"/>
          </a:xfrm>
        </p:spPr>
        <p:txBody>
          <a:bodyPr/>
          <a:lstStyle>
            <a:lvl1pPr>
              <a:defRPr sz="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stStyle>
          <a:p>
            <a:fld id="{08800960-3D65-46F7-85EE-A2D8630D61E5}"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de-DE"/>
              <a:t>Textmasterformat bearbeiten</a:t>
            </a:r>
          </a:p>
        </p:txBody>
      </p:sp>
      <p:sp>
        <p:nvSpPr>
          <p:cNvPr id="4" name="Datumsplatzhalter 3"/>
          <p:cNvSpPr>
            <a:spLocks noGrp="1"/>
          </p:cNvSpPr>
          <p:nvPr>
            <p:ph type="dt" sz="half" idx="10"/>
          </p:nvPr>
        </p:nvSpPr>
        <p:spPr/>
        <p:txBody>
          <a:bodyPr/>
          <a:lstStyle/>
          <a:p>
            <a:fld id="{C455A406-BDB6-48C3-AB72-8B738A1EB34F}" type="datetime1">
              <a:rPr lang="de-DE" smtClean="0"/>
              <a:t>25.04.2025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30DE54EF-D574-6C41-BDE5-35E8D23ABF8C}"/>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Inhaltsplatzhalt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99C0F66A-EFBE-4D86-B794-B531731BC1EE}" type="datetime1">
              <a:rPr lang="de-DE" smtClean="0"/>
              <a:t>25.04.2025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28A2B9AB-CEFC-4843-A8CE-9D77611F0E5F}"/>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508000" y="1143000"/>
            <a:ext cx="11176000" cy="1069848"/>
          </a:xfrm>
        </p:spPr>
        <p:txBody>
          <a:bodyPr anchor="ctr"/>
          <a:lstStyle>
            <a:lvl1pPr>
              <a:defRPr sz="4000" b="0" i="0" cap="none" baseline="0"/>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4" name="Textplatzhalt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5" name="Inhaltsplatzhalt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6" name="Inhaltsplatzhalt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26" name="Datumsplatzhalter 25"/>
          <p:cNvSpPr>
            <a:spLocks noGrp="1"/>
          </p:cNvSpPr>
          <p:nvPr>
            <p:ph type="dt" sz="half" idx="10"/>
          </p:nvPr>
        </p:nvSpPr>
        <p:spPr/>
        <p:txBody>
          <a:bodyPr rtlCol="0"/>
          <a:lstStyle/>
          <a:p>
            <a:fld id="{37C69E42-4B2B-491B-A644-815082356129}" type="datetime1">
              <a:rPr lang="de-DE" smtClean="0"/>
              <a:t>25.04.2025</a:t>
            </a:fld>
            <a:endParaRPr lang="en-US"/>
          </a:p>
        </p:txBody>
      </p:sp>
      <p:sp>
        <p:nvSpPr>
          <p:cNvPr id="27" name="Foliennummernplatzhalter 26"/>
          <p:cNvSpPr>
            <a:spLocks noGrp="1"/>
          </p:cNvSpPr>
          <p:nvPr>
            <p:ph type="sldNum" sz="quarter" idx="11"/>
          </p:nvPr>
        </p:nvSpPr>
        <p:spPr/>
        <p:txBody>
          <a:bodyPr rtlCol="0"/>
          <a:lstStyle/>
          <a:p>
            <a:fld id="{08800960-3D65-46F7-85EE-A2D8630D61E5}" type="slidenum">
              <a:rPr lang="en-US" smtClean="0"/>
              <a:t>‹Nr.›</a:t>
            </a:fld>
            <a:endParaRPr lang="en-US"/>
          </a:p>
        </p:txBody>
      </p:sp>
      <p:sp>
        <p:nvSpPr>
          <p:cNvPr id="28" name="Fußzeilenplatzhalter 27"/>
          <p:cNvSpPr>
            <a:spLocks noGrp="1"/>
          </p:cNvSpPr>
          <p:nvPr>
            <p:ph type="ftr" sz="quarter" idx="12"/>
          </p:nvPr>
        </p:nvSpPr>
        <p:spPr/>
        <p:txBody>
          <a:bodyPr rtlCol="0"/>
          <a:lstStyle/>
          <a:p>
            <a:endParaRPr lang="en-US"/>
          </a:p>
        </p:txBody>
      </p:sp>
      <p:sp>
        <p:nvSpPr>
          <p:cNvPr id="10" name="Foliennummernplatzhalter 5">
            <a:extLst>
              <a:ext uri="{FF2B5EF4-FFF2-40B4-BE49-F238E27FC236}">
                <a16:creationId xmlns:a16="http://schemas.microsoft.com/office/drawing/2014/main" id="{FEF4E230-B0C3-CC49-94BB-124CCF0FC893}"/>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de-DE"/>
              <a:t>Titelmasterformat durch Klicken bearbeiten</a:t>
            </a:r>
            <a:endParaRPr kumimoji="0" lang="en-US"/>
          </a:p>
        </p:txBody>
      </p:sp>
      <p:sp>
        <p:nvSpPr>
          <p:cNvPr id="3" name="Datumsplatzhalter 2"/>
          <p:cNvSpPr>
            <a:spLocks noGrp="1"/>
          </p:cNvSpPr>
          <p:nvPr>
            <p:ph type="dt" sz="half" idx="10"/>
          </p:nvPr>
        </p:nvSpPr>
        <p:spPr>
          <a:xfrm>
            <a:off x="8778240" y="612648"/>
            <a:ext cx="1276352" cy="457200"/>
          </a:xfrm>
        </p:spPr>
        <p:txBody>
          <a:bodyPr/>
          <a:lstStyle/>
          <a:p>
            <a:fld id="{28581BEF-411F-4C1C-828C-66B57363225F}" type="datetime1">
              <a:rPr lang="de-DE" smtClean="0"/>
              <a:t>25.04.2025</a:t>
            </a:fld>
            <a:endParaRPr lang="en-US"/>
          </a:p>
        </p:txBody>
      </p:sp>
      <p:sp>
        <p:nvSpPr>
          <p:cNvPr id="4" name="Fußzeilenplatzhalter 3"/>
          <p:cNvSpPr>
            <a:spLocks noGrp="1"/>
          </p:cNvSpPr>
          <p:nvPr>
            <p:ph type="ftr" sz="quarter" idx="11"/>
          </p:nvPr>
        </p:nvSpPr>
        <p:spPr>
          <a:xfrm>
            <a:off x="7010400" y="612648"/>
            <a:ext cx="1767840" cy="457200"/>
          </a:xfrm>
        </p:spPr>
        <p:txBody>
          <a:bodyPr/>
          <a:lstStyle/>
          <a:p>
            <a:endParaRPr lang="en-US"/>
          </a:p>
        </p:txBody>
      </p:sp>
      <p:sp>
        <p:nvSpPr>
          <p:cNvPr id="5" name="Foliennummernplatzhalter 4"/>
          <p:cNvSpPr>
            <a:spLocks noGrp="1"/>
          </p:cNvSpPr>
          <p:nvPr>
            <p:ph type="sldNum" sz="quarter" idx="12"/>
          </p:nvPr>
        </p:nvSpPr>
        <p:spPr>
          <a:xfrm>
            <a:off x="10899648" y="2272"/>
            <a:ext cx="1016000" cy="365760"/>
          </a:xfrm>
        </p:spPr>
        <p:txBody>
          <a:bodyPr/>
          <a:lstStyle/>
          <a:p>
            <a:fld id="{08800960-3D65-46F7-85EE-A2D8630D61E5}" type="slidenum">
              <a:rPr lang="en-US" smtClean="0"/>
              <a:t>‹Nr.›</a:t>
            </a:fld>
            <a:endParaRPr lang="en-US"/>
          </a:p>
        </p:txBody>
      </p:sp>
      <p:sp>
        <p:nvSpPr>
          <p:cNvPr id="6" name="Foliennummernplatzhalter 5">
            <a:extLst>
              <a:ext uri="{FF2B5EF4-FFF2-40B4-BE49-F238E27FC236}">
                <a16:creationId xmlns:a16="http://schemas.microsoft.com/office/drawing/2014/main" id="{309B9422-82AE-1D4C-B6B0-865A4363077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27E4652-83CF-48FF-B07A-5D300D4CA3EB}" type="datetime1">
              <a:rPr lang="de-DE" smtClean="0"/>
              <a:t>25.04.2025</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08800960-3D65-46F7-85EE-A2D8630D61E5}" type="slidenum">
              <a:rPr lang="en-US" smtClean="0"/>
              <a:t>‹Nr.›</a:t>
            </a:fld>
            <a:endParaRPr lang="en-US"/>
          </a:p>
        </p:txBody>
      </p:sp>
      <p:sp>
        <p:nvSpPr>
          <p:cNvPr id="5" name="Foliennummernplatzhalter 5">
            <a:extLst>
              <a:ext uri="{FF2B5EF4-FFF2-40B4-BE49-F238E27FC236}">
                <a16:creationId xmlns:a16="http://schemas.microsoft.com/office/drawing/2014/main" id="{87ADE735-D8CE-7144-BFF4-464CC69DD30A}"/>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137995" y="1101970"/>
            <a:ext cx="4511040" cy="877824"/>
          </a:xfrm>
        </p:spPr>
        <p:txBody>
          <a:bodyPr anchor="b"/>
          <a:lstStyle>
            <a:lvl1pPr algn="l">
              <a:buNone/>
              <a:defRPr sz="1800" b="1"/>
            </a:lvl1pPr>
          </a:lstStyle>
          <a:p>
            <a:r>
              <a:rPr kumimoji="0" lang="de-DE"/>
              <a:t>Titelmasterformat durch Klicken bearbeiten</a:t>
            </a:r>
            <a:endParaRPr kumimoji="0" lang="en-US"/>
          </a:p>
        </p:txBody>
      </p:sp>
      <p:sp>
        <p:nvSpPr>
          <p:cNvPr id="3" name="Textplatzhalt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de-DE"/>
              <a:t>Textmasterformat bearbeiten</a:t>
            </a:r>
          </a:p>
        </p:txBody>
      </p:sp>
      <p:sp>
        <p:nvSpPr>
          <p:cNvPr id="4" name="Inhaltsplatzhalt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850A2C4E-E099-4331-8BC5-F5919D33FBB0}" type="datetime1">
              <a:rPr lang="de-DE" smtClean="0"/>
              <a:t>25.04.2025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E84BC76B-DD63-3D41-8021-753CA6CA5598}"/>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de-DE"/>
              <a:t>Titelmasterformat durch Klicken bearbeiten</a:t>
            </a:r>
            <a:endParaRPr kumimoji="0" lang="en-US"/>
          </a:p>
        </p:txBody>
      </p:sp>
      <p:sp>
        <p:nvSpPr>
          <p:cNvPr id="3" name="Bildplatzhalt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de-DE"/>
              <a:t>Bild durch Klicken auf Symbol hinzufügen</a:t>
            </a:r>
            <a:endParaRPr kumimoji="0" lang="en-US"/>
          </a:p>
        </p:txBody>
      </p:sp>
      <p:sp>
        <p:nvSpPr>
          <p:cNvPr id="4" name="Textplatzhalt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de-DE"/>
              <a:t>Textmasterformat bearbeiten</a:t>
            </a:r>
          </a:p>
        </p:txBody>
      </p:sp>
      <p:sp>
        <p:nvSpPr>
          <p:cNvPr id="5" name="Datumsplatzhalter 4"/>
          <p:cNvSpPr>
            <a:spLocks noGrp="1"/>
          </p:cNvSpPr>
          <p:nvPr>
            <p:ph type="dt" sz="half" idx="10"/>
          </p:nvPr>
        </p:nvSpPr>
        <p:spPr/>
        <p:txBody>
          <a:bodyPr/>
          <a:lstStyle/>
          <a:p>
            <a:fld id="{5EB0A2B8-1C71-4F87-BF98-FD09C9576A12}" type="datetime1">
              <a:rPr lang="de-DE" smtClean="0"/>
              <a:t>25.04.2025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F016CFB8-94C7-8342-AE16-44CC68AE321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D4B246B5-51C5-4FE7-B623-37283DCE9607}" type="datetime1">
              <a:rPr lang="de-DE" smtClean="0"/>
              <a:t>25.04.2025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86873E8B-5625-A34E-AB1D-17DCC1E3BC34}"/>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9042400" y="1143000"/>
            <a:ext cx="2540000" cy="5486400"/>
          </a:xfrm>
        </p:spPr>
        <p:txBody>
          <a:bodyPr vert="eaVert"/>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a:xfrm>
            <a:off x="609600" y="1143000"/>
            <a:ext cx="8331200" cy="5486400"/>
          </a:xfrm>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E7E31108-9016-4212-8567-2FCA934A2626}" type="datetime1">
              <a:rPr lang="de-DE" smtClean="0"/>
              <a:t>25.04.2025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EF4EF544-D00E-E040-834B-1AB2DC675130}"/>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hteck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Rechteck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0" name="Rechteck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1" name="Rechteck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hteck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3" name="Abgerundetes Rechteck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4" name="Abgerundetes Rechteck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5" name="Rechteck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6" name="Rechteck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7" name="Rechteck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8" name="Rechteck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9" name="Rechteck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40" name="Rechteck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Titelplatzhalter 21"/>
          <p:cNvSpPr>
            <a:spLocks noGrp="1"/>
          </p:cNvSpPr>
          <p:nvPr>
            <p:ph type="title"/>
          </p:nvPr>
        </p:nvSpPr>
        <p:spPr>
          <a:xfrm>
            <a:off x="609600" y="1143000"/>
            <a:ext cx="10972800" cy="1066800"/>
          </a:xfrm>
          <a:prstGeom prst="rect">
            <a:avLst/>
          </a:prstGeom>
        </p:spPr>
        <p:txBody>
          <a:bodyPr vert="horz" anchor="ctr">
            <a:normAutofit/>
          </a:bodyPr>
          <a:lstStyle/>
          <a:p>
            <a:r>
              <a:rPr kumimoji="0" lang="de-DE"/>
              <a:t>Titelmasterformat durch Klicken bearbeiten</a:t>
            </a:r>
            <a:endParaRPr kumimoji="0" lang="en-US"/>
          </a:p>
        </p:txBody>
      </p:sp>
      <p:sp>
        <p:nvSpPr>
          <p:cNvPr id="13" name="Textplatzhalt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de-DE"/>
              <a:t>Textmasterformat bearbeiten</a:t>
            </a:r>
          </a:p>
          <a:p>
            <a:pPr lvl="1" eaLnBrk="1" latinLnBrk="0" hangingPunct="1"/>
            <a:r>
              <a:rPr kumimoji="0" lang="de-DE"/>
              <a:t>Zweite Ebene</a:t>
            </a:r>
          </a:p>
          <a:p>
            <a:pPr lvl="2" eaLnBrk="1" latinLnBrk="0" hangingPunct="1"/>
            <a:r>
              <a:rPr kumimoji="0" lang="de-DE"/>
              <a:t>Dritte Ebene</a:t>
            </a:r>
          </a:p>
          <a:p>
            <a:pPr lvl="3" eaLnBrk="1" latinLnBrk="0" hangingPunct="1"/>
            <a:r>
              <a:rPr kumimoji="0" lang="de-DE"/>
              <a:t>Vierte Ebene</a:t>
            </a:r>
          </a:p>
          <a:p>
            <a:pPr lvl="4" eaLnBrk="1" latinLnBrk="0" hangingPunct="1"/>
            <a:r>
              <a:rPr kumimoji="0" lang="de-DE"/>
              <a:t>Fünfte Ebene</a:t>
            </a:r>
            <a:endParaRPr kumimoji="0" lang="en-US"/>
          </a:p>
        </p:txBody>
      </p:sp>
      <p:sp>
        <p:nvSpPr>
          <p:cNvPr id="14" name="Datumsplatzhalt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D83A9F74-EE4C-49D6-9661-C67699B6A199}" type="datetime1">
              <a:rPr lang="de-DE" smtClean="0"/>
              <a:t>25.04.2025</a:t>
            </a:fld>
            <a:endParaRPr lang="en-US"/>
          </a:p>
        </p:txBody>
      </p:sp>
      <p:sp>
        <p:nvSpPr>
          <p:cNvPr id="3" name="Fußzeilenplatzhalt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Foliennummernplatzhalt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08800960-3D65-46F7-85EE-A2D8630D61E5}" type="slidenum">
              <a:rPr lang="en-US" smtClean="0"/>
              <a:t>‹Nr.›</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407369" y="404664"/>
            <a:ext cx="5688631" cy="2575449"/>
          </a:xfrm>
          <a:prstGeom prst="rect">
            <a:avLst/>
          </a:prstGeom>
          <a:noFill/>
        </p:spPr>
        <p:txBody>
          <a:bodyPr wrap="square">
            <a:spAutoFit/>
          </a:bodyPr>
          <a:lstStyle/>
          <a:p>
            <a:pPr>
              <a:lnSpc>
                <a:spcPct val="150000"/>
              </a:lnSpc>
              <a:defRPr/>
            </a:pPr>
            <a:r>
              <a:rPr lang="de-DE" sz="24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Audiodeskription</a:t>
            </a:r>
          </a:p>
          <a:p>
            <a:pPr marL="285750" indent="-285750">
              <a:lnSpc>
                <a:spcPct val="150000"/>
              </a:lnSpc>
              <a:buFontTx/>
              <a:buChar char="-"/>
              <a:defRPr/>
            </a:pPr>
            <a:r>
              <a:rPr lang="de-DE" sz="14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KI-Modelle für die Analyse visueller Daten –</a:t>
            </a:r>
          </a:p>
          <a:p>
            <a:pPr>
              <a:lnSpc>
                <a:spcPct val="150000"/>
              </a:lnSpc>
              <a:defRPr/>
            </a:pPr>
            <a:endPar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06.05. / 07.05.2025</a:t>
            </a: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Projektgruppe</a:t>
            </a: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5" name="Rectangle 8"/>
          <p:cNvSpPr>
            <a:spLocks noGrp="1" noChangeArrowheads="1"/>
          </p:cNvSpPr>
          <p:nvPr>
            <p:ph type="subTitle" idx="1"/>
          </p:nvPr>
        </p:nvSpPr>
        <p:spPr>
          <a:xfrm>
            <a:off x="335360" y="4293096"/>
            <a:ext cx="4608512" cy="2160240"/>
          </a:xfrm>
        </p:spPr>
        <p:txBody>
          <a:bodyPr rtlCol="0">
            <a:normAutofit/>
          </a:bodyPr>
          <a:lstStyle/>
          <a:p>
            <a:pPr>
              <a:lnSpc>
                <a:spcPct val="150000"/>
              </a:lnSpc>
              <a:defRPr/>
            </a:pPr>
            <a:r>
              <a:rPr lang="de-DE" sz="1400" u="sng">
                <a:latin typeface="Verdana" panose="020B0604030504040204" pitchFamily="34" charset="0"/>
                <a:ea typeface="Verdana" panose="020B0604030504040204" pitchFamily="34" charset="0"/>
                <a:cs typeface="Verdana" panose="020B0604030504040204" pitchFamily="34" charset="0"/>
              </a:rPr>
              <a:t>Referenten</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Koch, Claus-Peter</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Neuhalfen, Felicitas</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Ysop, Dietmar</a:t>
            </a:r>
          </a:p>
        </p:txBody>
      </p:sp>
      <p:pic>
        <p:nvPicPr>
          <p:cNvPr id="3" name="Grafik 2">
            <a:extLst>
              <a:ext uri="{FF2B5EF4-FFF2-40B4-BE49-F238E27FC236}">
                <a16:creationId xmlns:a16="http://schemas.microsoft.com/office/drawing/2014/main" id="{B041DD58-48B2-5F4E-9AFE-53178492BD0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40216" y="5688429"/>
            <a:ext cx="3841846" cy="941380"/>
          </a:xfrm>
          <a:prstGeom prst="rect">
            <a:avLst/>
          </a:prstGeom>
        </p:spPr>
      </p:pic>
      <p:pic>
        <p:nvPicPr>
          <p:cNvPr id="8" name="Grafik 7" descr="Ein Bild, das Screenshot, Raum, Kreis, Licht enthält.">
            <a:extLst>
              <a:ext uri="{FF2B5EF4-FFF2-40B4-BE49-F238E27FC236}">
                <a16:creationId xmlns:a16="http://schemas.microsoft.com/office/drawing/2014/main" id="{103C4555-7478-07A5-16DE-0B2DFD319860}"/>
              </a:ext>
            </a:extLst>
          </p:cNvPr>
          <p:cNvPicPr>
            <a:picLocks noChangeAspect="1"/>
          </p:cNvPicPr>
          <p:nvPr/>
        </p:nvPicPr>
        <p:blipFill>
          <a:blip r:embed="rId3" cstate="print">
            <a:alphaModFix/>
            <a:extLst>
              <a:ext uri="{28A0092B-C50C-407E-A947-70E740481C1C}">
                <a14:useLocalDpi xmlns:a14="http://schemas.microsoft.com/office/drawing/2010/main" val="0"/>
              </a:ext>
            </a:extLst>
          </a:blip>
          <a:stretch>
            <a:fillRect/>
          </a:stretch>
        </p:blipFill>
        <p:spPr>
          <a:xfrm>
            <a:off x="6096000" y="0"/>
            <a:ext cx="6096000" cy="3708000"/>
          </a:xfrm>
          <a:prstGeom prst="rect">
            <a:avLst/>
          </a:prstGeom>
        </p:spPr>
      </p:pic>
      <p:sp>
        <p:nvSpPr>
          <p:cNvPr id="9" name="Rechteck 8">
            <a:extLst>
              <a:ext uri="{FF2B5EF4-FFF2-40B4-BE49-F238E27FC236}">
                <a16:creationId xmlns:a16="http://schemas.microsoft.com/office/drawing/2014/main" id="{B9EBFDA2-089E-4B05-54A9-EA7E4905ABF5}"/>
              </a:ext>
            </a:extLst>
          </p:cNvPr>
          <p:cNvSpPr/>
          <p:nvPr/>
        </p:nvSpPr>
        <p:spPr>
          <a:xfrm>
            <a:off x="6096000" y="0"/>
            <a:ext cx="6096000" cy="3686400"/>
          </a:xfrm>
          <a:prstGeom prst="rect">
            <a:avLst/>
          </a:prstGeom>
          <a:solidFill>
            <a:srgbClr val="424456">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428209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AEEA5-AD1F-0E8D-3F3A-45518C444A98}"/>
            </a:ext>
          </a:extLst>
        </p:cNvPr>
        <p:cNvGrpSpPr/>
        <p:nvPr/>
      </p:nvGrpSpPr>
      <p:grpSpPr>
        <a:xfrm>
          <a:off x="0" y="0"/>
          <a:ext cx="0" cy="0"/>
          <a:chOff x="0" y="0"/>
          <a:chExt cx="0" cy="0"/>
        </a:xfrm>
      </p:grpSpPr>
      <p:sp>
        <p:nvSpPr>
          <p:cNvPr id="4" name="Foliennummernplatzhalter 5">
            <a:extLst>
              <a:ext uri="{FF2B5EF4-FFF2-40B4-BE49-F238E27FC236}">
                <a16:creationId xmlns:a16="http://schemas.microsoft.com/office/drawing/2014/main" id="{D99FF903-395B-86B0-FF15-CA707FA86056}"/>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2</a:t>
            </a:fld>
            <a:endParaRPr lang="de-DE">
              <a:latin typeface="Verdana" panose="020B0604030504040204" pitchFamily="34" charset="0"/>
              <a:ea typeface="Verdana" panose="020B0604030504040204" pitchFamily="34" charset="0"/>
              <a:cs typeface="Verdana" panose="020B0604030504040204" pitchFamily="34" charset="0"/>
            </a:endParaRPr>
          </a:p>
        </p:txBody>
      </p:sp>
      <p:sp>
        <p:nvSpPr>
          <p:cNvPr id="8" name="Rectangle 2">
            <a:extLst>
              <a:ext uri="{FF2B5EF4-FFF2-40B4-BE49-F238E27FC236}">
                <a16:creationId xmlns:a16="http://schemas.microsoft.com/office/drawing/2014/main" id="{28681B37-C29A-B7BC-202F-1CCF873BDD4E}"/>
              </a:ext>
            </a:extLst>
          </p:cNvPr>
          <p:cNvSpPr>
            <a:spLocks noChangeArrowheads="1"/>
          </p:cNvSpPr>
          <p:nvPr/>
        </p:nvSpPr>
        <p:spPr bwMode="auto">
          <a:xfrm>
            <a:off x="407368" y="1957482"/>
            <a:ext cx="428354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chemeClr val="tx1"/>
                </a:solidFill>
                <a:effectLst/>
                <a:latin typeface="Arial" panose="020B0604020202020204" pitchFamily="34" charset="0"/>
              </a:rPr>
              <a:t>1️⃣ Ausgangslage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b="0" i="0" u="none" strike="noStrike" cap="none" normalizeH="0" baseline="0">
                <a:ln>
                  <a:noFill/>
                </a:ln>
                <a:solidFill>
                  <a:schemeClr val="tx1"/>
                </a:solidFill>
                <a:effectLst/>
                <a:latin typeface="Arial" panose="020B0604020202020204" pitchFamily="34" charset="0"/>
              </a:rPr>
              <a:t>Mediennutzung und Barrierefreiheit</a:t>
            </a: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de-DE" altLang="de-DE" sz="1200">
                <a:latin typeface="Arial" panose="020B0604020202020204" pitchFamily="34" charset="0"/>
              </a:rPr>
              <a:t>Stand der Wissenschaft und t</a:t>
            </a:r>
            <a:r>
              <a:rPr kumimoji="0" lang="de-DE" altLang="de-DE" sz="1200" i="0" u="none" strike="noStrike" cap="none" normalizeH="0" baseline="0">
                <a:ln>
                  <a:noFill/>
                </a:ln>
                <a:solidFill>
                  <a:schemeClr val="tx1"/>
                </a:solidFill>
                <a:effectLst/>
                <a:latin typeface="Arial" panose="020B0604020202020204" pitchFamily="34" charset="0"/>
              </a:rPr>
              <a:t>echnologischer Fortschritt​ </a:t>
            </a:r>
          </a:p>
          <a:p>
            <a:pPr marL="0" marR="0" lvl="0" indent="0" algn="l" defTabSz="914400" rtl="0" eaLnBrk="0" fontAlgn="base" latinLnBrk="0" hangingPunct="0">
              <a:lnSpc>
                <a:spcPct val="100000"/>
              </a:lnSpc>
              <a:spcBef>
                <a:spcPct val="0"/>
              </a:spcBef>
              <a:spcAft>
                <a:spcPct val="0"/>
              </a:spcAft>
              <a:buClrTx/>
              <a:buSzTx/>
              <a:tabLst/>
            </a:pPr>
            <a:endParaRPr lang="de-DE" altLang="de-DE" sz="12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de-DE" altLang="de-DE"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chemeClr val="tx1"/>
                </a:solidFill>
                <a:effectLst/>
                <a:latin typeface="Arial" panose="020B0604020202020204" pitchFamily="34" charset="0"/>
              </a:rPr>
              <a:t>2️⃣  Data Pipeline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Eingabe &amp; Vorverarbeitung </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Visuelle Analyse &amp; Beschreibung </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Ausgabe, Evaluation &amp; Optimierung</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de-DE" altLang="de-DE" sz="12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a:ln>
                  <a:noFill/>
                </a:ln>
                <a:solidFill>
                  <a:schemeClr val="tx1"/>
                </a:solidFill>
                <a:effectLst/>
                <a:latin typeface="Arial" panose="020B0604020202020204" pitchFamily="34" charset="0"/>
              </a:rPr>
              <a:t>3️⃣ </a:t>
            </a:r>
            <a:r>
              <a:rPr kumimoji="0" lang="de-DE" altLang="de-DE" sz="1200" b="1" i="0" u="none" strike="noStrike" cap="none" normalizeH="0" baseline="0">
                <a:ln>
                  <a:noFill/>
                </a:ln>
                <a:solidFill>
                  <a:schemeClr val="tx1"/>
                </a:solidFill>
                <a:effectLst/>
                <a:latin typeface="Arial" panose="020B0604020202020204" pitchFamily="34" charset="0"/>
              </a:rPr>
              <a:t> Agenda Punkt 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t>
            </a:r>
            <a:endParaRPr kumimoji="0" lang="de-DE" altLang="de-DE" sz="1200" b="0" i="0" u="none" strike="noStrike" cap="none" normalizeH="0" baseline="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190B9A6A-8FDF-C676-74F4-EF61914813DE}"/>
              </a:ext>
            </a:extLst>
          </p:cNvPr>
          <p:cNvSpPr>
            <a:spLocks noChangeArrowheads="1"/>
          </p:cNvSpPr>
          <p:nvPr/>
        </p:nvSpPr>
        <p:spPr bwMode="auto">
          <a:xfrm>
            <a:off x="7104112" y="1865149"/>
            <a:ext cx="1646605"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a:ln>
                  <a:noFill/>
                </a:ln>
                <a:solidFill>
                  <a:schemeClr val="tx1"/>
                </a:solidFill>
                <a:effectLst/>
                <a:latin typeface="Arial" panose="020B0604020202020204" pitchFamily="34" charset="0"/>
              </a:rPr>
              <a:t>​4️⃣ </a:t>
            </a:r>
            <a:r>
              <a:rPr kumimoji="0" lang="de-DE" altLang="de-DE" sz="1200" b="1" i="0" u="none" strike="noStrike" cap="none" normalizeH="0" baseline="0">
                <a:ln>
                  <a:noFill/>
                </a:ln>
                <a:solidFill>
                  <a:schemeClr val="tx1"/>
                </a:solidFill>
                <a:effectLst/>
                <a:latin typeface="Arial" panose="020B0604020202020204" pitchFamily="34" charset="0"/>
              </a:rPr>
              <a:t> Agenda Punkt 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a:buNone/>
            </a:pPr>
            <a:r>
              <a:rPr lang="de-DE" sz="1200">
                <a:latin typeface="Arial" panose="020B0604020202020204" pitchFamily="34" charset="0"/>
                <a:cs typeface="Arial" panose="020B0604020202020204" pitchFamily="34" charset="0"/>
              </a:rPr>
              <a:t>5️⃣ </a:t>
            </a:r>
            <a:r>
              <a:rPr kumimoji="0" lang="de-DE" altLang="de-DE" sz="1200" b="1" i="0" u="none" strike="noStrike" cap="none" normalizeH="0" baseline="0">
                <a:ln>
                  <a:noFill/>
                </a:ln>
                <a:solidFill>
                  <a:schemeClr val="tx1"/>
                </a:solidFill>
                <a:effectLst/>
                <a:latin typeface="Arial" panose="020B0604020202020204" pitchFamily="34" charset="0"/>
              </a:rPr>
              <a:t> Agenda Punkt 5</a:t>
            </a:r>
            <a:endParaRPr lang="de-DE" sz="1200" b="1">
              <a:latin typeface="Arial" panose="020B0604020202020204" pitchFamily="34" charset="0"/>
              <a:cs typeface="Arial" panose="020B0604020202020204" pitchFamily="34" charset="0"/>
            </a:endParaRPr>
          </a:p>
          <a:p>
            <a:pPr>
              <a:buNone/>
            </a:pPr>
            <a:endParaRPr lang="de-DE" sz="1200">
              <a:latin typeface="Arial" panose="020B0604020202020204" pitchFamily="34" charset="0"/>
              <a:cs typeface="Arial" panose="020B0604020202020204" pitchFamily="34" charset="0"/>
            </a:endParaRP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a:buFont typeface="Arial" panose="020B0604020202020204" pitchFamily="34" charset="0"/>
              <a:buChar char="•"/>
            </a:pPr>
            <a:endParaRPr lang="de-DE" sz="1200">
              <a:latin typeface="Arial" panose="020B0604020202020204" pitchFamily="34" charset="0"/>
              <a:cs typeface="Arial" panose="020B0604020202020204" pitchFamily="34" charset="0"/>
            </a:endParaRPr>
          </a:p>
          <a:p>
            <a:endParaRPr lang="de-DE" sz="1200">
              <a:latin typeface="Arial" panose="020B0604020202020204" pitchFamily="34" charset="0"/>
              <a:cs typeface="Arial" panose="020B0604020202020204" pitchFamily="34" charset="0"/>
            </a:endParaRPr>
          </a:p>
          <a:p>
            <a:pPr>
              <a:buNone/>
            </a:pPr>
            <a:r>
              <a:rPr lang="de-DE" sz="1200">
                <a:latin typeface="Arial" panose="020B0604020202020204" pitchFamily="34" charset="0"/>
                <a:cs typeface="Arial" panose="020B0604020202020204" pitchFamily="34" charset="0"/>
              </a:rPr>
              <a:t>6️⃣ </a:t>
            </a:r>
            <a:r>
              <a:rPr kumimoji="0" lang="de-DE" altLang="de-DE" sz="1200" b="1" i="0" u="none" strike="noStrike" cap="none" normalizeH="0" baseline="0">
                <a:ln>
                  <a:noFill/>
                </a:ln>
                <a:solidFill>
                  <a:schemeClr val="tx1"/>
                </a:solidFill>
                <a:effectLst/>
                <a:latin typeface="Arial" panose="020B0604020202020204" pitchFamily="34" charset="0"/>
              </a:rPr>
              <a:t> Agenda Punkt 6</a:t>
            </a:r>
            <a:endParaRPr lang="de-DE" sz="1200" b="1">
              <a:latin typeface="Arial" panose="020B0604020202020204" pitchFamily="34" charset="0"/>
              <a:cs typeface="Arial" panose="020B0604020202020204" pitchFamily="34" charset="0"/>
            </a:endParaRPr>
          </a:p>
          <a:p>
            <a:pPr>
              <a:buNone/>
            </a:pPr>
            <a:endParaRPr lang="de-DE" sz="1200">
              <a:latin typeface="Arial" panose="020B0604020202020204" pitchFamily="34" charset="0"/>
              <a:cs typeface="Arial" panose="020B0604020202020204" pitchFamily="34" charset="0"/>
            </a:endParaRP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11" name="Pfeil: Fünfeck 10">
            <a:extLst>
              <a:ext uri="{FF2B5EF4-FFF2-40B4-BE49-F238E27FC236}">
                <a16:creationId xmlns:a16="http://schemas.microsoft.com/office/drawing/2014/main" id="{80C701F5-8F51-7B03-F27D-7409A90DEF57}"/>
              </a:ext>
            </a:extLst>
          </p:cNvPr>
          <p:cNvSpPr/>
          <p:nvPr/>
        </p:nvSpPr>
        <p:spPr>
          <a:xfrm>
            <a:off x="551384" y="980728"/>
            <a:ext cx="1763688" cy="360040"/>
          </a:xfrm>
          <a:prstGeom prst="homePlate">
            <a:avLst/>
          </a:prstGeom>
          <a:solidFill>
            <a:srgbClr val="43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a:latin typeface="Verdana" panose="020B0604030504040204" pitchFamily="34" charset="0"/>
                <a:ea typeface="Verdana" panose="020B0604030504040204" pitchFamily="34" charset="0"/>
                <a:cs typeface="Verdana" panose="020B0604030504040204" pitchFamily="34" charset="0"/>
              </a:rPr>
              <a:t>Agenda</a:t>
            </a:r>
          </a:p>
        </p:txBody>
      </p:sp>
    </p:spTree>
    <p:extLst>
      <p:ext uri="{BB962C8B-B14F-4D97-AF65-F5344CB8AC3E}">
        <p14:creationId xmlns:p14="http://schemas.microsoft.com/office/powerpoint/2010/main" val="3925613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1️⃣ Ausgangslage - Mediennutzung und Barrierefreiheit</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p:cNvGraphicFramePr>
            <a:graphicFrameLocks noGrp="1"/>
          </p:cNvGraphicFramePr>
          <p:nvPr>
            <p:extLst>
              <p:ext uri="{D42A27DB-BD31-4B8C-83A1-F6EECF244321}">
                <p14:modId xmlns:p14="http://schemas.microsoft.com/office/powerpoint/2010/main" val="394492477"/>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pic>
        <p:nvPicPr>
          <p:cNvPr id="6" name="Grafik 5" descr="Ein Bild, das Text, Screenshot, Diagramm, Schrift enthält.&#10;&#10;KI-generierte Inhalte können fehlerhaft sein.">
            <a:extLst>
              <a:ext uri="{FF2B5EF4-FFF2-40B4-BE49-F238E27FC236}">
                <a16:creationId xmlns:a16="http://schemas.microsoft.com/office/drawing/2014/main" id="{12D12562-3F34-A2F9-14FE-5F05E50ABC26}"/>
              </a:ext>
            </a:extLst>
          </p:cNvPr>
          <p:cNvPicPr>
            <a:picLocks noChangeAspect="1"/>
          </p:cNvPicPr>
          <p:nvPr/>
        </p:nvPicPr>
        <p:blipFill>
          <a:blip r:embed="rId3"/>
          <a:stretch>
            <a:fillRect/>
          </a:stretch>
        </p:blipFill>
        <p:spPr>
          <a:xfrm>
            <a:off x="6451692" y="2060848"/>
            <a:ext cx="5333262" cy="3555508"/>
          </a:xfrm>
          <a:prstGeom prst="rect">
            <a:avLst/>
          </a:prstGeom>
          <a:ln>
            <a:solidFill>
              <a:srgbClr val="438086"/>
            </a:solidFill>
          </a:ln>
        </p:spPr>
      </p:pic>
      <p:sp>
        <p:nvSpPr>
          <p:cNvPr id="8" name="Textfeld 7">
            <a:extLst>
              <a:ext uri="{FF2B5EF4-FFF2-40B4-BE49-F238E27FC236}">
                <a16:creationId xmlns:a16="http://schemas.microsoft.com/office/drawing/2014/main" id="{8AAC14A9-08B7-82D6-CFAD-EECE030AA113}"/>
              </a:ext>
            </a:extLst>
          </p:cNvPr>
          <p:cNvSpPr txBox="1"/>
          <p:nvPr/>
        </p:nvSpPr>
        <p:spPr>
          <a:xfrm>
            <a:off x="479376" y="2060848"/>
            <a:ext cx="5503540" cy="1443152"/>
          </a:xfrm>
          <a:prstGeom prst="rect">
            <a:avLst/>
          </a:prstGeom>
          <a:noFill/>
          <a:ln>
            <a:solidFill>
              <a:srgbClr val="438086"/>
            </a:solidFill>
          </a:ln>
        </p:spPr>
        <p:txBody>
          <a:bodyPr wrap="square">
            <a:spAutoFit/>
          </a:bodyPr>
          <a:lstStyle/>
          <a:p>
            <a:pPr algn="just">
              <a:lnSpc>
                <a:spcPct val="150000"/>
              </a:lnSpc>
            </a:pPr>
            <a:r>
              <a:rPr lang="de-DE" sz="1200">
                <a:latin typeface="Arial" panose="020B0604020202020204" pitchFamily="34" charset="0"/>
                <a:cs typeface="Arial" panose="020B0604020202020204" pitchFamily="34" charset="0"/>
              </a:rPr>
              <a:t>Audiodeskriptionen sind essenziell, um blinden und sehbehinderten Menschen den Zugang zu audiovisuellen Inhalten wie Filmen, Serien und Nachrichten zu ermöglichen. Die manuelle Erstellung dieser Beschreibungen ist jedoch zeit- und kostenintensiv und kann mit dem steigenden Bedarf an barrierefreiem Content kaum Schritt halten.</a:t>
            </a:r>
          </a:p>
        </p:txBody>
      </p:sp>
      <p:sp>
        <p:nvSpPr>
          <p:cNvPr id="9" name="Textfeld 8">
            <a:extLst>
              <a:ext uri="{FF2B5EF4-FFF2-40B4-BE49-F238E27FC236}">
                <a16:creationId xmlns:a16="http://schemas.microsoft.com/office/drawing/2014/main" id="{F8FEE055-6984-21EB-BA28-F6CFB693CC17}"/>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Entwicklung einer KI-Lösung für Audiodeskriptionen</a:t>
            </a:r>
          </a:p>
        </p:txBody>
      </p:sp>
      <p:sp>
        <p:nvSpPr>
          <p:cNvPr id="10" name="Gleichschenkliges Dreieck 9">
            <a:extLst>
              <a:ext uri="{FF2B5EF4-FFF2-40B4-BE49-F238E27FC236}">
                <a16:creationId xmlns:a16="http://schemas.microsoft.com/office/drawing/2014/main" id="{F9EDF81D-1169-A549-7E65-EC908C651D5C}"/>
              </a:ext>
            </a:extLst>
          </p:cNvPr>
          <p:cNvSpPr/>
          <p:nvPr/>
        </p:nvSpPr>
        <p:spPr>
          <a:xfrm rot="5400000">
            <a:off x="409521" y="4520846"/>
            <a:ext cx="432048" cy="252028"/>
          </a:xfrm>
          <a:prstGeom prst="triangle">
            <a:avLst/>
          </a:prstGeom>
          <a:solidFill>
            <a:srgbClr val="488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EC05B794-F985-9DFA-B177-CE3D92A9FA43}"/>
              </a:ext>
            </a:extLst>
          </p:cNvPr>
          <p:cNvSpPr txBox="1"/>
          <p:nvPr/>
        </p:nvSpPr>
        <p:spPr>
          <a:xfrm>
            <a:off x="839416" y="3677364"/>
            <a:ext cx="5143500" cy="1938992"/>
          </a:xfrm>
          <a:prstGeom prst="rect">
            <a:avLst/>
          </a:prstGeom>
          <a:noFill/>
          <a:ln>
            <a:solidFill>
              <a:srgbClr val="438086"/>
            </a:solidFill>
          </a:ln>
        </p:spPr>
        <p:txBody>
          <a:bodyPr wrap="square">
            <a:spAutoFit/>
          </a:bodyPr>
          <a:lstStyle/>
          <a:p>
            <a:pPr algn="just">
              <a:buNone/>
            </a:pPr>
            <a:r>
              <a:rPr lang="de-DE" sz="1200">
                <a:latin typeface="Arial" panose="020B0604020202020204" pitchFamily="34" charset="0"/>
                <a:cs typeface="Arial" panose="020B0604020202020204" pitchFamily="34" charset="0"/>
              </a:rPr>
              <a:t>Die aktuelle Forschung zeigt deutlich:</a:t>
            </a:r>
          </a:p>
          <a:p>
            <a:pPr algn="just">
              <a:buNone/>
            </a:pPr>
            <a:br>
              <a:rPr lang="de-DE" sz="1200">
                <a:latin typeface="Arial" panose="020B0604020202020204" pitchFamily="34" charset="0"/>
                <a:cs typeface="Arial" panose="020B0604020202020204" pitchFamily="34" charset="0"/>
              </a:rPr>
            </a:br>
            <a:r>
              <a:rPr lang="de-DE" sz="1200" b="1">
                <a:latin typeface="Arial" panose="020B0604020202020204" pitchFamily="34" charset="0"/>
                <a:cs typeface="Arial" panose="020B0604020202020204" pitchFamily="34" charset="0"/>
              </a:rPr>
              <a:t>Technologische Grundlagen für eine automatisierte Erstellung von Audiodeskriptionen sind vorhanden.</a:t>
            </a:r>
          </a:p>
          <a:p>
            <a:pPr algn="just">
              <a:buNone/>
            </a:pPr>
            <a:endParaRPr lang="de-DE" sz="1200">
              <a:latin typeface="Arial" panose="020B0604020202020204" pitchFamily="34" charset="0"/>
              <a:cs typeface="Arial" panose="020B0604020202020204" pitchFamily="34" charset="0"/>
            </a:endParaRPr>
          </a:p>
          <a:p>
            <a:pPr algn="just"/>
            <a:r>
              <a:rPr lang="de-DE" sz="1200">
                <a:latin typeface="Arial" panose="020B0604020202020204" pitchFamily="34" charset="0"/>
                <a:cs typeface="Arial" panose="020B0604020202020204" pitchFamily="34" charset="0"/>
              </a:rPr>
              <a:t>Mehrere Ansätze sind praxistauglich und kombinierbar – insbesondere durch den Einsatz </a:t>
            </a:r>
            <a:r>
              <a:rPr lang="de-DE" sz="1200" b="1">
                <a:latin typeface="Arial" panose="020B0604020202020204" pitchFamily="34" charset="0"/>
                <a:cs typeface="Arial" panose="020B0604020202020204" pitchFamily="34" charset="0"/>
              </a:rPr>
              <a:t>zero-shot-fähiger Vision-Language-Modelle</a:t>
            </a:r>
            <a:r>
              <a:rPr lang="de-DE" sz="1200">
                <a:latin typeface="Arial" panose="020B0604020202020204" pitchFamily="34" charset="0"/>
                <a:cs typeface="Arial" panose="020B0604020202020204" pitchFamily="34" charset="0"/>
              </a:rPr>
              <a:t>, </a:t>
            </a:r>
            <a:r>
              <a:rPr lang="de-DE" sz="1200" b="1">
                <a:latin typeface="Arial" panose="020B0604020202020204" pitchFamily="34" charset="0"/>
                <a:cs typeface="Arial" panose="020B0604020202020204" pitchFamily="34" charset="0"/>
              </a:rPr>
              <a:t>regelbasiertem Post-Editing</a:t>
            </a:r>
            <a:r>
              <a:rPr lang="de-DE" sz="1200">
                <a:latin typeface="Arial" panose="020B0604020202020204" pitchFamily="34" charset="0"/>
                <a:cs typeface="Arial" panose="020B0604020202020204" pitchFamily="34" charset="0"/>
              </a:rPr>
              <a:t> und </a:t>
            </a:r>
            <a:r>
              <a:rPr lang="de-DE" sz="1200" b="1">
                <a:latin typeface="Arial" panose="020B0604020202020204" pitchFamily="34" charset="0"/>
                <a:cs typeface="Arial" panose="020B0604020202020204" pitchFamily="34" charset="0"/>
              </a:rPr>
              <a:t>modularer Systemarchitektur</a:t>
            </a:r>
            <a:r>
              <a:rPr lang="de-DE" sz="1200">
                <a:latin typeface="Arial" panose="020B0604020202020204" pitchFamily="34" charset="0"/>
                <a:cs typeface="Arial" panose="020B0604020202020204" pitchFamily="34" charset="0"/>
              </a:rPr>
              <a:t>. Damit wird es möglich, den bisherigen manuellen Aufwand erheblich zu reduzieren.</a:t>
            </a:r>
          </a:p>
        </p:txBody>
      </p:sp>
      <p:sp>
        <p:nvSpPr>
          <p:cNvPr id="13" name="Textfeld 12">
            <a:extLst>
              <a:ext uri="{FF2B5EF4-FFF2-40B4-BE49-F238E27FC236}">
                <a16:creationId xmlns:a16="http://schemas.microsoft.com/office/drawing/2014/main" id="{E268691F-06B9-A702-1059-E8F84732523A}"/>
              </a:ext>
            </a:extLst>
          </p:cNvPr>
          <p:cNvSpPr txBox="1"/>
          <p:nvPr/>
        </p:nvSpPr>
        <p:spPr>
          <a:xfrm>
            <a:off x="6451692" y="5677073"/>
            <a:ext cx="3373412"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Quelle: Eigene Darstellung.</a:t>
            </a:r>
          </a:p>
        </p:txBody>
      </p:sp>
      <p:sp>
        <p:nvSpPr>
          <p:cNvPr id="14" name="Textfeld 13">
            <a:extLst>
              <a:ext uri="{FF2B5EF4-FFF2-40B4-BE49-F238E27FC236}">
                <a16:creationId xmlns:a16="http://schemas.microsoft.com/office/drawing/2014/main" id="{CCC9F7C5-DDE7-C22D-A78A-A8A9828D4902}"/>
              </a:ext>
            </a:extLst>
          </p:cNvPr>
          <p:cNvSpPr txBox="1"/>
          <p:nvPr/>
        </p:nvSpPr>
        <p:spPr>
          <a:xfrm>
            <a:off x="10282162" y="5284937"/>
            <a:ext cx="1501204"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AD = Audiodeskription</a:t>
            </a:r>
          </a:p>
        </p:txBody>
      </p:sp>
    </p:spTree>
    <p:extLst>
      <p:ext uri="{BB962C8B-B14F-4D97-AF65-F5344CB8AC3E}">
        <p14:creationId xmlns:p14="http://schemas.microsoft.com/office/powerpoint/2010/main" val="471555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C9108-1CE2-B466-73E9-D3573F7F02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5D0753-5476-20BD-4117-60B65085F6F6}"/>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1️⃣ Ausgangslage - Stand der Wissenschaft und technologischer Fortschritt​</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a:extLst>
              <a:ext uri="{FF2B5EF4-FFF2-40B4-BE49-F238E27FC236}">
                <a16:creationId xmlns:a16="http://schemas.microsoft.com/office/drawing/2014/main" id="{9E569E89-8594-6474-5E38-BED14EC4E822}"/>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pic>
        <p:nvPicPr>
          <p:cNvPr id="6" name="Grafik 5">
            <a:extLst>
              <a:ext uri="{FF2B5EF4-FFF2-40B4-BE49-F238E27FC236}">
                <a16:creationId xmlns:a16="http://schemas.microsoft.com/office/drawing/2014/main" id="{498D2FE1-2F82-DF56-9CF9-1E0688F3EA07}"/>
              </a:ext>
            </a:extLst>
          </p:cNvPr>
          <p:cNvPicPr>
            <a:picLocks noChangeAspect="1"/>
          </p:cNvPicPr>
          <p:nvPr/>
        </p:nvPicPr>
        <p:blipFill>
          <a:blip r:embed="rId3"/>
          <a:stretch>
            <a:fillRect/>
          </a:stretch>
        </p:blipFill>
        <p:spPr>
          <a:xfrm>
            <a:off x="479374" y="1913514"/>
            <a:ext cx="11593290" cy="3171670"/>
          </a:xfrm>
          <a:prstGeom prst="rect">
            <a:avLst/>
          </a:prstGeom>
          <a:ln>
            <a:solidFill>
              <a:srgbClr val="438086"/>
            </a:solidFill>
          </a:ln>
        </p:spPr>
      </p:pic>
      <p:sp>
        <p:nvSpPr>
          <p:cNvPr id="8" name="Textfeld 7">
            <a:extLst>
              <a:ext uri="{FF2B5EF4-FFF2-40B4-BE49-F238E27FC236}">
                <a16:creationId xmlns:a16="http://schemas.microsoft.com/office/drawing/2014/main" id="{FB5A0F6D-7F76-ECCA-A5DF-E5827AE92C11}"/>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Systematische Gegenüberstellung aktueller Paper zur visuellen Analyse für Audiodeskription</a:t>
            </a:r>
          </a:p>
        </p:txBody>
      </p:sp>
      <p:sp>
        <p:nvSpPr>
          <p:cNvPr id="9" name="Gleichschenkliges Dreieck 8">
            <a:extLst>
              <a:ext uri="{FF2B5EF4-FFF2-40B4-BE49-F238E27FC236}">
                <a16:creationId xmlns:a16="http://schemas.microsoft.com/office/drawing/2014/main" id="{DECE2A43-1AB2-9610-478D-6B34D3E5FEAE}"/>
              </a:ext>
            </a:extLst>
          </p:cNvPr>
          <p:cNvSpPr/>
          <p:nvPr/>
        </p:nvSpPr>
        <p:spPr>
          <a:xfrm rot="5400000">
            <a:off x="389364" y="5886349"/>
            <a:ext cx="432048" cy="252028"/>
          </a:xfrm>
          <a:prstGeom prst="triangle">
            <a:avLst/>
          </a:prstGeom>
          <a:solidFill>
            <a:srgbClr val="488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tangle 3">
            <a:extLst>
              <a:ext uri="{FF2B5EF4-FFF2-40B4-BE49-F238E27FC236}">
                <a16:creationId xmlns:a16="http://schemas.microsoft.com/office/drawing/2014/main" id="{42E45C66-D9EE-C4B8-636D-D7A7E0C7CD71}"/>
              </a:ext>
            </a:extLst>
          </p:cNvPr>
          <p:cNvSpPr>
            <a:spLocks noChangeArrowheads="1"/>
          </p:cNvSpPr>
          <p:nvPr/>
        </p:nvSpPr>
        <p:spPr bwMode="auto">
          <a:xfrm>
            <a:off x="839416" y="5427587"/>
            <a:ext cx="1108923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chemeClr val="tx1"/>
                </a:solidFill>
                <a:effectLst/>
                <a:latin typeface="Arial" panose="020B0604020202020204" pitchFamily="34" charset="0"/>
              </a:rPr>
              <a:t>Die vergleichende Analyse zeigt, dass mehrere aktuelle Modelle zur automatisierten Audiodeskription bereits praxisnah einsetzbar sind. Besonders das Framework von Gao et al. (2024) bietet eine tragfähige Struktur zur Systementwicklung. Modelle wie </a:t>
            </a:r>
            <a:r>
              <a:rPr kumimoji="0" lang="de-DE" altLang="de-DE" sz="1000" b="1" i="0" u="none" strike="noStrike" cap="none" normalizeH="0" baseline="0">
                <a:ln>
                  <a:noFill/>
                </a:ln>
                <a:solidFill>
                  <a:schemeClr val="tx1"/>
                </a:solidFill>
                <a:effectLst/>
                <a:latin typeface="Arial" panose="020B0604020202020204" pitchFamily="34" charset="0"/>
              </a:rPr>
              <a:t>AutoAD III</a:t>
            </a:r>
            <a:r>
              <a:rPr kumimoji="0" lang="de-DE" altLang="de-DE" sz="1000" b="0" i="0" u="none" strike="noStrike" cap="none" normalizeH="0" baseline="0">
                <a:ln>
                  <a:noFill/>
                </a:ln>
                <a:solidFill>
                  <a:schemeClr val="tx1"/>
                </a:solidFill>
                <a:effectLst/>
                <a:latin typeface="Arial" panose="020B0604020202020204" pitchFamily="34" charset="0"/>
              </a:rPr>
              <a:t> und </a:t>
            </a:r>
            <a:r>
              <a:rPr kumimoji="0" lang="de-DE" altLang="de-DE" sz="1000" b="1" i="0" u="none" strike="noStrike" cap="none" normalizeH="0" baseline="0">
                <a:ln>
                  <a:noFill/>
                </a:ln>
                <a:solidFill>
                  <a:schemeClr val="tx1"/>
                </a:solidFill>
                <a:effectLst/>
                <a:latin typeface="Arial" panose="020B0604020202020204" pitchFamily="34" charset="0"/>
              </a:rPr>
              <a:t>AutoAD-Zero</a:t>
            </a:r>
            <a:r>
              <a:rPr kumimoji="0" lang="de-DE" altLang="de-DE" sz="1000" b="0" i="0" u="none" strike="noStrike" cap="none" normalizeH="0" baseline="0">
                <a:ln>
                  <a:noFill/>
                </a:ln>
                <a:solidFill>
                  <a:schemeClr val="tx1"/>
                </a:solidFill>
                <a:effectLst/>
                <a:latin typeface="Arial" panose="020B0604020202020204" pitchFamily="34" charset="0"/>
              </a:rPr>
              <a:t> eignen sich als direkte Grundlage – letzteres insbesondere durch seinen zero-shot-Ansatz bei geringem Trainingsaufwand. Ergänzende Arbeiten wie </a:t>
            </a:r>
            <a:r>
              <a:rPr kumimoji="0" lang="de-DE" altLang="de-DE" sz="1000" b="1" i="0" u="none" strike="noStrike" cap="none" normalizeH="0" baseline="0">
                <a:ln>
                  <a:noFill/>
                </a:ln>
                <a:solidFill>
                  <a:schemeClr val="tx1"/>
                </a:solidFill>
                <a:effectLst/>
                <a:latin typeface="Arial" panose="020B0604020202020204" pitchFamily="34" charset="0"/>
              </a:rPr>
              <a:t>LLaVA-MR</a:t>
            </a:r>
            <a:r>
              <a:rPr kumimoji="0" lang="de-DE" altLang="de-DE" sz="1000" b="0" i="0" u="none" strike="noStrike" cap="none" normalizeH="0" baseline="0">
                <a:ln>
                  <a:noFill/>
                </a:ln>
                <a:solidFill>
                  <a:schemeClr val="tx1"/>
                </a:solidFill>
                <a:effectLst/>
                <a:latin typeface="Arial" panose="020B0604020202020204" pitchFamily="34" charset="0"/>
              </a:rPr>
              <a:t> oder </a:t>
            </a:r>
            <a:r>
              <a:rPr kumimoji="0" lang="de-DE" altLang="de-DE" sz="1000" b="1" i="0" u="none" strike="noStrike" cap="none" normalizeH="0" baseline="0">
                <a:ln>
                  <a:noFill/>
                </a:ln>
                <a:solidFill>
                  <a:schemeClr val="tx1"/>
                </a:solidFill>
                <a:effectLst/>
                <a:latin typeface="Arial" panose="020B0604020202020204" pitchFamily="34" charset="0"/>
              </a:rPr>
              <a:t>VidChain</a:t>
            </a:r>
            <a:r>
              <a:rPr kumimoji="0" lang="de-DE" altLang="de-DE" sz="1000" b="0" i="0" u="none" strike="noStrike" cap="none" normalizeH="0" baseline="0">
                <a:ln>
                  <a:noFill/>
                </a:ln>
                <a:solidFill>
                  <a:schemeClr val="tx1"/>
                </a:solidFill>
                <a:effectLst/>
                <a:latin typeface="Arial" panose="020B0604020202020204" pitchFamily="34" charset="0"/>
              </a:rPr>
              <a:t> adressieren Teilaspekte wie Zeitmarkenerkennung und Ereignisverkettung und können zur Optimierung einzelner Module herangezogen werden.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de-DE" altLang="de-DE" sz="10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chemeClr val="tx1"/>
                </a:solidFill>
                <a:effectLst/>
                <a:latin typeface="Arial" panose="020B0604020202020204" pitchFamily="34" charset="0"/>
              </a:rPr>
              <a:t>Insgesamt ist ein Prototyp auf Basis existierender Open-Source-Komponenten mit vertretbarem Aufwand umsetzbar. Empfohlen wird auf Basis verfügbarer paper eine Kombination aus </a:t>
            </a:r>
            <a:r>
              <a:rPr kumimoji="0" lang="de-DE" altLang="de-DE" sz="1000" b="1" i="0" u="none" strike="noStrike" cap="none" normalizeH="0" baseline="0">
                <a:ln>
                  <a:noFill/>
                </a:ln>
                <a:solidFill>
                  <a:schemeClr val="tx1"/>
                </a:solidFill>
                <a:effectLst/>
                <a:latin typeface="Arial" panose="020B0604020202020204" pitchFamily="34" charset="0"/>
              </a:rPr>
              <a:t>zero-shot Captioning</a:t>
            </a:r>
            <a:r>
              <a:rPr kumimoji="0" lang="de-DE" altLang="de-DE" sz="1000" b="0" i="0" u="none" strike="noStrike" cap="none" normalizeH="0" baseline="0">
                <a:ln>
                  <a:noFill/>
                </a:ln>
                <a:solidFill>
                  <a:schemeClr val="tx1"/>
                </a:solidFill>
                <a:effectLst/>
                <a:latin typeface="Arial" panose="020B0604020202020204" pitchFamily="34" charset="0"/>
              </a:rPr>
              <a:t>, </a:t>
            </a:r>
            <a:r>
              <a:rPr kumimoji="0" lang="de-DE" altLang="de-DE" sz="1000" b="1" i="0" u="none" strike="noStrike" cap="none" normalizeH="0" baseline="0">
                <a:ln>
                  <a:noFill/>
                </a:ln>
                <a:solidFill>
                  <a:schemeClr val="tx1"/>
                </a:solidFill>
                <a:effectLst/>
                <a:latin typeface="Arial" panose="020B0604020202020204" pitchFamily="34" charset="0"/>
              </a:rPr>
              <a:t>regelbasiertem Post-Editing</a:t>
            </a:r>
            <a:r>
              <a:rPr kumimoji="0" lang="de-DE" altLang="de-DE" sz="1000" b="0" i="0" u="none" strike="noStrike" cap="none" normalizeH="0" baseline="0">
                <a:ln>
                  <a:noFill/>
                </a:ln>
                <a:solidFill>
                  <a:schemeClr val="tx1"/>
                </a:solidFill>
                <a:effectLst/>
                <a:latin typeface="Arial" panose="020B0604020202020204" pitchFamily="34" charset="0"/>
              </a:rPr>
              <a:t> und </a:t>
            </a:r>
            <a:r>
              <a:rPr kumimoji="0" lang="de-DE" altLang="de-DE" sz="1000" b="1" i="0" u="none" strike="noStrike" cap="none" normalizeH="0" baseline="0">
                <a:ln>
                  <a:noFill/>
                </a:ln>
                <a:solidFill>
                  <a:schemeClr val="tx1"/>
                </a:solidFill>
                <a:effectLst/>
                <a:latin typeface="Arial" panose="020B0604020202020204" pitchFamily="34" charset="0"/>
              </a:rPr>
              <a:t>nutzerzentrierter Evaluation</a:t>
            </a:r>
            <a:r>
              <a:rPr kumimoji="0" lang="de-DE" altLang="de-DE" sz="10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1989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D0C400BB-09BD-3E17-70A5-06A821838AEC}"/>
              </a:ext>
            </a:extLst>
          </p:cNvPr>
          <p:cNvGraphicFramePr>
            <a:graphicFrameLocks noGrp="1"/>
          </p:cNvGraphicFramePr>
          <p:nvPr>
            <p:extLst>
              <p:ext uri="{D42A27DB-BD31-4B8C-83A1-F6EECF244321}">
                <p14:modId xmlns:p14="http://schemas.microsoft.com/office/powerpoint/2010/main" val="477210767"/>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71ECED2B-BEDC-4033-205E-E54D660F836C}"/>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Eingabe &amp; Vorverarbeitung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90410248-A5CC-F9DF-2194-2F576F39169E}"/>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14877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F2159-77DA-D525-89F2-5D4A44D62487}"/>
            </a:ext>
          </a:extLst>
        </p:cNvPr>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C320BB4C-3048-B098-7E21-AF514E4A168D}"/>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6B91B476-1BA2-7F1F-D277-AEB1B8C85645}"/>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Visuelle Analyse &amp; Beschreibung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F1B592C9-C9F2-0B09-6795-129F5B0F4979}"/>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785247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C9B9-EE4E-0ABC-9971-A381CC6ACFBD}"/>
            </a:ext>
          </a:extLst>
        </p:cNvPr>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9AB1E8C8-6A05-EFF7-DA0B-D2325776020E}"/>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EB7ACC83-023C-E888-D134-68F5D6B63B01}"/>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Ausgabe, Evaluation &amp; Optimierung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388B6155-D366-DDF1-7E97-C2045B625C3A}"/>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615908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8</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412236246"/>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b="1"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9" name="Titel 1">
            <a:extLst>
              <a:ext uri="{FF2B5EF4-FFF2-40B4-BE49-F238E27FC236}">
                <a16:creationId xmlns:a16="http://schemas.microsoft.com/office/drawing/2014/main" id="{91CBE2C3-755A-EAB2-FF90-759C22CF37C6}"/>
              </a:ext>
            </a:extLst>
          </p:cNvPr>
          <p:cNvSpPr>
            <a:spLocks noGrp="1"/>
          </p:cNvSpPr>
          <p:nvPr>
            <p:ph type="title"/>
          </p:nvPr>
        </p:nvSpPr>
        <p:spPr>
          <a:xfrm>
            <a:off x="0" y="476672"/>
            <a:ext cx="12192000" cy="576000"/>
          </a:xfrm>
        </p:spPr>
        <p:txBody>
          <a:bodyPr>
            <a:noAutofit/>
          </a:bodyPr>
          <a:lstStyle/>
          <a:p>
            <a:r>
              <a:rPr lang="de-DE" altLang="de-DE" sz="2000">
                <a:latin typeface="Arial" panose="020B0604020202020204" pitchFamily="34" charset="0"/>
                <a:cs typeface="Arial" panose="020B0604020202020204" pitchFamily="34" charset="0"/>
              </a:rPr>
              <a:t>3️⃣ </a:t>
            </a:r>
            <a:r>
              <a:rPr kumimoji="0" lang="de-DE" altLang="de-DE" sz="2000" b="1" i="0" u="none" strike="noStrike" cap="none" normalizeH="0" baseline="0">
                <a:ln>
                  <a:noFill/>
                </a:ln>
                <a:solidFill>
                  <a:schemeClr val="tx1"/>
                </a:solidFill>
                <a:effectLst/>
                <a:latin typeface="Arial" panose="020B0604020202020204" pitchFamily="34" charset="0"/>
              </a:rPr>
              <a:t>Punkt 3</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F648057C-98BB-A2AF-FE16-8D06F2216C13}"/>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068059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9</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236536304"/>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kumimoji="0" lang="de-DE" sz="1600" b="1" kern="1200">
                        <a:solidFill>
                          <a:schemeClr val="bg1"/>
                        </a:solidFill>
                        <a:latin typeface="+mn-lt"/>
                        <a:ea typeface="+mn-ea"/>
                        <a:cs typeface="+mn-cs"/>
                      </a:endParaRPr>
                    </a:p>
                  </a:txBody>
                  <a:tcPr>
                    <a:solidFill>
                      <a:srgbClr val="438086"/>
                    </a:solidFill>
                  </a:tcPr>
                </a:tc>
                <a:tc>
                  <a:txBody>
                    <a:bodyPr/>
                    <a:lstStyle/>
                    <a:p>
                      <a:endParaRPr lang="de-DE" sz="1600" b="1"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kumimoji="0" lang="de-DE" altLang="de-DE" sz="2000" i="0" u="none" strike="noStrike" cap="none" normalizeH="0" baseline="0">
                <a:ln>
                  <a:noFill/>
                </a:ln>
                <a:solidFill>
                  <a:schemeClr val="tx1"/>
                </a:solidFill>
                <a:effectLst/>
                <a:latin typeface="Arial" panose="020B0604020202020204" pitchFamily="34" charset="0"/>
              </a:rPr>
              <a:t>4️⃣ </a:t>
            </a:r>
            <a:r>
              <a:rPr kumimoji="0" lang="de-DE" altLang="de-DE" sz="2000" b="1" i="0" u="none" strike="noStrike" cap="none" normalizeH="0" baseline="0">
                <a:ln>
                  <a:noFill/>
                </a:ln>
                <a:solidFill>
                  <a:schemeClr val="tx1"/>
                </a:solidFill>
                <a:effectLst/>
                <a:latin typeface="Arial" panose="020B0604020202020204" pitchFamily="34" charset="0"/>
              </a:rPr>
              <a:t>Punkt 4</a:t>
            </a:r>
            <a:endParaRPr lang="de-DE" sz="2000" dirty="0">
              <a:latin typeface="Verdana" panose="020B0604030504040204" pitchFamily="34" charset="0"/>
              <a:ea typeface="Verdana" panose="020B0604030504040204" pitchFamily="34" charset="0"/>
              <a:cs typeface="Verdana" panose="020B0604030504040204" pitchFamily="34" charset="0"/>
            </a:endParaRPr>
          </a:p>
        </p:txBody>
      </p:sp>
      <p:sp>
        <p:nvSpPr>
          <p:cNvPr id="2" name="Textfeld 1">
            <a:extLst>
              <a:ext uri="{FF2B5EF4-FFF2-40B4-BE49-F238E27FC236}">
                <a16:creationId xmlns:a16="http://schemas.microsoft.com/office/drawing/2014/main" id="{9E431BF7-E73B-C3F4-DD72-1668BB7C37AA}"/>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3042659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10</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219621214"/>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kumimoji="0" lang="de-DE" sz="1600" b="1" kern="1200">
                        <a:solidFill>
                          <a:schemeClr val="bg1"/>
                        </a:solidFill>
                        <a:latin typeface="+mn-lt"/>
                        <a:ea typeface="+mn-ea"/>
                        <a:cs typeface="+mn-cs"/>
                      </a:endParaRPr>
                    </a:p>
                  </a:txBody>
                  <a:tcPr>
                    <a:solidFill>
                      <a:srgbClr val="438086"/>
                    </a:solidFill>
                  </a:tcPr>
                </a:tc>
                <a:tc>
                  <a:txBody>
                    <a:bodyPr/>
                    <a:lstStyle/>
                    <a:p>
                      <a:endParaRPr lang="de-DE" sz="1600" b="1"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5️⃣ </a:t>
            </a:r>
            <a:r>
              <a:rPr kumimoji="0" lang="de-DE" altLang="de-DE" sz="2000" b="1" i="0" u="none" strike="noStrike" cap="none" normalizeH="0" baseline="0">
                <a:ln>
                  <a:noFill/>
                </a:ln>
                <a:solidFill>
                  <a:schemeClr val="tx1"/>
                </a:solidFill>
                <a:effectLst/>
                <a:latin typeface="Arial" panose="020B0604020202020204" pitchFamily="34" charset="0"/>
              </a:rPr>
              <a:t>Punkt 5</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7599820A-AD65-BBB1-AB31-2372787A9443}"/>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777435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a:xfrm>
            <a:off x="8688288" y="0"/>
            <a:ext cx="1772448"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11</a:t>
            </a:fld>
            <a:endParaRPr lang="de-DE">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8" name="Tabelle 7"/>
          <p:cNvGraphicFramePr>
            <a:graphicFrameLocks noGrp="1"/>
          </p:cNvGraphicFramePr>
          <p:nvPr>
            <p:extLst>
              <p:ext uri="{D42A27DB-BD31-4B8C-83A1-F6EECF244321}">
                <p14:modId xmlns:p14="http://schemas.microsoft.com/office/powerpoint/2010/main" val="461619535"/>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AD18ADAA-B318-9D41-A82D-BC6358346B90}"/>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6️⃣ </a:t>
            </a:r>
            <a:r>
              <a:rPr kumimoji="0" lang="de-DE" altLang="de-DE" sz="2000" b="1" i="0" u="none" strike="noStrike" cap="none" normalizeH="0" baseline="0">
                <a:ln>
                  <a:noFill/>
                </a:ln>
                <a:solidFill>
                  <a:schemeClr val="tx1"/>
                </a:solidFill>
                <a:effectLst/>
                <a:latin typeface="Arial" panose="020B0604020202020204" pitchFamily="34" charset="0"/>
              </a:rPr>
              <a:t>Punkt 6</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010B89CF-0B5E-B430-BD36-EB4867F7A460}"/>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3973183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hea">
  <a:themeElements>
    <a:clrScheme name="Rhea">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Rhea">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Rhea">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0</TotalTime>
  <Words>497</Words>
  <Application>Microsoft Office PowerPoint</Application>
  <PresentationFormat>Breitbild</PresentationFormat>
  <Paragraphs>175</Paragraphs>
  <Slides>11</Slides>
  <Notes>5</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11</vt:i4>
      </vt:variant>
    </vt:vector>
  </HeadingPairs>
  <TitlesOfParts>
    <vt:vector size="19" baseType="lpstr">
      <vt:lpstr>Arial</vt:lpstr>
      <vt:lpstr>Calibri</vt:lpstr>
      <vt:lpstr>Georgia</vt:lpstr>
      <vt:lpstr>Trebuchet MS</vt:lpstr>
      <vt:lpstr>Verdana</vt:lpstr>
      <vt:lpstr>Wingdings</vt:lpstr>
      <vt:lpstr>Wingdings 2</vt:lpstr>
      <vt:lpstr>Rhea</vt:lpstr>
      <vt:lpstr>PowerPoint-Präsentation</vt:lpstr>
      <vt:lpstr>PowerPoint-Präsentation</vt:lpstr>
      <vt:lpstr>1️⃣ Ausgangslage - Mediennutzung und Barrierefreiheit</vt:lpstr>
      <vt:lpstr>1️⃣ Ausgangslage - Stand der Wissenschaft und technologischer Fortschritt​</vt:lpstr>
      <vt:lpstr>2️⃣ Data Pipeline - Eingabe &amp; Vorverarbeitung</vt:lpstr>
      <vt:lpstr>2️⃣ Data Pipeline - Visuelle Analyse &amp; Beschreibung</vt:lpstr>
      <vt:lpstr>2️⃣ Data Pipeline - Ausgabe, Evaluation &amp; Optimierung</vt:lpstr>
      <vt:lpstr>3️⃣ Punkt 3</vt:lpstr>
      <vt:lpstr>PowerPoint-Präsentation</vt:lpstr>
      <vt:lpstr>PowerPoint-Präsentation</vt:lpstr>
      <vt:lpstr>PowerPoint-Präsentation</vt:lpstr>
    </vt:vector>
  </TitlesOfParts>
  <Company>Elster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Balczukat, Phil</dc:creator>
  <cp:lastModifiedBy>Dietmar Ysop</cp:lastModifiedBy>
  <cp:revision>438</cp:revision>
  <dcterms:created xsi:type="dcterms:W3CDTF">2012-01-31T07:49:28Z</dcterms:created>
  <dcterms:modified xsi:type="dcterms:W3CDTF">2025-04-25T12:37:00Z</dcterms:modified>
</cp:coreProperties>
</file>