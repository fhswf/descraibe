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Georgia" panose="02040502050405020303" pitchFamily="18" charset="0"/>
      <p:regular r:id="rId22"/>
      <p:bold r:id="rId23"/>
      <p:italic r:id="rId24"/>
      <p:boldItalic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  <p:embeddedFont>
      <p:font typeface="Trebuchet MS" panose="020B0603020202020204" pitchFamily="34" charset="0"/>
      <p:regular r:id="rId30"/>
      <p:bold r:id="rId31"/>
      <p:italic r:id="rId32"/>
      <p:boldItalic r:id="rId33"/>
    </p:embeddedFont>
    <p:embeddedFont>
      <p:font typeface="Verdana" panose="020B060403050404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ie7/7jcKyjCUzKSuwtOgIMa2jj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621E45-C137-4521-9627-4BB48CBC3931}">
  <a:tblStyle styleId="{BF621E45-C137-4521-9627-4BB48CBC3931}" styleName="Table_0">
    <a:wholeTbl>
      <a:tcTxStyle b="off" i="off">
        <a:font>
          <a:latin typeface="Georgia"/>
          <a:ea typeface="Georgia"/>
          <a:cs typeface="Georgi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D"/>
          </a:solidFill>
        </a:fill>
      </a:tcStyle>
    </a:wholeTbl>
    <a:band1H>
      <a:tcTxStyle/>
      <a:tcStyle>
        <a:tcBdr/>
        <a:fill>
          <a:solidFill>
            <a:srgbClr val="CFCFD9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CFD9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Georgia"/>
          <a:ea typeface="Georgia"/>
          <a:cs typeface="Georgi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eorgia"/>
          <a:ea typeface="Georgia"/>
          <a:cs typeface="Georgi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eorgia"/>
          <a:ea typeface="Georgia"/>
          <a:cs typeface="Georgi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eorgia"/>
          <a:ea typeface="Georgia"/>
          <a:cs typeface="Georgi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Dietmar</a:t>
            </a:r>
            <a:endParaRPr/>
          </a:p>
        </p:txBody>
      </p:sp>
      <p:sp>
        <p:nvSpPr>
          <p:cNvPr id="137" name="Google Shape;13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Dietmar</a:t>
            </a:r>
            <a:endParaRPr/>
          </a:p>
        </p:txBody>
      </p:sp>
      <p:sp>
        <p:nvSpPr>
          <p:cNvPr id="146" name="Google Shape;14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Dietmar</a:t>
            </a:r>
            <a:endParaRPr/>
          </a:p>
        </p:txBody>
      </p:sp>
      <p:sp>
        <p:nvSpPr>
          <p:cNvPr id="155" name="Google Shape;15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Dietmar</a:t>
            </a:r>
            <a:endParaRPr/>
          </a:p>
        </p:txBody>
      </p:sp>
      <p:sp>
        <p:nvSpPr>
          <p:cNvPr id="164" name="Google Shape;16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Dietmar</a:t>
            </a:r>
            <a:endParaRPr/>
          </a:p>
        </p:txBody>
      </p:sp>
      <p:sp>
        <p:nvSpPr>
          <p:cNvPr id="173" name="Google Shape;17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Larissa</a:t>
            </a:r>
            <a:endParaRPr/>
          </a:p>
        </p:txBody>
      </p:sp>
      <p:sp>
        <p:nvSpPr>
          <p:cNvPr id="203" name="Google Shape;20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Larissa</a:t>
            </a:r>
            <a:endParaRPr/>
          </a:p>
        </p:txBody>
      </p:sp>
      <p:sp>
        <p:nvSpPr>
          <p:cNvPr id="213" name="Google Shape;21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Phil</a:t>
            </a:r>
            <a:endParaRPr/>
          </a:p>
        </p:txBody>
      </p:sp>
      <p:sp>
        <p:nvSpPr>
          <p:cNvPr id="223" name="Google Shape;22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Phil</a:t>
            </a:r>
            <a:endParaRPr/>
          </a:p>
        </p:txBody>
      </p:sp>
      <p:sp>
        <p:nvSpPr>
          <p:cNvPr id="232" name="Google Shape;232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Phil</a:t>
            </a:r>
            <a:endParaRPr/>
          </a:p>
        </p:txBody>
      </p:sp>
      <p:sp>
        <p:nvSpPr>
          <p:cNvPr id="241" name="Google Shape;24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Phil</a:t>
            </a:r>
            <a:endParaRPr/>
          </a:p>
        </p:txBody>
      </p:sp>
      <p:sp>
        <p:nvSpPr>
          <p:cNvPr id="250" name="Google Shape;25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50a54931d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g350a54931d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Phil</a:t>
            </a:r>
            <a:endParaRPr/>
          </a:p>
        </p:txBody>
      </p:sp>
      <p:sp>
        <p:nvSpPr>
          <p:cNvPr id="259" name="Google Shape;259;g350a54931d7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50a54931d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g350a54931d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Phil</a:t>
            </a:r>
            <a:endParaRPr/>
          </a:p>
        </p:txBody>
      </p:sp>
      <p:sp>
        <p:nvSpPr>
          <p:cNvPr id="268" name="Google Shape;268;g350a54931d7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type="title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/>
          <p:nvPr/>
        </p:nvSpPr>
        <p:spPr>
          <a:xfrm rot="10800000" flipH="1">
            <a:off x="7213577" y="3810001"/>
            <a:ext cx="4978425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" name="Google Shape;30;p19"/>
          <p:cNvSpPr/>
          <p:nvPr/>
        </p:nvSpPr>
        <p:spPr>
          <a:xfrm rot="10800000" flipH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" name="Google Shape;31;p19"/>
          <p:cNvSpPr/>
          <p:nvPr/>
        </p:nvSpPr>
        <p:spPr>
          <a:xfrm rot="10800000" flipH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" name="Google Shape;32;p19"/>
          <p:cNvSpPr/>
          <p:nvPr/>
        </p:nvSpPr>
        <p:spPr>
          <a:xfrm rot="10800000" flipH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" name="Google Shape;33;p19"/>
          <p:cNvSpPr/>
          <p:nvPr/>
        </p:nvSpPr>
        <p:spPr>
          <a:xfrm rot="10800000" flipH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Google Shape;34;p19"/>
          <p:cNvSpPr/>
          <p:nvPr/>
        </p:nvSpPr>
        <p:spPr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35;p19"/>
          <p:cNvSpPr/>
          <p:nvPr/>
        </p:nvSpPr>
        <p:spPr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" name="Google Shape;36;p19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" name="Google Shape;37;p1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" name="Google Shape;38;p19"/>
          <p:cNvSpPr/>
          <p:nvPr/>
        </p:nvSpPr>
        <p:spPr>
          <a:xfrm rot="10800000" flipH="1">
            <a:off x="8552068" y="3643090"/>
            <a:ext cx="3639933" cy="248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" name="Google Shape;39;p19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" name="Google Shape;40;p19"/>
          <p:cNvSpPr txBox="1"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rebuchet MS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dt" idx="10"/>
          </p:nvPr>
        </p:nvSpPr>
        <p:spPr>
          <a:xfrm>
            <a:off x="8940800" y="420624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ftr" idx="11"/>
          </p:nvPr>
        </p:nvSpPr>
        <p:spPr>
          <a:xfrm>
            <a:off x="7213600" y="4205288"/>
            <a:ext cx="172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sldNum" idx="12"/>
          </p:nvPr>
        </p:nvSpPr>
        <p:spPr>
          <a:xfrm>
            <a:off x="11093451" y="1136"/>
            <a:ext cx="99694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r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r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r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r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r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r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r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r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 type="obj">
  <p:cSld name="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dt" idx="10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ftr" idx="11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sldNum" idx="12"/>
          </p:nvPr>
        </p:nvSpPr>
        <p:spPr>
          <a:xfrm>
            <a:off x="9418656" y="6391656"/>
            <a:ext cx="26512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schnitts-&#10;überschrift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1"/>
          <p:cNvSpPr txBox="1"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Trebuchet MS"/>
              <a:buNone/>
              <a:defRPr sz="4300" b="1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2100"/>
              <a:buNone/>
              <a:defRPr sz="2100" b="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dt" idx="10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ftr" idx="11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sldNum" idx="12"/>
          </p:nvPr>
        </p:nvSpPr>
        <p:spPr>
          <a:xfrm>
            <a:off x="10899648" y="2272"/>
            <a:ext cx="101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57" name="Google Shape;57;p21"/>
          <p:cNvSpPr txBox="1"/>
          <p:nvPr/>
        </p:nvSpPr>
        <p:spPr>
          <a:xfrm>
            <a:off x="9418656" y="6391656"/>
            <a:ext cx="26512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‹Nr.›</a:t>
            </a:fld>
            <a:endParaRPr sz="1200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" type="twoObj">
  <p:cSld name="TWO_OBJECT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609600" y="2249425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925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 sz="1800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2"/>
          </p:nvPr>
        </p:nvSpPr>
        <p:spPr>
          <a:xfrm>
            <a:off x="6197600" y="2249425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925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 sz="1800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dt" idx="10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ftr" idx="11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sldNum" idx="12"/>
          </p:nvPr>
        </p:nvSpPr>
        <p:spPr>
          <a:xfrm>
            <a:off x="10899648" y="2272"/>
            <a:ext cx="101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65" name="Google Shape;65;p22"/>
          <p:cNvSpPr txBox="1"/>
          <p:nvPr/>
        </p:nvSpPr>
        <p:spPr>
          <a:xfrm>
            <a:off x="9418656" y="6391656"/>
            <a:ext cx="26512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‹Nr.›</a:t>
            </a:fld>
            <a:endParaRPr sz="1200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leich" type="twoTxTwoObj">
  <p:cSld name="TWO_OBJECTS_WITH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 b="0" i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prstGeom prst="rect">
            <a:avLst/>
          </a:prstGeom>
          <a:solidFill>
            <a:srgbClr val="328D96">
              <a:alpha val="24705"/>
            </a:srgbClr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900"/>
              <a:buNone/>
              <a:defRPr sz="1900" b="1">
                <a:solidFill>
                  <a:srgbClr val="414141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body" idx="2"/>
          </p:nvPr>
        </p:nvSpPr>
        <p:spPr>
          <a:xfrm>
            <a:off x="6294968" y="2244970"/>
            <a:ext cx="5389033" cy="457200"/>
          </a:xfrm>
          <a:prstGeom prst="rect">
            <a:avLst/>
          </a:prstGeom>
          <a:solidFill>
            <a:srgbClr val="328D96">
              <a:alpha val="24705"/>
            </a:srgbClr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900"/>
              <a:buNone/>
              <a:defRPr sz="1900" b="1">
                <a:solidFill>
                  <a:srgbClr val="414141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3"/>
          </p:nvPr>
        </p:nvSpPr>
        <p:spPr>
          <a:xfrm>
            <a:off x="508000" y="2708519"/>
            <a:ext cx="5388864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spcBef>
                <a:spcPts val="300"/>
              </a:spcBef>
              <a:spcAft>
                <a:spcPts val="0"/>
              </a:spcAft>
              <a:buSzPts val="1600"/>
              <a:buChar char="▫"/>
              <a:defRPr sz="1600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body" idx="4"/>
          </p:nvPr>
        </p:nvSpPr>
        <p:spPr>
          <a:xfrm>
            <a:off x="6291073" y="2708519"/>
            <a:ext cx="5389033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spcBef>
                <a:spcPts val="300"/>
              </a:spcBef>
              <a:spcAft>
                <a:spcPts val="0"/>
              </a:spcAft>
              <a:buSzPts val="1600"/>
              <a:buChar char="▫"/>
              <a:defRPr sz="1600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dt" idx="10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10899648" y="2272"/>
            <a:ext cx="101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ftr" idx="11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/>
          <p:nvPr/>
        </p:nvSpPr>
        <p:spPr>
          <a:xfrm>
            <a:off x="9418656" y="6391656"/>
            <a:ext cx="26512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‹Nr.›</a:t>
            </a:fld>
            <a:endParaRPr sz="1200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 type="titleOnly">
  <p:cSld name="TITLE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4"/>
          <p:cNvSpPr txBox="1"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dt" idx="10"/>
          </p:nvPr>
        </p:nvSpPr>
        <p:spPr>
          <a:xfrm>
            <a:off x="8778240" y="612648"/>
            <a:ext cx="127635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ftr" idx="11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sldNum" idx="12"/>
          </p:nvPr>
        </p:nvSpPr>
        <p:spPr>
          <a:xfrm>
            <a:off x="10899648" y="2272"/>
            <a:ext cx="101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81" name="Google Shape;81;p24"/>
          <p:cNvSpPr txBox="1"/>
          <p:nvPr/>
        </p:nvSpPr>
        <p:spPr>
          <a:xfrm>
            <a:off x="9418656" y="6391656"/>
            <a:ext cx="26512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‹Nr.›</a:t>
            </a:fld>
            <a:endParaRPr sz="1200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 type="blank">
  <p:cSld name="BLANK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5"/>
          <p:cNvSpPr txBox="1">
            <a:spLocks noGrp="1"/>
          </p:cNvSpPr>
          <p:nvPr>
            <p:ph type="dt" idx="10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ftr" idx="11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5"/>
          <p:cNvSpPr txBox="1">
            <a:spLocks noGrp="1"/>
          </p:cNvSpPr>
          <p:nvPr>
            <p:ph type="sldNum" idx="12"/>
          </p:nvPr>
        </p:nvSpPr>
        <p:spPr>
          <a:xfrm>
            <a:off x="10899648" y="2272"/>
            <a:ext cx="101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86" name="Google Shape;86;p25"/>
          <p:cNvSpPr txBox="1"/>
          <p:nvPr/>
        </p:nvSpPr>
        <p:spPr>
          <a:xfrm>
            <a:off x="9418656" y="6391656"/>
            <a:ext cx="26512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‹Nr.›</a:t>
            </a:fld>
            <a:endParaRPr sz="1200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 mit Überschrift" type="objTx">
  <p:cSld name="OBJECT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6"/>
          <p:cNvSpPr txBox="1"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None/>
              <a:defRPr sz="1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6"/>
          <p:cNvSpPr txBox="1">
            <a:spLocks noGrp="1"/>
          </p:cNvSpPr>
          <p:nvPr>
            <p:ph type="body" idx="1"/>
          </p:nvPr>
        </p:nvSpPr>
        <p:spPr>
          <a:xfrm>
            <a:off x="7137995" y="2010727"/>
            <a:ext cx="4511040" cy="461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26"/>
          <p:cNvSpPr txBox="1">
            <a:spLocks noGrp="1"/>
          </p:cNvSpPr>
          <p:nvPr>
            <p:ph type="body" idx="2"/>
          </p:nvPr>
        </p:nvSpPr>
        <p:spPr>
          <a:xfrm>
            <a:off x="203200" y="776287"/>
            <a:ext cx="6803136" cy="585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300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spcBef>
                <a:spcPts val="300"/>
              </a:spcBef>
              <a:spcAft>
                <a:spcPts val="0"/>
              </a:spcAft>
              <a:buSzPts val="2800"/>
              <a:buChar char="▫"/>
              <a:defRPr sz="2800"/>
            </a:lvl2pPr>
            <a:lvl3pPr marL="1371600" lvl="2" indent="-381000" algn="l">
              <a:spcBef>
                <a:spcPts val="300"/>
              </a:spcBef>
              <a:spcAft>
                <a:spcPts val="0"/>
              </a:spcAft>
              <a:buSzPts val="2400"/>
              <a:buChar char="●"/>
              <a:defRPr sz="2400"/>
            </a:lvl3pPr>
            <a:lvl4pPr marL="1828800" lvl="3" indent="-3556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1" name="Google Shape;91;p26"/>
          <p:cNvSpPr txBox="1">
            <a:spLocks noGrp="1"/>
          </p:cNvSpPr>
          <p:nvPr>
            <p:ph type="dt" idx="10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6"/>
          <p:cNvSpPr txBox="1">
            <a:spLocks noGrp="1"/>
          </p:cNvSpPr>
          <p:nvPr>
            <p:ph type="ftr" idx="11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6"/>
          <p:cNvSpPr txBox="1">
            <a:spLocks noGrp="1"/>
          </p:cNvSpPr>
          <p:nvPr>
            <p:ph type="sldNum" idx="12"/>
          </p:nvPr>
        </p:nvSpPr>
        <p:spPr>
          <a:xfrm>
            <a:off x="10899648" y="2272"/>
            <a:ext cx="101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94" name="Google Shape;94;p26"/>
          <p:cNvSpPr txBox="1"/>
          <p:nvPr/>
        </p:nvSpPr>
        <p:spPr>
          <a:xfrm>
            <a:off x="9418656" y="6391656"/>
            <a:ext cx="26512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‹Nr.›</a:t>
            </a:fld>
            <a:endParaRPr sz="1200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 mit Überschrift" type="picTx">
  <p:cSld name="PICTURE_WITH_CAPTION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7"/>
          <p:cNvSpPr txBox="1">
            <a:spLocks noGrp="1"/>
          </p:cNvSpPr>
          <p:nvPr>
            <p:ph type="title"/>
          </p:nvPr>
        </p:nvSpPr>
        <p:spPr>
          <a:xfrm rot="-5400000">
            <a:off x="5304297" y="3058778"/>
            <a:ext cx="4681637" cy="782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457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7"/>
          <p:cNvSpPr>
            <a:spLocks noGrp="1"/>
          </p:cNvSpPr>
          <p:nvPr>
            <p:ph type="pic" idx="2"/>
          </p:nvPr>
        </p:nvSpPr>
        <p:spPr>
          <a:xfrm>
            <a:off x="538228" y="1143000"/>
            <a:ext cx="6096000" cy="4572000"/>
          </a:xfrm>
          <a:prstGeom prst="rect">
            <a:avLst/>
          </a:prstGeom>
          <a:solidFill>
            <a:srgbClr val="EAEAEA"/>
          </a:solidFill>
          <a:ln w="508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31750" dir="4800000" algn="tl" rotWithShape="0">
              <a:srgbClr val="000000">
                <a:alpha val="24705"/>
              </a:srgbClr>
            </a:outerShdw>
          </a:effectLst>
        </p:spPr>
      </p:sp>
      <p:sp>
        <p:nvSpPr>
          <p:cNvPr id="98" name="Google Shape;98;p27"/>
          <p:cNvSpPr txBox="1">
            <a:spLocks noGrp="1"/>
          </p:cNvSpPr>
          <p:nvPr>
            <p:ph type="body" idx="1"/>
          </p:nvPr>
        </p:nvSpPr>
        <p:spPr>
          <a:xfrm>
            <a:off x="8117924" y="3274309"/>
            <a:ext cx="3454400" cy="251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Georgia"/>
              <a:buNone/>
              <a:defRPr sz="13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200"/>
              <a:buFont typeface="Georgia"/>
              <a:buNone/>
              <a:defRPr sz="12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000"/>
              <a:buFont typeface="Georgia"/>
              <a:buNone/>
              <a:defRPr sz="10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900"/>
              <a:buFont typeface="Georgia"/>
              <a:buNone/>
              <a:defRPr sz="9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900"/>
              <a:buFont typeface="Georgia"/>
              <a:buNone/>
              <a:defRPr sz="900"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9" name="Google Shape;99;p27"/>
          <p:cNvSpPr txBox="1">
            <a:spLocks noGrp="1"/>
          </p:cNvSpPr>
          <p:nvPr>
            <p:ph type="dt" idx="10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7"/>
          <p:cNvSpPr txBox="1">
            <a:spLocks noGrp="1"/>
          </p:cNvSpPr>
          <p:nvPr>
            <p:ph type="ftr" idx="11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7"/>
          <p:cNvSpPr txBox="1">
            <a:spLocks noGrp="1"/>
          </p:cNvSpPr>
          <p:nvPr>
            <p:ph type="sldNum" idx="12"/>
          </p:nvPr>
        </p:nvSpPr>
        <p:spPr>
          <a:xfrm>
            <a:off x="10899648" y="2272"/>
            <a:ext cx="101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02" name="Google Shape;102;p27"/>
          <p:cNvSpPr txBox="1"/>
          <p:nvPr/>
        </p:nvSpPr>
        <p:spPr>
          <a:xfrm>
            <a:off x="9418656" y="6391656"/>
            <a:ext cx="26512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‹Nr.›</a:t>
            </a:fld>
            <a:endParaRPr sz="1200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vertikaler Text" type="vertTx">
  <p:cSld name="VERTICAL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8"/>
          <p:cNvSpPr txBox="1"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8"/>
          <p:cNvSpPr txBox="1">
            <a:spLocks noGrp="1"/>
          </p:cNvSpPr>
          <p:nvPr>
            <p:ph type="body" idx="1"/>
          </p:nvPr>
        </p:nvSpPr>
        <p:spPr>
          <a:xfrm rot="5400000">
            <a:off x="3933444" y="-1074420"/>
            <a:ext cx="4325112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06" name="Google Shape;106;p28"/>
          <p:cNvSpPr txBox="1">
            <a:spLocks noGrp="1"/>
          </p:cNvSpPr>
          <p:nvPr>
            <p:ph type="dt" idx="10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8"/>
          <p:cNvSpPr txBox="1">
            <a:spLocks noGrp="1"/>
          </p:cNvSpPr>
          <p:nvPr>
            <p:ph type="ftr" idx="11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8"/>
          <p:cNvSpPr txBox="1">
            <a:spLocks noGrp="1"/>
          </p:cNvSpPr>
          <p:nvPr>
            <p:ph type="sldNum" idx="12"/>
          </p:nvPr>
        </p:nvSpPr>
        <p:spPr>
          <a:xfrm>
            <a:off x="10899648" y="2272"/>
            <a:ext cx="101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09" name="Google Shape;109;p28"/>
          <p:cNvSpPr txBox="1"/>
          <p:nvPr/>
        </p:nvSpPr>
        <p:spPr>
          <a:xfrm>
            <a:off x="9418656" y="6391656"/>
            <a:ext cx="26512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‹Nr.›</a:t>
            </a:fld>
            <a:endParaRPr sz="1200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kaler Titel und Text" type="vertTitleAndTx">
  <p:cSld name="VERTICAL_TITLE_AND_VERTICAL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>
            <a:spLocks noGrp="1"/>
          </p:cNvSpPr>
          <p:nvPr>
            <p:ph type="title"/>
          </p:nvPr>
        </p:nvSpPr>
        <p:spPr>
          <a:xfrm rot="5400000">
            <a:off x="7569200" y="2616200"/>
            <a:ext cx="5486400" cy="2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9"/>
          <p:cNvSpPr txBox="1">
            <a:spLocks noGrp="1"/>
          </p:cNvSpPr>
          <p:nvPr>
            <p:ph type="body" idx="1"/>
          </p:nvPr>
        </p:nvSpPr>
        <p:spPr>
          <a:xfrm rot="5400000">
            <a:off x="2032000" y="-279400"/>
            <a:ext cx="5486400" cy="83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5pPr>
            <a:lvl6pPr marL="2743200" lvl="5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6pPr>
            <a:lvl7pPr marL="3200400" lvl="6" indent="-3429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7pPr>
            <a:lvl8pPr marL="3657600" lvl="7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13" name="Google Shape;113;p29"/>
          <p:cNvSpPr txBox="1">
            <a:spLocks noGrp="1"/>
          </p:cNvSpPr>
          <p:nvPr>
            <p:ph type="dt" idx="10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9"/>
          <p:cNvSpPr txBox="1">
            <a:spLocks noGrp="1"/>
          </p:cNvSpPr>
          <p:nvPr>
            <p:ph type="ftr" idx="11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9"/>
          <p:cNvSpPr txBox="1">
            <a:spLocks noGrp="1"/>
          </p:cNvSpPr>
          <p:nvPr>
            <p:ph type="sldNum" idx="12"/>
          </p:nvPr>
        </p:nvSpPr>
        <p:spPr>
          <a:xfrm>
            <a:off x="10899648" y="2272"/>
            <a:ext cx="101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16" name="Google Shape;116;p29"/>
          <p:cNvSpPr txBox="1"/>
          <p:nvPr/>
        </p:nvSpPr>
        <p:spPr>
          <a:xfrm>
            <a:off x="9418656" y="6391656"/>
            <a:ext cx="26512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‹Nr.›</a:t>
            </a:fld>
            <a:endParaRPr sz="1200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" name="Google Shape;11;p1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" name="Google Shape;12;p18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" name="Google Shape;13;p18"/>
          <p:cNvSpPr/>
          <p:nvPr/>
        </p:nvSpPr>
        <p:spPr>
          <a:xfrm rot="10800000" flipH="1">
            <a:off x="7213577" y="360247"/>
            <a:ext cx="4978425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" name="Google Shape;14;p18"/>
          <p:cNvSpPr/>
          <p:nvPr/>
        </p:nvSpPr>
        <p:spPr>
          <a:xfrm rot="10800000" flipH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" name="Google Shape;15;p18"/>
          <p:cNvSpPr/>
          <p:nvPr/>
        </p:nvSpPr>
        <p:spPr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" name="Google Shape;16;p18"/>
          <p:cNvSpPr/>
          <p:nvPr/>
        </p:nvSpPr>
        <p:spPr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" name="Google Shape;17;p18"/>
          <p:cNvSpPr/>
          <p:nvPr/>
        </p:nvSpPr>
        <p:spPr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" name="Google Shape;18;p18"/>
          <p:cNvSpPr/>
          <p:nvPr/>
        </p:nvSpPr>
        <p:spPr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" name="Google Shape;19;p18"/>
          <p:cNvSpPr/>
          <p:nvPr/>
        </p:nvSpPr>
        <p:spPr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" name="Google Shape;20;p18"/>
          <p:cNvSpPr/>
          <p:nvPr/>
        </p:nvSpPr>
        <p:spPr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" name="Google Shape;21;p18"/>
          <p:cNvSpPr/>
          <p:nvPr/>
        </p:nvSpPr>
        <p:spPr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" name="Google Shape;22;p18"/>
          <p:cNvSpPr/>
          <p:nvPr/>
        </p:nvSpPr>
        <p:spPr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" name="Google Shape;23;p18"/>
          <p:cNvSpPr txBox="1"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937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810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683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10899648" y="2272"/>
            <a:ext cx="101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dr.de/fernsehen/barrierefreie_angebote/audiodeskription/Vorgaben-fuer-Audiodeskriptionen,audiodeskription140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nguistische-treffen.pl/articles/18/01_anishchenko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"/>
          <p:cNvSpPr txBox="1"/>
          <p:nvPr/>
        </p:nvSpPr>
        <p:spPr>
          <a:xfrm>
            <a:off x="407369" y="404664"/>
            <a:ext cx="5688631" cy="2575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4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Audiodeskription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dana"/>
              <a:buChar char="-"/>
            </a:pPr>
            <a:r>
              <a:rPr lang="de-DE" sz="14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Schreibtechniken für Audiodeskriptionen –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06.05. / 07.05.2025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Projektgruppe</a:t>
            </a:r>
            <a:endParaRPr/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335360" y="4293096"/>
            <a:ext cx="4608512" cy="216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4008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 sz="1400" u="sng">
                <a:latin typeface="Verdana"/>
                <a:ea typeface="Verdana"/>
                <a:cs typeface="Verdana"/>
                <a:sym typeface="Verdana"/>
              </a:rPr>
              <a:t>Referenten</a:t>
            </a:r>
            <a:endParaRPr/>
          </a:p>
          <a:p>
            <a:pPr marL="64008" lvl="0" indent="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</a:pPr>
            <a:r>
              <a:rPr lang="de-DE" sz="1400">
                <a:latin typeface="Verdana"/>
                <a:ea typeface="Verdana"/>
                <a:cs typeface="Verdana"/>
                <a:sym typeface="Verdana"/>
              </a:rPr>
              <a:t>Schulik, Dimitrij </a:t>
            </a:r>
            <a:endParaRPr/>
          </a:p>
          <a:p>
            <a:pPr marL="64008" lvl="0" indent="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</a:pP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3" name="Google Shape;12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0216" y="5688429"/>
            <a:ext cx="3841846" cy="941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" descr="Ein Bild, das Screenshot, Raum, Kreis, Licht enthäl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37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"/>
          <p:cNvSpPr/>
          <p:nvPr/>
        </p:nvSpPr>
        <p:spPr>
          <a:xfrm>
            <a:off x="6096000" y="0"/>
            <a:ext cx="6096000" cy="3686400"/>
          </a:xfrm>
          <a:prstGeom prst="rect">
            <a:avLst/>
          </a:prstGeom>
          <a:solidFill>
            <a:srgbClr val="424456">
              <a:alpha val="2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sldNum" idx="12"/>
          </p:nvPr>
        </p:nvSpPr>
        <p:spPr>
          <a:xfrm>
            <a:off x="8832304" y="0"/>
            <a:ext cx="1628432" cy="36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latin typeface="Verdana"/>
                <a:ea typeface="Verdana"/>
                <a:cs typeface="Verdana"/>
                <a:sym typeface="Verdana"/>
              </a:rPr>
              <a:t>Seite </a:t>
            </a:r>
            <a:fld id="{00000000-1234-1234-1234-123412341234}" type="slidenum">
              <a:rPr lang="de-DE">
                <a:latin typeface="Verdana"/>
                <a:ea typeface="Verdana"/>
                <a:cs typeface="Verdana"/>
                <a:sym typeface="Verdana"/>
              </a:rPr>
              <a:t>2</a:t>
            </a:fld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407368" y="1680483"/>
            <a:ext cx="2236510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de-DE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1️⃣ Grundprinzipien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None/>
            </a:pP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de-D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Objektivität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de-D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Klarheit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de-D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Kürze ​ 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de-D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Timing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de-D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Konsistenz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de-DE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2️⃣  Sprachliche Techniken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None/>
            </a:pP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de-D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Aktiv statt Passiv</a:t>
            </a:r>
            <a:endParaRPr/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de-D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Konkret statt vage</a:t>
            </a:r>
            <a:endParaRPr/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de-D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Keine Metaphern</a:t>
            </a:r>
            <a:endParaRPr/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de-D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3️⃣ </a:t>
            </a:r>
            <a:r>
              <a:rPr lang="de-DE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Struktur &amp; Priorisierung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de-D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W-Fragen beantworten 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de-D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Relevanz herausarbeiten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7104112" y="1772816"/>
            <a:ext cx="223651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de-DE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​4️⃣ </a:t>
            </a:r>
            <a:r>
              <a:rPr lang="de-DE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Sprachliche Anpassung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de-DE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Genre-Anpassung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de-DE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Stilistische Orientierung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de-DE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Zielgruppenfokus</a:t>
            </a:r>
            <a:endParaRPr dirty="0"/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de-DE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5️⃣ </a:t>
            </a:r>
            <a:r>
              <a:rPr lang="de-DE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Herausforderungen</a:t>
            </a:r>
            <a:endParaRPr sz="1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de-DE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Schnelle Szenen</a:t>
            </a:r>
            <a:endParaRPr dirty="0"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de-DE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Emotionen</a:t>
            </a:r>
            <a:endParaRPr dirty="0"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de-DE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Kulturelle Hinweise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de-DE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6️⃣ </a:t>
            </a:r>
            <a:r>
              <a:rPr lang="de-DE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Ressourcen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de-DE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Verwendete Quellen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551384" y="980728"/>
            <a:ext cx="1763688" cy="360040"/>
          </a:xfrm>
          <a:prstGeom prst="homePlate">
            <a:avLst>
              <a:gd name="adj" fmla="val 50000"/>
            </a:avLst>
          </a:prstGeom>
          <a:solidFill>
            <a:srgbClr val="4380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de-DE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1️⃣ Grundprinzipien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0" name="Google Shape;140;p3"/>
          <p:cNvGraphicFramePr/>
          <p:nvPr/>
        </p:nvGraphicFramePr>
        <p:xfrm>
          <a:off x="0" y="105781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174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1" name="Google Shape;141;p3"/>
          <p:cNvSpPr txBox="1"/>
          <p:nvPr/>
        </p:nvSpPr>
        <p:spPr>
          <a:xfrm>
            <a:off x="407368" y="1628800"/>
            <a:ext cx="7992888" cy="2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Objektivität: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Beschreibe nur, was tatsächlich sichtbar ist, keine Interpretationen, Meinungen oder unsicheren Schlüsse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Begründung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Blinde und sehbehinderte Menschen wollen selbst entscheiden, wie sie Handlungen oder Emotionen deuten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Vermeidung von Fehlinterpretationen </a:t>
            </a:r>
            <a:endParaRPr/>
          </a:p>
          <a:p>
            <a:pPr marL="742950" marR="0" lvl="1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Beispiele:</a:t>
            </a:r>
            <a:endParaRPr/>
          </a:p>
        </p:txBody>
      </p:sp>
      <p:graphicFrame>
        <p:nvGraphicFramePr>
          <p:cNvPr id="142" name="Google Shape;142;p3"/>
          <p:cNvGraphicFramePr/>
          <p:nvPr/>
        </p:nvGraphicFramePr>
        <p:xfrm>
          <a:off x="695400" y="468766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35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4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Objektiv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 b="1" i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Subjektiv 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Fehler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Ihre Augen sind weit geöffnet, die Hände zittern.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Sie hat Angst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Interpretation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Er greift sich an die Stirn und seufzt.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Er ist gestresst.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Spekulation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Sie trägt ein rotes Kleid mit Rüschen.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Sie sieht altmodisch aus.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Wertung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de-DE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1️⃣ Grundprinzipien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9" name="Google Shape;149;p4"/>
          <p:cNvGraphicFramePr/>
          <p:nvPr/>
        </p:nvGraphicFramePr>
        <p:xfrm>
          <a:off x="0" y="105781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174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0" name="Google Shape;150;p4"/>
          <p:cNvSpPr txBox="1"/>
          <p:nvPr/>
        </p:nvSpPr>
        <p:spPr>
          <a:xfrm>
            <a:off x="407368" y="1628800"/>
            <a:ext cx="7992888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Klarheit: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Einfache, präzise und logisch strukturierte Beschreibungen, die beim ersten Hören verständlich sind</a:t>
            </a:r>
            <a:endParaRPr/>
          </a:p>
          <a:p>
            <a:pPr marL="742950" marR="0" lvl="1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Aspekte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Einfache Sprache (Kurze Sätze, aktive Verben)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Konkrete statt abstrakter Begriffe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Logische Reihenfolge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Beispiele:</a:t>
            </a:r>
            <a:endParaRPr/>
          </a:p>
        </p:txBody>
      </p:sp>
      <p:graphicFrame>
        <p:nvGraphicFramePr>
          <p:cNvPr id="151" name="Google Shape;151;p4"/>
          <p:cNvGraphicFramePr/>
          <p:nvPr/>
        </p:nvGraphicFramePr>
        <p:xfrm>
          <a:off x="695400" y="468766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35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4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Klar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 b="1" i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Unklar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Fall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Sie öffnet die schwere Holztür.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Die aus massiver Eiche gefertigte Tür wird von ihr geöffnet.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Einfache Sprache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Dreckige Teller stapeln sich auf dem Boden.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Das Zimmer ist unordentlich.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Konkrete Beschreibung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Die Ampel ist rot. Ein Kind läuft über die Straße. Ein Auto bremst abrupt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Ein Auto bremst. Ein Kind läuft über die Straße. Die Ampel ist rot.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Logische Reihenfolge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de-DE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1️⃣ Grundprinzipien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8" name="Google Shape;158;p5"/>
          <p:cNvGraphicFramePr/>
          <p:nvPr/>
        </p:nvGraphicFramePr>
        <p:xfrm>
          <a:off x="0" y="105781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174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9" name="Google Shape;159;p5"/>
          <p:cNvSpPr txBox="1"/>
          <p:nvPr/>
        </p:nvSpPr>
        <p:spPr>
          <a:xfrm>
            <a:off x="407368" y="1628800"/>
            <a:ext cx="7992888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Kürze: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Knappe Beschreibungen, die sich auf das Wesentliche konzentrieren.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Aspekte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Max. 1-2 Sätze pro Pause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Priorisierung relevanter Details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Beispiele:</a:t>
            </a:r>
            <a:endParaRPr/>
          </a:p>
        </p:txBody>
      </p:sp>
      <p:graphicFrame>
        <p:nvGraphicFramePr>
          <p:cNvPr id="160" name="Google Shape;160;p5"/>
          <p:cNvGraphicFramePr/>
          <p:nvPr/>
        </p:nvGraphicFramePr>
        <p:xfrm>
          <a:off x="623392" y="407550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35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4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Kurz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 b="1" i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Lang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Fall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Der Mann, der etwa 1,80 m groß ist und eine Brille trägt, geht langsam über die Straße.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Ein großer Mann mit Brille überquert die Straße.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Kürzere Sätze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Die Frau, die blonde lange Haare hat und ein gestreiftes T-Shirt trägt, nimmt langsam ihren Koffer und geht damit zur Tür.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Die blonde Frau nimmt ihren Koffer und geht zur Tür.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Unwichtige Details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Der Raum ist sehr groß und hat eine hohe Decke, an der ein Kronleuchter hängt. An den Wänden hängen viele Gemälde in goldenen Rahmen.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Ein großer Raum mit Kronleuchter und Gemälden.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Redundanz vermeiden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 txBox="1"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de-DE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1️⃣ Grundprinzipien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7" name="Google Shape;167;p6"/>
          <p:cNvGraphicFramePr/>
          <p:nvPr/>
        </p:nvGraphicFramePr>
        <p:xfrm>
          <a:off x="0" y="105781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174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8" name="Google Shape;168;p6"/>
          <p:cNvSpPr txBox="1"/>
          <p:nvPr/>
        </p:nvSpPr>
        <p:spPr>
          <a:xfrm>
            <a:off x="407368" y="1628800"/>
            <a:ext cx="7992888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Timing: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Synchronisation der Beschreibung in natürlichen Dialogpausen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Aspekte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Keine Überlappung mit Dialogen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Anpassung an Filmschnitt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Beispiele:</a:t>
            </a:r>
            <a:endParaRPr/>
          </a:p>
        </p:txBody>
      </p:sp>
      <p:graphicFrame>
        <p:nvGraphicFramePr>
          <p:cNvPr id="169" name="Google Shape;169;p6"/>
          <p:cNvGraphicFramePr/>
          <p:nvPr/>
        </p:nvGraphicFramePr>
        <p:xfrm>
          <a:off x="623392" y="407550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553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Richtig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 b="1" i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Ungünstig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Beschreibung während eines wichtigen Dialogs.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Überlappend mit Audiosequenzen.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Nur bei handlungsrelevanten Beschreibungen: Wenn keine Pause erkennbar ist, die Beschreibung im passenden Moment, ohne den Handlungsfluss zu stören.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Wenn die Beschreibung zu spät erfolgt, könnte der Zuhörer den visuellen Kontext nicht mehr nachvollziehen, was das Verständnis beeinträchtigt.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 txBox="1"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de-DE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1️⃣ Grundprinzipien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6" name="Google Shape;176;p7"/>
          <p:cNvGraphicFramePr/>
          <p:nvPr/>
        </p:nvGraphicFramePr>
        <p:xfrm>
          <a:off x="0" y="105781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174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7" name="Google Shape;177;p7"/>
          <p:cNvSpPr txBox="1"/>
          <p:nvPr/>
        </p:nvSpPr>
        <p:spPr>
          <a:xfrm>
            <a:off x="407368" y="1628800"/>
            <a:ext cx="7992888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Konsistenz: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Einheitliche Begriffe und Stilelemente im gesamten Werk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Aspekte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Gleiche Bezeichnungen für Personen/Objekte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Durchgängiger Erzählstil</a:t>
            </a:r>
            <a:endParaRPr/>
          </a:p>
          <a:p>
            <a:pPr marL="742950" marR="0" lvl="1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Beispiele:</a:t>
            </a:r>
            <a:endParaRPr/>
          </a:p>
        </p:txBody>
      </p:sp>
      <p:graphicFrame>
        <p:nvGraphicFramePr>
          <p:cNvPr id="178" name="Google Shape;178;p7"/>
          <p:cNvGraphicFramePr/>
          <p:nvPr/>
        </p:nvGraphicFramePr>
        <p:xfrm>
          <a:off x="623392" y="407550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560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Konsistent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 b="1" i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Widersprüchlich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Zunächst: Der Sheriff zieht seinen Colt-Revolver.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Später: Der Colt-Revolver fällt zu Boden.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Zunächst: Der Sheriff zieht seinen Colt-Revolver.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Später: Die Pistole fällt zu Boden.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Zunächst: Herr Schmidt, der Mann mit Bart, geht zur Tür.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Später: Herr Schmidt schreit.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Zunächst: Der Mann mit Bart geht zur Tür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Später: Herr Schmidt schreit. (Ohne klare Verbindung).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Zunächst: Sie trägt ein rubinrotes Kleid.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Später: Das rubinrote Kleid flattert im Wind.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Zunächst: Sie trägt ein rubinrotes Kleid.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Später: Das dunkelrote Kleid flattert im Wind.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" name="Google Shape;183;p8"/>
          <p:cNvGraphicFramePr/>
          <p:nvPr/>
        </p:nvGraphicFramePr>
        <p:xfrm>
          <a:off x="0" y="105781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174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4" name="Google Shape;184;p8"/>
          <p:cNvSpPr txBox="1"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de-DE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2️⃣ Sprachliche Techniken</a:t>
            </a:r>
            <a:endParaRPr sz="2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407368" y="1628800"/>
            <a:ext cx="6196012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Aktiv statt Passiv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Ziel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Direkte, lebendige Sprache.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Aktivsätze kürzer und eindeutiger.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Beispiele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Der Dieb stiehlt die Tasche, statt die Tasche wird gestohlen.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Die Sonne blendet ich, statt, er wird von der Sonne geblendet.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Google Shape;190;p9"/>
          <p:cNvGraphicFramePr/>
          <p:nvPr/>
        </p:nvGraphicFramePr>
        <p:xfrm>
          <a:off x="0" y="1057816"/>
          <a:ext cx="12192075" cy="33529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174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de-DE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2️⃣ Sprachliche Techniken</a:t>
            </a:r>
            <a:endParaRPr sz="2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407368" y="1628800"/>
            <a:ext cx="6196012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Konkret statt Abstrakt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Ziel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Präzise visuelle Informationen.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Abstrakte Begriffe („schön“, „interessant“) vermeiden.</a:t>
            </a:r>
            <a:endParaRPr/>
          </a:p>
          <a:p>
            <a:pPr marL="742950" marR="0" lvl="1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Beispiele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Ein blaues Auto mit verbeulter Tür statt eine altes Autos.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Ihr rotes Kleid hat weiße Punkte statt sie trägt ein sommerliches Kleid.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" name="Google Shape;197;p10"/>
          <p:cNvGraphicFramePr/>
          <p:nvPr/>
        </p:nvGraphicFramePr>
        <p:xfrm>
          <a:off x="0" y="1057816"/>
          <a:ext cx="12192075" cy="33529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174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8" name="Google Shape;198;p10"/>
          <p:cNvSpPr txBox="1"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de-DE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2️⃣ Sprachliche Techniken</a:t>
            </a:r>
            <a:endParaRPr sz="2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407368" y="1637965"/>
            <a:ext cx="61959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Keine Metaphern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Ziel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Objektivität wahren.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Keine Subjektivität</a:t>
            </a:r>
            <a:endParaRPr/>
          </a:p>
          <a:p>
            <a:pPr marL="742950" marR="0" lvl="1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Beispiele </a:t>
            </a:r>
            <a:endParaRPr>
              <a:solidFill>
                <a:schemeClr val="dk1"/>
              </a:solidFill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 greift sich an die Stirn statt er ist verzweifelt.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Sie lächelt und zwinkert statt sie flirtet.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>
            <a:spLocks noGrp="1"/>
          </p:cNvSpPr>
          <p:nvPr>
            <p:ph type="sldNum" idx="12"/>
          </p:nvPr>
        </p:nvSpPr>
        <p:spPr>
          <a:xfrm>
            <a:off x="8832304" y="0"/>
            <a:ext cx="1628432" cy="36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latin typeface="Verdana"/>
                <a:ea typeface="Verdana"/>
                <a:cs typeface="Verdana"/>
                <a:sym typeface="Verdana"/>
              </a:rPr>
              <a:t>Seite </a:t>
            </a:r>
            <a:fld id="{00000000-1234-1234-1234-123412341234}" type="slidenum">
              <a:rPr lang="de-DE">
                <a:latin typeface="Verdana"/>
                <a:ea typeface="Verdana"/>
                <a:cs typeface="Verdana"/>
                <a:sym typeface="Verdana"/>
              </a:rPr>
              <a:t>11</a:t>
            </a:fld>
            <a:r>
              <a:rPr lang="de-DE"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graphicFrame>
        <p:nvGraphicFramePr>
          <p:cNvPr id="206" name="Google Shape;206;p11"/>
          <p:cNvGraphicFramePr/>
          <p:nvPr/>
        </p:nvGraphicFramePr>
        <p:xfrm>
          <a:off x="0" y="1057816"/>
          <a:ext cx="12192075" cy="33529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174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7" name="Google Shape;207;p11"/>
          <p:cNvSpPr txBox="1"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de-DE" sz="2000">
                <a:latin typeface="Arial"/>
                <a:ea typeface="Arial"/>
                <a:cs typeface="Arial"/>
                <a:sym typeface="Arial"/>
              </a:rPr>
              <a:t>3️⃣ </a:t>
            </a:r>
            <a:r>
              <a:rPr lang="de-DE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Struktur &amp; Priorisierung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407368" y="1628800"/>
            <a:ext cx="6196012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W-Fragen beantworten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Ziel: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Kerninformationen schnell vermitteln.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Minimum sollten die Fragen Wer? Wo? und Was? geklärt werden</a:t>
            </a:r>
            <a:endParaRPr/>
          </a:p>
          <a:p>
            <a:pPr marL="742950" marR="0" lvl="1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Beispiele</a:t>
            </a:r>
            <a:endParaRPr/>
          </a:p>
        </p:txBody>
      </p:sp>
      <p:graphicFrame>
        <p:nvGraphicFramePr>
          <p:cNvPr id="209" name="Google Shape;209;p11"/>
          <p:cNvGraphicFramePr/>
          <p:nvPr/>
        </p:nvGraphicFramePr>
        <p:xfrm>
          <a:off x="695400" y="3464942"/>
          <a:ext cx="9887725" cy="111255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248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Wer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Wo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Was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>
                          <a:latin typeface="Arial"/>
                          <a:ea typeface="Arial"/>
                          <a:cs typeface="Arial"/>
                          <a:sym typeface="Arial"/>
                        </a:rPr>
                        <a:t>Negativbeispiel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 b="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Ein Junge</a:t>
                      </a:r>
                      <a:endParaRPr sz="1400" i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 b="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wirft im Park</a:t>
                      </a:r>
                      <a:endParaRPr sz="1400" i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 b="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einen Ball.</a:t>
                      </a:r>
                      <a:endParaRPr sz="1400" i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 b="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Ein Ball fliegt.</a:t>
                      </a:r>
                      <a:endParaRPr sz="1400" i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 i="0">
                          <a:latin typeface="Arial"/>
                          <a:ea typeface="Arial"/>
                          <a:cs typeface="Arial"/>
                          <a:sym typeface="Arial"/>
                        </a:rPr>
                        <a:t>Eine ältere Frau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 i="0">
                          <a:latin typeface="Arial"/>
                          <a:ea typeface="Arial"/>
                          <a:cs typeface="Arial"/>
                          <a:sym typeface="Arial"/>
                        </a:rPr>
                        <a:t>zündet in der Küche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 i="0">
                          <a:latin typeface="Arial"/>
                          <a:ea typeface="Arial"/>
                          <a:cs typeface="Arial"/>
                          <a:sym typeface="Arial"/>
                        </a:rPr>
                        <a:t>eine Kerze an.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 i="0">
                          <a:latin typeface="Arial"/>
                          <a:ea typeface="Arial"/>
                          <a:cs typeface="Arial"/>
                          <a:sym typeface="Arial"/>
                        </a:rPr>
                        <a:t>Eine Kerze brennt.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 txBox="1">
            <a:spLocks noGrp="1"/>
          </p:cNvSpPr>
          <p:nvPr>
            <p:ph type="sldNum" idx="12"/>
          </p:nvPr>
        </p:nvSpPr>
        <p:spPr>
          <a:xfrm>
            <a:off x="8832304" y="0"/>
            <a:ext cx="1628432" cy="36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latin typeface="Verdana"/>
                <a:ea typeface="Verdana"/>
                <a:cs typeface="Verdana"/>
                <a:sym typeface="Verdana"/>
              </a:rPr>
              <a:t>Seite </a:t>
            </a:r>
            <a:fld id="{00000000-1234-1234-1234-123412341234}" type="slidenum">
              <a:rPr lang="de-DE">
                <a:latin typeface="Verdana"/>
                <a:ea typeface="Verdana"/>
                <a:cs typeface="Verdana"/>
                <a:sym typeface="Verdana"/>
              </a:rPr>
              <a:t>12</a:t>
            </a:fld>
            <a:r>
              <a:rPr lang="de-DE"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graphicFrame>
        <p:nvGraphicFramePr>
          <p:cNvPr id="216" name="Google Shape;216;p12"/>
          <p:cNvGraphicFramePr/>
          <p:nvPr/>
        </p:nvGraphicFramePr>
        <p:xfrm>
          <a:off x="0" y="1057816"/>
          <a:ext cx="12192075" cy="33529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174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7" name="Google Shape;217;p12"/>
          <p:cNvSpPr txBox="1"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de-DE" sz="2000">
                <a:latin typeface="Arial"/>
                <a:ea typeface="Arial"/>
                <a:cs typeface="Arial"/>
                <a:sym typeface="Arial"/>
              </a:rPr>
              <a:t>3️⃣ </a:t>
            </a:r>
            <a:r>
              <a:rPr lang="de-DE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Struktur &amp; Priorisierung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407368" y="1628800"/>
            <a:ext cx="6196012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Relevanz herausarbeiten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Ziel: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Wichtige Informationen zuerst, Unwichtiges weglassen.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Nur beschreiben, was für die Handlung oder Stimmung essenziell ist.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Beispiele</a:t>
            </a:r>
            <a:endParaRPr/>
          </a:p>
        </p:txBody>
      </p:sp>
      <p:graphicFrame>
        <p:nvGraphicFramePr>
          <p:cNvPr id="219" name="Google Shape;219;p12"/>
          <p:cNvGraphicFramePr/>
          <p:nvPr/>
        </p:nvGraphicFramePr>
        <p:xfrm>
          <a:off x="695400" y="3464942"/>
          <a:ext cx="10369150" cy="126227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520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Handlungsrelevant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Negativ Beispiel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 b="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Ein Mann mit blutigem Hemd stolpert.</a:t>
                      </a:r>
                      <a:endParaRPr sz="1400" i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 b="0" i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Ein Mann mit blauem Jeanshemd, schwarzen Schuhen und einer Uhr stolpert.</a:t>
                      </a:r>
                      <a:endParaRPr sz="1400" i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 i="0">
                          <a:latin typeface="Arial"/>
                          <a:ea typeface="Arial"/>
                          <a:cs typeface="Arial"/>
                          <a:sym typeface="Arial"/>
                        </a:rPr>
                        <a:t>Sie hält einen Brief mit Siegel.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400" i="0">
                          <a:latin typeface="Arial"/>
                          <a:ea typeface="Arial"/>
                          <a:cs typeface="Arial"/>
                          <a:sym typeface="Arial"/>
                        </a:rPr>
                        <a:t>Sie hält ein Stück Papier.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"/>
          <p:cNvSpPr txBox="1">
            <a:spLocks noGrp="1"/>
          </p:cNvSpPr>
          <p:nvPr>
            <p:ph type="sldNum" idx="12"/>
          </p:nvPr>
        </p:nvSpPr>
        <p:spPr>
          <a:xfrm>
            <a:off x="8832304" y="0"/>
            <a:ext cx="1628432" cy="36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latin typeface="Verdana"/>
                <a:ea typeface="Verdana"/>
                <a:cs typeface="Verdana"/>
                <a:sym typeface="Verdana"/>
              </a:rPr>
              <a:t>Seite </a:t>
            </a:r>
            <a:fld id="{00000000-1234-1234-1234-123412341234}" type="slidenum">
              <a:rPr lang="de-DE">
                <a:latin typeface="Verdana"/>
                <a:ea typeface="Verdana"/>
                <a:cs typeface="Verdana"/>
                <a:sym typeface="Verdana"/>
              </a:rPr>
              <a:t>13</a:t>
            </a:fld>
            <a:r>
              <a:rPr lang="de-DE"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graphicFrame>
        <p:nvGraphicFramePr>
          <p:cNvPr id="226" name="Google Shape;226;p13"/>
          <p:cNvGraphicFramePr/>
          <p:nvPr/>
        </p:nvGraphicFramePr>
        <p:xfrm>
          <a:off x="0" y="1057816"/>
          <a:ext cx="12192075" cy="33529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174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7" name="Google Shape;227;p13"/>
          <p:cNvSpPr txBox="1"/>
          <p:nvPr/>
        </p:nvSpPr>
        <p:spPr>
          <a:xfrm>
            <a:off x="0" y="476672"/>
            <a:ext cx="12191998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de-DE" sz="20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4️⃣ </a:t>
            </a:r>
            <a:r>
              <a:rPr lang="de-DE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Sprachliche Anpassung</a:t>
            </a:r>
            <a:endParaRPr/>
          </a:p>
        </p:txBody>
      </p:sp>
      <p:sp>
        <p:nvSpPr>
          <p:cNvPr id="228" name="Google Shape;228;p13"/>
          <p:cNvSpPr txBox="1"/>
          <p:nvPr/>
        </p:nvSpPr>
        <p:spPr>
          <a:xfrm>
            <a:off x="407368" y="1628800"/>
            <a:ext cx="6196012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Genre-Anpassung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Ziel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Sprache muss Stil und Atmosphäre des Films widerspiegeln.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Beispiele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Horror: Eine Tür knarrt langsam auf statt die Tür geht auf.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Kinderfilm: „Der Drache niest bunte Funken!“  statt „Das Reptil expelliert pyrotechnische Partikel.“</a:t>
            </a:r>
            <a:endParaRPr/>
          </a:p>
          <a:p>
            <a:pPr marL="742950" marR="0" lvl="1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Übersicht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Actionfilme: Kurze, dynamische Sätze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Dramen: Emotionale Nuancen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Komödien: Leichter Ton, ggf. Wortwitz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Horror: bedrohlich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Kinderfilm: spielerisch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Sci-Fi: futuristisch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"/>
          <p:cNvSpPr txBox="1">
            <a:spLocks noGrp="1"/>
          </p:cNvSpPr>
          <p:nvPr>
            <p:ph type="sldNum" idx="12"/>
          </p:nvPr>
        </p:nvSpPr>
        <p:spPr>
          <a:xfrm>
            <a:off x="8832304" y="0"/>
            <a:ext cx="1628432" cy="36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latin typeface="Verdana"/>
                <a:ea typeface="Verdana"/>
                <a:cs typeface="Verdana"/>
                <a:sym typeface="Verdana"/>
              </a:rPr>
              <a:t>Seite </a:t>
            </a:r>
            <a:fld id="{00000000-1234-1234-1234-123412341234}" type="slidenum">
              <a:rPr lang="de-DE">
                <a:latin typeface="Verdana"/>
                <a:ea typeface="Verdana"/>
                <a:cs typeface="Verdana"/>
                <a:sym typeface="Verdana"/>
              </a:rPr>
              <a:t>14</a:t>
            </a:fld>
            <a:r>
              <a:rPr lang="de-DE"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graphicFrame>
        <p:nvGraphicFramePr>
          <p:cNvPr id="235" name="Google Shape;235;p14"/>
          <p:cNvGraphicFramePr/>
          <p:nvPr/>
        </p:nvGraphicFramePr>
        <p:xfrm>
          <a:off x="0" y="1057816"/>
          <a:ext cx="12192075" cy="33529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174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6" name="Google Shape;236;p14"/>
          <p:cNvSpPr txBox="1"/>
          <p:nvPr/>
        </p:nvSpPr>
        <p:spPr>
          <a:xfrm>
            <a:off x="0" y="476672"/>
            <a:ext cx="12191998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de-DE" sz="20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4️⃣ </a:t>
            </a:r>
            <a:r>
              <a:rPr lang="de-DE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Sprachliche Anpassung</a:t>
            </a:r>
            <a:endParaRPr/>
          </a:p>
        </p:txBody>
      </p:sp>
      <p:sp>
        <p:nvSpPr>
          <p:cNvPr id="237" name="Google Shape;237;p14"/>
          <p:cNvSpPr txBox="1"/>
          <p:nvPr/>
        </p:nvSpPr>
        <p:spPr>
          <a:xfrm>
            <a:off x="407368" y="1628800"/>
            <a:ext cx="6196012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Stilistische Orientierung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Ziel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Sprachstil an visuellen Stil des Films anlehnen.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Beispiele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Blockbuster: Der Helikopter rast knapp über die Skyline statt ein Helikopter fliegt..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Dokumentarfilm: Der Gletscher kalbt; Eisbrocken stürzen ins Meer statt das Eis schmilzt.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Übersicht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Arthouse: Poetisch, abstrakt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Märchen: Verspielt, rhythmisch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Noir: Düstere Metaphern, kurze Sätze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Blockbuster: Dynamisch, prägnant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Dokumentarfilm: Sachlich, faktenbasiert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"/>
          <p:cNvSpPr txBox="1">
            <a:spLocks noGrp="1"/>
          </p:cNvSpPr>
          <p:nvPr>
            <p:ph type="sldNum" idx="12"/>
          </p:nvPr>
        </p:nvSpPr>
        <p:spPr>
          <a:xfrm>
            <a:off x="8832304" y="0"/>
            <a:ext cx="1628432" cy="36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latin typeface="Verdana"/>
                <a:ea typeface="Verdana"/>
                <a:cs typeface="Verdana"/>
                <a:sym typeface="Verdana"/>
              </a:rPr>
              <a:t>Seite </a:t>
            </a:r>
            <a:fld id="{00000000-1234-1234-1234-123412341234}" type="slidenum">
              <a:rPr lang="de-DE">
                <a:latin typeface="Verdana"/>
                <a:ea typeface="Verdana"/>
                <a:cs typeface="Verdana"/>
                <a:sym typeface="Verdana"/>
              </a:rPr>
              <a:t>15</a:t>
            </a:fld>
            <a:r>
              <a:rPr lang="de-DE"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graphicFrame>
        <p:nvGraphicFramePr>
          <p:cNvPr id="244" name="Google Shape;244;p15"/>
          <p:cNvGraphicFramePr/>
          <p:nvPr/>
        </p:nvGraphicFramePr>
        <p:xfrm>
          <a:off x="0" y="1057816"/>
          <a:ext cx="12192075" cy="33529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174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5" name="Google Shape;245;p15"/>
          <p:cNvSpPr txBox="1"/>
          <p:nvPr/>
        </p:nvSpPr>
        <p:spPr>
          <a:xfrm>
            <a:off x="0" y="476672"/>
            <a:ext cx="12191998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de-DE" sz="20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4️⃣ </a:t>
            </a:r>
            <a:r>
              <a:rPr lang="de-DE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Sprachliche Anpassung</a:t>
            </a:r>
            <a:endParaRPr/>
          </a:p>
        </p:txBody>
      </p:sp>
      <p:sp>
        <p:nvSpPr>
          <p:cNvPr id="246" name="Google Shape;246;p15"/>
          <p:cNvSpPr txBox="1"/>
          <p:nvPr/>
        </p:nvSpPr>
        <p:spPr>
          <a:xfrm>
            <a:off x="407368" y="1628800"/>
            <a:ext cx="6195900" cy="3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Zielgruppenfokus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Ziel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Sprache an Alter und Vorwissen der Zielgruppe anpassen.</a:t>
            </a:r>
            <a:endParaRPr/>
          </a:p>
          <a:p>
            <a:pPr marL="742950" marR="0" lvl="1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Beispiele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Kinder: Platsch! Der Frosch springt ins Wasser statt </a:t>
            </a:r>
            <a:r>
              <a:rPr lang="de-DE">
                <a:solidFill>
                  <a:schemeClr val="dk1"/>
                </a:solidFill>
              </a:rPr>
              <a:t>e</a:t>
            </a: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Amphibie vollführt einen Sprung ins feuchte Element.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Erwachsene: Er tippt Code in das Terminal statt er benutzt den Computer.</a:t>
            </a:r>
            <a:endParaRPr/>
          </a:p>
          <a:p>
            <a:pPr marL="742950" marR="0" lvl="1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Zielgruppen abschätzen: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Vorwissen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Kultureller Hintergrund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"/>
          <p:cNvSpPr txBox="1">
            <a:spLocks noGrp="1"/>
          </p:cNvSpPr>
          <p:nvPr>
            <p:ph type="sldNum" idx="12"/>
          </p:nvPr>
        </p:nvSpPr>
        <p:spPr>
          <a:xfrm>
            <a:off x="8832304" y="0"/>
            <a:ext cx="1628432" cy="36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latin typeface="Verdana"/>
                <a:ea typeface="Verdana"/>
                <a:cs typeface="Verdana"/>
                <a:sym typeface="Verdana"/>
              </a:rPr>
              <a:t>Seite </a:t>
            </a:r>
            <a:fld id="{00000000-1234-1234-1234-123412341234}" type="slidenum">
              <a:rPr lang="de-DE">
                <a:latin typeface="Verdana"/>
                <a:ea typeface="Verdana"/>
                <a:cs typeface="Verdana"/>
                <a:sym typeface="Verdana"/>
              </a:rPr>
              <a:t>16</a:t>
            </a:fld>
            <a:r>
              <a:rPr lang="de-DE"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graphicFrame>
        <p:nvGraphicFramePr>
          <p:cNvPr id="253" name="Google Shape;253;p16"/>
          <p:cNvGraphicFramePr/>
          <p:nvPr/>
        </p:nvGraphicFramePr>
        <p:xfrm>
          <a:off x="0" y="1057816"/>
          <a:ext cx="12192075" cy="33529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174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4" name="Google Shape;254;p16"/>
          <p:cNvSpPr txBox="1"/>
          <p:nvPr/>
        </p:nvSpPr>
        <p:spPr>
          <a:xfrm>
            <a:off x="0" y="476672"/>
            <a:ext cx="12191998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de-DE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5️⃣ </a:t>
            </a:r>
            <a:r>
              <a:rPr lang="de-DE" sz="2000" b="1">
                <a:solidFill>
                  <a:schemeClr val="dk1"/>
                </a:solidFill>
              </a:rPr>
              <a:t>Herausforderungen</a:t>
            </a:r>
            <a:endParaRPr sz="2800"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6"/>
          <p:cNvSpPr txBox="1"/>
          <p:nvPr/>
        </p:nvSpPr>
        <p:spPr>
          <a:xfrm>
            <a:off x="407375" y="1628800"/>
            <a:ext cx="76566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rgbClr val="40404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Schnelle Szenenwechse</a:t>
            </a:r>
            <a:r>
              <a:rPr lang="de-DE" sz="1200">
                <a:solidFill>
                  <a:srgbClr val="40404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</a:t>
            </a:r>
            <a:endParaRPr sz="1200">
              <a:solidFill>
                <a:srgbClr val="40404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>
                <a:solidFill>
                  <a:schemeClr val="dk1"/>
                </a:solidFill>
              </a:rPr>
              <a:t>Schwierigkeit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>
                <a:solidFill>
                  <a:schemeClr val="dk1"/>
                </a:solidFill>
                <a:highlight>
                  <a:srgbClr val="FFFFFF"/>
                </a:highlight>
              </a:rPr>
              <a:t>In Actionfilmen, Trailern oder Musikvideos bleibt kaum Zeit für Beschreibungen.</a:t>
            </a:r>
            <a:endParaRPr>
              <a:solidFill>
                <a:schemeClr val="dk1"/>
              </a:solidFill>
            </a:endParaRPr>
          </a:p>
          <a:p>
            <a:pPr marL="9144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>
                <a:solidFill>
                  <a:schemeClr val="dk1"/>
                </a:solidFill>
              </a:rPr>
              <a:t>Lösungsansätze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>
                <a:solidFill>
                  <a:schemeClr val="dk1"/>
                </a:solidFill>
              </a:rPr>
              <a:t>Priorisierung: z.B. </a:t>
            </a:r>
            <a:r>
              <a:rPr lang="de-DE">
                <a:solidFill>
                  <a:schemeClr val="dk1"/>
                </a:solidFill>
                <a:highlight>
                  <a:srgbClr val="FFFFFF"/>
                </a:highlight>
              </a:rPr>
              <a:t>Explosion, Rauch füllt den Raum! (nur Kerninfo)</a:t>
            </a:r>
            <a:endParaRPr>
              <a:solidFill>
                <a:schemeClr val="dk1"/>
              </a:solidFill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Ellipsen: </a:t>
            </a:r>
            <a:r>
              <a:rPr lang="de-DE">
                <a:solidFill>
                  <a:schemeClr val="dk1"/>
                </a:solidFill>
                <a:highlight>
                  <a:srgbClr val="FFFFFF"/>
                </a:highlight>
              </a:rPr>
              <a:t>Verfolgungsjagd: Auto rast, Motor heult.“ (verkürzt)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</a:pPr>
            <a:r>
              <a:rPr lang="de-DE">
                <a:solidFill>
                  <a:schemeClr val="dk1"/>
                </a:solidFill>
                <a:highlight>
                  <a:srgbClr val="FFFFFF"/>
                </a:highlight>
              </a:rPr>
              <a:t>Vorausschau: Film: Protagonistin verlässt das Haus (Schnitt zu Straße). AD: Sie stürmt hinaus, draußen wartet ein Taxi.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9144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50a54931d7_0_8"/>
          <p:cNvSpPr txBox="1">
            <a:spLocks noGrp="1"/>
          </p:cNvSpPr>
          <p:nvPr>
            <p:ph type="sldNum" idx="12"/>
          </p:nvPr>
        </p:nvSpPr>
        <p:spPr>
          <a:xfrm>
            <a:off x="8832304" y="0"/>
            <a:ext cx="16284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latin typeface="Verdana"/>
                <a:ea typeface="Verdana"/>
                <a:cs typeface="Verdana"/>
                <a:sym typeface="Verdana"/>
              </a:rPr>
              <a:t>Seite </a:t>
            </a:r>
            <a:fld id="{00000000-1234-1234-1234-123412341234}" type="slidenum">
              <a:rPr lang="de-DE">
                <a:latin typeface="Verdana"/>
                <a:ea typeface="Verdana"/>
                <a:cs typeface="Verdana"/>
                <a:sym typeface="Verdana"/>
              </a:rPr>
              <a:t>17</a:t>
            </a:fld>
            <a:r>
              <a:rPr lang="de-DE"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graphicFrame>
        <p:nvGraphicFramePr>
          <p:cNvPr id="262" name="Google Shape;262;g350a54931d7_0_8"/>
          <p:cNvGraphicFramePr/>
          <p:nvPr/>
        </p:nvGraphicFramePr>
        <p:xfrm>
          <a:off x="0" y="1057816"/>
          <a:ext cx="12192075" cy="33529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174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3" name="Google Shape;263;g350a54931d7_0_8"/>
          <p:cNvSpPr txBox="1"/>
          <p:nvPr/>
        </p:nvSpPr>
        <p:spPr>
          <a:xfrm>
            <a:off x="0" y="476672"/>
            <a:ext cx="12192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de-DE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5️⃣ </a:t>
            </a:r>
            <a:r>
              <a:rPr lang="de-DE" sz="2000" b="1">
                <a:solidFill>
                  <a:schemeClr val="dk1"/>
                </a:solidFill>
              </a:rPr>
              <a:t>Herausforderungen</a:t>
            </a:r>
            <a:endParaRPr sz="2800"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50a54931d7_0_8"/>
          <p:cNvSpPr txBox="1"/>
          <p:nvPr/>
        </p:nvSpPr>
        <p:spPr>
          <a:xfrm>
            <a:off x="407375" y="1628800"/>
            <a:ext cx="7656600" cy="27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dk1"/>
                </a:solidFill>
              </a:rPr>
              <a:t>Emotionen</a:t>
            </a:r>
            <a:endParaRPr>
              <a:solidFill>
                <a:srgbClr val="404040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>
                <a:solidFill>
                  <a:schemeClr val="dk1"/>
                </a:solidFill>
              </a:rPr>
              <a:t>Schwierigkeit </a:t>
            </a:r>
            <a:endParaRPr/>
          </a:p>
          <a:p>
            <a:pPr marL="742950" marR="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de-DE">
                <a:solidFill>
                  <a:schemeClr val="dk1"/>
                </a:solidFill>
                <a:highlight>
                  <a:srgbClr val="FFFFFF"/>
                </a:highlight>
              </a:rPr>
              <a:t>Gefühle sind oft nur visuell erkennbar, Beschreibung ohne Subjektivität ist schwierig</a:t>
            </a:r>
            <a:endParaRPr sz="1600">
              <a:solidFill>
                <a:schemeClr val="dk1"/>
              </a:solidFill>
            </a:endParaRPr>
          </a:p>
          <a:p>
            <a:pPr marL="9144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>
                <a:solidFill>
                  <a:schemeClr val="dk1"/>
                </a:solidFill>
              </a:rPr>
              <a:t>Lösungsansätze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>
                <a:solidFill>
                  <a:schemeClr val="dk1"/>
                </a:solidFill>
              </a:rPr>
              <a:t>Objektive beschreibung des Gesehenen </a:t>
            </a:r>
            <a:endParaRPr>
              <a:solidFill>
                <a:schemeClr val="dk1"/>
              </a:solidFill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>
                <a:solidFill>
                  <a:schemeClr val="dk1"/>
                </a:solidFill>
              </a:rPr>
              <a:t>Kombination aus Mimik und Handlung beschreiben. Beispiel: </a:t>
            </a:r>
            <a:r>
              <a:rPr lang="de-DE">
                <a:solidFill>
                  <a:schemeClr val="dk1"/>
                </a:solidFill>
                <a:highlight>
                  <a:srgbClr val="FFFFFF"/>
                </a:highlight>
              </a:rPr>
              <a:t>Er beißt die Lippe, zögert, dann nickt er. (zeigt Konflikt)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9144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50a54931d7_0_18"/>
          <p:cNvSpPr txBox="1">
            <a:spLocks noGrp="1"/>
          </p:cNvSpPr>
          <p:nvPr>
            <p:ph type="sldNum" idx="12"/>
          </p:nvPr>
        </p:nvSpPr>
        <p:spPr>
          <a:xfrm>
            <a:off x="8832304" y="0"/>
            <a:ext cx="16284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latin typeface="Verdana"/>
                <a:ea typeface="Verdana"/>
                <a:cs typeface="Verdana"/>
                <a:sym typeface="Verdana"/>
              </a:rPr>
              <a:t>Seite </a:t>
            </a:r>
            <a:fld id="{00000000-1234-1234-1234-123412341234}" type="slidenum">
              <a:rPr lang="de-DE">
                <a:latin typeface="Verdana"/>
                <a:ea typeface="Verdana"/>
                <a:cs typeface="Verdana"/>
                <a:sym typeface="Verdana"/>
              </a:rPr>
              <a:t>18</a:t>
            </a:fld>
            <a:r>
              <a:rPr lang="de-DE"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graphicFrame>
        <p:nvGraphicFramePr>
          <p:cNvPr id="271" name="Google Shape;271;g350a54931d7_0_18"/>
          <p:cNvGraphicFramePr/>
          <p:nvPr/>
        </p:nvGraphicFramePr>
        <p:xfrm>
          <a:off x="0" y="1057816"/>
          <a:ext cx="12192075" cy="33529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174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2" name="Google Shape;272;g350a54931d7_0_18"/>
          <p:cNvSpPr txBox="1"/>
          <p:nvPr/>
        </p:nvSpPr>
        <p:spPr>
          <a:xfrm>
            <a:off x="0" y="476672"/>
            <a:ext cx="12192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de-DE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5️⃣ </a:t>
            </a:r>
            <a:r>
              <a:rPr lang="de-DE" sz="2000" b="1">
                <a:solidFill>
                  <a:schemeClr val="dk1"/>
                </a:solidFill>
              </a:rPr>
              <a:t>Herausforderungen</a:t>
            </a:r>
            <a:endParaRPr sz="2800"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50a54931d7_0_18"/>
          <p:cNvSpPr txBox="1"/>
          <p:nvPr/>
        </p:nvSpPr>
        <p:spPr>
          <a:xfrm>
            <a:off x="407375" y="1628800"/>
            <a:ext cx="76566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>
                <a:solidFill>
                  <a:schemeClr val="dk1"/>
                </a:solidFill>
              </a:rPr>
              <a:t>Kulturelle Hinweise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</a:pP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</a:pPr>
            <a:endParaRPr dirty="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dirty="0">
                <a:solidFill>
                  <a:schemeClr val="dk1"/>
                </a:solidFill>
              </a:rPr>
              <a:t>Schwierigkeit </a:t>
            </a:r>
            <a:endParaRPr dirty="0"/>
          </a:p>
          <a:p>
            <a:pPr marL="914400" marR="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de-DE" dirty="0">
                <a:solidFill>
                  <a:schemeClr val="dk1"/>
                </a:solidFill>
                <a:highlight>
                  <a:srgbClr val="FFFFFF"/>
                </a:highlight>
              </a:rPr>
              <a:t>Spezifische Traditionen, Slang oder historische Ereignisse sind nicht allen bekannt.</a:t>
            </a: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9144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9144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dirty="0">
                <a:solidFill>
                  <a:schemeClr val="dk1"/>
                </a:solidFill>
              </a:rPr>
              <a:t>Lösungsansätze 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dirty="0">
                <a:solidFill>
                  <a:schemeClr val="dk1"/>
                </a:solidFill>
              </a:rPr>
              <a:t>Kurze Erklärungen zu den Gegebenheiten</a:t>
            </a:r>
            <a:endParaRPr dirty="0">
              <a:solidFill>
                <a:schemeClr val="dk1"/>
              </a:solidFill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dirty="0">
                <a:solidFill>
                  <a:schemeClr val="dk1"/>
                </a:solidFill>
              </a:rPr>
              <a:t>Beispiel Oktoberfest: </a:t>
            </a:r>
            <a:r>
              <a:rPr lang="de-DE" dirty="0">
                <a:solidFill>
                  <a:schemeClr val="dk1"/>
                </a:solidFill>
                <a:highlight>
                  <a:srgbClr val="FFFFFF"/>
                </a:highlight>
              </a:rPr>
              <a:t>Auf dem Oktoberfest (bayerisches Bierfest) trägt er Lederhosen.</a:t>
            </a:r>
            <a:r>
              <a:rPr lang="de-DE" dirty="0">
                <a:solidFill>
                  <a:schemeClr val="dk1"/>
                </a:solidFill>
              </a:rPr>
              <a:t>  </a:t>
            </a:r>
            <a:endParaRPr dirty="0">
              <a:solidFill>
                <a:schemeClr val="dk1"/>
              </a:solidFill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</a:pPr>
            <a:r>
              <a:rPr lang="de-DE" dirty="0">
                <a:solidFill>
                  <a:schemeClr val="dk1"/>
                </a:solidFill>
              </a:rPr>
              <a:t>Beispiel Slang: </a:t>
            </a:r>
            <a:r>
              <a:rPr lang="de-DE" dirty="0">
                <a:solidFill>
                  <a:schemeClr val="dk1"/>
                </a:solidFill>
                <a:highlight>
                  <a:srgbClr val="FFFFFF"/>
                </a:highlight>
              </a:rPr>
              <a:t>Sie sagt: Alter! (umgangssprachlich für Überraschung).</a:t>
            </a: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</a:pPr>
            <a:r>
              <a:rPr lang="de-DE" dirty="0">
                <a:solidFill>
                  <a:schemeClr val="dk1"/>
                </a:solidFill>
                <a:highlight>
                  <a:srgbClr val="FFFFFF"/>
                </a:highlight>
              </a:rPr>
              <a:t>Eventuell noch die Bedeutung in Ton beschreiben (spöttisch oder freundschaftlich etc.) </a:t>
            </a: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9144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"/>
          <p:cNvSpPr txBox="1">
            <a:spLocks noGrp="1"/>
          </p:cNvSpPr>
          <p:nvPr>
            <p:ph type="sldNum" idx="12"/>
          </p:nvPr>
        </p:nvSpPr>
        <p:spPr>
          <a:xfrm>
            <a:off x="8688288" y="0"/>
            <a:ext cx="1772448" cy="36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latin typeface="Verdana"/>
                <a:ea typeface="Verdana"/>
                <a:cs typeface="Verdana"/>
                <a:sym typeface="Verdana"/>
              </a:rPr>
              <a:t>Seite </a:t>
            </a:r>
            <a:fld id="{00000000-1234-1234-1234-123412341234}" type="slidenum">
              <a:rPr lang="de-DE">
                <a:latin typeface="Verdana"/>
                <a:ea typeface="Verdana"/>
                <a:cs typeface="Verdana"/>
                <a:sym typeface="Verdana"/>
              </a:rPr>
              <a:t>19</a:t>
            </a:fld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79" name="Google Shape;279;p17"/>
          <p:cNvGraphicFramePr/>
          <p:nvPr/>
        </p:nvGraphicFramePr>
        <p:xfrm>
          <a:off x="0" y="1057816"/>
          <a:ext cx="12192075" cy="335290"/>
        </p:xfrm>
        <a:graphic>
          <a:graphicData uri="http://schemas.openxmlformats.org/drawingml/2006/table">
            <a:tbl>
              <a:tblPr firstRow="1" bandRow="1">
                <a:noFill/>
                <a:tableStyleId>{BF621E45-C137-4521-9627-4BB48CBC3931}</a:tableStyleId>
              </a:tblPr>
              <a:tblGrid>
                <a:gridCol w="174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0" name="Google Shape;280;p17"/>
          <p:cNvSpPr txBox="1"/>
          <p:nvPr/>
        </p:nvSpPr>
        <p:spPr>
          <a:xfrm>
            <a:off x="0" y="476672"/>
            <a:ext cx="12191998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de-DE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6️⃣ </a:t>
            </a:r>
            <a:r>
              <a:rPr lang="de-DE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Punkt 6</a:t>
            </a:r>
            <a:endParaRPr sz="2000"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7"/>
          <p:cNvSpPr txBox="1"/>
          <p:nvPr/>
        </p:nvSpPr>
        <p:spPr>
          <a:xfrm>
            <a:off x="407367" y="1628800"/>
            <a:ext cx="7405773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de-DE" sz="14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Ressourcen</a:t>
            </a:r>
          </a:p>
          <a:p>
            <a:pPr>
              <a:buClr>
                <a:schemeClr val="dk1"/>
              </a:buClr>
              <a:buSzPts val="1400"/>
            </a:pPr>
            <a:endParaRPr lang="de-DE"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</a:pPr>
            <a:endParaRPr lang="de-DE"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  <a:hlinkClick r:id="rId3"/>
              </a:rPr>
              <a:t>https://www.ndr.de/fernsehen/barrierefreie_angebote/audiodeskription/Vorgaben-fuer-Audiodeskriptionen,audiodeskription140.html</a:t>
            </a:r>
            <a:endParaRPr lang="de-DE" sz="1400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endParaRPr lang="de-DE" dirty="0">
              <a:solidFill>
                <a:schemeClr val="dk1"/>
              </a:solidFill>
              <a:latin typeface="+mn-lt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Maaß, C., &amp; Rink, I. (2018). Handbuch Barrierefreie Kommunikation. Frank &amp; Timme.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lang="de-DE" sz="1400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sz="140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Benecke, Bernd. Audiodeskription als partielle Translation: Modell und Methode. Vol. 4. LIT Verlag Münster, 2014. (Der frei verfügbare Teil)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endParaRPr lang="de-DE" sz="1400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dirty="0">
                <a:latin typeface="+mn-lt"/>
                <a:hlinkClick r:id="rId4"/>
              </a:rPr>
              <a:t>01_anishchenko.pdf</a:t>
            </a:r>
            <a:r>
              <a:rPr lang="de-DE" dirty="0">
                <a:latin typeface="+mn-lt"/>
              </a:rPr>
              <a:t> Emotionstransfer bei der Audiodeskription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endParaRPr lang="de-DE" sz="1400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de-DE" b="0" i="0" dirty="0">
                <a:solidFill>
                  <a:srgbClr val="222222"/>
                </a:solidFill>
                <a:effectLst/>
                <a:latin typeface="+mn-lt"/>
              </a:rPr>
              <a:t>Benecke, B. (2014). Der Ton macht die Audiodeskription. </a:t>
            </a:r>
            <a:r>
              <a:rPr lang="de-DE" b="0" i="1" dirty="0">
                <a:solidFill>
                  <a:srgbClr val="222222"/>
                </a:solidFill>
                <a:effectLst/>
                <a:latin typeface="+mn-lt"/>
              </a:rPr>
              <a:t>JEKAT, SUSANNE/JÜNGST, HEIKE/SCHUBERT, KLAUS/VILLIGER, CLAUDIA (</a:t>
            </a:r>
            <a:r>
              <a:rPr lang="de-DE" b="0" i="1" dirty="0" err="1">
                <a:solidFill>
                  <a:srgbClr val="222222"/>
                </a:solidFill>
                <a:effectLst/>
                <a:latin typeface="+mn-lt"/>
              </a:rPr>
              <a:t>Hg</a:t>
            </a:r>
            <a:r>
              <a:rPr lang="de-DE" b="0" i="1" dirty="0">
                <a:solidFill>
                  <a:srgbClr val="222222"/>
                </a:solidFill>
                <a:effectLst/>
                <a:latin typeface="+mn-lt"/>
              </a:rPr>
              <a:t>.): Sprache barrierefrei gestalten: Perspektiven aus der Angewandten Linguistik. Berlin: Frank &amp; Timme</a:t>
            </a:r>
            <a:r>
              <a:rPr lang="de-DE" b="0" i="0" dirty="0">
                <a:solidFill>
                  <a:srgbClr val="222222"/>
                </a:solidFill>
                <a:effectLst/>
                <a:latin typeface="+mn-lt"/>
              </a:rPr>
              <a:t>, 109-126.</a:t>
            </a:r>
            <a:r>
              <a:rPr lang="de-DE" b="0" i="0" dirty="0">
                <a:solidFill>
                  <a:schemeClr val="dk1"/>
                </a:solidFill>
                <a:effectLst/>
                <a:latin typeface="+mn-lt"/>
              </a:rPr>
              <a:t> </a:t>
            </a:r>
            <a:endParaRPr lang="de-DE" sz="1400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endParaRPr lang="de-DE" dirty="0">
              <a:solidFill>
                <a:schemeClr val="dk1"/>
              </a:solidFill>
            </a:endParaRPr>
          </a:p>
          <a:p>
            <a:pPr lvl="8">
              <a:buClr>
                <a:schemeClr val="dk1"/>
              </a:buClr>
              <a:buSzPts val="1400"/>
            </a:pPr>
            <a:endParaRPr lang="de-D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3" indent="-285750">
              <a:buClr>
                <a:schemeClr val="dk1"/>
              </a:buClr>
              <a:buSzPts val="1400"/>
              <a:buFont typeface="Noto Sans Symbols"/>
              <a:buChar char="▪"/>
            </a:pPr>
            <a:endParaRPr lang="de-D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2" indent="-285750">
              <a:buClr>
                <a:schemeClr val="dk1"/>
              </a:buClr>
              <a:buSzPts val="1400"/>
              <a:buFont typeface="Noto Sans Symbols"/>
              <a:buChar char="▪"/>
            </a:pPr>
            <a:endParaRPr lang="de-D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hea">
  <a:themeElements>
    <a:clrScheme name="Rhea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1398</Words>
  <Application>Microsoft Office PowerPoint</Application>
  <PresentationFormat>Breitbild</PresentationFormat>
  <Paragraphs>355</Paragraphs>
  <Slides>19</Slides>
  <Notes>19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7" baseType="lpstr">
      <vt:lpstr>Arial</vt:lpstr>
      <vt:lpstr>Roboto</vt:lpstr>
      <vt:lpstr>Noto Sans Symbols</vt:lpstr>
      <vt:lpstr>Calibri</vt:lpstr>
      <vt:lpstr>Verdana</vt:lpstr>
      <vt:lpstr>Georgia</vt:lpstr>
      <vt:lpstr>Trebuchet MS</vt:lpstr>
      <vt:lpstr>Rhea</vt:lpstr>
      <vt:lpstr>PowerPoint-Präsentation</vt:lpstr>
      <vt:lpstr>PowerPoint-Präsentation</vt:lpstr>
      <vt:lpstr>1️⃣ Grundprinzipien</vt:lpstr>
      <vt:lpstr>1️⃣ Grundprinzipien</vt:lpstr>
      <vt:lpstr>1️⃣ Grundprinzipien</vt:lpstr>
      <vt:lpstr>1️⃣ Grundprinzipien</vt:lpstr>
      <vt:lpstr>1️⃣ Grundprinzipien</vt:lpstr>
      <vt:lpstr>2️⃣ Sprachliche Techniken</vt:lpstr>
      <vt:lpstr>2️⃣ Sprachliche Techniken</vt:lpstr>
      <vt:lpstr>2️⃣ Sprachliche Techniken</vt:lpstr>
      <vt:lpstr>3️⃣ Struktur &amp; Priorisierung</vt:lpstr>
      <vt:lpstr>3️⃣ Struktur &amp; Priorisierung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Balczukat, Phil</dc:creator>
  <cp:lastModifiedBy>Schulik, Dimitrij</cp:lastModifiedBy>
  <cp:revision>1</cp:revision>
  <dcterms:created xsi:type="dcterms:W3CDTF">2012-01-31T07:49:28Z</dcterms:created>
  <dcterms:modified xsi:type="dcterms:W3CDTF">2025-04-29T11:45:08Z</dcterms:modified>
</cp:coreProperties>
</file>