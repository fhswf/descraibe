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Lst>
  <p:notesMasterIdLst>
    <p:notesMasterId r:id="rId16"/>
  </p:notesMasterIdLst>
  <p:sldIdLst>
    <p:sldId id="293" r:id="rId2"/>
    <p:sldId id="256" r:id="rId3"/>
    <p:sldId id="287" r:id="rId4"/>
    <p:sldId id="266" r:id="rId5"/>
    <p:sldId id="288" r:id="rId6"/>
    <p:sldId id="291" r:id="rId7"/>
    <p:sldId id="292" r:id="rId8"/>
    <p:sldId id="283" r:id="rId9"/>
    <p:sldId id="289" r:id="rId10"/>
    <p:sldId id="290" r:id="rId11"/>
    <p:sldId id="275" r:id="rId12"/>
    <p:sldId id="271" r:id="rId13"/>
    <p:sldId id="285"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38086"/>
    <a:srgbClr val="488A88"/>
    <a:srgbClr val="424456"/>
    <a:srgbClr val="F6DC40"/>
    <a:srgbClr val="FFFF4F"/>
    <a:srgbClr val="C3E74F"/>
    <a:srgbClr val="72AF2F"/>
    <a:srgbClr val="5A8B25"/>
    <a:srgbClr val="FD2F2F"/>
    <a:srgbClr val="0025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outlineView">
  <p:normalViewPr showOutlineIcons="0">
    <p:restoredLeft sz="21935" autoAdjust="0"/>
    <p:restoredTop sz="86420" autoAdjust="0"/>
  </p:normalViewPr>
  <p:slideViewPr>
    <p:cSldViewPr>
      <p:cViewPr varScale="1">
        <p:scale>
          <a:sx n="128" d="100"/>
          <a:sy n="128" d="100"/>
        </p:scale>
        <p:origin x="960" y="30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5CE451F-3E05-4335-B799-31A1CA24BC8E}" type="datetimeFigureOut">
              <a:rPr lang="de-DE" smtClean="0"/>
              <a:t>26.04.2025</a:t>
            </a:fld>
            <a:endParaRPr lang="de-DE"/>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9BF85D8-A6AA-4CB5-A30A-03B8A365335B}" type="slidenum">
              <a:rPr lang="de-DE" smtClean="0"/>
              <a:t>‹Nr.›</a:t>
            </a:fld>
            <a:endParaRPr lang="de-DE"/>
          </a:p>
        </p:txBody>
      </p:sp>
    </p:spTree>
    <p:extLst>
      <p:ext uri="{BB962C8B-B14F-4D97-AF65-F5344CB8AC3E}">
        <p14:creationId xmlns:p14="http://schemas.microsoft.com/office/powerpoint/2010/main" val="18058331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Prof. Gawron</a:t>
            </a:r>
          </a:p>
        </p:txBody>
      </p:sp>
      <p:sp>
        <p:nvSpPr>
          <p:cNvPr id="4" name="Foliennummernplatzhalter 3"/>
          <p:cNvSpPr>
            <a:spLocks noGrp="1"/>
          </p:cNvSpPr>
          <p:nvPr>
            <p:ph type="sldNum" sz="quarter" idx="5"/>
          </p:nvPr>
        </p:nvSpPr>
        <p:spPr/>
        <p:txBody>
          <a:bodyPr/>
          <a:lstStyle/>
          <a:p>
            <a:fld id="{D9BF85D8-A6AA-4CB5-A30A-03B8A365335B}" type="slidenum">
              <a:rPr lang="de-DE" smtClean="0"/>
              <a:t>1</a:t>
            </a:fld>
            <a:endParaRPr lang="de-DE"/>
          </a:p>
        </p:txBody>
      </p:sp>
    </p:spTree>
    <p:extLst>
      <p:ext uri="{BB962C8B-B14F-4D97-AF65-F5344CB8AC3E}">
        <p14:creationId xmlns:p14="http://schemas.microsoft.com/office/powerpoint/2010/main" val="25625327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Dietmar</a:t>
            </a:r>
          </a:p>
        </p:txBody>
      </p:sp>
      <p:sp>
        <p:nvSpPr>
          <p:cNvPr id="4" name="Foliennummernplatzhalter 3"/>
          <p:cNvSpPr>
            <a:spLocks noGrp="1"/>
          </p:cNvSpPr>
          <p:nvPr>
            <p:ph type="sldNum" sz="quarter" idx="10"/>
          </p:nvPr>
        </p:nvSpPr>
        <p:spPr/>
        <p:txBody>
          <a:bodyPr/>
          <a:lstStyle/>
          <a:p>
            <a:fld id="{D9BF85D8-A6AA-4CB5-A30A-03B8A365335B}" type="slidenum">
              <a:rPr lang="de-DE" smtClean="0"/>
              <a:t>4</a:t>
            </a:fld>
            <a:endParaRPr lang="de-DE"/>
          </a:p>
        </p:txBody>
      </p:sp>
    </p:spTree>
    <p:extLst>
      <p:ext uri="{BB962C8B-B14F-4D97-AF65-F5344CB8AC3E}">
        <p14:creationId xmlns:p14="http://schemas.microsoft.com/office/powerpoint/2010/main" val="20597878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18972-BEB8-AC5B-4D01-183EAD28684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5FB2332-2126-64A4-0D11-76AB5EF67E94}"/>
              </a:ext>
            </a:extLst>
          </p:cNvPr>
          <p:cNvSpPr>
            <a:spLocks noGrp="1" noRot="1" noChangeAspect="1"/>
          </p:cNvSpPr>
          <p:nvPr>
            <p:ph type="sldImg"/>
          </p:nvPr>
        </p:nvSpPr>
        <p:spPr>
          <a:xfrm>
            <a:off x="381000" y="685800"/>
            <a:ext cx="6096000" cy="3429000"/>
          </a:xfrm>
        </p:spPr>
      </p:sp>
      <p:sp>
        <p:nvSpPr>
          <p:cNvPr id="3" name="Notizenplatzhalter 2">
            <a:extLst>
              <a:ext uri="{FF2B5EF4-FFF2-40B4-BE49-F238E27FC236}">
                <a16:creationId xmlns:a16="http://schemas.microsoft.com/office/drawing/2014/main" id="{47DE7B2D-DCFC-991F-ADD9-A7093B6173E4}"/>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Dietmar</a:t>
            </a:r>
          </a:p>
        </p:txBody>
      </p:sp>
      <p:sp>
        <p:nvSpPr>
          <p:cNvPr id="4" name="Foliennummernplatzhalter 3">
            <a:extLst>
              <a:ext uri="{FF2B5EF4-FFF2-40B4-BE49-F238E27FC236}">
                <a16:creationId xmlns:a16="http://schemas.microsoft.com/office/drawing/2014/main" id="{14EFC046-3875-49D8-8DC7-0DAA46C11E3A}"/>
              </a:ext>
            </a:extLst>
          </p:cNvPr>
          <p:cNvSpPr>
            <a:spLocks noGrp="1"/>
          </p:cNvSpPr>
          <p:nvPr>
            <p:ph type="sldNum" sz="quarter" idx="10"/>
          </p:nvPr>
        </p:nvSpPr>
        <p:spPr/>
        <p:txBody>
          <a:bodyPr/>
          <a:lstStyle/>
          <a:p>
            <a:fld id="{D9BF85D8-A6AA-4CB5-A30A-03B8A365335B}" type="slidenum">
              <a:rPr lang="de-DE" smtClean="0"/>
              <a:t>5</a:t>
            </a:fld>
            <a:endParaRPr lang="de-DE"/>
          </a:p>
        </p:txBody>
      </p:sp>
    </p:spTree>
    <p:extLst>
      <p:ext uri="{BB962C8B-B14F-4D97-AF65-F5344CB8AC3E}">
        <p14:creationId xmlns:p14="http://schemas.microsoft.com/office/powerpoint/2010/main" val="14212169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r>
              <a:rPr lang="de-DE" sz="1200" b="1" kern="1200" dirty="0">
                <a:solidFill>
                  <a:schemeClr val="tx1"/>
                </a:solidFill>
                <a:effectLst/>
                <a:latin typeface="+mn-lt"/>
                <a:ea typeface="+mn-ea"/>
                <a:cs typeface="+mn-cs"/>
              </a:rPr>
              <a:t>Claus-Peter</a:t>
            </a:r>
          </a:p>
          <a:p>
            <a:endParaRPr lang="de-DE" sz="1200" b="1" kern="1200" dirty="0">
              <a:solidFill>
                <a:schemeClr val="tx1"/>
              </a:solidFill>
              <a:effectLst/>
              <a:latin typeface="+mn-lt"/>
              <a:ea typeface="+mn-ea"/>
              <a:cs typeface="+mn-cs"/>
            </a:endParaRPr>
          </a:p>
          <a:p>
            <a:r>
              <a:rPr lang="de-DE" sz="1200" b="1" kern="1200" dirty="0">
                <a:solidFill>
                  <a:schemeClr val="tx1"/>
                </a:solidFill>
                <a:effectLst/>
                <a:latin typeface="+mn-lt"/>
                <a:ea typeface="+mn-ea"/>
                <a:cs typeface="+mn-cs"/>
              </a:rPr>
              <a:t>Zero-Shot-Prompts:</a:t>
            </a:r>
            <a:r>
              <a:rPr lang="de-DE" sz="1200" b="0" kern="1200" dirty="0">
                <a:solidFill>
                  <a:schemeClr val="tx1"/>
                </a:solidFill>
                <a:effectLst/>
                <a:latin typeface="+mn-lt"/>
                <a:ea typeface="+mn-ea"/>
                <a:cs typeface="+mn-cs"/>
              </a:rPr>
              <a:t> Bei dieser Methode werden in das LLM nur ein Prompt eingegeben, der die Aufgabe beschreibt, und keine zusätzlichen Daten. Wenn das LLM z. B. eine Frage beantworten soll, geben Sie einfach „Was ist Prompt-Design?“ ein.</a:t>
            </a:r>
          </a:p>
          <a:p>
            <a:r>
              <a:rPr lang="de-DE" sz="1200" b="1" kern="1200" dirty="0" err="1">
                <a:solidFill>
                  <a:schemeClr val="tx1"/>
                </a:solidFill>
                <a:effectLst/>
                <a:latin typeface="+mn-lt"/>
                <a:ea typeface="+mn-ea"/>
                <a:cs typeface="+mn-cs"/>
              </a:rPr>
              <a:t>One</a:t>
            </a:r>
            <a:r>
              <a:rPr lang="de-DE" sz="1200" b="1" kern="1200" dirty="0">
                <a:solidFill>
                  <a:schemeClr val="tx1"/>
                </a:solidFill>
                <a:effectLst/>
                <a:latin typeface="+mn-lt"/>
                <a:ea typeface="+mn-ea"/>
                <a:cs typeface="+mn-cs"/>
              </a:rPr>
              <a:t>-Shot-Prompts:</a:t>
            </a:r>
            <a:r>
              <a:rPr lang="de-DE" sz="1200" b="0" kern="1200" dirty="0">
                <a:solidFill>
                  <a:schemeClr val="tx1"/>
                </a:solidFill>
                <a:effectLst/>
                <a:latin typeface="+mn-lt"/>
                <a:ea typeface="+mn-ea"/>
                <a:cs typeface="+mn-cs"/>
              </a:rPr>
              <a:t> Bei dieser Methode wird ein einzelnes Beispiel der Aufgabe, die das LLM ausführen soll, eingegeben. Wenn das LLM z. B. ein Gedicht schreiben soll, geben Sie ein einzelnes Beispielgedicht ein.</a:t>
            </a:r>
          </a:p>
          <a:p>
            <a:r>
              <a:rPr lang="de-DE" sz="1200" b="1" kern="1200" dirty="0" err="1">
                <a:solidFill>
                  <a:schemeClr val="tx1"/>
                </a:solidFill>
                <a:effectLst/>
                <a:latin typeface="+mn-lt"/>
                <a:ea typeface="+mn-ea"/>
                <a:cs typeface="+mn-cs"/>
              </a:rPr>
              <a:t>Few</a:t>
            </a:r>
            <a:r>
              <a:rPr lang="de-DE" sz="1200" b="1" kern="1200" dirty="0">
                <a:solidFill>
                  <a:schemeClr val="tx1"/>
                </a:solidFill>
                <a:effectLst/>
                <a:latin typeface="+mn-lt"/>
                <a:ea typeface="+mn-ea"/>
                <a:cs typeface="+mn-cs"/>
              </a:rPr>
              <a:t>-Shot-Prompts:</a:t>
            </a:r>
            <a:r>
              <a:rPr lang="de-DE" sz="1200" b="0" kern="1200" dirty="0">
                <a:solidFill>
                  <a:schemeClr val="tx1"/>
                </a:solidFill>
                <a:effectLst/>
                <a:latin typeface="+mn-lt"/>
                <a:ea typeface="+mn-ea"/>
                <a:cs typeface="+mn-cs"/>
              </a:rPr>
              <a:t> Bei dieser Methode werden einige wenige Beispiele der Aufgabe, die das LLM ausführen soll, eingegeben. Wenn das LLM z. B. einen Nachrichtenartikel schreiben soll, können Sie beispielsweise einige Nachrichtenartikel einspeisen.</a:t>
            </a:r>
          </a:p>
        </p:txBody>
      </p:sp>
      <p:sp>
        <p:nvSpPr>
          <p:cNvPr id="4" name="Foliennummernplatzhalter 3"/>
          <p:cNvSpPr>
            <a:spLocks noGrp="1"/>
          </p:cNvSpPr>
          <p:nvPr>
            <p:ph type="sldNum" sz="quarter" idx="10"/>
          </p:nvPr>
        </p:nvSpPr>
        <p:spPr/>
        <p:txBody>
          <a:bodyPr/>
          <a:lstStyle/>
          <a:p>
            <a:fld id="{D9BF85D8-A6AA-4CB5-A30A-03B8A365335B}" type="slidenum">
              <a:rPr lang="de-DE" smtClean="0"/>
              <a:t>6</a:t>
            </a:fld>
            <a:endParaRPr lang="de-DE"/>
          </a:p>
        </p:txBody>
      </p:sp>
    </p:spTree>
    <p:extLst>
      <p:ext uri="{BB962C8B-B14F-4D97-AF65-F5344CB8AC3E}">
        <p14:creationId xmlns:p14="http://schemas.microsoft.com/office/powerpoint/2010/main" val="20597878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b="1" kern="1200" dirty="0">
                <a:solidFill>
                  <a:schemeClr val="tx1"/>
                </a:solidFill>
                <a:effectLst/>
                <a:latin typeface="+mn-lt"/>
                <a:ea typeface="+mn-ea"/>
                <a:cs typeface="+mn-cs"/>
              </a:rPr>
              <a:t>Claus-Peter</a:t>
            </a:r>
          </a:p>
          <a:p>
            <a:endParaRPr lang="de-DE" dirty="0"/>
          </a:p>
        </p:txBody>
      </p:sp>
      <p:sp>
        <p:nvSpPr>
          <p:cNvPr id="4" name="Foliennummernplatzhalter 3"/>
          <p:cNvSpPr>
            <a:spLocks noGrp="1"/>
          </p:cNvSpPr>
          <p:nvPr>
            <p:ph type="sldNum" sz="quarter" idx="5"/>
          </p:nvPr>
        </p:nvSpPr>
        <p:spPr/>
        <p:txBody>
          <a:bodyPr/>
          <a:lstStyle/>
          <a:p>
            <a:fld id="{D9BF85D8-A6AA-4CB5-A30A-03B8A365335B}" type="slidenum">
              <a:rPr lang="de-DE" smtClean="0"/>
              <a:t>7</a:t>
            </a:fld>
            <a:endParaRPr lang="de-DE"/>
          </a:p>
        </p:txBody>
      </p:sp>
    </p:spTree>
    <p:extLst>
      <p:ext uri="{BB962C8B-B14F-4D97-AF65-F5344CB8AC3E}">
        <p14:creationId xmlns:p14="http://schemas.microsoft.com/office/powerpoint/2010/main" val="2221942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Larissa</a:t>
            </a:r>
          </a:p>
        </p:txBody>
      </p:sp>
      <p:sp>
        <p:nvSpPr>
          <p:cNvPr id="4" name="Foliennummernplatzhalter 3"/>
          <p:cNvSpPr>
            <a:spLocks noGrp="1"/>
          </p:cNvSpPr>
          <p:nvPr>
            <p:ph type="sldNum" sz="quarter" idx="10"/>
          </p:nvPr>
        </p:nvSpPr>
        <p:spPr/>
        <p:txBody>
          <a:bodyPr/>
          <a:lstStyle/>
          <a:p>
            <a:fld id="{D9BF85D8-A6AA-4CB5-A30A-03B8A365335B}" type="slidenum">
              <a:rPr lang="de-DE" smtClean="0"/>
              <a:t>11</a:t>
            </a:fld>
            <a:endParaRPr lang="de-DE"/>
          </a:p>
        </p:txBody>
      </p:sp>
    </p:spTree>
    <p:extLst>
      <p:ext uri="{BB962C8B-B14F-4D97-AF65-F5344CB8AC3E}">
        <p14:creationId xmlns:p14="http://schemas.microsoft.com/office/powerpoint/2010/main" val="21837869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Phil</a:t>
            </a:r>
          </a:p>
        </p:txBody>
      </p:sp>
      <p:sp>
        <p:nvSpPr>
          <p:cNvPr id="4" name="Foliennummernplatzhalter 3"/>
          <p:cNvSpPr>
            <a:spLocks noGrp="1"/>
          </p:cNvSpPr>
          <p:nvPr>
            <p:ph type="sldNum" sz="quarter" idx="10"/>
          </p:nvPr>
        </p:nvSpPr>
        <p:spPr/>
        <p:txBody>
          <a:bodyPr/>
          <a:lstStyle/>
          <a:p>
            <a:fld id="{D9BF85D8-A6AA-4CB5-A30A-03B8A365335B}" type="slidenum">
              <a:rPr lang="de-DE" smtClean="0"/>
              <a:t>12</a:t>
            </a:fld>
            <a:endParaRPr lang="de-DE"/>
          </a:p>
        </p:txBody>
      </p:sp>
    </p:spTree>
    <p:extLst>
      <p:ext uri="{BB962C8B-B14F-4D97-AF65-F5344CB8AC3E}">
        <p14:creationId xmlns:p14="http://schemas.microsoft.com/office/powerpoint/2010/main" val="24766953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Phil</a:t>
            </a:r>
          </a:p>
        </p:txBody>
      </p:sp>
      <p:sp>
        <p:nvSpPr>
          <p:cNvPr id="4" name="Foliennummernplatzhalter 3"/>
          <p:cNvSpPr>
            <a:spLocks noGrp="1"/>
          </p:cNvSpPr>
          <p:nvPr>
            <p:ph type="sldNum" sz="quarter" idx="10"/>
          </p:nvPr>
        </p:nvSpPr>
        <p:spPr/>
        <p:txBody>
          <a:bodyPr/>
          <a:lstStyle/>
          <a:p>
            <a:fld id="{D9BF85D8-A6AA-4CB5-A30A-03B8A365335B}" type="slidenum">
              <a:rPr lang="de-DE" smtClean="0"/>
              <a:t>13</a:t>
            </a:fld>
            <a:endParaRPr lang="de-DE"/>
          </a:p>
        </p:txBody>
      </p:sp>
    </p:spTree>
    <p:extLst>
      <p:ext uri="{BB962C8B-B14F-4D97-AF65-F5344CB8AC3E}">
        <p14:creationId xmlns:p14="http://schemas.microsoft.com/office/powerpoint/2010/main" val="38671607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3" name="Rechteck 22"/>
          <p:cNvSpPr/>
          <p:nvPr/>
        </p:nvSpPr>
        <p:spPr>
          <a:xfrm flipV="1">
            <a:off x="7213577" y="3810001"/>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4" name="Rechteck 23"/>
          <p:cNvSpPr/>
          <p:nvPr/>
        </p:nvSpPr>
        <p:spPr>
          <a:xfrm flipV="1">
            <a:off x="7213601" y="3897010"/>
            <a:ext cx="49784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5" name="Rechteck 24"/>
          <p:cNvSpPr/>
          <p:nvPr/>
        </p:nvSpPr>
        <p:spPr>
          <a:xfrm flipV="1">
            <a:off x="7213601" y="4115167"/>
            <a:ext cx="49784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6" name="Rechteck 25"/>
          <p:cNvSpPr/>
          <p:nvPr/>
        </p:nvSpPr>
        <p:spPr>
          <a:xfrm flipV="1">
            <a:off x="7213600" y="4164403"/>
            <a:ext cx="262128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7" name="Rechteck 26"/>
          <p:cNvSpPr/>
          <p:nvPr/>
        </p:nvSpPr>
        <p:spPr>
          <a:xfrm flipV="1">
            <a:off x="7213600" y="4199572"/>
            <a:ext cx="262128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useBgFill="1">
        <p:nvSpPr>
          <p:cNvPr id="30" name="Abgerundetes Rechteck 29"/>
          <p:cNvSpPr/>
          <p:nvPr/>
        </p:nvSpPr>
        <p:spPr bwMode="white">
          <a:xfrm>
            <a:off x="7213600" y="3962400"/>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useBgFill="1">
        <p:nvSpPr>
          <p:cNvPr id="31" name="Abgerundetes Rechteck 30"/>
          <p:cNvSpPr/>
          <p:nvPr/>
        </p:nvSpPr>
        <p:spPr bwMode="white">
          <a:xfrm>
            <a:off x="9835343" y="406098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7" name="Rechteck 6"/>
          <p:cNvSpPr/>
          <p:nvPr/>
        </p:nvSpPr>
        <p:spPr>
          <a:xfrm>
            <a:off x="1" y="3649662"/>
            <a:ext cx="12192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hteck 9"/>
          <p:cNvSpPr/>
          <p:nvPr/>
        </p:nvSpPr>
        <p:spPr>
          <a:xfrm>
            <a:off x="1" y="3675528"/>
            <a:ext cx="12192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1" name="Rechteck 10"/>
          <p:cNvSpPr/>
          <p:nvPr/>
        </p:nvSpPr>
        <p:spPr>
          <a:xfrm flipV="1">
            <a:off x="8552068" y="3643090"/>
            <a:ext cx="3639933"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9" name="Rechteck 18"/>
          <p:cNvSpPr/>
          <p:nvPr/>
        </p:nvSpPr>
        <p:spPr>
          <a:xfrm>
            <a:off x="0" y="0"/>
            <a:ext cx="12192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Titel 7"/>
          <p:cNvSpPr>
            <a:spLocks noGrp="1"/>
          </p:cNvSpPr>
          <p:nvPr>
            <p:ph type="ctrTitle"/>
          </p:nvPr>
        </p:nvSpPr>
        <p:spPr>
          <a:xfrm>
            <a:off x="609600" y="2401888"/>
            <a:ext cx="11277600" cy="1470025"/>
          </a:xfrm>
        </p:spPr>
        <p:txBody>
          <a:bodyPr anchor="b"/>
          <a:lstStyle>
            <a:lvl1pPr>
              <a:defRPr sz="4400">
                <a:solidFill>
                  <a:schemeClr val="bg1"/>
                </a:solidFill>
              </a:defRPr>
            </a:lvl1pPr>
          </a:lstStyle>
          <a:p>
            <a:r>
              <a:rPr kumimoji="0" lang="de-DE"/>
              <a:t>Titelmasterformat durch Klicken bearbeiten</a:t>
            </a:r>
            <a:endParaRPr kumimoji="0" lang="en-US"/>
          </a:p>
        </p:txBody>
      </p:sp>
      <p:sp>
        <p:nvSpPr>
          <p:cNvPr id="9" name="Untertitel 8"/>
          <p:cNvSpPr>
            <a:spLocks noGrp="1"/>
          </p:cNvSpPr>
          <p:nvPr>
            <p:ph type="subTitle" idx="1"/>
          </p:nvPr>
        </p:nvSpPr>
        <p:spPr>
          <a:xfrm>
            <a:off x="609600" y="3899938"/>
            <a:ext cx="6604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de-DE"/>
              <a:t>Formatvorlage des Untertitelmasters durch Klicken bearbeiten</a:t>
            </a:r>
            <a:endParaRPr kumimoji="0" lang="en-US"/>
          </a:p>
        </p:txBody>
      </p:sp>
      <p:sp>
        <p:nvSpPr>
          <p:cNvPr id="28" name="Datumsplatzhalter 27"/>
          <p:cNvSpPr>
            <a:spLocks noGrp="1"/>
          </p:cNvSpPr>
          <p:nvPr>
            <p:ph type="dt" sz="half" idx="10"/>
          </p:nvPr>
        </p:nvSpPr>
        <p:spPr>
          <a:xfrm>
            <a:off x="8940800" y="4206240"/>
            <a:ext cx="1280160" cy="457200"/>
          </a:xfrm>
        </p:spPr>
        <p:txBody>
          <a:bodyPr/>
          <a:lstStyle/>
          <a:p>
            <a:fld id="{12C2D4DF-9C07-4E8A-A9C8-699C3432BB19}" type="datetime1">
              <a:rPr lang="de-DE" smtClean="0"/>
              <a:t>26.04.2025</a:t>
            </a:fld>
            <a:endParaRPr lang="en-US"/>
          </a:p>
        </p:txBody>
      </p:sp>
      <p:sp>
        <p:nvSpPr>
          <p:cNvPr id="17" name="Fußzeilenplatzhalter 16"/>
          <p:cNvSpPr>
            <a:spLocks noGrp="1"/>
          </p:cNvSpPr>
          <p:nvPr>
            <p:ph type="ftr" sz="quarter" idx="11"/>
          </p:nvPr>
        </p:nvSpPr>
        <p:spPr>
          <a:xfrm>
            <a:off x="7213600" y="4205288"/>
            <a:ext cx="1727200" cy="457200"/>
          </a:xfrm>
        </p:spPr>
        <p:txBody>
          <a:bodyPr/>
          <a:lstStyle/>
          <a:p>
            <a:endParaRPr lang="en-US"/>
          </a:p>
        </p:txBody>
      </p:sp>
      <p:sp>
        <p:nvSpPr>
          <p:cNvPr id="29" name="Foliennummernplatzhalter 28"/>
          <p:cNvSpPr>
            <a:spLocks noGrp="1"/>
          </p:cNvSpPr>
          <p:nvPr>
            <p:ph type="sldNum" sz="quarter" idx="12"/>
          </p:nvPr>
        </p:nvSpPr>
        <p:spPr>
          <a:xfrm>
            <a:off x="11093451" y="1136"/>
            <a:ext cx="996949" cy="365760"/>
          </a:xfrm>
        </p:spPr>
        <p:txBody>
          <a:bodyPr/>
          <a:lstStyle>
            <a:lvl1pPr algn="r">
              <a:defRPr sz="1800">
                <a:solidFill>
                  <a:schemeClr val="bg1"/>
                </a:solidFill>
              </a:defRPr>
            </a:lvl1pPr>
          </a:lstStyle>
          <a:p>
            <a:fld id="{9E567595-CCD6-4F78-8F27-840D13ABE7E3}" type="slidenum">
              <a:rPr lang="en-US" smtClean="0"/>
              <a:t>‹Nr.›</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de-DE"/>
              <a:t>Titelmasterformat durch Klicken bearbeiten</a:t>
            </a:r>
            <a:endParaRPr kumimoji="0" lang="en-US"/>
          </a:p>
        </p:txBody>
      </p:sp>
      <p:sp>
        <p:nvSpPr>
          <p:cNvPr id="3" name="Inhaltsplatzhalter 2"/>
          <p:cNvSpPr>
            <a:spLocks noGrp="1"/>
          </p:cNvSpPr>
          <p:nvPr>
            <p:ph idx="1"/>
          </p:nvPr>
        </p:nvSpPr>
        <p:spPr/>
        <p:txBody>
          <a:body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4" name="Datumsplatzhalter 3"/>
          <p:cNvSpPr>
            <a:spLocks noGrp="1"/>
          </p:cNvSpPr>
          <p:nvPr>
            <p:ph type="dt" sz="half" idx="10"/>
          </p:nvPr>
        </p:nvSpPr>
        <p:spPr/>
        <p:txBody>
          <a:bodyPr/>
          <a:lstStyle/>
          <a:p>
            <a:fld id="{198E5C24-D96E-4687-A8E5-4115C8070FE3}" type="datetime1">
              <a:rPr lang="de-DE" smtClean="0"/>
              <a:t>26.04.2025</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a:xfrm>
            <a:off x="9418656" y="6391656"/>
            <a:ext cx="2651296" cy="365760"/>
          </a:xfrm>
        </p:spPr>
        <p:txBody>
          <a:bodyPr/>
          <a:lstStyle>
            <a:lvl1pPr>
              <a:defRPr sz="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stStyle>
          <a:p>
            <a:fld id="{08800960-3D65-46F7-85EE-A2D8630D61E5}" type="slidenum">
              <a:rPr lang="en-US" smtClean="0"/>
              <a:pPr/>
              <a:t>‹Nr.›</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963084" y="1981201"/>
            <a:ext cx="103632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de-DE"/>
              <a:t>Titelmasterformat durch Klicken bearbeiten</a:t>
            </a:r>
            <a:endParaRPr kumimoji="0" lang="en-US"/>
          </a:p>
        </p:txBody>
      </p:sp>
      <p:sp>
        <p:nvSpPr>
          <p:cNvPr id="3" name="Textplatzhalter 2"/>
          <p:cNvSpPr>
            <a:spLocks noGrp="1"/>
          </p:cNvSpPr>
          <p:nvPr>
            <p:ph type="body" idx="1"/>
          </p:nvPr>
        </p:nvSpPr>
        <p:spPr>
          <a:xfrm>
            <a:off x="963084" y="3367088"/>
            <a:ext cx="103632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de-DE"/>
              <a:t>Textmasterformat bearbeiten</a:t>
            </a:r>
          </a:p>
        </p:txBody>
      </p:sp>
      <p:sp>
        <p:nvSpPr>
          <p:cNvPr id="4" name="Datumsplatzhalter 3"/>
          <p:cNvSpPr>
            <a:spLocks noGrp="1"/>
          </p:cNvSpPr>
          <p:nvPr>
            <p:ph type="dt" sz="half" idx="10"/>
          </p:nvPr>
        </p:nvSpPr>
        <p:spPr/>
        <p:txBody>
          <a:bodyPr/>
          <a:lstStyle/>
          <a:p>
            <a:fld id="{C455A406-BDB6-48C3-AB72-8B738A1EB34F}" type="datetime1">
              <a:rPr lang="de-DE" smtClean="0"/>
              <a:t>26.04.2025</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08800960-3D65-46F7-85EE-A2D8630D61E5}" type="slidenum">
              <a:rPr lang="en-US" smtClean="0"/>
              <a:t>‹Nr.›</a:t>
            </a:fld>
            <a:endParaRPr lang="en-US"/>
          </a:p>
        </p:txBody>
      </p:sp>
      <p:sp>
        <p:nvSpPr>
          <p:cNvPr id="7" name="Foliennummernplatzhalter 5">
            <a:extLst>
              <a:ext uri="{FF2B5EF4-FFF2-40B4-BE49-F238E27FC236}">
                <a16:creationId xmlns:a16="http://schemas.microsoft.com/office/drawing/2014/main" id="{30DE54EF-D574-6C41-BDE5-35E8D23ABF8C}"/>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de-DE"/>
              <a:t>Titelmasterformat durch Klicken bearbeiten</a:t>
            </a:r>
            <a:endParaRPr kumimoji="0" lang="en-US"/>
          </a:p>
        </p:txBody>
      </p:sp>
      <p:sp>
        <p:nvSpPr>
          <p:cNvPr id="3" name="Inhaltsplatzhalter 2"/>
          <p:cNvSpPr>
            <a:spLocks noGrp="1"/>
          </p:cNvSpPr>
          <p:nvPr>
            <p:ph sz="half" idx="1"/>
          </p:nvPr>
        </p:nvSpPr>
        <p:spPr>
          <a:xfrm>
            <a:off x="609600" y="2249425"/>
            <a:ext cx="53848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4" name="Inhaltsplatzhalter 3"/>
          <p:cNvSpPr>
            <a:spLocks noGrp="1"/>
          </p:cNvSpPr>
          <p:nvPr>
            <p:ph sz="half" idx="2"/>
          </p:nvPr>
        </p:nvSpPr>
        <p:spPr>
          <a:xfrm>
            <a:off x="6197600" y="2249425"/>
            <a:ext cx="53848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5" name="Datumsplatzhalter 4"/>
          <p:cNvSpPr>
            <a:spLocks noGrp="1"/>
          </p:cNvSpPr>
          <p:nvPr>
            <p:ph type="dt" sz="half" idx="10"/>
          </p:nvPr>
        </p:nvSpPr>
        <p:spPr/>
        <p:txBody>
          <a:bodyPr/>
          <a:lstStyle/>
          <a:p>
            <a:fld id="{99C0F66A-EFBE-4D86-B794-B531731BC1EE}" type="datetime1">
              <a:rPr lang="de-DE" smtClean="0"/>
              <a:t>26.04.2025</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08800960-3D65-46F7-85EE-A2D8630D61E5}" type="slidenum">
              <a:rPr lang="en-US" smtClean="0"/>
              <a:t>‹Nr.›</a:t>
            </a:fld>
            <a:endParaRPr lang="en-US"/>
          </a:p>
        </p:txBody>
      </p:sp>
      <p:sp>
        <p:nvSpPr>
          <p:cNvPr id="8" name="Foliennummernplatzhalter 5">
            <a:extLst>
              <a:ext uri="{FF2B5EF4-FFF2-40B4-BE49-F238E27FC236}">
                <a16:creationId xmlns:a16="http://schemas.microsoft.com/office/drawing/2014/main" id="{28A2B9AB-CEFC-4843-A8CE-9D77611F0E5F}"/>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508000" y="1143000"/>
            <a:ext cx="11176000" cy="1069848"/>
          </a:xfrm>
        </p:spPr>
        <p:txBody>
          <a:bodyPr anchor="ctr"/>
          <a:lstStyle>
            <a:lvl1pPr>
              <a:defRPr sz="4000" b="0" i="0" cap="none" baseline="0"/>
            </a:lvl1pPr>
          </a:lstStyle>
          <a:p>
            <a:r>
              <a:rPr kumimoji="0" lang="de-DE"/>
              <a:t>Titelmasterformat durch Klicken bearbeiten</a:t>
            </a:r>
            <a:endParaRPr kumimoji="0" lang="en-US"/>
          </a:p>
        </p:txBody>
      </p:sp>
      <p:sp>
        <p:nvSpPr>
          <p:cNvPr id="3" name="Textplatzhalter 2"/>
          <p:cNvSpPr>
            <a:spLocks noGrp="1"/>
          </p:cNvSpPr>
          <p:nvPr>
            <p:ph type="body" idx="1"/>
          </p:nvPr>
        </p:nvSpPr>
        <p:spPr>
          <a:xfrm>
            <a:off x="508000" y="2244970"/>
            <a:ext cx="5388864"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de-DE"/>
              <a:t>Textmasterformat bearbeiten</a:t>
            </a:r>
          </a:p>
        </p:txBody>
      </p:sp>
      <p:sp>
        <p:nvSpPr>
          <p:cNvPr id="4" name="Textplatzhalter 3"/>
          <p:cNvSpPr>
            <a:spLocks noGrp="1"/>
          </p:cNvSpPr>
          <p:nvPr>
            <p:ph type="body" sz="half" idx="3"/>
          </p:nvPr>
        </p:nvSpPr>
        <p:spPr>
          <a:xfrm>
            <a:off x="6294968" y="2244970"/>
            <a:ext cx="5389033"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de-DE"/>
              <a:t>Textmasterformat bearbeiten</a:t>
            </a:r>
          </a:p>
        </p:txBody>
      </p:sp>
      <p:sp>
        <p:nvSpPr>
          <p:cNvPr id="5" name="Inhaltsplatzhalter 4"/>
          <p:cNvSpPr>
            <a:spLocks noGrp="1"/>
          </p:cNvSpPr>
          <p:nvPr>
            <p:ph sz="quarter" idx="2"/>
          </p:nvPr>
        </p:nvSpPr>
        <p:spPr>
          <a:xfrm>
            <a:off x="508000" y="2708519"/>
            <a:ext cx="5388864"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6" name="Inhaltsplatzhalter 5"/>
          <p:cNvSpPr>
            <a:spLocks noGrp="1"/>
          </p:cNvSpPr>
          <p:nvPr>
            <p:ph sz="quarter" idx="4"/>
          </p:nvPr>
        </p:nvSpPr>
        <p:spPr>
          <a:xfrm>
            <a:off x="6291073" y="2708519"/>
            <a:ext cx="5389033"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26" name="Datumsplatzhalter 25"/>
          <p:cNvSpPr>
            <a:spLocks noGrp="1"/>
          </p:cNvSpPr>
          <p:nvPr>
            <p:ph type="dt" sz="half" idx="10"/>
          </p:nvPr>
        </p:nvSpPr>
        <p:spPr/>
        <p:txBody>
          <a:bodyPr rtlCol="0"/>
          <a:lstStyle/>
          <a:p>
            <a:fld id="{37C69E42-4B2B-491B-A644-815082356129}" type="datetime1">
              <a:rPr lang="de-DE" smtClean="0"/>
              <a:t>26.04.2025</a:t>
            </a:fld>
            <a:endParaRPr lang="en-US"/>
          </a:p>
        </p:txBody>
      </p:sp>
      <p:sp>
        <p:nvSpPr>
          <p:cNvPr id="27" name="Foliennummernplatzhalter 26"/>
          <p:cNvSpPr>
            <a:spLocks noGrp="1"/>
          </p:cNvSpPr>
          <p:nvPr>
            <p:ph type="sldNum" sz="quarter" idx="11"/>
          </p:nvPr>
        </p:nvSpPr>
        <p:spPr/>
        <p:txBody>
          <a:bodyPr rtlCol="0"/>
          <a:lstStyle/>
          <a:p>
            <a:fld id="{08800960-3D65-46F7-85EE-A2D8630D61E5}" type="slidenum">
              <a:rPr lang="en-US" smtClean="0"/>
              <a:t>‹Nr.›</a:t>
            </a:fld>
            <a:endParaRPr lang="en-US"/>
          </a:p>
        </p:txBody>
      </p:sp>
      <p:sp>
        <p:nvSpPr>
          <p:cNvPr id="28" name="Fußzeilenplatzhalter 27"/>
          <p:cNvSpPr>
            <a:spLocks noGrp="1"/>
          </p:cNvSpPr>
          <p:nvPr>
            <p:ph type="ftr" sz="quarter" idx="12"/>
          </p:nvPr>
        </p:nvSpPr>
        <p:spPr/>
        <p:txBody>
          <a:bodyPr rtlCol="0"/>
          <a:lstStyle/>
          <a:p>
            <a:endParaRPr lang="en-US"/>
          </a:p>
        </p:txBody>
      </p:sp>
      <p:sp>
        <p:nvSpPr>
          <p:cNvPr id="10" name="Foliennummernplatzhalter 5">
            <a:extLst>
              <a:ext uri="{FF2B5EF4-FFF2-40B4-BE49-F238E27FC236}">
                <a16:creationId xmlns:a16="http://schemas.microsoft.com/office/drawing/2014/main" id="{FEF4E230-B0C3-CC49-94BB-124CCF0FC893}"/>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a:xfrm>
            <a:off x="609600" y="1143000"/>
            <a:ext cx="10972800" cy="1069848"/>
          </a:xfrm>
        </p:spPr>
        <p:txBody>
          <a:bodyPr anchor="ctr"/>
          <a:lstStyle>
            <a:lvl1pPr>
              <a:defRPr sz="4000">
                <a:solidFill>
                  <a:schemeClr val="tx2"/>
                </a:solidFill>
              </a:defRPr>
            </a:lvl1pPr>
          </a:lstStyle>
          <a:p>
            <a:r>
              <a:rPr kumimoji="0" lang="de-DE"/>
              <a:t>Titelmasterformat durch Klicken bearbeiten</a:t>
            </a:r>
            <a:endParaRPr kumimoji="0" lang="en-US"/>
          </a:p>
        </p:txBody>
      </p:sp>
      <p:sp>
        <p:nvSpPr>
          <p:cNvPr id="3" name="Datumsplatzhalter 2"/>
          <p:cNvSpPr>
            <a:spLocks noGrp="1"/>
          </p:cNvSpPr>
          <p:nvPr>
            <p:ph type="dt" sz="half" idx="10"/>
          </p:nvPr>
        </p:nvSpPr>
        <p:spPr>
          <a:xfrm>
            <a:off x="8778240" y="612648"/>
            <a:ext cx="1276352" cy="457200"/>
          </a:xfrm>
        </p:spPr>
        <p:txBody>
          <a:bodyPr/>
          <a:lstStyle/>
          <a:p>
            <a:fld id="{28581BEF-411F-4C1C-828C-66B57363225F}" type="datetime1">
              <a:rPr lang="de-DE" smtClean="0"/>
              <a:t>26.04.2025</a:t>
            </a:fld>
            <a:endParaRPr lang="en-US"/>
          </a:p>
        </p:txBody>
      </p:sp>
      <p:sp>
        <p:nvSpPr>
          <p:cNvPr id="4" name="Fußzeilenplatzhalter 3"/>
          <p:cNvSpPr>
            <a:spLocks noGrp="1"/>
          </p:cNvSpPr>
          <p:nvPr>
            <p:ph type="ftr" sz="quarter" idx="11"/>
          </p:nvPr>
        </p:nvSpPr>
        <p:spPr>
          <a:xfrm>
            <a:off x="7010400" y="612648"/>
            <a:ext cx="1767840" cy="457200"/>
          </a:xfrm>
        </p:spPr>
        <p:txBody>
          <a:bodyPr/>
          <a:lstStyle/>
          <a:p>
            <a:endParaRPr lang="en-US"/>
          </a:p>
        </p:txBody>
      </p:sp>
      <p:sp>
        <p:nvSpPr>
          <p:cNvPr id="5" name="Foliennummernplatzhalter 4"/>
          <p:cNvSpPr>
            <a:spLocks noGrp="1"/>
          </p:cNvSpPr>
          <p:nvPr>
            <p:ph type="sldNum" sz="quarter" idx="12"/>
          </p:nvPr>
        </p:nvSpPr>
        <p:spPr>
          <a:xfrm>
            <a:off x="10899648" y="2272"/>
            <a:ext cx="1016000" cy="365760"/>
          </a:xfrm>
        </p:spPr>
        <p:txBody>
          <a:bodyPr/>
          <a:lstStyle/>
          <a:p>
            <a:fld id="{08800960-3D65-46F7-85EE-A2D8630D61E5}" type="slidenum">
              <a:rPr lang="en-US" smtClean="0"/>
              <a:t>‹Nr.›</a:t>
            </a:fld>
            <a:endParaRPr lang="en-US"/>
          </a:p>
        </p:txBody>
      </p:sp>
      <p:sp>
        <p:nvSpPr>
          <p:cNvPr id="6" name="Foliennummernplatzhalter 5">
            <a:extLst>
              <a:ext uri="{FF2B5EF4-FFF2-40B4-BE49-F238E27FC236}">
                <a16:creationId xmlns:a16="http://schemas.microsoft.com/office/drawing/2014/main" id="{309B9422-82AE-1D4C-B6B0-865A43630775}"/>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427E4652-83CF-48FF-B07A-5D300D4CA3EB}" type="datetime1">
              <a:rPr lang="de-DE" smtClean="0"/>
              <a:t>26.04.2025</a:t>
            </a:fld>
            <a:endParaRPr lang="en-US"/>
          </a:p>
        </p:txBody>
      </p:sp>
      <p:sp>
        <p:nvSpPr>
          <p:cNvPr id="3" name="Fußzeilenplatzhalter 2"/>
          <p:cNvSpPr>
            <a:spLocks noGrp="1"/>
          </p:cNvSpPr>
          <p:nvPr>
            <p:ph type="ftr" sz="quarter" idx="11"/>
          </p:nvPr>
        </p:nvSpPr>
        <p:spPr/>
        <p:txBody>
          <a:bodyPr/>
          <a:lstStyle/>
          <a:p>
            <a:endParaRPr lang="en-US"/>
          </a:p>
        </p:txBody>
      </p:sp>
      <p:sp>
        <p:nvSpPr>
          <p:cNvPr id="4" name="Foliennummernplatzhalter 3"/>
          <p:cNvSpPr>
            <a:spLocks noGrp="1"/>
          </p:cNvSpPr>
          <p:nvPr>
            <p:ph type="sldNum" sz="quarter" idx="12"/>
          </p:nvPr>
        </p:nvSpPr>
        <p:spPr/>
        <p:txBody>
          <a:bodyPr/>
          <a:lstStyle/>
          <a:p>
            <a:fld id="{08800960-3D65-46F7-85EE-A2D8630D61E5}" type="slidenum">
              <a:rPr lang="en-US" smtClean="0"/>
              <a:t>‹Nr.›</a:t>
            </a:fld>
            <a:endParaRPr lang="en-US"/>
          </a:p>
        </p:txBody>
      </p:sp>
      <p:sp>
        <p:nvSpPr>
          <p:cNvPr id="5" name="Foliennummernplatzhalter 5">
            <a:extLst>
              <a:ext uri="{FF2B5EF4-FFF2-40B4-BE49-F238E27FC236}">
                <a16:creationId xmlns:a16="http://schemas.microsoft.com/office/drawing/2014/main" id="{87ADE735-D8CE-7144-BFF4-464CC69DD30A}"/>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137995" y="1101970"/>
            <a:ext cx="4511040" cy="877824"/>
          </a:xfrm>
        </p:spPr>
        <p:txBody>
          <a:bodyPr anchor="b"/>
          <a:lstStyle>
            <a:lvl1pPr algn="l">
              <a:buNone/>
              <a:defRPr sz="1800" b="1"/>
            </a:lvl1pPr>
          </a:lstStyle>
          <a:p>
            <a:r>
              <a:rPr kumimoji="0" lang="de-DE"/>
              <a:t>Titelmasterformat durch Klicken bearbeiten</a:t>
            </a:r>
            <a:endParaRPr kumimoji="0" lang="en-US"/>
          </a:p>
        </p:txBody>
      </p:sp>
      <p:sp>
        <p:nvSpPr>
          <p:cNvPr id="3" name="Textplatzhalter 2"/>
          <p:cNvSpPr>
            <a:spLocks noGrp="1"/>
          </p:cNvSpPr>
          <p:nvPr>
            <p:ph type="body" idx="2"/>
          </p:nvPr>
        </p:nvSpPr>
        <p:spPr>
          <a:xfrm>
            <a:off x="7137995" y="2010727"/>
            <a:ext cx="451104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de-DE"/>
              <a:t>Textmasterformat bearbeiten</a:t>
            </a:r>
          </a:p>
        </p:txBody>
      </p:sp>
      <p:sp>
        <p:nvSpPr>
          <p:cNvPr id="4" name="Inhaltsplatzhalter 3"/>
          <p:cNvSpPr>
            <a:spLocks noGrp="1"/>
          </p:cNvSpPr>
          <p:nvPr>
            <p:ph sz="half" idx="1"/>
          </p:nvPr>
        </p:nvSpPr>
        <p:spPr>
          <a:xfrm>
            <a:off x="203200" y="776287"/>
            <a:ext cx="6803136"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5" name="Datumsplatzhalter 4"/>
          <p:cNvSpPr>
            <a:spLocks noGrp="1"/>
          </p:cNvSpPr>
          <p:nvPr>
            <p:ph type="dt" sz="half" idx="10"/>
          </p:nvPr>
        </p:nvSpPr>
        <p:spPr/>
        <p:txBody>
          <a:bodyPr/>
          <a:lstStyle/>
          <a:p>
            <a:fld id="{850A2C4E-E099-4331-8BC5-F5919D33FBB0}" type="datetime1">
              <a:rPr lang="de-DE" smtClean="0"/>
              <a:t>26.04.2025</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08800960-3D65-46F7-85EE-A2D8630D61E5}" type="slidenum">
              <a:rPr lang="en-US" smtClean="0"/>
              <a:t>‹Nr.›</a:t>
            </a:fld>
            <a:endParaRPr lang="en-US"/>
          </a:p>
        </p:txBody>
      </p:sp>
      <p:sp>
        <p:nvSpPr>
          <p:cNvPr id="8" name="Foliennummernplatzhalter 5">
            <a:extLst>
              <a:ext uri="{FF2B5EF4-FFF2-40B4-BE49-F238E27FC236}">
                <a16:creationId xmlns:a16="http://schemas.microsoft.com/office/drawing/2014/main" id="{E84BC76B-DD63-3D41-8021-753CA6CA5598}"/>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253913" y="1109161"/>
            <a:ext cx="782404" cy="4681637"/>
          </a:xfrm>
        </p:spPr>
        <p:txBody>
          <a:bodyPr vert="vert270" lIns="45720" tIns="0" rIns="45720" anchor="t"/>
          <a:lstStyle>
            <a:lvl1pPr algn="ctr">
              <a:buNone/>
              <a:defRPr sz="2000" b="1"/>
            </a:lvl1pPr>
          </a:lstStyle>
          <a:p>
            <a:r>
              <a:rPr kumimoji="0" lang="de-DE"/>
              <a:t>Titelmasterformat durch Klicken bearbeiten</a:t>
            </a:r>
            <a:endParaRPr kumimoji="0" lang="en-US"/>
          </a:p>
        </p:txBody>
      </p:sp>
      <p:sp>
        <p:nvSpPr>
          <p:cNvPr id="3" name="Bildplatzhalter 2"/>
          <p:cNvSpPr>
            <a:spLocks noGrp="1"/>
          </p:cNvSpPr>
          <p:nvPr>
            <p:ph type="pic" idx="1"/>
          </p:nvPr>
        </p:nvSpPr>
        <p:spPr>
          <a:xfrm>
            <a:off x="538228" y="1143000"/>
            <a:ext cx="6096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de-DE"/>
              <a:t>Bild durch Klicken auf Symbol hinzufügen</a:t>
            </a:r>
            <a:endParaRPr kumimoji="0" lang="en-US"/>
          </a:p>
        </p:txBody>
      </p:sp>
      <p:sp>
        <p:nvSpPr>
          <p:cNvPr id="4" name="Textplatzhalter 3"/>
          <p:cNvSpPr>
            <a:spLocks noGrp="1"/>
          </p:cNvSpPr>
          <p:nvPr>
            <p:ph type="body" sz="half" idx="2"/>
          </p:nvPr>
        </p:nvSpPr>
        <p:spPr>
          <a:xfrm>
            <a:off x="8117924" y="3274309"/>
            <a:ext cx="34544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de-DE"/>
              <a:t>Textmasterformat bearbeiten</a:t>
            </a:r>
          </a:p>
        </p:txBody>
      </p:sp>
      <p:sp>
        <p:nvSpPr>
          <p:cNvPr id="5" name="Datumsplatzhalter 4"/>
          <p:cNvSpPr>
            <a:spLocks noGrp="1"/>
          </p:cNvSpPr>
          <p:nvPr>
            <p:ph type="dt" sz="half" idx="10"/>
          </p:nvPr>
        </p:nvSpPr>
        <p:spPr/>
        <p:txBody>
          <a:bodyPr/>
          <a:lstStyle/>
          <a:p>
            <a:fld id="{5EB0A2B8-1C71-4F87-BF98-FD09C9576A12}" type="datetime1">
              <a:rPr lang="de-DE" smtClean="0"/>
              <a:t>26.04.2025</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08800960-3D65-46F7-85EE-A2D8630D61E5}" type="slidenum">
              <a:rPr lang="en-US" smtClean="0"/>
              <a:t>‹Nr.›</a:t>
            </a:fld>
            <a:endParaRPr lang="en-US"/>
          </a:p>
        </p:txBody>
      </p:sp>
      <p:sp>
        <p:nvSpPr>
          <p:cNvPr id="8" name="Foliennummernplatzhalter 5">
            <a:extLst>
              <a:ext uri="{FF2B5EF4-FFF2-40B4-BE49-F238E27FC236}">
                <a16:creationId xmlns:a16="http://schemas.microsoft.com/office/drawing/2014/main" id="{F016CFB8-94C7-8342-AE16-44CC68AE3215}"/>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de-DE"/>
              <a:t>Titelmasterformat durch Klicken bearbeiten</a:t>
            </a:r>
            <a:endParaRPr kumimoji="0" lang="en-US"/>
          </a:p>
        </p:txBody>
      </p:sp>
      <p:sp>
        <p:nvSpPr>
          <p:cNvPr id="3" name="Vertikaler Textplatzhalter 2"/>
          <p:cNvSpPr>
            <a:spLocks noGrp="1"/>
          </p:cNvSpPr>
          <p:nvPr>
            <p:ph type="body" orient="vert" idx="1"/>
          </p:nvPr>
        </p:nvSpPr>
        <p:spPr/>
        <p:txBody>
          <a:bodyPr vert="eaVert"/>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4" name="Datumsplatzhalter 3"/>
          <p:cNvSpPr>
            <a:spLocks noGrp="1"/>
          </p:cNvSpPr>
          <p:nvPr>
            <p:ph type="dt" sz="half" idx="10"/>
          </p:nvPr>
        </p:nvSpPr>
        <p:spPr/>
        <p:txBody>
          <a:bodyPr/>
          <a:lstStyle/>
          <a:p>
            <a:fld id="{D4B246B5-51C5-4FE7-B623-37283DCE9607}" type="datetime1">
              <a:rPr lang="de-DE" smtClean="0"/>
              <a:t>26.04.2025</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08800960-3D65-46F7-85EE-A2D8630D61E5}" type="slidenum">
              <a:rPr lang="en-US" smtClean="0"/>
              <a:t>‹Nr.›</a:t>
            </a:fld>
            <a:endParaRPr lang="en-US"/>
          </a:p>
        </p:txBody>
      </p:sp>
      <p:sp>
        <p:nvSpPr>
          <p:cNvPr id="7" name="Foliennummernplatzhalter 5">
            <a:extLst>
              <a:ext uri="{FF2B5EF4-FFF2-40B4-BE49-F238E27FC236}">
                <a16:creationId xmlns:a16="http://schemas.microsoft.com/office/drawing/2014/main" id="{86873E8B-5625-A34E-AB1D-17DCC1E3BC34}"/>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9042400" y="1143000"/>
            <a:ext cx="2540000" cy="5486400"/>
          </a:xfrm>
        </p:spPr>
        <p:txBody>
          <a:bodyPr vert="eaVert"/>
          <a:lstStyle/>
          <a:p>
            <a:r>
              <a:rPr kumimoji="0" lang="de-DE"/>
              <a:t>Titelmasterformat durch Klicken bearbeiten</a:t>
            </a:r>
            <a:endParaRPr kumimoji="0" lang="en-US"/>
          </a:p>
        </p:txBody>
      </p:sp>
      <p:sp>
        <p:nvSpPr>
          <p:cNvPr id="3" name="Vertikaler Textplatzhalter 2"/>
          <p:cNvSpPr>
            <a:spLocks noGrp="1"/>
          </p:cNvSpPr>
          <p:nvPr>
            <p:ph type="body" orient="vert" idx="1"/>
          </p:nvPr>
        </p:nvSpPr>
        <p:spPr>
          <a:xfrm>
            <a:off x="609600" y="1143000"/>
            <a:ext cx="8331200" cy="5486400"/>
          </a:xfrm>
        </p:spPr>
        <p:txBody>
          <a:bodyPr vert="eaVert"/>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4" name="Datumsplatzhalter 3"/>
          <p:cNvSpPr>
            <a:spLocks noGrp="1"/>
          </p:cNvSpPr>
          <p:nvPr>
            <p:ph type="dt" sz="half" idx="10"/>
          </p:nvPr>
        </p:nvSpPr>
        <p:spPr/>
        <p:txBody>
          <a:bodyPr/>
          <a:lstStyle/>
          <a:p>
            <a:fld id="{E7E31108-9016-4212-8567-2FCA934A2626}" type="datetime1">
              <a:rPr lang="de-DE" smtClean="0"/>
              <a:t>26.04.2025</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08800960-3D65-46F7-85EE-A2D8630D61E5}" type="slidenum">
              <a:rPr lang="en-US" smtClean="0"/>
              <a:t>‹Nr.›</a:t>
            </a:fld>
            <a:endParaRPr lang="en-US"/>
          </a:p>
        </p:txBody>
      </p:sp>
      <p:sp>
        <p:nvSpPr>
          <p:cNvPr id="7" name="Foliennummernplatzhalter 5">
            <a:extLst>
              <a:ext uri="{FF2B5EF4-FFF2-40B4-BE49-F238E27FC236}">
                <a16:creationId xmlns:a16="http://schemas.microsoft.com/office/drawing/2014/main" id="{EF4EF544-D00E-E040-834B-1AB2DC675130}"/>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hteck 27"/>
          <p:cNvSpPr/>
          <p:nvPr/>
        </p:nvSpPr>
        <p:spPr>
          <a:xfrm>
            <a:off x="1" y="366819"/>
            <a:ext cx="12192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9" name="Rechteck 28"/>
          <p:cNvSpPr/>
          <p:nvPr/>
        </p:nvSpPr>
        <p:spPr>
          <a:xfrm>
            <a:off x="0" y="-1"/>
            <a:ext cx="12192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0" name="Rechteck 29"/>
          <p:cNvSpPr/>
          <p:nvPr/>
        </p:nvSpPr>
        <p:spPr>
          <a:xfrm>
            <a:off x="1" y="308277"/>
            <a:ext cx="12192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1" name="Rechteck 30"/>
          <p:cNvSpPr/>
          <p:nvPr/>
        </p:nvSpPr>
        <p:spPr>
          <a:xfrm flipV="1">
            <a:off x="7213577" y="360247"/>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hteck 31"/>
          <p:cNvSpPr/>
          <p:nvPr/>
        </p:nvSpPr>
        <p:spPr>
          <a:xfrm flipV="1">
            <a:off x="7213601" y="440113"/>
            <a:ext cx="49784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useBgFill="1">
        <p:nvSpPr>
          <p:cNvPr id="33" name="Abgerundetes Rechteck 32"/>
          <p:cNvSpPr/>
          <p:nvPr/>
        </p:nvSpPr>
        <p:spPr bwMode="white">
          <a:xfrm>
            <a:off x="7209785" y="497504"/>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useBgFill="1">
        <p:nvSpPr>
          <p:cNvPr id="34" name="Abgerundetes Rechteck 33"/>
          <p:cNvSpPr/>
          <p:nvPr/>
        </p:nvSpPr>
        <p:spPr bwMode="white">
          <a:xfrm>
            <a:off x="9831528" y="58894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5" name="Rechteck 34"/>
          <p:cNvSpPr/>
          <p:nvPr/>
        </p:nvSpPr>
        <p:spPr bwMode="invGray">
          <a:xfrm>
            <a:off x="12113288" y="-2001"/>
            <a:ext cx="76835"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6" name="Rechteck 35"/>
          <p:cNvSpPr/>
          <p:nvPr/>
        </p:nvSpPr>
        <p:spPr bwMode="invGray">
          <a:xfrm>
            <a:off x="12059308" y="-2001"/>
            <a:ext cx="3657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7" name="Rechteck 36"/>
          <p:cNvSpPr/>
          <p:nvPr/>
        </p:nvSpPr>
        <p:spPr bwMode="invGray">
          <a:xfrm>
            <a:off x="12033904" y="-2001"/>
            <a:ext cx="12192"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8" name="Rechteck 37"/>
          <p:cNvSpPr/>
          <p:nvPr/>
        </p:nvSpPr>
        <p:spPr bwMode="invGray">
          <a:xfrm>
            <a:off x="11967231" y="-2001"/>
            <a:ext cx="36576"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9" name="Rechteck 38"/>
          <p:cNvSpPr/>
          <p:nvPr/>
        </p:nvSpPr>
        <p:spPr bwMode="invGray">
          <a:xfrm>
            <a:off x="11887569" y="380"/>
            <a:ext cx="73152"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40" name="Rechteck 39"/>
          <p:cNvSpPr/>
          <p:nvPr/>
        </p:nvSpPr>
        <p:spPr bwMode="invGray">
          <a:xfrm>
            <a:off x="11831300" y="380"/>
            <a:ext cx="12192"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Titelplatzhalter 21"/>
          <p:cNvSpPr>
            <a:spLocks noGrp="1"/>
          </p:cNvSpPr>
          <p:nvPr>
            <p:ph type="title"/>
          </p:nvPr>
        </p:nvSpPr>
        <p:spPr>
          <a:xfrm>
            <a:off x="609600" y="1143000"/>
            <a:ext cx="10972800" cy="1066800"/>
          </a:xfrm>
          <a:prstGeom prst="rect">
            <a:avLst/>
          </a:prstGeom>
        </p:spPr>
        <p:txBody>
          <a:bodyPr vert="horz" anchor="ctr">
            <a:normAutofit/>
          </a:bodyPr>
          <a:lstStyle/>
          <a:p>
            <a:r>
              <a:rPr kumimoji="0" lang="de-DE"/>
              <a:t>Titelmasterformat durch Klicken bearbeiten</a:t>
            </a:r>
            <a:endParaRPr kumimoji="0" lang="en-US"/>
          </a:p>
        </p:txBody>
      </p:sp>
      <p:sp>
        <p:nvSpPr>
          <p:cNvPr id="13" name="Textplatzhalter 12"/>
          <p:cNvSpPr>
            <a:spLocks noGrp="1"/>
          </p:cNvSpPr>
          <p:nvPr>
            <p:ph type="body" idx="1"/>
          </p:nvPr>
        </p:nvSpPr>
        <p:spPr>
          <a:xfrm>
            <a:off x="609600" y="2249424"/>
            <a:ext cx="10972800" cy="4325112"/>
          </a:xfrm>
          <a:prstGeom prst="rect">
            <a:avLst/>
          </a:prstGeom>
        </p:spPr>
        <p:txBody>
          <a:bodyPr vert="horz">
            <a:normAutofit/>
          </a:bodyPr>
          <a:lstStyle/>
          <a:p>
            <a:pPr lvl="0" eaLnBrk="1" latinLnBrk="0" hangingPunct="1"/>
            <a:r>
              <a:rPr kumimoji="0" lang="de-DE"/>
              <a:t>Textmasterformat bearbeiten</a:t>
            </a:r>
          </a:p>
          <a:p>
            <a:pPr lvl="1" eaLnBrk="1" latinLnBrk="0" hangingPunct="1"/>
            <a:r>
              <a:rPr kumimoji="0" lang="de-DE"/>
              <a:t>Zweite Ebene</a:t>
            </a:r>
          </a:p>
          <a:p>
            <a:pPr lvl="2" eaLnBrk="1" latinLnBrk="0" hangingPunct="1"/>
            <a:r>
              <a:rPr kumimoji="0" lang="de-DE"/>
              <a:t>Dritte Ebene</a:t>
            </a:r>
          </a:p>
          <a:p>
            <a:pPr lvl="3" eaLnBrk="1" latinLnBrk="0" hangingPunct="1"/>
            <a:r>
              <a:rPr kumimoji="0" lang="de-DE"/>
              <a:t>Vierte Ebene</a:t>
            </a:r>
          </a:p>
          <a:p>
            <a:pPr lvl="4" eaLnBrk="1" latinLnBrk="0" hangingPunct="1"/>
            <a:r>
              <a:rPr kumimoji="0" lang="de-DE"/>
              <a:t>Fünfte Ebene</a:t>
            </a:r>
            <a:endParaRPr kumimoji="0" lang="en-US"/>
          </a:p>
        </p:txBody>
      </p:sp>
      <p:sp>
        <p:nvSpPr>
          <p:cNvPr id="14" name="Datumsplatzhalter 13"/>
          <p:cNvSpPr>
            <a:spLocks noGrp="1"/>
          </p:cNvSpPr>
          <p:nvPr>
            <p:ph type="dt" sz="half" idx="2"/>
          </p:nvPr>
        </p:nvSpPr>
        <p:spPr>
          <a:xfrm>
            <a:off x="8782048" y="612648"/>
            <a:ext cx="1276352" cy="457200"/>
          </a:xfrm>
          <a:prstGeom prst="rect">
            <a:avLst/>
          </a:prstGeom>
        </p:spPr>
        <p:txBody>
          <a:bodyPr vert="horz"/>
          <a:lstStyle>
            <a:lvl1pPr algn="l" eaLnBrk="1" latinLnBrk="0" hangingPunct="1">
              <a:defRPr kumimoji="0" sz="800">
                <a:solidFill>
                  <a:schemeClr val="accent2"/>
                </a:solidFill>
              </a:defRPr>
            </a:lvl1pPr>
          </a:lstStyle>
          <a:p>
            <a:fld id="{D83A9F74-EE4C-49D6-9661-C67699B6A199}" type="datetime1">
              <a:rPr lang="de-DE" smtClean="0"/>
              <a:t>26.04.2025</a:t>
            </a:fld>
            <a:endParaRPr lang="en-US"/>
          </a:p>
        </p:txBody>
      </p:sp>
      <p:sp>
        <p:nvSpPr>
          <p:cNvPr id="3" name="Fußzeilenplatzhalter 2"/>
          <p:cNvSpPr>
            <a:spLocks noGrp="1"/>
          </p:cNvSpPr>
          <p:nvPr>
            <p:ph type="ftr" sz="quarter" idx="3"/>
          </p:nvPr>
        </p:nvSpPr>
        <p:spPr>
          <a:xfrm>
            <a:off x="7010400" y="612648"/>
            <a:ext cx="1767840" cy="457200"/>
          </a:xfrm>
          <a:prstGeom prst="rect">
            <a:avLst/>
          </a:prstGeom>
        </p:spPr>
        <p:txBody>
          <a:bodyPr vert="horz"/>
          <a:lstStyle>
            <a:lvl1pPr algn="r" eaLnBrk="1" latinLnBrk="0" hangingPunct="1">
              <a:defRPr kumimoji="0" sz="800">
                <a:solidFill>
                  <a:schemeClr val="accent2"/>
                </a:solidFill>
              </a:defRPr>
            </a:lvl1pPr>
          </a:lstStyle>
          <a:p>
            <a:endParaRPr lang="en-US"/>
          </a:p>
        </p:txBody>
      </p:sp>
      <p:sp>
        <p:nvSpPr>
          <p:cNvPr id="23" name="Foliennummernplatzhalter 22"/>
          <p:cNvSpPr>
            <a:spLocks noGrp="1"/>
          </p:cNvSpPr>
          <p:nvPr>
            <p:ph type="sldNum" sz="quarter" idx="4"/>
          </p:nvPr>
        </p:nvSpPr>
        <p:spPr>
          <a:xfrm>
            <a:off x="10899648" y="2272"/>
            <a:ext cx="1016000" cy="365760"/>
          </a:xfrm>
          <a:prstGeom prst="rect">
            <a:avLst/>
          </a:prstGeom>
        </p:spPr>
        <p:txBody>
          <a:bodyPr vert="horz" anchor="b"/>
          <a:lstStyle>
            <a:lvl1pPr algn="r" eaLnBrk="1" latinLnBrk="0" hangingPunct="1">
              <a:defRPr kumimoji="0" sz="1800">
                <a:solidFill>
                  <a:srgbClr val="FFFFFF"/>
                </a:solidFill>
              </a:defRPr>
            </a:lvl1pPr>
          </a:lstStyle>
          <a:p>
            <a:fld id="{08800960-3D65-46F7-85EE-A2D8630D61E5}" type="slidenum">
              <a:rPr lang="en-US" smtClean="0"/>
              <a:t>‹Nr.›</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4CDC419A-039A-68AB-CD83-9DA587552C64}"/>
              </a:ext>
            </a:extLst>
          </p:cNvPr>
          <p:cNvSpPr>
            <a:spLocks noGrp="1"/>
          </p:cNvSpPr>
          <p:nvPr>
            <p:ph type="title"/>
          </p:nvPr>
        </p:nvSpPr>
        <p:spPr/>
        <p:txBody>
          <a:bodyPr/>
          <a:lstStyle/>
          <a:p>
            <a:r>
              <a:rPr lang="de-DE" dirty="0"/>
              <a:t>Aufgabenabgrenzung (zu entfernen)</a:t>
            </a:r>
          </a:p>
        </p:txBody>
      </p:sp>
      <p:pic>
        <p:nvPicPr>
          <p:cNvPr id="7" name="Grafik 6">
            <a:extLst>
              <a:ext uri="{FF2B5EF4-FFF2-40B4-BE49-F238E27FC236}">
                <a16:creationId xmlns:a16="http://schemas.microsoft.com/office/drawing/2014/main" id="{1FEB74DB-0C3A-5B09-3395-00C5DAF88DFD}"/>
              </a:ext>
            </a:extLst>
          </p:cNvPr>
          <p:cNvPicPr>
            <a:picLocks noChangeAspect="1"/>
          </p:cNvPicPr>
          <p:nvPr/>
        </p:nvPicPr>
        <p:blipFill>
          <a:blip r:embed="rId3"/>
          <a:stretch>
            <a:fillRect/>
          </a:stretch>
        </p:blipFill>
        <p:spPr>
          <a:xfrm>
            <a:off x="609600" y="2060848"/>
            <a:ext cx="8091483" cy="4677889"/>
          </a:xfrm>
          <a:prstGeom prst="rect">
            <a:avLst/>
          </a:prstGeom>
        </p:spPr>
      </p:pic>
      <p:sp>
        <p:nvSpPr>
          <p:cNvPr id="8" name="Rechteck 7">
            <a:extLst>
              <a:ext uri="{FF2B5EF4-FFF2-40B4-BE49-F238E27FC236}">
                <a16:creationId xmlns:a16="http://schemas.microsoft.com/office/drawing/2014/main" id="{3677BA3F-5F4A-374E-357D-3AC6350FAB31}"/>
              </a:ext>
            </a:extLst>
          </p:cNvPr>
          <p:cNvSpPr/>
          <p:nvPr/>
        </p:nvSpPr>
        <p:spPr>
          <a:xfrm>
            <a:off x="695400" y="3645024"/>
            <a:ext cx="6480720" cy="6480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42037963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feld 3"/>
          <p:cNvSpPr txBox="1"/>
          <p:nvPr/>
        </p:nvSpPr>
        <p:spPr>
          <a:xfrm>
            <a:off x="407369" y="404664"/>
            <a:ext cx="5688631" cy="2575449"/>
          </a:xfrm>
          <a:prstGeom prst="rect">
            <a:avLst/>
          </a:prstGeom>
          <a:noFill/>
        </p:spPr>
        <p:txBody>
          <a:bodyPr wrap="square">
            <a:spAutoFit/>
          </a:bodyPr>
          <a:lstStyle/>
          <a:p>
            <a:pPr>
              <a:lnSpc>
                <a:spcPct val="150000"/>
              </a:lnSpc>
              <a:defRPr/>
            </a:pPr>
            <a:r>
              <a:rPr lang="de-DE" sz="2400">
                <a:solidFill>
                  <a:schemeClr val="bg1"/>
                </a:solidFill>
                <a:effectLst>
                  <a:outerShdw blurRad="50800" dist="38100" dir="2700000" algn="tl" rotWithShape="0">
                    <a:prstClr val="black">
                      <a:alpha val="40000"/>
                    </a:prstClr>
                  </a:outerShdw>
                </a:effectLst>
                <a:latin typeface="Verdana" panose="020B0604030504040204" pitchFamily="34" charset="0"/>
                <a:ea typeface="Verdana" panose="020B0604030504040204" pitchFamily="34" charset="0"/>
                <a:cs typeface="Verdana" panose="020B0604030504040204" pitchFamily="34" charset="0"/>
              </a:rPr>
              <a:t>Audiodeskription</a:t>
            </a:r>
          </a:p>
          <a:p>
            <a:pPr marL="285750" indent="-285750">
              <a:lnSpc>
                <a:spcPct val="150000"/>
              </a:lnSpc>
              <a:buFontTx/>
              <a:buChar char="-"/>
              <a:defRPr/>
            </a:pPr>
            <a:r>
              <a:rPr lang="de-DE" sz="1400">
                <a:solidFill>
                  <a:schemeClr val="bg1"/>
                </a:solidFill>
                <a:effectLst>
                  <a:outerShdw blurRad="50800" dist="38100" dir="2700000" algn="tl" rotWithShape="0">
                    <a:prstClr val="black">
                      <a:alpha val="40000"/>
                    </a:prstClr>
                  </a:outerShdw>
                </a:effectLst>
                <a:latin typeface="Verdana" panose="020B0604030504040204" pitchFamily="34" charset="0"/>
                <a:ea typeface="Verdana" panose="020B0604030504040204" pitchFamily="34" charset="0"/>
                <a:cs typeface="Verdana" panose="020B0604030504040204" pitchFamily="34" charset="0"/>
              </a:rPr>
              <a:t>KI-Modelle für die Analyse visueller Daten –</a:t>
            </a:r>
          </a:p>
          <a:p>
            <a:pPr>
              <a:lnSpc>
                <a:spcPct val="150000"/>
              </a:lnSpc>
              <a:defRPr/>
            </a:pPr>
            <a:endParaRPr lang="de-DE">
              <a:solidFill>
                <a:schemeClr val="bg1"/>
              </a:solidFill>
              <a:effectLst>
                <a:outerShdw blurRad="50800" dist="38100" dir="2700000" algn="tl" rotWithShape="0">
                  <a:prstClr val="black">
                    <a:alpha val="40000"/>
                  </a:prstClr>
                </a:outerShdw>
              </a:effectLst>
              <a:latin typeface="Verdana" panose="020B0604030504040204" pitchFamily="34" charset="0"/>
              <a:ea typeface="Verdana" panose="020B0604030504040204" pitchFamily="34" charset="0"/>
              <a:cs typeface="Verdana" panose="020B0604030504040204" pitchFamily="34" charset="0"/>
            </a:endParaRPr>
          </a:p>
          <a:p>
            <a:pPr>
              <a:lnSpc>
                <a:spcPct val="150000"/>
              </a:lnSpc>
              <a:defRPr/>
            </a:pPr>
            <a:r>
              <a:rPr lang="de-DE">
                <a:solidFill>
                  <a:schemeClr val="bg1"/>
                </a:solidFill>
                <a:effectLst>
                  <a:outerShdw blurRad="50800" dist="38100" dir="2700000" algn="tl" rotWithShape="0">
                    <a:prstClr val="black">
                      <a:alpha val="40000"/>
                    </a:prstClr>
                  </a:outerShdw>
                </a:effectLst>
                <a:latin typeface="Verdana" panose="020B0604030504040204" pitchFamily="34" charset="0"/>
                <a:ea typeface="Verdana" panose="020B0604030504040204" pitchFamily="34" charset="0"/>
                <a:cs typeface="Verdana" panose="020B0604030504040204" pitchFamily="34" charset="0"/>
              </a:rPr>
              <a:t>06.05. / 07.05.2025</a:t>
            </a:r>
            <a:endParaRPr lang="de-DE" dirty="0">
              <a:solidFill>
                <a:schemeClr val="bg1"/>
              </a:solidFill>
              <a:effectLst>
                <a:outerShdw blurRad="50800" dist="38100" dir="2700000" algn="tl" rotWithShape="0">
                  <a:prstClr val="black">
                    <a:alpha val="40000"/>
                  </a:prstClr>
                </a:outerShdw>
              </a:effectLst>
              <a:latin typeface="Verdana" panose="020B0604030504040204" pitchFamily="34" charset="0"/>
              <a:ea typeface="Verdana" panose="020B0604030504040204" pitchFamily="34" charset="0"/>
              <a:cs typeface="Verdana" panose="020B0604030504040204" pitchFamily="34" charset="0"/>
            </a:endParaRPr>
          </a:p>
          <a:p>
            <a:pPr>
              <a:lnSpc>
                <a:spcPct val="150000"/>
              </a:lnSpc>
              <a:defRPr/>
            </a:pPr>
            <a:endParaRPr lang="de-DE" dirty="0">
              <a:solidFill>
                <a:schemeClr val="bg1"/>
              </a:solidFill>
              <a:effectLst>
                <a:outerShdw blurRad="50800" dist="38100" dir="2700000" algn="tl" rotWithShape="0">
                  <a:prstClr val="black">
                    <a:alpha val="40000"/>
                  </a:prstClr>
                </a:outerShdw>
              </a:effectLst>
              <a:latin typeface="Verdana" panose="020B0604030504040204" pitchFamily="34" charset="0"/>
              <a:ea typeface="Verdana" panose="020B0604030504040204" pitchFamily="34" charset="0"/>
              <a:cs typeface="Verdana" panose="020B0604030504040204" pitchFamily="34" charset="0"/>
            </a:endParaRPr>
          </a:p>
          <a:p>
            <a:pPr>
              <a:lnSpc>
                <a:spcPct val="150000"/>
              </a:lnSpc>
              <a:defRPr/>
            </a:pPr>
            <a:r>
              <a:rPr lang="de-DE">
                <a:solidFill>
                  <a:schemeClr val="bg1"/>
                </a:solidFill>
                <a:effectLst>
                  <a:outerShdw blurRad="50800" dist="38100" dir="2700000" algn="tl" rotWithShape="0">
                    <a:prstClr val="black">
                      <a:alpha val="40000"/>
                    </a:prstClr>
                  </a:outerShdw>
                </a:effectLst>
                <a:latin typeface="Verdana" panose="020B0604030504040204" pitchFamily="34" charset="0"/>
                <a:ea typeface="Verdana" panose="020B0604030504040204" pitchFamily="34" charset="0"/>
                <a:cs typeface="Verdana" panose="020B0604030504040204" pitchFamily="34" charset="0"/>
              </a:rPr>
              <a:t>Projektgruppe</a:t>
            </a:r>
            <a:endParaRPr lang="de-DE" dirty="0">
              <a:solidFill>
                <a:schemeClr val="bg1"/>
              </a:solidFill>
              <a:effectLst>
                <a:outerShdw blurRad="50800" dist="38100" dir="2700000" algn="tl" rotWithShape="0">
                  <a:prstClr val="black">
                    <a:alpha val="40000"/>
                  </a:prstClr>
                </a:outerShdw>
              </a:effectLst>
              <a:latin typeface="Verdana" panose="020B0604030504040204" pitchFamily="34" charset="0"/>
              <a:ea typeface="Verdana" panose="020B0604030504040204" pitchFamily="34" charset="0"/>
              <a:cs typeface="Verdana" panose="020B0604030504040204" pitchFamily="34" charset="0"/>
            </a:endParaRPr>
          </a:p>
        </p:txBody>
      </p:sp>
      <p:sp>
        <p:nvSpPr>
          <p:cNvPr id="5" name="Rectangle 8"/>
          <p:cNvSpPr>
            <a:spLocks noGrp="1" noChangeArrowheads="1"/>
          </p:cNvSpPr>
          <p:nvPr>
            <p:ph type="subTitle" idx="1"/>
          </p:nvPr>
        </p:nvSpPr>
        <p:spPr>
          <a:xfrm>
            <a:off x="335360" y="4293096"/>
            <a:ext cx="4608512" cy="2160240"/>
          </a:xfrm>
        </p:spPr>
        <p:txBody>
          <a:bodyPr rtlCol="0">
            <a:normAutofit/>
          </a:bodyPr>
          <a:lstStyle/>
          <a:p>
            <a:pPr>
              <a:lnSpc>
                <a:spcPct val="150000"/>
              </a:lnSpc>
              <a:defRPr/>
            </a:pPr>
            <a:r>
              <a:rPr lang="de-DE" sz="1400" u="sng">
                <a:latin typeface="Verdana" panose="020B0604030504040204" pitchFamily="34" charset="0"/>
                <a:ea typeface="Verdana" panose="020B0604030504040204" pitchFamily="34" charset="0"/>
                <a:cs typeface="Verdana" panose="020B0604030504040204" pitchFamily="34" charset="0"/>
              </a:rPr>
              <a:t>Referenten</a:t>
            </a:r>
          </a:p>
          <a:p>
            <a:pPr>
              <a:lnSpc>
                <a:spcPct val="150000"/>
              </a:lnSpc>
              <a:defRPr/>
            </a:pPr>
            <a:r>
              <a:rPr lang="de-DE" sz="1400">
                <a:latin typeface="Verdana" panose="020B0604030504040204" pitchFamily="34" charset="0"/>
                <a:ea typeface="Verdana" panose="020B0604030504040204" pitchFamily="34" charset="0"/>
                <a:cs typeface="Verdana" panose="020B0604030504040204" pitchFamily="34" charset="0"/>
              </a:rPr>
              <a:t>Koch, Claus-Peter</a:t>
            </a:r>
          </a:p>
          <a:p>
            <a:pPr>
              <a:lnSpc>
                <a:spcPct val="150000"/>
              </a:lnSpc>
              <a:defRPr/>
            </a:pPr>
            <a:r>
              <a:rPr lang="de-DE" sz="1400">
                <a:latin typeface="Verdana" panose="020B0604030504040204" pitchFamily="34" charset="0"/>
                <a:ea typeface="Verdana" panose="020B0604030504040204" pitchFamily="34" charset="0"/>
                <a:cs typeface="Verdana" panose="020B0604030504040204" pitchFamily="34" charset="0"/>
              </a:rPr>
              <a:t>Neuhalfen, Felicitas</a:t>
            </a:r>
          </a:p>
          <a:p>
            <a:pPr>
              <a:lnSpc>
                <a:spcPct val="150000"/>
              </a:lnSpc>
              <a:defRPr/>
            </a:pPr>
            <a:r>
              <a:rPr lang="de-DE" sz="1400">
                <a:latin typeface="Verdana" panose="020B0604030504040204" pitchFamily="34" charset="0"/>
                <a:ea typeface="Verdana" panose="020B0604030504040204" pitchFamily="34" charset="0"/>
                <a:cs typeface="Verdana" panose="020B0604030504040204" pitchFamily="34" charset="0"/>
              </a:rPr>
              <a:t>Ysop, Dietmar</a:t>
            </a:r>
          </a:p>
        </p:txBody>
      </p:sp>
      <p:pic>
        <p:nvPicPr>
          <p:cNvPr id="3" name="Grafik 2">
            <a:extLst>
              <a:ext uri="{FF2B5EF4-FFF2-40B4-BE49-F238E27FC236}">
                <a16:creationId xmlns:a16="http://schemas.microsoft.com/office/drawing/2014/main" id="{B041DD58-48B2-5F4E-9AFE-53178492BD07}"/>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40216" y="5688429"/>
            <a:ext cx="3841846" cy="941380"/>
          </a:xfrm>
          <a:prstGeom prst="rect">
            <a:avLst/>
          </a:prstGeom>
        </p:spPr>
      </p:pic>
      <p:pic>
        <p:nvPicPr>
          <p:cNvPr id="8" name="Grafik 7" descr="Ein Bild, das Screenshot, Raum, Kreis, Licht enthält.">
            <a:extLst>
              <a:ext uri="{FF2B5EF4-FFF2-40B4-BE49-F238E27FC236}">
                <a16:creationId xmlns:a16="http://schemas.microsoft.com/office/drawing/2014/main" id="{103C4555-7478-07A5-16DE-0B2DFD319860}"/>
              </a:ext>
            </a:extLst>
          </p:cNvPr>
          <p:cNvPicPr>
            <a:picLocks noChangeAspect="1"/>
          </p:cNvPicPr>
          <p:nvPr/>
        </p:nvPicPr>
        <p:blipFill>
          <a:blip r:embed="rId3" cstate="print">
            <a:alphaModFix/>
            <a:extLst>
              <a:ext uri="{28A0092B-C50C-407E-A947-70E740481C1C}">
                <a14:useLocalDpi xmlns:a14="http://schemas.microsoft.com/office/drawing/2010/main" val="0"/>
              </a:ext>
            </a:extLst>
          </a:blip>
          <a:stretch>
            <a:fillRect/>
          </a:stretch>
        </p:blipFill>
        <p:spPr>
          <a:xfrm>
            <a:off x="6096000" y="0"/>
            <a:ext cx="6096000" cy="3708000"/>
          </a:xfrm>
          <a:prstGeom prst="rect">
            <a:avLst/>
          </a:prstGeom>
        </p:spPr>
      </p:pic>
      <p:sp>
        <p:nvSpPr>
          <p:cNvPr id="9" name="Rechteck 8">
            <a:extLst>
              <a:ext uri="{FF2B5EF4-FFF2-40B4-BE49-F238E27FC236}">
                <a16:creationId xmlns:a16="http://schemas.microsoft.com/office/drawing/2014/main" id="{B9EBFDA2-089E-4B05-54A9-EA7E4905ABF5}"/>
              </a:ext>
            </a:extLst>
          </p:cNvPr>
          <p:cNvSpPr/>
          <p:nvPr/>
        </p:nvSpPr>
        <p:spPr>
          <a:xfrm>
            <a:off x="6096000" y="0"/>
            <a:ext cx="6096000" cy="3686400"/>
          </a:xfrm>
          <a:prstGeom prst="rect">
            <a:avLst/>
          </a:prstGeom>
          <a:solidFill>
            <a:srgbClr val="424456">
              <a:alpha val="3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4282094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AEEA5-AD1F-0E8D-3F3A-45518C444A98}"/>
            </a:ext>
          </a:extLst>
        </p:cNvPr>
        <p:cNvGrpSpPr/>
        <p:nvPr/>
      </p:nvGrpSpPr>
      <p:grpSpPr>
        <a:xfrm>
          <a:off x="0" y="0"/>
          <a:ext cx="0" cy="0"/>
          <a:chOff x="0" y="0"/>
          <a:chExt cx="0" cy="0"/>
        </a:xfrm>
      </p:grpSpPr>
      <p:sp>
        <p:nvSpPr>
          <p:cNvPr id="4" name="Foliennummernplatzhalter 5">
            <a:extLst>
              <a:ext uri="{FF2B5EF4-FFF2-40B4-BE49-F238E27FC236}">
                <a16:creationId xmlns:a16="http://schemas.microsoft.com/office/drawing/2014/main" id="{D99FF903-395B-86B0-FF15-CA707FA86056}"/>
              </a:ext>
            </a:extLst>
          </p:cNvPr>
          <p:cNvSpPr>
            <a:spLocks noGrp="1"/>
          </p:cNvSpPr>
          <p:nvPr>
            <p:ph type="sldNum" sz="quarter" idx="12"/>
          </p:nvPr>
        </p:nvSpPr>
        <p:spPr>
          <a:xfrm>
            <a:off x="8832304" y="0"/>
            <a:ext cx="1628432" cy="368032"/>
          </a:xfrm>
        </p:spPr>
        <p:txBody>
          <a:bodyPr/>
          <a:lstStyle/>
          <a:p>
            <a:r>
              <a:rPr lang="de-DE">
                <a:latin typeface="Verdana" panose="020B0604030504040204" pitchFamily="34" charset="0"/>
                <a:ea typeface="Verdana" panose="020B0604030504040204" pitchFamily="34" charset="0"/>
                <a:cs typeface="Verdana" panose="020B0604030504040204" pitchFamily="34" charset="0"/>
              </a:rPr>
              <a:t>Seite </a:t>
            </a:r>
            <a:fld id="{538D1101-B71C-42C1-B823-1158DE9643FE}" type="slidenum">
              <a:rPr lang="de-DE" smtClean="0">
                <a:latin typeface="Verdana" panose="020B0604030504040204" pitchFamily="34" charset="0"/>
                <a:ea typeface="Verdana" panose="020B0604030504040204" pitchFamily="34" charset="0"/>
                <a:cs typeface="Verdana" panose="020B0604030504040204" pitchFamily="34" charset="0"/>
              </a:rPr>
              <a:t>3</a:t>
            </a:fld>
            <a:endParaRPr lang="de-DE">
              <a:latin typeface="Verdana" panose="020B0604030504040204" pitchFamily="34" charset="0"/>
              <a:ea typeface="Verdana" panose="020B0604030504040204" pitchFamily="34" charset="0"/>
              <a:cs typeface="Verdana" panose="020B0604030504040204" pitchFamily="34" charset="0"/>
            </a:endParaRPr>
          </a:p>
        </p:txBody>
      </p:sp>
      <p:sp>
        <p:nvSpPr>
          <p:cNvPr id="8" name="Rectangle 2">
            <a:extLst>
              <a:ext uri="{FF2B5EF4-FFF2-40B4-BE49-F238E27FC236}">
                <a16:creationId xmlns:a16="http://schemas.microsoft.com/office/drawing/2014/main" id="{28681B37-C29A-B7BC-202F-1CCF873BDD4E}"/>
              </a:ext>
            </a:extLst>
          </p:cNvPr>
          <p:cNvSpPr>
            <a:spLocks noChangeArrowheads="1"/>
          </p:cNvSpPr>
          <p:nvPr/>
        </p:nvSpPr>
        <p:spPr bwMode="auto">
          <a:xfrm>
            <a:off x="407368" y="1957482"/>
            <a:ext cx="4283545"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200" b="1" i="0" u="none" strike="noStrike" cap="none" normalizeH="0" baseline="0">
                <a:ln>
                  <a:noFill/>
                </a:ln>
                <a:solidFill>
                  <a:schemeClr val="tx1"/>
                </a:solidFill>
                <a:effectLst/>
                <a:latin typeface="Arial" panose="020B0604020202020204" pitchFamily="34" charset="0"/>
              </a:rPr>
              <a:t>1️⃣ Ausgangslage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200" b="1" i="0" u="none" strike="noStrike" cap="none" normalizeH="0" baseline="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b="0" i="0" u="none" strike="noStrike" cap="none" normalizeH="0" baseline="0">
                <a:ln>
                  <a:noFill/>
                </a:ln>
                <a:solidFill>
                  <a:schemeClr val="tx1"/>
                </a:solidFill>
                <a:effectLst/>
                <a:latin typeface="Arial" panose="020B0604020202020204" pitchFamily="34" charset="0"/>
              </a:rPr>
              <a:t>Mediennutzung und Barrierefreiheit</a:t>
            </a:r>
            <a:r>
              <a:rPr kumimoji="0" lang="de-DE" altLang="de-DE" sz="1200" i="0" u="none" strike="noStrike" cap="none" normalizeH="0" baseline="0">
                <a:ln>
                  <a:noFill/>
                </a:ln>
                <a:solidFill>
                  <a:schemeClr val="tx1"/>
                </a:solidFill>
                <a:effectLst/>
                <a:latin typeface="Arial" panose="020B060402020202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de-DE" altLang="de-DE" sz="1200">
                <a:latin typeface="Arial" panose="020B0604020202020204" pitchFamily="34" charset="0"/>
              </a:rPr>
              <a:t>Stand der Wissenschaft und t</a:t>
            </a:r>
            <a:r>
              <a:rPr kumimoji="0" lang="de-DE" altLang="de-DE" sz="1200" i="0" u="none" strike="noStrike" cap="none" normalizeH="0" baseline="0">
                <a:ln>
                  <a:noFill/>
                </a:ln>
                <a:solidFill>
                  <a:schemeClr val="tx1"/>
                </a:solidFill>
                <a:effectLst/>
                <a:latin typeface="Arial" panose="020B0604020202020204" pitchFamily="34" charset="0"/>
              </a:rPr>
              <a:t>echnologischer Fortschritt​ </a:t>
            </a:r>
          </a:p>
          <a:p>
            <a:pPr marL="0" marR="0" lvl="0" indent="0" algn="l" defTabSz="914400" rtl="0" eaLnBrk="0" fontAlgn="base" latinLnBrk="0" hangingPunct="0">
              <a:lnSpc>
                <a:spcPct val="100000"/>
              </a:lnSpc>
              <a:spcBef>
                <a:spcPct val="0"/>
              </a:spcBef>
              <a:spcAft>
                <a:spcPct val="0"/>
              </a:spcAft>
              <a:buClrTx/>
              <a:buSzTx/>
              <a:tabLst/>
            </a:pPr>
            <a:endParaRPr lang="de-DE" altLang="de-DE" sz="120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de-DE" altLang="de-DE" sz="12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200" b="1" i="0" u="none" strike="noStrike" cap="none" normalizeH="0" baseline="0">
                <a:ln>
                  <a:noFill/>
                </a:ln>
                <a:solidFill>
                  <a:schemeClr val="tx1"/>
                </a:solidFill>
                <a:effectLst/>
                <a:latin typeface="Arial" panose="020B0604020202020204" pitchFamily="34" charset="0"/>
              </a:rPr>
              <a:t>2️⃣  Data Pipeline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200" b="1" i="0" u="none" strike="noStrike" cap="none" normalizeH="0" baseline="0">
              <a:ln>
                <a:noFill/>
              </a:ln>
              <a:solidFill>
                <a:schemeClr val="tx1"/>
              </a:solidFill>
              <a:effectLst/>
              <a:latin typeface="Arial" panose="020B0604020202020204" pitchFamily="34" charset="0"/>
            </a:endParaRPr>
          </a:p>
          <a:p>
            <a:pPr marL="171450" marR="0" lvl="0" indent="-1714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a:ln>
                  <a:noFill/>
                </a:ln>
                <a:solidFill>
                  <a:schemeClr val="tx1"/>
                </a:solidFill>
                <a:effectLst/>
                <a:latin typeface="Arial" panose="020B0604020202020204" pitchFamily="34" charset="0"/>
              </a:rPr>
              <a:t>Eingabe &amp; Vorverarbeitung </a:t>
            </a:r>
          </a:p>
          <a:p>
            <a:pPr marL="171450" marR="0" lvl="0" indent="-1714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a:ln>
                  <a:noFill/>
                </a:ln>
                <a:solidFill>
                  <a:schemeClr val="tx1"/>
                </a:solidFill>
                <a:effectLst/>
                <a:latin typeface="Arial" panose="020B0604020202020204" pitchFamily="34" charset="0"/>
              </a:rPr>
              <a:t>Visuelle Analyse &amp; Beschreibung </a:t>
            </a:r>
          </a:p>
          <a:p>
            <a:pPr marL="171450" marR="0" lvl="0" indent="-1714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a:ln>
                  <a:noFill/>
                </a:ln>
                <a:solidFill>
                  <a:schemeClr val="tx1"/>
                </a:solidFill>
                <a:effectLst/>
                <a:latin typeface="Arial" panose="020B0604020202020204" pitchFamily="34" charset="0"/>
              </a:rPr>
              <a:t>Ausgabe, Evaluation &amp; Optimierung</a:t>
            </a:r>
          </a:p>
          <a:p>
            <a:pPr marL="171450" marR="0" lvl="0" indent="-1714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lang="de-DE" altLang="de-DE" sz="1200">
              <a:latin typeface="Arial" panose="020B0604020202020204" pitchFamily="34" charset="0"/>
            </a:endParaRPr>
          </a:p>
          <a:p>
            <a:pPr marR="0" lvl="0" algn="just" defTabSz="914400" rtl="0" eaLnBrk="0" fontAlgn="base" latinLnBrk="0" hangingPunct="0">
              <a:lnSpc>
                <a:spcPct val="100000"/>
              </a:lnSpc>
              <a:spcBef>
                <a:spcPct val="0"/>
              </a:spcBef>
              <a:spcAft>
                <a:spcPct val="0"/>
              </a:spcAft>
              <a:buClrTx/>
              <a:buSzTx/>
              <a:tabLst/>
            </a:pPr>
            <a:endParaRPr lang="de-DE" altLang="de-DE" sz="120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200" i="0" u="none" strike="noStrike" cap="none" normalizeH="0" baseline="0">
                <a:ln>
                  <a:noFill/>
                </a:ln>
                <a:solidFill>
                  <a:schemeClr val="tx1"/>
                </a:solidFill>
                <a:effectLst/>
                <a:latin typeface="Arial" panose="020B0604020202020204" pitchFamily="34" charset="0"/>
              </a:rPr>
              <a:t>3️⃣ </a:t>
            </a:r>
            <a:r>
              <a:rPr kumimoji="0" lang="de-DE" altLang="de-DE" sz="1200" b="1" i="0" u="none" strike="noStrike" cap="none" normalizeH="0" baseline="0">
                <a:ln>
                  <a:noFill/>
                </a:ln>
                <a:solidFill>
                  <a:schemeClr val="tx1"/>
                </a:solidFill>
                <a:effectLst/>
                <a:latin typeface="Arial" panose="020B0604020202020204" pitchFamily="34" charset="0"/>
              </a:rPr>
              <a:t> Agenda Punkt 3</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200" i="0" u="none" strike="noStrike" cap="none" normalizeH="0" baseline="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a:ln>
                  <a:noFill/>
                </a:ln>
                <a:solidFill>
                  <a:schemeClr val="tx1"/>
                </a:solidFill>
                <a:effectLst/>
                <a:latin typeface="Arial" panose="020B060402020202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a:ln>
                  <a:noFill/>
                </a:ln>
                <a:solidFill>
                  <a:schemeClr val="tx1"/>
                </a:solidFill>
                <a:effectLst/>
                <a:latin typeface="Arial" panose="020B060402020202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a:ln>
                  <a:noFill/>
                </a:ln>
                <a:solidFill>
                  <a:schemeClr val="tx1"/>
                </a:solidFill>
                <a:effectLst/>
                <a:latin typeface="Arial" panose="020B0604020202020204" pitchFamily="34" charset="0"/>
              </a:rPr>
              <a:t>…</a:t>
            </a:r>
            <a:endParaRPr kumimoji="0" lang="de-DE" altLang="de-DE" sz="1200" b="0" i="0" u="none" strike="noStrike" cap="none" normalizeH="0" baseline="0">
              <a:ln>
                <a:noFill/>
              </a:ln>
              <a:solidFill>
                <a:schemeClr val="tx1"/>
              </a:solidFill>
              <a:effectLst/>
              <a:latin typeface="Arial" panose="020B0604020202020204" pitchFamily="34" charset="0"/>
            </a:endParaRPr>
          </a:p>
        </p:txBody>
      </p:sp>
      <p:sp>
        <p:nvSpPr>
          <p:cNvPr id="10" name="Rectangle 1">
            <a:extLst>
              <a:ext uri="{FF2B5EF4-FFF2-40B4-BE49-F238E27FC236}">
                <a16:creationId xmlns:a16="http://schemas.microsoft.com/office/drawing/2014/main" id="{190B9A6A-8FDF-C676-74F4-EF61914813DE}"/>
              </a:ext>
            </a:extLst>
          </p:cNvPr>
          <p:cNvSpPr>
            <a:spLocks noChangeArrowheads="1"/>
          </p:cNvSpPr>
          <p:nvPr/>
        </p:nvSpPr>
        <p:spPr bwMode="auto">
          <a:xfrm>
            <a:off x="7104112" y="1865149"/>
            <a:ext cx="1646605"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200" i="0" u="none" strike="noStrike" cap="none" normalizeH="0" baseline="0">
                <a:ln>
                  <a:noFill/>
                </a:ln>
                <a:solidFill>
                  <a:schemeClr val="tx1"/>
                </a:solidFill>
                <a:effectLst/>
                <a:latin typeface="Arial" panose="020B0604020202020204" pitchFamily="34" charset="0"/>
              </a:rPr>
              <a:t>​4️⃣ </a:t>
            </a:r>
            <a:r>
              <a:rPr kumimoji="0" lang="de-DE" altLang="de-DE" sz="1200" b="1" i="0" u="none" strike="noStrike" cap="none" normalizeH="0" baseline="0">
                <a:ln>
                  <a:noFill/>
                </a:ln>
                <a:solidFill>
                  <a:schemeClr val="tx1"/>
                </a:solidFill>
                <a:effectLst/>
                <a:latin typeface="Arial" panose="020B0604020202020204" pitchFamily="34" charset="0"/>
              </a:rPr>
              <a:t> Agenda Punkt 4</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200" i="0" u="none" strike="noStrike" cap="none" normalizeH="0" baseline="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a:ln>
                  <a:noFill/>
                </a:ln>
                <a:solidFill>
                  <a:schemeClr val="tx1"/>
                </a:solidFill>
                <a:effectLst/>
                <a:latin typeface="Arial" panose="020B060402020202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a:ln>
                  <a:noFill/>
                </a:ln>
                <a:solidFill>
                  <a:schemeClr val="tx1"/>
                </a:solidFill>
                <a:effectLst/>
                <a:latin typeface="Arial" panose="020B060402020202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a:ln>
                  <a:noFill/>
                </a:ln>
                <a:solidFill>
                  <a:schemeClr val="tx1"/>
                </a:solidFill>
                <a:effectLst/>
                <a:latin typeface="Arial" panose="020B060402020202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a:ln>
                  <a:noFill/>
                </a:ln>
                <a:solidFill>
                  <a:schemeClr val="tx1"/>
                </a:solidFill>
                <a:effectLst/>
                <a:latin typeface="Arial" panose="020B0604020202020204" pitchFamily="34" charset="0"/>
              </a:rPr>
              <a:t>​</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lang="de-DE" altLang="de-DE" sz="1200">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de-DE" altLang="de-DE" sz="1200" i="0" u="none" strike="noStrike" cap="none" normalizeH="0" baseline="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lang="de-DE" altLang="de-DE" sz="1200">
              <a:latin typeface="Arial" panose="020B0604020202020204" pitchFamily="34" charset="0"/>
            </a:endParaRPr>
          </a:p>
          <a:p>
            <a:pPr>
              <a:buNone/>
            </a:pPr>
            <a:r>
              <a:rPr lang="de-DE" sz="1200">
                <a:latin typeface="Arial" panose="020B0604020202020204" pitchFamily="34" charset="0"/>
                <a:cs typeface="Arial" panose="020B0604020202020204" pitchFamily="34" charset="0"/>
              </a:rPr>
              <a:t>5️⃣ </a:t>
            </a:r>
            <a:r>
              <a:rPr kumimoji="0" lang="de-DE" altLang="de-DE" sz="1200" b="1" i="0" u="none" strike="noStrike" cap="none" normalizeH="0" baseline="0">
                <a:ln>
                  <a:noFill/>
                </a:ln>
                <a:solidFill>
                  <a:schemeClr val="tx1"/>
                </a:solidFill>
                <a:effectLst/>
                <a:latin typeface="Arial" panose="020B0604020202020204" pitchFamily="34" charset="0"/>
              </a:rPr>
              <a:t> Agenda Punkt 5</a:t>
            </a:r>
            <a:endParaRPr lang="de-DE" sz="1200" b="1">
              <a:latin typeface="Arial" panose="020B0604020202020204" pitchFamily="34" charset="0"/>
              <a:cs typeface="Arial" panose="020B0604020202020204" pitchFamily="34" charset="0"/>
            </a:endParaRPr>
          </a:p>
          <a:p>
            <a:pPr>
              <a:buNone/>
            </a:pPr>
            <a:endParaRPr lang="de-DE" sz="1200">
              <a:latin typeface="Arial" panose="020B0604020202020204" pitchFamily="34" charset="0"/>
              <a:cs typeface="Arial" panose="020B0604020202020204" pitchFamily="34" charset="0"/>
            </a:endParaRPr>
          </a:p>
          <a:p>
            <a:pPr marL="171450" indent="-171450">
              <a:buFont typeface="Wingdings" panose="05000000000000000000" pitchFamily="2" charset="2"/>
              <a:buChar char="§"/>
            </a:pPr>
            <a:r>
              <a:rPr lang="de-DE" sz="1200">
                <a:latin typeface="Arial" panose="020B0604020202020204" pitchFamily="34" charset="0"/>
                <a:cs typeface="Arial" panose="020B0604020202020204" pitchFamily="34" charset="0"/>
              </a:rPr>
              <a:t>…</a:t>
            </a:r>
          </a:p>
          <a:p>
            <a:pPr marL="171450" indent="-171450">
              <a:buFont typeface="Wingdings" panose="05000000000000000000" pitchFamily="2" charset="2"/>
              <a:buChar char="§"/>
            </a:pPr>
            <a:r>
              <a:rPr lang="de-DE" sz="1200">
                <a:latin typeface="Arial" panose="020B0604020202020204" pitchFamily="34" charset="0"/>
                <a:cs typeface="Arial" panose="020B0604020202020204" pitchFamily="34" charset="0"/>
              </a:rPr>
              <a:t>…</a:t>
            </a:r>
          </a:p>
          <a:p>
            <a:pPr marL="171450" indent="-171450">
              <a:buFont typeface="Wingdings" panose="05000000000000000000" pitchFamily="2" charset="2"/>
              <a:buChar char="§"/>
            </a:pPr>
            <a:r>
              <a:rPr lang="de-DE" sz="1200">
                <a:latin typeface="Arial" panose="020B0604020202020204" pitchFamily="34" charset="0"/>
                <a:cs typeface="Arial" panose="020B0604020202020204" pitchFamily="34" charset="0"/>
              </a:rPr>
              <a:t>…</a:t>
            </a:r>
          </a:p>
          <a:p>
            <a:pPr>
              <a:buFont typeface="Arial" panose="020B0604020202020204" pitchFamily="34" charset="0"/>
              <a:buChar char="•"/>
            </a:pPr>
            <a:endParaRPr lang="de-DE" sz="1200">
              <a:latin typeface="Arial" panose="020B0604020202020204" pitchFamily="34" charset="0"/>
              <a:cs typeface="Arial" panose="020B0604020202020204" pitchFamily="34" charset="0"/>
            </a:endParaRPr>
          </a:p>
          <a:p>
            <a:endParaRPr lang="de-DE" sz="1200">
              <a:latin typeface="Arial" panose="020B0604020202020204" pitchFamily="34" charset="0"/>
              <a:cs typeface="Arial" panose="020B0604020202020204" pitchFamily="34" charset="0"/>
            </a:endParaRPr>
          </a:p>
          <a:p>
            <a:pPr>
              <a:buNone/>
            </a:pPr>
            <a:r>
              <a:rPr lang="de-DE" sz="1200">
                <a:latin typeface="Arial" panose="020B0604020202020204" pitchFamily="34" charset="0"/>
                <a:cs typeface="Arial" panose="020B0604020202020204" pitchFamily="34" charset="0"/>
              </a:rPr>
              <a:t>6️⃣ </a:t>
            </a:r>
            <a:r>
              <a:rPr kumimoji="0" lang="de-DE" altLang="de-DE" sz="1200" b="1" i="0" u="none" strike="noStrike" cap="none" normalizeH="0" baseline="0">
                <a:ln>
                  <a:noFill/>
                </a:ln>
                <a:solidFill>
                  <a:schemeClr val="tx1"/>
                </a:solidFill>
                <a:effectLst/>
                <a:latin typeface="Arial" panose="020B0604020202020204" pitchFamily="34" charset="0"/>
              </a:rPr>
              <a:t> Agenda Punkt 6</a:t>
            </a:r>
            <a:endParaRPr lang="de-DE" sz="1200" b="1">
              <a:latin typeface="Arial" panose="020B0604020202020204" pitchFamily="34" charset="0"/>
              <a:cs typeface="Arial" panose="020B0604020202020204" pitchFamily="34" charset="0"/>
            </a:endParaRPr>
          </a:p>
          <a:p>
            <a:pPr>
              <a:buNone/>
            </a:pPr>
            <a:endParaRPr lang="de-DE" sz="1200">
              <a:latin typeface="Arial" panose="020B0604020202020204" pitchFamily="34" charset="0"/>
              <a:cs typeface="Arial" panose="020B0604020202020204" pitchFamily="34" charset="0"/>
            </a:endParaRPr>
          </a:p>
          <a:p>
            <a:pPr marL="171450" indent="-171450">
              <a:buFont typeface="Wingdings" panose="05000000000000000000" pitchFamily="2" charset="2"/>
              <a:buChar char="§"/>
            </a:pPr>
            <a:r>
              <a:rPr lang="de-DE" sz="1200">
                <a:latin typeface="Arial" panose="020B0604020202020204" pitchFamily="34" charset="0"/>
                <a:cs typeface="Arial" panose="020B0604020202020204" pitchFamily="34" charset="0"/>
              </a:rPr>
              <a:t>…</a:t>
            </a:r>
            <a:endParaRPr kumimoji="0" lang="de-DE" altLang="de-DE" sz="1800" b="0" i="0" u="none" strike="noStrike" cap="none" normalizeH="0" baseline="0">
              <a:ln>
                <a:noFill/>
              </a:ln>
              <a:solidFill>
                <a:schemeClr val="tx1"/>
              </a:solidFill>
              <a:effectLst/>
              <a:latin typeface="Arial" panose="020B0604020202020204" pitchFamily="34" charset="0"/>
            </a:endParaRPr>
          </a:p>
        </p:txBody>
      </p:sp>
      <p:sp>
        <p:nvSpPr>
          <p:cNvPr id="11" name="Pfeil: Fünfeck 10">
            <a:extLst>
              <a:ext uri="{FF2B5EF4-FFF2-40B4-BE49-F238E27FC236}">
                <a16:creationId xmlns:a16="http://schemas.microsoft.com/office/drawing/2014/main" id="{80C701F5-8F51-7B03-F27D-7409A90DEF57}"/>
              </a:ext>
            </a:extLst>
          </p:cNvPr>
          <p:cNvSpPr/>
          <p:nvPr/>
        </p:nvSpPr>
        <p:spPr>
          <a:xfrm>
            <a:off x="551384" y="980728"/>
            <a:ext cx="1763688" cy="360040"/>
          </a:xfrm>
          <a:prstGeom prst="homePlate">
            <a:avLst/>
          </a:prstGeom>
          <a:solidFill>
            <a:srgbClr val="4380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400">
                <a:latin typeface="Verdana" panose="020B0604030504040204" pitchFamily="34" charset="0"/>
                <a:ea typeface="Verdana" panose="020B0604030504040204" pitchFamily="34" charset="0"/>
                <a:cs typeface="Verdana" panose="020B0604030504040204" pitchFamily="34" charset="0"/>
              </a:rPr>
              <a:t>Agenda</a:t>
            </a:r>
          </a:p>
        </p:txBody>
      </p:sp>
    </p:spTree>
    <p:extLst>
      <p:ext uri="{BB962C8B-B14F-4D97-AF65-F5344CB8AC3E}">
        <p14:creationId xmlns:p14="http://schemas.microsoft.com/office/powerpoint/2010/main" val="39256136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0" y="476672"/>
            <a:ext cx="12192000" cy="576000"/>
          </a:xfrm>
        </p:spPr>
        <p:txBody>
          <a:bodyPr>
            <a:noAutofit/>
          </a:bodyPr>
          <a:lstStyle/>
          <a:p>
            <a:r>
              <a:rPr kumimoji="0" lang="de-DE" altLang="de-DE" sz="2000" b="1" i="0" u="none" strike="noStrike" cap="none" normalizeH="0" baseline="0" dirty="0">
                <a:ln>
                  <a:noFill/>
                </a:ln>
                <a:solidFill>
                  <a:schemeClr val="tx1"/>
                </a:solidFill>
                <a:effectLst/>
                <a:latin typeface="Arial" panose="020B0604020202020204" pitchFamily="34" charset="0"/>
              </a:rPr>
              <a:t>1️⃣ Ausgangslage - Mediennutzung und Barrierefreiheit</a:t>
            </a:r>
            <a:endParaRPr lang="de-DE" sz="2400" b="1" dirty="0">
              <a:latin typeface="Arial" panose="020B0604020202020204" pitchFamily="34" charset="0"/>
              <a:ea typeface="Verdana" panose="020B0604030504040204" pitchFamily="34" charset="0"/>
              <a:cs typeface="Arial" panose="020B0604020202020204" pitchFamily="34" charset="0"/>
            </a:endParaRPr>
          </a:p>
        </p:txBody>
      </p:sp>
      <p:graphicFrame>
        <p:nvGraphicFramePr>
          <p:cNvPr id="44" name="Tabelle 43"/>
          <p:cNvGraphicFramePr>
            <a:graphicFrameLocks noGrp="1"/>
          </p:cNvGraphicFramePr>
          <p:nvPr>
            <p:extLst>
              <p:ext uri="{D42A27DB-BD31-4B8C-83A1-F6EECF244321}">
                <p14:modId xmlns:p14="http://schemas.microsoft.com/office/powerpoint/2010/main" val="394492477"/>
              </p:ext>
            </p:extLst>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a:solidFill>
                          <a:schemeClr val="bg1"/>
                        </a:solidFill>
                      </a:endParaRPr>
                    </a:p>
                  </a:txBody>
                  <a:tcPr>
                    <a:solidFill>
                      <a:srgbClr val="FFC000"/>
                    </a:solidFill>
                  </a:tcPr>
                </a:tc>
                <a:tc>
                  <a:txBody>
                    <a:bodyPr/>
                    <a:lstStyle/>
                    <a:p>
                      <a:endParaRPr lang="de-DE" sz="1600" dirty="0">
                        <a:solidFill>
                          <a:schemeClr val="bg1"/>
                        </a:solidFill>
                      </a:endParaRPr>
                    </a:p>
                  </a:txBody>
                  <a:tcPr>
                    <a:solidFill>
                      <a:schemeClr val="bg1"/>
                    </a:solidFill>
                  </a:tcPr>
                </a:tc>
                <a:tc>
                  <a:txBody>
                    <a:bodyPr/>
                    <a:lstStyle/>
                    <a:p>
                      <a:endParaRPr lang="de-DE" sz="1600" b="1">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pic>
        <p:nvPicPr>
          <p:cNvPr id="6" name="Grafik 5" descr="Ein Bild, das Text, Screenshot, Diagramm, Schrift enthält.&#10;&#10;KI-generierte Inhalte können fehlerhaft sein.">
            <a:extLst>
              <a:ext uri="{FF2B5EF4-FFF2-40B4-BE49-F238E27FC236}">
                <a16:creationId xmlns:a16="http://schemas.microsoft.com/office/drawing/2014/main" id="{12D12562-3F34-A2F9-14FE-5F05E50ABC26}"/>
              </a:ext>
            </a:extLst>
          </p:cNvPr>
          <p:cNvPicPr>
            <a:picLocks noChangeAspect="1"/>
          </p:cNvPicPr>
          <p:nvPr/>
        </p:nvPicPr>
        <p:blipFill>
          <a:blip r:embed="rId3"/>
          <a:stretch>
            <a:fillRect/>
          </a:stretch>
        </p:blipFill>
        <p:spPr>
          <a:xfrm>
            <a:off x="6451692" y="2060848"/>
            <a:ext cx="5333262" cy="3555508"/>
          </a:xfrm>
          <a:prstGeom prst="rect">
            <a:avLst/>
          </a:prstGeom>
          <a:ln>
            <a:solidFill>
              <a:srgbClr val="438086"/>
            </a:solidFill>
          </a:ln>
        </p:spPr>
      </p:pic>
      <p:sp>
        <p:nvSpPr>
          <p:cNvPr id="8" name="Textfeld 7">
            <a:extLst>
              <a:ext uri="{FF2B5EF4-FFF2-40B4-BE49-F238E27FC236}">
                <a16:creationId xmlns:a16="http://schemas.microsoft.com/office/drawing/2014/main" id="{8AAC14A9-08B7-82D6-CFAD-EECE030AA113}"/>
              </a:ext>
            </a:extLst>
          </p:cNvPr>
          <p:cNvSpPr txBox="1"/>
          <p:nvPr/>
        </p:nvSpPr>
        <p:spPr>
          <a:xfrm>
            <a:off x="479376" y="2060848"/>
            <a:ext cx="5503540" cy="1443152"/>
          </a:xfrm>
          <a:prstGeom prst="rect">
            <a:avLst/>
          </a:prstGeom>
          <a:noFill/>
          <a:ln>
            <a:solidFill>
              <a:srgbClr val="438086"/>
            </a:solidFill>
          </a:ln>
        </p:spPr>
        <p:txBody>
          <a:bodyPr wrap="square">
            <a:spAutoFit/>
          </a:bodyPr>
          <a:lstStyle/>
          <a:p>
            <a:pPr algn="just">
              <a:lnSpc>
                <a:spcPct val="150000"/>
              </a:lnSpc>
            </a:pPr>
            <a:r>
              <a:rPr lang="de-DE" sz="1200" dirty="0">
                <a:latin typeface="Arial" panose="020B0604020202020204" pitchFamily="34" charset="0"/>
                <a:cs typeface="Arial" panose="020B0604020202020204" pitchFamily="34" charset="0"/>
              </a:rPr>
              <a:t>Audiodeskriptionen sind essenziell, um blinden und sehbehinderten Menschen den Zugang zu audiovisuellen Inhalten wie Filmen, Serien und Nachrichten zu ermöglichen. Die manuelle Erstellung dieser Beschreibungen ist jedoch zeit- und kostenintensiv und kann mit dem steigenden Bedarf an barrierefreiem, aktuellem Content kaum Schritt halten.</a:t>
            </a:r>
          </a:p>
        </p:txBody>
      </p:sp>
      <p:sp>
        <p:nvSpPr>
          <p:cNvPr id="9" name="Textfeld 8">
            <a:extLst>
              <a:ext uri="{FF2B5EF4-FFF2-40B4-BE49-F238E27FC236}">
                <a16:creationId xmlns:a16="http://schemas.microsoft.com/office/drawing/2014/main" id="{F8FEE055-6984-21EB-BA28-F6CFB693CC17}"/>
              </a:ext>
            </a:extLst>
          </p:cNvPr>
          <p:cNvSpPr txBox="1"/>
          <p:nvPr/>
        </p:nvSpPr>
        <p:spPr>
          <a:xfrm>
            <a:off x="407368" y="1499416"/>
            <a:ext cx="8136904" cy="307777"/>
          </a:xfrm>
          <a:prstGeom prst="rect">
            <a:avLst/>
          </a:prstGeom>
          <a:noFill/>
        </p:spPr>
        <p:txBody>
          <a:bodyPr wrap="square">
            <a:spAutoFit/>
          </a:bodyPr>
          <a:lstStyle/>
          <a:p>
            <a:r>
              <a:rPr lang="de-DE" sz="1400" b="1">
                <a:latin typeface="Arial" panose="020B0604020202020204" pitchFamily="34" charset="0"/>
                <a:cs typeface="Arial" panose="020B0604020202020204" pitchFamily="34" charset="0"/>
              </a:rPr>
              <a:t>Entwicklung einer KI-Lösung für Audiodeskriptionen</a:t>
            </a:r>
          </a:p>
        </p:txBody>
      </p:sp>
      <p:sp>
        <p:nvSpPr>
          <p:cNvPr id="10" name="Gleichschenkliges Dreieck 9">
            <a:extLst>
              <a:ext uri="{FF2B5EF4-FFF2-40B4-BE49-F238E27FC236}">
                <a16:creationId xmlns:a16="http://schemas.microsoft.com/office/drawing/2014/main" id="{F9EDF81D-1169-A549-7E65-EC908C651D5C}"/>
              </a:ext>
            </a:extLst>
          </p:cNvPr>
          <p:cNvSpPr/>
          <p:nvPr/>
        </p:nvSpPr>
        <p:spPr>
          <a:xfrm rot="5400000">
            <a:off x="409521" y="4520846"/>
            <a:ext cx="432048" cy="252028"/>
          </a:xfrm>
          <a:prstGeom prst="triangle">
            <a:avLst/>
          </a:prstGeom>
          <a:solidFill>
            <a:srgbClr val="488A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feld 10">
            <a:extLst>
              <a:ext uri="{FF2B5EF4-FFF2-40B4-BE49-F238E27FC236}">
                <a16:creationId xmlns:a16="http://schemas.microsoft.com/office/drawing/2014/main" id="{EC05B794-F985-9DFA-B177-CE3D92A9FA43}"/>
              </a:ext>
            </a:extLst>
          </p:cNvPr>
          <p:cNvSpPr txBox="1"/>
          <p:nvPr/>
        </p:nvSpPr>
        <p:spPr>
          <a:xfrm>
            <a:off x="839416" y="3677364"/>
            <a:ext cx="5143500" cy="1938992"/>
          </a:xfrm>
          <a:prstGeom prst="rect">
            <a:avLst/>
          </a:prstGeom>
          <a:noFill/>
          <a:ln>
            <a:solidFill>
              <a:srgbClr val="438086"/>
            </a:solidFill>
          </a:ln>
        </p:spPr>
        <p:txBody>
          <a:bodyPr wrap="square">
            <a:spAutoFit/>
          </a:bodyPr>
          <a:lstStyle/>
          <a:p>
            <a:pPr algn="just">
              <a:buNone/>
            </a:pPr>
            <a:r>
              <a:rPr lang="de-DE" sz="1200">
                <a:latin typeface="Arial" panose="020B0604020202020204" pitchFamily="34" charset="0"/>
                <a:cs typeface="Arial" panose="020B0604020202020204" pitchFamily="34" charset="0"/>
              </a:rPr>
              <a:t>Die aktuelle Forschung zeigt deutlich:</a:t>
            </a:r>
          </a:p>
          <a:p>
            <a:pPr algn="just">
              <a:buNone/>
            </a:pPr>
            <a:br>
              <a:rPr lang="de-DE" sz="1200">
                <a:latin typeface="Arial" panose="020B0604020202020204" pitchFamily="34" charset="0"/>
                <a:cs typeface="Arial" panose="020B0604020202020204" pitchFamily="34" charset="0"/>
              </a:rPr>
            </a:br>
            <a:r>
              <a:rPr lang="de-DE" sz="1200" b="1">
                <a:latin typeface="Arial" panose="020B0604020202020204" pitchFamily="34" charset="0"/>
                <a:cs typeface="Arial" panose="020B0604020202020204" pitchFamily="34" charset="0"/>
              </a:rPr>
              <a:t>Technologische Grundlagen für eine automatisierte Erstellung von Audiodeskriptionen sind vorhanden.</a:t>
            </a:r>
          </a:p>
          <a:p>
            <a:pPr algn="just">
              <a:buNone/>
            </a:pPr>
            <a:endParaRPr lang="de-DE" sz="1200">
              <a:latin typeface="Arial" panose="020B0604020202020204" pitchFamily="34" charset="0"/>
              <a:cs typeface="Arial" panose="020B0604020202020204" pitchFamily="34" charset="0"/>
            </a:endParaRPr>
          </a:p>
          <a:p>
            <a:pPr algn="just"/>
            <a:r>
              <a:rPr lang="de-DE" sz="1200">
                <a:latin typeface="Arial" panose="020B0604020202020204" pitchFamily="34" charset="0"/>
                <a:cs typeface="Arial" panose="020B0604020202020204" pitchFamily="34" charset="0"/>
              </a:rPr>
              <a:t>Mehrere Ansätze sind praxistauglich und kombinierbar – insbesondere durch den Einsatz </a:t>
            </a:r>
            <a:r>
              <a:rPr lang="de-DE" sz="1200" b="1">
                <a:latin typeface="Arial" panose="020B0604020202020204" pitchFamily="34" charset="0"/>
                <a:cs typeface="Arial" panose="020B0604020202020204" pitchFamily="34" charset="0"/>
              </a:rPr>
              <a:t>zero-shot-fähiger Vision-Language-Modelle</a:t>
            </a:r>
            <a:r>
              <a:rPr lang="de-DE" sz="1200">
                <a:latin typeface="Arial" panose="020B0604020202020204" pitchFamily="34" charset="0"/>
                <a:cs typeface="Arial" panose="020B0604020202020204" pitchFamily="34" charset="0"/>
              </a:rPr>
              <a:t>, </a:t>
            </a:r>
            <a:r>
              <a:rPr lang="de-DE" sz="1200" b="1">
                <a:latin typeface="Arial" panose="020B0604020202020204" pitchFamily="34" charset="0"/>
                <a:cs typeface="Arial" panose="020B0604020202020204" pitchFamily="34" charset="0"/>
              </a:rPr>
              <a:t>regelbasiertem Post-Editing</a:t>
            </a:r>
            <a:r>
              <a:rPr lang="de-DE" sz="1200">
                <a:latin typeface="Arial" panose="020B0604020202020204" pitchFamily="34" charset="0"/>
                <a:cs typeface="Arial" panose="020B0604020202020204" pitchFamily="34" charset="0"/>
              </a:rPr>
              <a:t> und </a:t>
            </a:r>
            <a:r>
              <a:rPr lang="de-DE" sz="1200" b="1">
                <a:latin typeface="Arial" panose="020B0604020202020204" pitchFamily="34" charset="0"/>
                <a:cs typeface="Arial" panose="020B0604020202020204" pitchFamily="34" charset="0"/>
              </a:rPr>
              <a:t>modularer Systemarchitektur</a:t>
            </a:r>
            <a:r>
              <a:rPr lang="de-DE" sz="1200">
                <a:latin typeface="Arial" panose="020B0604020202020204" pitchFamily="34" charset="0"/>
                <a:cs typeface="Arial" panose="020B0604020202020204" pitchFamily="34" charset="0"/>
              </a:rPr>
              <a:t>. Damit wird es möglich, den bisherigen manuellen Aufwand erheblich zu reduzieren.</a:t>
            </a:r>
          </a:p>
        </p:txBody>
      </p:sp>
      <p:sp>
        <p:nvSpPr>
          <p:cNvPr id="13" name="Textfeld 12">
            <a:extLst>
              <a:ext uri="{FF2B5EF4-FFF2-40B4-BE49-F238E27FC236}">
                <a16:creationId xmlns:a16="http://schemas.microsoft.com/office/drawing/2014/main" id="{E268691F-06B9-A702-1059-E8F84732523A}"/>
              </a:ext>
            </a:extLst>
          </p:cNvPr>
          <p:cNvSpPr txBox="1"/>
          <p:nvPr/>
        </p:nvSpPr>
        <p:spPr>
          <a:xfrm>
            <a:off x="6451692" y="5677073"/>
            <a:ext cx="3373412" cy="246221"/>
          </a:xfrm>
          <a:prstGeom prst="rect">
            <a:avLst/>
          </a:prstGeom>
          <a:noFill/>
        </p:spPr>
        <p:txBody>
          <a:bodyPr wrap="square">
            <a:spAutoFit/>
          </a:bodyPr>
          <a:lstStyle/>
          <a:p>
            <a:pPr>
              <a:buNone/>
            </a:pPr>
            <a:r>
              <a:rPr lang="de-DE" sz="1000">
                <a:latin typeface="Arial" panose="020B0604020202020204" pitchFamily="34" charset="0"/>
                <a:cs typeface="Arial" panose="020B0604020202020204" pitchFamily="34" charset="0"/>
              </a:rPr>
              <a:t>Quelle: Eigene Darstellung.</a:t>
            </a:r>
          </a:p>
        </p:txBody>
      </p:sp>
      <p:sp>
        <p:nvSpPr>
          <p:cNvPr id="14" name="Textfeld 13">
            <a:extLst>
              <a:ext uri="{FF2B5EF4-FFF2-40B4-BE49-F238E27FC236}">
                <a16:creationId xmlns:a16="http://schemas.microsoft.com/office/drawing/2014/main" id="{CCC9F7C5-DDE7-C22D-A78A-A8A9828D4902}"/>
              </a:ext>
            </a:extLst>
          </p:cNvPr>
          <p:cNvSpPr txBox="1"/>
          <p:nvPr/>
        </p:nvSpPr>
        <p:spPr>
          <a:xfrm>
            <a:off x="10282162" y="5284937"/>
            <a:ext cx="1501204" cy="246221"/>
          </a:xfrm>
          <a:prstGeom prst="rect">
            <a:avLst/>
          </a:prstGeom>
          <a:noFill/>
        </p:spPr>
        <p:txBody>
          <a:bodyPr wrap="square">
            <a:spAutoFit/>
          </a:bodyPr>
          <a:lstStyle/>
          <a:p>
            <a:pPr>
              <a:buNone/>
            </a:pPr>
            <a:r>
              <a:rPr lang="de-DE" sz="1000">
                <a:latin typeface="Arial" panose="020B0604020202020204" pitchFamily="34" charset="0"/>
                <a:cs typeface="Arial" panose="020B0604020202020204" pitchFamily="34" charset="0"/>
              </a:rPr>
              <a:t>AD = Audiodeskription</a:t>
            </a:r>
          </a:p>
        </p:txBody>
      </p:sp>
    </p:spTree>
    <p:extLst>
      <p:ext uri="{BB962C8B-B14F-4D97-AF65-F5344CB8AC3E}">
        <p14:creationId xmlns:p14="http://schemas.microsoft.com/office/powerpoint/2010/main" val="471555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C9108-1CE2-B466-73E9-D3573F7F027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35D0753-5476-20BD-4117-60B65085F6F6}"/>
              </a:ext>
            </a:extLst>
          </p:cNvPr>
          <p:cNvSpPr>
            <a:spLocks noGrp="1"/>
          </p:cNvSpPr>
          <p:nvPr>
            <p:ph type="title"/>
          </p:nvPr>
        </p:nvSpPr>
        <p:spPr>
          <a:xfrm>
            <a:off x="0" y="476672"/>
            <a:ext cx="12192000" cy="576000"/>
          </a:xfrm>
        </p:spPr>
        <p:txBody>
          <a:bodyPr>
            <a:noAutofit/>
          </a:bodyPr>
          <a:lstStyle/>
          <a:p>
            <a:r>
              <a:rPr kumimoji="0" lang="de-DE" altLang="de-DE" sz="2000" b="1" i="0" u="none" strike="noStrike" cap="none" normalizeH="0" baseline="0" dirty="0">
                <a:ln>
                  <a:noFill/>
                </a:ln>
                <a:solidFill>
                  <a:schemeClr val="tx1"/>
                </a:solidFill>
                <a:effectLst/>
                <a:latin typeface="Arial" panose="020B0604020202020204" pitchFamily="34" charset="0"/>
              </a:rPr>
              <a:t>1️⃣ Ausgangslage - Stand der Wissenschaft und technologischer Fortschritt​</a:t>
            </a:r>
            <a:endParaRPr lang="de-DE" sz="2400" b="1" dirty="0">
              <a:latin typeface="Arial" panose="020B0604020202020204" pitchFamily="34" charset="0"/>
              <a:ea typeface="Verdana" panose="020B0604030504040204" pitchFamily="34" charset="0"/>
              <a:cs typeface="Arial" panose="020B0604020202020204" pitchFamily="34" charset="0"/>
            </a:endParaRPr>
          </a:p>
        </p:txBody>
      </p:sp>
      <p:graphicFrame>
        <p:nvGraphicFramePr>
          <p:cNvPr id="44" name="Tabelle 43">
            <a:extLst>
              <a:ext uri="{FF2B5EF4-FFF2-40B4-BE49-F238E27FC236}">
                <a16:creationId xmlns:a16="http://schemas.microsoft.com/office/drawing/2014/main" id="{9E569E89-8594-6474-5E38-BED14EC4E822}"/>
              </a:ext>
            </a:extLst>
          </p:cNvPr>
          <p:cNvGraphicFramePr>
            <a:graphicFrameLocks noGrp="1"/>
          </p:cNvGraphicFramePr>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a:solidFill>
                          <a:schemeClr val="bg1"/>
                        </a:solidFill>
                      </a:endParaRPr>
                    </a:p>
                  </a:txBody>
                  <a:tcPr>
                    <a:solidFill>
                      <a:srgbClr val="FFC000"/>
                    </a:solidFill>
                  </a:tcPr>
                </a:tc>
                <a:tc>
                  <a:txBody>
                    <a:bodyPr/>
                    <a:lstStyle/>
                    <a:p>
                      <a:endParaRPr lang="de-DE" sz="1600" dirty="0">
                        <a:solidFill>
                          <a:schemeClr val="bg1"/>
                        </a:solidFill>
                      </a:endParaRPr>
                    </a:p>
                  </a:txBody>
                  <a:tcPr>
                    <a:solidFill>
                      <a:schemeClr val="bg1"/>
                    </a:solidFill>
                  </a:tcPr>
                </a:tc>
                <a:tc>
                  <a:txBody>
                    <a:bodyPr/>
                    <a:lstStyle/>
                    <a:p>
                      <a:endParaRPr lang="de-DE" sz="1600" b="1">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pic>
        <p:nvPicPr>
          <p:cNvPr id="6" name="Grafik 5">
            <a:extLst>
              <a:ext uri="{FF2B5EF4-FFF2-40B4-BE49-F238E27FC236}">
                <a16:creationId xmlns:a16="http://schemas.microsoft.com/office/drawing/2014/main" id="{498D2FE1-2F82-DF56-9CF9-1E0688F3EA07}"/>
              </a:ext>
            </a:extLst>
          </p:cNvPr>
          <p:cNvPicPr>
            <a:picLocks noChangeAspect="1"/>
          </p:cNvPicPr>
          <p:nvPr/>
        </p:nvPicPr>
        <p:blipFill>
          <a:blip r:embed="rId3"/>
          <a:stretch>
            <a:fillRect/>
          </a:stretch>
        </p:blipFill>
        <p:spPr>
          <a:xfrm>
            <a:off x="479374" y="1913514"/>
            <a:ext cx="11593290" cy="3171670"/>
          </a:xfrm>
          <a:prstGeom prst="rect">
            <a:avLst/>
          </a:prstGeom>
          <a:ln>
            <a:solidFill>
              <a:srgbClr val="438086"/>
            </a:solidFill>
          </a:ln>
        </p:spPr>
      </p:pic>
      <p:sp>
        <p:nvSpPr>
          <p:cNvPr id="8" name="Textfeld 7">
            <a:extLst>
              <a:ext uri="{FF2B5EF4-FFF2-40B4-BE49-F238E27FC236}">
                <a16:creationId xmlns:a16="http://schemas.microsoft.com/office/drawing/2014/main" id="{FB5A0F6D-7F76-ECCA-A5DF-E5827AE92C11}"/>
              </a:ext>
            </a:extLst>
          </p:cNvPr>
          <p:cNvSpPr txBox="1"/>
          <p:nvPr/>
        </p:nvSpPr>
        <p:spPr>
          <a:xfrm>
            <a:off x="407368" y="1499416"/>
            <a:ext cx="8136904" cy="307777"/>
          </a:xfrm>
          <a:prstGeom prst="rect">
            <a:avLst/>
          </a:prstGeom>
          <a:noFill/>
        </p:spPr>
        <p:txBody>
          <a:bodyPr wrap="square">
            <a:spAutoFit/>
          </a:bodyPr>
          <a:lstStyle/>
          <a:p>
            <a:r>
              <a:rPr lang="de-DE" sz="1400" b="1">
                <a:latin typeface="Arial" panose="020B0604020202020204" pitchFamily="34" charset="0"/>
                <a:cs typeface="Arial" panose="020B0604020202020204" pitchFamily="34" charset="0"/>
              </a:rPr>
              <a:t>Systematische Gegenüberstellung aktueller Paper zur visuellen Analyse für Audiodeskription</a:t>
            </a:r>
          </a:p>
        </p:txBody>
      </p:sp>
      <p:sp>
        <p:nvSpPr>
          <p:cNvPr id="9" name="Gleichschenkliges Dreieck 8">
            <a:extLst>
              <a:ext uri="{FF2B5EF4-FFF2-40B4-BE49-F238E27FC236}">
                <a16:creationId xmlns:a16="http://schemas.microsoft.com/office/drawing/2014/main" id="{DECE2A43-1AB2-9610-478D-6B34D3E5FEAE}"/>
              </a:ext>
            </a:extLst>
          </p:cNvPr>
          <p:cNvSpPr/>
          <p:nvPr/>
        </p:nvSpPr>
        <p:spPr>
          <a:xfrm rot="5400000">
            <a:off x="389364" y="5886349"/>
            <a:ext cx="432048" cy="252028"/>
          </a:xfrm>
          <a:prstGeom prst="triangle">
            <a:avLst/>
          </a:prstGeom>
          <a:solidFill>
            <a:srgbClr val="488A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Rectangle 3">
            <a:extLst>
              <a:ext uri="{FF2B5EF4-FFF2-40B4-BE49-F238E27FC236}">
                <a16:creationId xmlns:a16="http://schemas.microsoft.com/office/drawing/2014/main" id="{42E45C66-D9EE-C4B8-636D-D7A7E0C7CD71}"/>
              </a:ext>
            </a:extLst>
          </p:cNvPr>
          <p:cNvSpPr>
            <a:spLocks noChangeArrowheads="1"/>
          </p:cNvSpPr>
          <p:nvPr/>
        </p:nvSpPr>
        <p:spPr bwMode="auto">
          <a:xfrm>
            <a:off x="839416" y="5427587"/>
            <a:ext cx="11089232"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de-DE" altLang="de-DE" sz="1000" b="0" i="0" u="none" strike="noStrike" cap="none" normalizeH="0" baseline="0">
                <a:ln>
                  <a:noFill/>
                </a:ln>
                <a:solidFill>
                  <a:schemeClr val="tx1"/>
                </a:solidFill>
                <a:effectLst/>
                <a:latin typeface="Arial" panose="020B0604020202020204" pitchFamily="34" charset="0"/>
              </a:rPr>
              <a:t>Die vergleichende Analyse zeigt, dass mehrere aktuelle Modelle zur automatisierten Audiodeskription bereits praxisnah einsetzbar sind. Besonders das Framework von Gao et al. (2024) bietet eine tragfähige Struktur zur Systementwicklung. Modelle wie </a:t>
            </a:r>
            <a:r>
              <a:rPr kumimoji="0" lang="de-DE" altLang="de-DE" sz="1000" b="1" i="0" u="none" strike="noStrike" cap="none" normalizeH="0" baseline="0">
                <a:ln>
                  <a:noFill/>
                </a:ln>
                <a:solidFill>
                  <a:schemeClr val="tx1"/>
                </a:solidFill>
                <a:effectLst/>
                <a:latin typeface="Arial" panose="020B0604020202020204" pitchFamily="34" charset="0"/>
              </a:rPr>
              <a:t>AutoAD III</a:t>
            </a:r>
            <a:r>
              <a:rPr kumimoji="0" lang="de-DE" altLang="de-DE" sz="1000" b="0" i="0" u="none" strike="noStrike" cap="none" normalizeH="0" baseline="0">
                <a:ln>
                  <a:noFill/>
                </a:ln>
                <a:solidFill>
                  <a:schemeClr val="tx1"/>
                </a:solidFill>
                <a:effectLst/>
                <a:latin typeface="Arial" panose="020B0604020202020204" pitchFamily="34" charset="0"/>
              </a:rPr>
              <a:t> und </a:t>
            </a:r>
            <a:r>
              <a:rPr kumimoji="0" lang="de-DE" altLang="de-DE" sz="1000" b="1" i="0" u="none" strike="noStrike" cap="none" normalizeH="0" baseline="0">
                <a:ln>
                  <a:noFill/>
                </a:ln>
                <a:solidFill>
                  <a:schemeClr val="tx1"/>
                </a:solidFill>
                <a:effectLst/>
                <a:latin typeface="Arial" panose="020B0604020202020204" pitchFamily="34" charset="0"/>
              </a:rPr>
              <a:t>AutoAD-Zero</a:t>
            </a:r>
            <a:r>
              <a:rPr kumimoji="0" lang="de-DE" altLang="de-DE" sz="1000" b="0" i="0" u="none" strike="noStrike" cap="none" normalizeH="0" baseline="0">
                <a:ln>
                  <a:noFill/>
                </a:ln>
                <a:solidFill>
                  <a:schemeClr val="tx1"/>
                </a:solidFill>
                <a:effectLst/>
                <a:latin typeface="Arial" panose="020B0604020202020204" pitchFamily="34" charset="0"/>
              </a:rPr>
              <a:t> eignen sich als direkte Grundlage – letzteres insbesondere durch seinen zero-shot-Ansatz bei geringem Trainingsaufwand. Ergänzende Arbeiten wie </a:t>
            </a:r>
            <a:r>
              <a:rPr kumimoji="0" lang="de-DE" altLang="de-DE" sz="1000" b="1" i="0" u="none" strike="noStrike" cap="none" normalizeH="0" baseline="0">
                <a:ln>
                  <a:noFill/>
                </a:ln>
                <a:solidFill>
                  <a:schemeClr val="tx1"/>
                </a:solidFill>
                <a:effectLst/>
                <a:latin typeface="Arial" panose="020B0604020202020204" pitchFamily="34" charset="0"/>
              </a:rPr>
              <a:t>LLaVA-MR</a:t>
            </a:r>
            <a:r>
              <a:rPr kumimoji="0" lang="de-DE" altLang="de-DE" sz="1000" b="0" i="0" u="none" strike="noStrike" cap="none" normalizeH="0" baseline="0">
                <a:ln>
                  <a:noFill/>
                </a:ln>
                <a:solidFill>
                  <a:schemeClr val="tx1"/>
                </a:solidFill>
                <a:effectLst/>
                <a:latin typeface="Arial" panose="020B0604020202020204" pitchFamily="34" charset="0"/>
              </a:rPr>
              <a:t> oder </a:t>
            </a:r>
            <a:r>
              <a:rPr kumimoji="0" lang="de-DE" altLang="de-DE" sz="1000" b="1" i="0" u="none" strike="noStrike" cap="none" normalizeH="0" baseline="0">
                <a:ln>
                  <a:noFill/>
                </a:ln>
                <a:solidFill>
                  <a:schemeClr val="tx1"/>
                </a:solidFill>
                <a:effectLst/>
                <a:latin typeface="Arial" panose="020B0604020202020204" pitchFamily="34" charset="0"/>
              </a:rPr>
              <a:t>VidChain</a:t>
            </a:r>
            <a:r>
              <a:rPr kumimoji="0" lang="de-DE" altLang="de-DE" sz="1000" b="0" i="0" u="none" strike="noStrike" cap="none" normalizeH="0" baseline="0">
                <a:ln>
                  <a:noFill/>
                </a:ln>
                <a:solidFill>
                  <a:schemeClr val="tx1"/>
                </a:solidFill>
                <a:effectLst/>
                <a:latin typeface="Arial" panose="020B0604020202020204" pitchFamily="34" charset="0"/>
              </a:rPr>
              <a:t> adressieren Teilaspekte wie Zeitmarkenerkennung und Ereignisverkettung und können zur Optimierung einzelner Module herangezogen werden.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de-DE" altLang="de-DE" sz="1000" b="0" i="0" u="none" strike="noStrike" cap="none" normalizeH="0" baseline="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de-DE" altLang="de-DE" sz="1000" b="0" i="0" u="none" strike="noStrike" cap="none" normalizeH="0" baseline="0">
                <a:ln>
                  <a:noFill/>
                </a:ln>
                <a:solidFill>
                  <a:schemeClr val="tx1"/>
                </a:solidFill>
                <a:effectLst/>
                <a:latin typeface="Arial" panose="020B0604020202020204" pitchFamily="34" charset="0"/>
              </a:rPr>
              <a:t>Insgesamt ist ein Prototyp auf Basis existierender Open-Source-Komponenten mit vertretbarem Aufwand umsetzbar. Empfohlen wird auf Basis verfügbarer paper eine Kombination aus </a:t>
            </a:r>
            <a:r>
              <a:rPr kumimoji="0" lang="de-DE" altLang="de-DE" sz="1000" b="1" i="0" u="none" strike="noStrike" cap="none" normalizeH="0" baseline="0">
                <a:ln>
                  <a:noFill/>
                </a:ln>
                <a:solidFill>
                  <a:schemeClr val="tx1"/>
                </a:solidFill>
                <a:effectLst/>
                <a:latin typeface="Arial" panose="020B0604020202020204" pitchFamily="34" charset="0"/>
              </a:rPr>
              <a:t>zero-shot Captioning</a:t>
            </a:r>
            <a:r>
              <a:rPr kumimoji="0" lang="de-DE" altLang="de-DE" sz="1000" b="0" i="0" u="none" strike="noStrike" cap="none" normalizeH="0" baseline="0">
                <a:ln>
                  <a:noFill/>
                </a:ln>
                <a:solidFill>
                  <a:schemeClr val="tx1"/>
                </a:solidFill>
                <a:effectLst/>
                <a:latin typeface="Arial" panose="020B0604020202020204" pitchFamily="34" charset="0"/>
              </a:rPr>
              <a:t>, </a:t>
            </a:r>
            <a:r>
              <a:rPr kumimoji="0" lang="de-DE" altLang="de-DE" sz="1000" b="1" i="0" u="none" strike="noStrike" cap="none" normalizeH="0" baseline="0">
                <a:ln>
                  <a:noFill/>
                </a:ln>
                <a:solidFill>
                  <a:schemeClr val="tx1"/>
                </a:solidFill>
                <a:effectLst/>
                <a:latin typeface="Arial" panose="020B0604020202020204" pitchFamily="34" charset="0"/>
              </a:rPr>
              <a:t>regelbasiertem Post-Editing</a:t>
            </a:r>
            <a:r>
              <a:rPr kumimoji="0" lang="de-DE" altLang="de-DE" sz="1000" b="0" i="0" u="none" strike="noStrike" cap="none" normalizeH="0" baseline="0">
                <a:ln>
                  <a:noFill/>
                </a:ln>
                <a:solidFill>
                  <a:schemeClr val="tx1"/>
                </a:solidFill>
                <a:effectLst/>
                <a:latin typeface="Arial" panose="020B0604020202020204" pitchFamily="34" charset="0"/>
              </a:rPr>
              <a:t> und </a:t>
            </a:r>
            <a:r>
              <a:rPr kumimoji="0" lang="de-DE" altLang="de-DE" sz="1000" b="1" i="0" u="none" strike="noStrike" cap="none" normalizeH="0" baseline="0">
                <a:ln>
                  <a:noFill/>
                </a:ln>
                <a:solidFill>
                  <a:schemeClr val="tx1"/>
                </a:solidFill>
                <a:effectLst/>
                <a:latin typeface="Arial" panose="020B0604020202020204" pitchFamily="34" charset="0"/>
              </a:rPr>
              <a:t>nutzerzentrierter Evaluation</a:t>
            </a:r>
            <a:r>
              <a:rPr kumimoji="0" lang="de-DE" altLang="de-DE" sz="1000" b="0" i="0" u="none" strike="noStrike" cap="none" normalizeH="0" baseline="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2198933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0" y="476672"/>
            <a:ext cx="12192000" cy="576000"/>
          </a:xfrm>
        </p:spPr>
        <p:txBody>
          <a:bodyPr>
            <a:noAutofit/>
          </a:bodyPr>
          <a:lstStyle/>
          <a:p>
            <a:r>
              <a:rPr kumimoji="0" lang="de-DE" altLang="de-DE" sz="2000" b="1" i="0" u="none" strike="noStrike" cap="none" normalizeH="0" baseline="0" dirty="0">
                <a:ln>
                  <a:noFill/>
                </a:ln>
                <a:solidFill>
                  <a:schemeClr val="tx1"/>
                </a:solidFill>
                <a:effectLst/>
                <a:latin typeface="Arial" panose="020B0604020202020204" pitchFamily="34" charset="0"/>
              </a:rPr>
              <a:t>2️⃣ Vertex AI – Google Cloud Analyse von Daten, Bildern und Videos mit Gemini</a:t>
            </a:r>
            <a:endParaRPr lang="de-DE" sz="2400" b="1" dirty="0">
              <a:latin typeface="Arial" panose="020B0604020202020204" pitchFamily="34" charset="0"/>
              <a:ea typeface="Verdana" panose="020B0604030504040204" pitchFamily="34" charset="0"/>
              <a:cs typeface="Arial" panose="020B0604020202020204" pitchFamily="34" charset="0"/>
            </a:endParaRPr>
          </a:p>
        </p:txBody>
      </p:sp>
      <p:graphicFrame>
        <p:nvGraphicFramePr>
          <p:cNvPr id="44" name="Tabelle 43"/>
          <p:cNvGraphicFramePr>
            <a:graphicFrameLocks noGrp="1"/>
          </p:cNvGraphicFramePr>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dirty="0">
                        <a:solidFill>
                          <a:schemeClr val="bg1"/>
                        </a:solidFill>
                      </a:endParaRPr>
                    </a:p>
                  </a:txBody>
                  <a:tcPr>
                    <a:solidFill>
                      <a:srgbClr val="FFC000"/>
                    </a:solidFill>
                  </a:tcPr>
                </a:tc>
                <a:tc>
                  <a:txBody>
                    <a:bodyPr/>
                    <a:lstStyle/>
                    <a:p>
                      <a:endParaRPr lang="de-DE" sz="1600" dirty="0">
                        <a:solidFill>
                          <a:schemeClr val="bg1"/>
                        </a:solidFill>
                      </a:endParaRPr>
                    </a:p>
                  </a:txBody>
                  <a:tcPr>
                    <a:solidFill>
                      <a:schemeClr val="bg1"/>
                    </a:solidFill>
                  </a:tcPr>
                </a:tc>
                <a:tc>
                  <a:txBody>
                    <a:bodyPr/>
                    <a:lstStyle/>
                    <a:p>
                      <a:endParaRPr lang="de-DE" sz="1600" b="1">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sp>
        <p:nvSpPr>
          <p:cNvPr id="4" name="Textfeld 3">
            <a:extLst>
              <a:ext uri="{FF2B5EF4-FFF2-40B4-BE49-F238E27FC236}">
                <a16:creationId xmlns:a16="http://schemas.microsoft.com/office/drawing/2014/main" id="{645B671B-5453-8EA0-AE15-7AA87175B5C7}"/>
              </a:ext>
            </a:extLst>
          </p:cNvPr>
          <p:cNvSpPr txBox="1"/>
          <p:nvPr/>
        </p:nvSpPr>
        <p:spPr>
          <a:xfrm>
            <a:off x="407368" y="1484784"/>
            <a:ext cx="6048672" cy="5509200"/>
          </a:xfrm>
          <a:prstGeom prst="rect">
            <a:avLst/>
          </a:prstGeom>
          <a:noFill/>
        </p:spPr>
        <p:txBody>
          <a:bodyPr wrap="square">
            <a:spAutoFit/>
          </a:bodyPr>
          <a:lstStyle/>
          <a:p>
            <a:pPr>
              <a:buNone/>
            </a:pPr>
            <a:r>
              <a:rPr lang="de-DE" sz="1100" b="1" dirty="0">
                <a:latin typeface="Arial" panose="020B0604020202020204" pitchFamily="34" charset="0"/>
                <a:cs typeface="Arial" panose="020B0604020202020204" pitchFamily="34" charset="0"/>
              </a:rPr>
              <a:t>Vertex AI: Google Cloud</a:t>
            </a:r>
          </a:p>
          <a:p>
            <a:pPr>
              <a:buNone/>
            </a:pPr>
            <a:endParaRPr lang="de-DE" sz="11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KI und Datenbasis: Gemini, in verschiedenen Versionen</a:t>
            </a:r>
          </a:p>
          <a:p>
            <a:pPr marL="285750"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Unterstützt Zero-Shot, </a:t>
            </a:r>
            <a:r>
              <a:rPr lang="de-DE" sz="1100" dirty="0" err="1">
                <a:latin typeface="Arial" panose="020B0604020202020204" pitchFamily="34" charset="0"/>
                <a:cs typeface="Arial" panose="020B0604020202020204" pitchFamily="34" charset="0"/>
              </a:rPr>
              <a:t>One</a:t>
            </a:r>
            <a:r>
              <a:rPr lang="de-DE" sz="1100" dirty="0">
                <a:latin typeface="Arial" panose="020B0604020202020204" pitchFamily="34" charset="0"/>
                <a:cs typeface="Arial" panose="020B0604020202020204" pitchFamily="34" charset="0"/>
              </a:rPr>
              <a:t>-Shot und </a:t>
            </a:r>
            <a:r>
              <a:rPr lang="de-DE" sz="1100" dirty="0" err="1">
                <a:latin typeface="Arial" panose="020B0604020202020204" pitchFamily="34" charset="0"/>
                <a:cs typeface="Arial" panose="020B0604020202020204" pitchFamily="34" charset="0"/>
              </a:rPr>
              <a:t>Few</a:t>
            </a:r>
            <a:r>
              <a:rPr lang="de-DE" sz="1100" dirty="0">
                <a:latin typeface="Arial" panose="020B0604020202020204" pitchFamily="34" charset="0"/>
                <a:cs typeface="Arial" panose="020B0604020202020204" pitchFamily="34" charset="0"/>
              </a:rPr>
              <a:t>-Shot</a:t>
            </a:r>
          </a:p>
          <a:p>
            <a:pPr lvl="1"/>
            <a:endParaRPr lang="de-DE" sz="11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Visuelle Auswertungsmöglichkeiten für handlungsrelevante Bildinhalte</a:t>
            </a:r>
          </a:p>
          <a:p>
            <a:pPr marL="742950" lvl="1"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Video </a:t>
            </a:r>
          </a:p>
          <a:p>
            <a:pPr marL="1200150" lvl="2"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Video-Inhaltsanalyse in einstellbar-langen Textausgaben</a:t>
            </a:r>
          </a:p>
          <a:p>
            <a:pPr marL="1200150" lvl="2"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Hoher, einstellbarer Feedback-Detailierungsgrad</a:t>
            </a:r>
          </a:p>
          <a:p>
            <a:pPr marL="1200150" lvl="2"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Max. 7MB Sequenzen (direkt); mehr indirekt über Cloud </a:t>
            </a:r>
            <a:r>
              <a:rPr lang="de-DE" sz="1100" dirty="0" err="1">
                <a:latin typeface="Arial" panose="020B0604020202020204" pitchFamily="34" charset="0"/>
                <a:cs typeface="Arial" panose="020B0604020202020204" pitchFamily="34" charset="0"/>
              </a:rPr>
              <a:t>Buckets</a:t>
            </a:r>
            <a:endParaRPr lang="de-DE" sz="1100" dirty="0">
              <a:latin typeface="Arial" panose="020B0604020202020204" pitchFamily="34" charset="0"/>
              <a:cs typeface="Arial" panose="020B0604020202020204" pitchFamily="34" charset="0"/>
            </a:endParaRPr>
          </a:p>
          <a:p>
            <a:pPr marL="742950" lvl="1"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Bild</a:t>
            </a:r>
          </a:p>
          <a:p>
            <a:pPr marL="1200150" lvl="2"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Bild-Inhaltsbeschreibung in unterschiedlichen Ausprägungen</a:t>
            </a:r>
          </a:p>
          <a:p>
            <a:pPr marL="1200150" lvl="2"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OCR Analyse, Ableitungen z.B. Fahrtzeiten von Bahnhof zu Bahnhof</a:t>
            </a:r>
          </a:p>
          <a:p>
            <a:pPr lvl="1"/>
            <a:endParaRPr lang="de-DE" sz="11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Test Möglichkeiten</a:t>
            </a:r>
          </a:p>
          <a:p>
            <a:pPr marL="742950" lvl="1"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Chat-Oberfläche direkt in der Cloud</a:t>
            </a:r>
          </a:p>
          <a:p>
            <a:pPr marL="742950" lvl="1" indent="-285750">
              <a:buFont typeface="Wingdings" panose="05000000000000000000" pitchFamily="2" charset="2"/>
              <a:buChar char="§"/>
            </a:pPr>
            <a:endParaRPr lang="de-DE" sz="11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Implementierungsmöglichkeiten</a:t>
            </a:r>
          </a:p>
          <a:p>
            <a:pPr marL="742950" lvl="1"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Google Cloud API </a:t>
            </a:r>
          </a:p>
          <a:p>
            <a:pPr marL="1200150" lvl="2"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Einfache Anbindung für Bilder und kleine Videos</a:t>
            </a:r>
          </a:p>
          <a:p>
            <a:pPr marL="1200150" lvl="2"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Etwas komplexer wenn Daten zunächst in einem </a:t>
            </a:r>
            <a:r>
              <a:rPr lang="de-DE" sz="1100" dirty="0" err="1">
                <a:latin typeface="Arial" panose="020B0604020202020204" pitchFamily="34" charset="0"/>
                <a:cs typeface="Arial" panose="020B0604020202020204" pitchFamily="34" charset="0"/>
              </a:rPr>
              <a:t>Bucket</a:t>
            </a:r>
            <a:r>
              <a:rPr lang="de-DE" sz="1100" dirty="0">
                <a:latin typeface="Arial" panose="020B0604020202020204" pitchFamily="34" charset="0"/>
                <a:cs typeface="Arial" panose="020B0604020202020204" pitchFamily="34" charset="0"/>
              </a:rPr>
              <a:t> zwischengespeichert werden</a:t>
            </a:r>
          </a:p>
          <a:p>
            <a:pPr marL="285750"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Kosten</a:t>
            </a:r>
          </a:p>
          <a:p>
            <a:pPr marL="742950" lvl="1"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Variieren je Gemini Modell</a:t>
            </a:r>
          </a:p>
          <a:p>
            <a:pPr marL="742950" lvl="1" indent="-285750">
              <a:buFont typeface="Wingdings" panose="05000000000000000000" pitchFamily="2" charset="2"/>
              <a:buChar char="§"/>
            </a:pPr>
            <a:endParaRPr lang="de-DE" sz="11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Vorteil: </a:t>
            </a:r>
          </a:p>
          <a:p>
            <a:pPr marL="742950" lvl="1"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Schnelle Implementierung, gut einstellbare Parameter der KI und Textausgabe</a:t>
            </a:r>
          </a:p>
          <a:p>
            <a:pPr marL="742950" lvl="1"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Erkennung von berühmten Objekten, Personen (Schloss Neuschwarzstein) inkl.</a:t>
            </a:r>
          </a:p>
          <a:p>
            <a:pPr marL="285750"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Nachteil:</a:t>
            </a:r>
          </a:p>
          <a:p>
            <a:pPr marL="742950" lvl="1"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Keine Wiedererkennung von Protagonisten (Personen) oder über mehrere Szenen</a:t>
            </a:r>
          </a:p>
          <a:p>
            <a:pPr marL="742950" lvl="1" indent="-285750">
              <a:buFont typeface="Wingdings" panose="05000000000000000000" pitchFamily="2" charset="2"/>
              <a:buChar char="§"/>
            </a:pPr>
            <a:r>
              <a:rPr lang="de-DE" sz="1100" dirty="0">
                <a:latin typeface="Arial" panose="020B0604020202020204" pitchFamily="34" charset="0"/>
                <a:cs typeface="Arial" panose="020B0604020202020204" pitchFamily="34" charset="0"/>
              </a:rPr>
              <a:t>Ggf. komplexe Cloudverwaltung und hohe Kosten – je nach Umsetzung.</a:t>
            </a:r>
          </a:p>
          <a:p>
            <a:pPr marL="742950" lvl="1" indent="-285750">
              <a:buFont typeface="Wingdings" panose="05000000000000000000" pitchFamily="2" charset="2"/>
              <a:buChar char="§"/>
            </a:pPr>
            <a:endParaRPr lang="de-DE" sz="1100" dirty="0">
              <a:latin typeface="Arial" panose="020B0604020202020204" pitchFamily="34" charset="0"/>
              <a:cs typeface="Arial" panose="020B0604020202020204" pitchFamily="34" charset="0"/>
            </a:endParaRPr>
          </a:p>
        </p:txBody>
      </p:sp>
      <p:sp>
        <p:nvSpPr>
          <p:cNvPr id="5" name="Textfeld 4">
            <a:extLst>
              <a:ext uri="{FF2B5EF4-FFF2-40B4-BE49-F238E27FC236}">
                <a16:creationId xmlns:a16="http://schemas.microsoft.com/office/drawing/2014/main" id="{281BFDBB-7B33-A7A1-4996-D09E9C25DA0F}"/>
              </a:ext>
            </a:extLst>
          </p:cNvPr>
          <p:cNvSpPr txBox="1"/>
          <p:nvPr/>
        </p:nvSpPr>
        <p:spPr>
          <a:xfrm>
            <a:off x="7392144" y="6571194"/>
            <a:ext cx="4670146" cy="246221"/>
          </a:xfrm>
          <a:prstGeom prst="rect">
            <a:avLst/>
          </a:prstGeom>
          <a:noFill/>
        </p:spPr>
        <p:txBody>
          <a:bodyPr wrap="square">
            <a:spAutoFit/>
          </a:bodyPr>
          <a:lstStyle/>
          <a:p>
            <a:r>
              <a:rPr lang="de-DE" sz="1000" dirty="0"/>
              <a:t>https://cloud.google.com/vertex-ai/generative-ai/pricing?hl=de</a:t>
            </a:r>
          </a:p>
        </p:txBody>
      </p:sp>
      <p:grpSp>
        <p:nvGrpSpPr>
          <p:cNvPr id="9" name="Gruppieren 8">
            <a:extLst>
              <a:ext uri="{FF2B5EF4-FFF2-40B4-BE49-F238E27FC236}">
                <a16:creationId xmlns:a16="http://schemas.microsoft.com/office/drawing/2014/main" id="{5894BC3C-D6FD-435C-5940-3472FD51E360}"/>
              </a:ext>
            </a:extLst>
          </p:cNvPr>
          <p:cNvGrpSpPr/>
          <p:nvPr/>
        </p:nvGrpSpPr>
        <p:grpSpPr>
          <a:xfrm>
            <a:off x="7129010" y="1389210"/>
            <a:ext cx="4933280" cy="4992118"/>
            <a:chOff x="7129010" y="1389210"/>
            <a:chExt cx="4933280" cy="4992118"/>
          </a:xfrm>
        </p:grpSpPr>
        <p:pic>
          <p:nvPicPr>
            <p:cNvPr id="7" name="Grafik 6">
              <a:extLst>
                <a:ext uri="{FF2B5EF4-FFF2-40B4-BE49-F238E27FC236}">
                  <a16:creationId xmlns:a16="http://schemas.microsoft.com/office/drawing/2014/main" id="{51133AA8-38E1-7CE2-49B7-CEF978C2F8C2}"/>
                </a:ext>
              </a:extLst>
            </p:cNvPr>
            <p:cNvPicPr>
              <a:picLocks noChangeAspect="1"/>
            </p:cNvPicPr>
            <p:nvPr/>
          </p:nvPicPr>
          <p:blipFill>
            <a:blip r:embed="rId3"/>
            <a:srcRect l="33997"/>
            <a:stretch/>
          </p:blipFill>
          <p:spPr>
            <a:xfrm>
              <a:off x="8040215" y="1389210"/>
              <a:ext cx="4022075" cy="4992118"/>
            </a:xfrm>
            <a:prstGeom prst="rect">
              <a:avLst/>
            </a:prstGeom>
          </p:spPr>
        </p:pic>
        <p:pic>
          <p:nvPicPr>
            <p:cNvPr id="8" name="Grafik 7">
              <a:extLst>
                <a:ext uri="{FF2B5EF4-FFF2-40B4-BE49-F238E27FC236}">
                  <a16:creationId xmlns:a16="http://schemas.microsoft.com/office/drawing/2014/main" id="{3B7230F3-7DE3-2960-62C4-EAB9AC511D80}"/>
                </a:ext>
              </a:extLst>
            </p:cNvPr>
            <p:cNvPicPr>
              <a:picLocks noChangeAspect="1"/>
            </p:cNvPicPr>
            <p:nvPr/>
          </p:nvPicPr>
          <p:blipFill>
            <a:blip r:embed="rId3"/>
            <a:srcRect r="85047"/>
            <a:stretch/>
          </p:blipFill>
          <p:spPr>
            <a:xfrm>
              <a:off x="7129010" y="1389210"/>
              <a:ext cx="911203" cy="4992118"/>
            </a:xfrm>
            <a:prstGeom prst="rect">
              <a:avLst/>
            </a:prstGeom>
          </p:spPr>
        </p:pic>
      </p:grpSp>
      <p:pic>
        <p:nvPicPr>
          <p:cNvPr id="13" name="Grafik 12">
            <a:extLst>
              <a:ext uri="{FF2B5EF4-FFF2-40B4-BE49-F238E27FC236}">
                <a16:creationId xmlns:a16="http://schemas.microsoft.com/office/drawing/2014/main" id="{043A8610-36B7-C88D-3031-7932618211D6}"/>
              </a:ext>
            </a:extLst>
          </p:cNvPr>
          <p:cNvPicPr>
            <a:picLocks noChangeAspect="1"/>
          </p:cNvPicPr>
          <p:nvPr/>
        </p:nvPicPr>
        <p:blipFill>
          <a:blip r:embed="rId4"/>
          <a:stretch>
            <a:fillRect/>
          </a:stretch>
        </p:blipFill>
        <p:spPr>
          <a:xfrm>
            <a:off x="6400702" y="1412776"/>
            <a:ext cx="5791296" cy="5445224"/>
          </a:xfrm>
          <a:prstGeom prst="rect">
            <a:avLst/>
          </a:prstGeom>
        </p:spPr>
      </p:pic>
    </p:spTree>
    <p:extLst>
      <p:ext uri="{BB962C8B-B14F-4D97-AF65-F5344CB8AC3E}">
        <p14:creationId xmlns:p14="http://schemas.microsoft.com/office/powerpoint/2010/main" val="3870401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elle 43">
            <a:extLst>
              <a:ext uri="{FF2B5EF4-FFF2-40B4-BE49-F238E27FC236}">
                <a16:creationId xmlns:a16="http://schemas.microsoft.com/office/drawing/2014/main" id="{D0C400BB-09BD-3E17-70A5-06A821838AEC}"/>
              </a:ext>
            </a:extLst>
          </p:cNvPr>
          <p:cNvGraphicFramePr>
            <a:graphicFrameLocks noGrp="1"/>
          </p:cNvGraphicFramePr>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a:solidFill>
                          <a:schemeClr val="bg1"/>
                        </a:solidFill>
                      </a:endParaRPr>
                    </a:p>
                  </a:txBody>
                  <a:tcPr>
                    <a:solidFill>
                      <a:srgbClr val="438086"/>
                    </a:solidFill>
                  </a:tcPr>
                </a:tc>
                <a:tc>
                  <a:txBody>
                    <a:bodyPr/>
                    <a:lstStyle/>
                    <a:p>
                      <a:endParaRPr lang="de-DE" sz="1600" dirty="0">
                        <a:solidFill>
                          <a:schemeClr val="bg1"/>
                        </a:solidFill>
                      </a:endParaRPr>
                    </a:p>
                  </a:txBody>
                  <a:tcPr>
                    <a:solidFill>
                      <a:srgbClr val="FFC000"/>
                    </a:solidFill>
                  </a:tcPr>
                </a:tc>
                <a:tc>
                  <a:txBody>
                    <a:bodyPr/>
                    <a:lstStyle/>
                    <a:p>
                      <a:endParaRPr lang="de-DE" sz="1600" b="1">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sp>
        <p:nvSpPr>
          <p:cNvPr id="19" name="Titel 1">
            <a:extLst>
              <a:ext uri="{FF2B5EF4-FFF2-40B4-BE49-F238E27FC236}">
                <a16:creationId xmlns:a16="http://schemas.microsoft.com/office/drawing/2014/main" id="{71ECED2B-BEDC-4033-205E-E54D660F836C}"/>
              </a:ext>
            </a:extLst>
          </p:cNvPr>
          <p:cNvSpPr>
            <a:spLocks noGrp="1"/>
          </p:cNvSpPr>
          <p:nvPr>
            <p:ph type="title"/>
          </p:nvPr>
        </p:nvSpPr>
        <p:spPr>
          <a:xfrm>
            <a:off x="0" y="476672"/>
            <a:ext cx="12192000" cy="576000"/>
          </a:xfrm>
        </p:spPr>
        <p:txBody>
          <a:bodyPr>
            <a:noAutofit/>
          </a:bodyPr>
          <a:lstStyle/>
          <a:p>
            <a:r>
              <a:rPr kumimoji="0" lang="de-DE" altLang="de-DE" sz="2000" b="1" i="0" u="none" strike="noStrike" cap="none" normalizeH="0" baseline="0" dirty="0">
                <a:ln>
                  <a:noFill/>
                </a:ln>
                <a:solidFill>
                  <a:schemeClr val="tx1"/>
                </a:solidFill>
                <a:effectLst/>
                <a:latin typeface="Arial" panose="020B0604020202020204" pitchFamily="34" charset="0"/>
              </a:rPr>
              <a:t>2️⃣ </a:t>
            </a:r>
            <a:r>
              <a:rPr kumimoji="0" lang="de-DE" altLang="de-DE" sz="2000" b="1" i="0" u="none" strike="noStrike" cap="none" normalizeH="0" baseline="0" dirty="0" err="1">
                <a:ln>
                  <a:noFill/>
                </a:ln>
                <a:solidFill>
                  <a:schemeClr val="tx1"/>
                </a:solidFill>
                <a:effectLst/>
                <a:latin typeface="Arial" panose="020B0604020202020204" pitchFamily="34" charset="0"/>
              </a:rPr>
              <a:t>OpenCV</a:t>
            </a:r>
            <a:r>
              <a:rPr kumimoji="0" lang="de-DE" altLang="de-DE" sz="2000" b="1" i="0" u="none" strike="noStrike" cap="none" normalizeH="0" baseline="0" dirty="0">
                <a:ln>
                  <a:noFill/>
                </a:ln>
                <a:solidFill>
                  <a:schemeClr val="tx1"/>
                </a:solidFill>
                <a:effectLst/>
                <a:latin typeface="Arial" panose="020B0604020202020204" pitchFamily="34" charset="0"/>
              </a:rPr>
              <a:t> &amp; </a:t>
            </a:r>
            <a:r>
              <a:rPr kumimoji="0" lang="de-DE" altLang="de-DE" sz="2000" b="1" i="0" u="none" strike="noStrike" cap="none" normalizeH="0" baseline="0" dirty="0" err="1">
                <a:ln>
                  <a:noFill/>
                </a:ln>
                <a:solidFill>
                  <a:schemeClr val="tx1"/>
                </a:solidFill>
                <a:effectLst/>
                <a:latin typeface="Arial" panose="020B0604020202020204" pitchFamily="34" charset="0"/>
              </a:rPr>
              <a:t>OpenSource</a:t>
            </a:r>
            <a:r>
              <a:rPr kumimoji="0" lang="de-DE" altLang="de-DE" sz="2000" b="1" i="0" u="none" strike="noStrike" cap="none" normalizeH="0" baseline="0" dirty="0">
                <a:ln>
                  <a:noFill/>
                </a:ln>
                <a:solidFill>
                  <a:schemeClr val="tx1"/>
                </a:solidFill>
                <a:effectLst/>
                <a:latin typeface="Arial" panose="020B0604020202020204" pitchFamily="34" charset="0"/>
              </a:rPr>
              <a:t> – </a:t>
            </a:r>
            <a:r>
              <a:rPr kumimoji="0" lang="de-DE" altLang="de-DE" sz="2000" b="1" i="0" u="none" strike="noStrike" cap="none" normalizeH="0" baseline="0" dirty="0" err="1">
                <a:ln>
                  <a:noFill/>
                </a:ln>
                <a:solidFill>
                  <a:schemeClr val="tx1"/>
                </a:solidFill>
                <a:effectLst/>
                <a:latin typeface="Arial" panose="020B0604020202020204" pitchFamily="34" charset="0"/>
              </a:rPr>
              <a:t>Tesseract</a:t>
            </a:r>
            <a:r>
              <a:rPr kumimoji="0" lang="de-DE" altLang="de-DE" sz="2000" b="1" i="0" u="none" strike="noStrike" cap="none" normalizeH="0" baseline="0" dirty="0">
                <a:ln>
                  <a:noFill/>
                </a:ln>
                <a:solidFill>
                  <a:schemeClr val="tx1"/>
                </a:solidFill>
                <a:effectLst/>
                <a:latin typeface="Arial" panose="020B0604020202020204" pitchFamily="34" charset="0"/>
              </a:rPr>
              <a:t> – YOLO – </a:t>
            </a:r>
            <a:r>
              <a:rPr kumimoji="0" lang="de-DE" altLang="de-DE" sz="2000" b="1" i="0" u="none" strike="noStrike" cap="none" normalizeH="0" baseline="0" dirty="0" err="1">
                <a:ln>
                  <a:noFill/>
                </a:ln>
                <a:solidFill>
                  <a:schemeClr val="tx1"/>
                </a:solidFill>
                <a:effectLst/>
                <a:latin typeface="Arial" panose="020B0604020202020204" pitchFamily="34" charset="0"/>
              </a:rPr>
              <a:t>CascadeClassifier</a:t>
            </a:r>
            <a:r>
              <a:rPr kumimoji="0" lang="de-DE" altLang="de-DE" sz="2000" b="1" i="0" u="none" strike="noStrike" cap="none" normalizeH="0" baseline="0" dirty="0">
                <a:ln>
                  <a:noFill/>
                </a:ln>
                <a:solidFill>
                  <a:schemeClr val="tx1"/>
                </a:solidFill>
                <a:effectLst/>
                <a:latin typeface="Arial" panose="020B0604020202020204" pitchFamily="34" charset="0"/>
              </a:rPr>
              <a:t> (</a:t>
            </a:r>
            <a:r>
              <a:rPr kumimoji="0" lang="de-DE" altLang="de-DE" sz="2000" b="1" i="0" u="none" strike="noStrike" cap="none" normalizeH="0" baseline="0" dirty="0" err="1">
                <a:ln>
                  <a:noFill/>
                </a:ln>
                <a:solidFill>
                  <a:schemeClr val="tx1"/>
                </a:solidFill>
                <a:effectLst/>
                <a:latin typeface="Arial" panose="020B0604020202020204" pitchFamily="34" charset="0"/>
              </a:rPr>
              <a:t>Ges.erk</a:t>
            </a:r>
            <a:r>
              <a:rPr kumimoji="0" lang="de-DE" altLang="de-DE" sz="2000" b="1" i="0" u="none" strike="noStrike" cap="none" normalizeH="0" baseline="0" dirty="0">
                <a:ln>
                  <a:noFill/>
                </a:ln>
                <a:solidFill>
                  <a:schemeClr val="tx1"/>
                </a:solidFill>
                <a:effectLst/>
                <a:latin typeface="Arial" panose="020B0604020202020204" pitchFamily="34" charset="0"/>
              </a:rPr>
              <a:t>.)</a:t>
            </a:r>
            <a:endParaRPr lang="de-DE" sz="2000" b="1" dirty="0">
              <a:latin typeface="Arial" panose="020B0604020202020204" pitchFamily="34" charset="0"/>
              <a:ea typeface="Verdana" panose="020B0604030504040204" pitchFamily="34" charset="0"/>
              <a:cs typeface="Arial" panose="020B0604020202020204" pitchFamily="34" charset="0"/>
            </a:endParaRPr>
          </a:p>
        </p:txBody>
      </p:sp>
      <p:sp>
        <p:nvSpPr>
          <p:cNvPr id="2" name="Textfeld 1">
            <a:extLst>
              <a:ext uri="{FF2B5EF4-FFF2-40B4-BE49-F238E27FC236}">
                <a16:creationId xmlns:a16="http://schemas.microsoft.com/office/drawing/2014/main" id="{90410248-A5CC-F9DF-2194-2F576F39169E}"/>
              </a:ext>
            </a:extLst>
          </p:cNvPr>
          <p:cNvSpPr txBox="1"/>
          <p:nvPr/>
        </p:nvSpPr>
        <p:spPr>
          <a:xfrm>
            <a:off x="407368" y="1628800"/>
            <a:ext cx="6196012" cy="4524315"/>
          </a:xfrm>
          <a:prstGeom prst="rect">
            <a:avLst/>
          </a:prstGeom>
          <a:noFill/>
        </p:spPr>
        <p:txBody>
          <a:bodyPr wrap="square">
            <a:spAutoFit/>
          </a:bodyPr>
          <a:lstStyle/>
          <a:p>
            <a:pPr>
              <a:buNone/>
            </a:pPr>
            <a:r>
              <a:rPr lang="de-DE" sz="1200" b="1" dirty="0" err="1">
                <a:latin typeface="Arial" panose="020B0604020202020204" pitchFamily="34" charset="0"/>
                <a:cs typeface="Arial" panose="020B0604020202020204" pitchFamily="34" charset="0"/>
              </a:rPr>
              <a:t>OpenCV</a:t>
            </a:r>
            <a:r>
              <a:rPr lang="de-DE" sz="1200" b="1" dirty="0">
                <a:latin typeface="Arial" panose="020B0604020202020204" pitchFamily="34" charset="0"/>
                <a:cs typeface="Arial" panose="020B0604020202020204" pitchFamily="34" charset="0"/>
              </a:rPr>
              <a:t> &amp; </a:t>
            </a:r>
            <a:r>
              <a:rPr lang="de-DE" sz="1200" b="1" dirty="0" err="1">
                <a:latin typeface="Arial" panose="020B0604020202020204" pitchFamily="34" charset="0"/>
                <a:cs typeface="Arial" panose="020B0604020202020204" pitchFamily="34" charset="0"/>
              </a:rPr>
              <a:t>OpenSource</a:t>
            </a:r>
            <a:r>
              <a:rPr lang="de-DE" sz="1200" b="1" dirty="0">
                <a:latin typeface="Arial" panose="020B0604020202020204" pitchFamily="34" charset="0"/>
                <a:cs typeface="Arial" panose="020B0604020202020204" pitchFamily="34" charset="0"/>
              </a:rPr>
              <a:t> Software</a:t>
            </a:r>
          </a:p>
          <a:p>
            <a:pPr>
              <a:buNone/>
            </a:pPr>
            <a:endParaRPr lang="de-DE" sz="12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200" dirty="0" err="1">
                <a:latin typeface="Arial" panose="020B0604020202020204" pitchFamily="34" charset="0"/>
                <a:cs typeface="Arial" panose="020B0604020202020204" pitchFamily="34" charset="0"/>
              </a:rPr>
              <a:t>OpenCV</a:t>
            </a:r>
            <a:endParaRPr lang="de-DE" sz="1200" dirty="0">
              <a:latin typeface="Arial" panose="020B0604020202020204" pitchFamily="34" charset="0"/>
              <a:cs typeface="Arial" panose="020B0604020202020204" pitchFamily="34" charset="0"/>
            </a:endParaRPr>
          </a:p>
          <a:p>
            <a:pPr marL="742950" lvl="1" indent="-285750">
              <a:buFont typeface="Wingdings" panose="05000000000000000000" pitchFamily="2" charset="2"/>
              <a:buChar char="§"/>
            </a:pPr>
            <a:r>
              <a:rPr lang="de-DE" sz="1200" dirty="0" err="1">
                <a:latin typeface="Arial" panose="020B0604020202020204" pitchFamily="34" charset="0"/>
                <a:cs typeface="Arial" panose="020B0604020202020204" pitchFamily="34" charset="0"/>
              </a:rPr>
              <a:t>OpenSource</a:t>
            </a:r>
            <a:r>
              <a:rPr lang="de-DE" sz="1200" dirty="0">
                <a:latin typeface="Arial" panose="020B0604020202020204" pitchFamily="34" charset="0"/>
                <a:cs typeface="Arial" panose="020B0604020202020204" pitchFamily="34" charset="0"/>
              </a:rPr>
              <a:t> Software für Computer Vision und ML</a:t>
            </a:r>
          </a:p>
          <a:p>
            <a:pPr marL="742950" lvl="1" indent="-285750">
              <a:buFont typeface="Wingdings" panose="05000000000000000000" pitchFamily="2" charset="2"/>
              <a:buChar char="§"/>
            </a:pPr>
            <a:r>
              <a:rPr lang="de-DE" sz="1200" dirty="0">
                <a:latin typeface="Arial" panose="020B0604020202020204" pitchFamily="34" charset="0"/>
                <a:cs typeface="Arial" panose="020B0604020202020204" pitchFamily="34" charset="0"/>
              </a:rPr>
              <a:t>Vielfältige Video &amp; Audio Lösungen, hohe Marktdurchdringung</a:t>
            </a:r>
          </a:p>
          <a:p>
            <a:pPr marL="742950" lvl="1" indent="-285750">
              <a:buFont typeface="Wingdings" panose="05000000000000000000" pitchFamily="2" charset="2"/>
              <a:buChar char="§"/>
            </a:pPr>
            <a:r>
              <a:rPr lang="de-DE" sz="1200" dirty="0">
                <a:latin typeface="Arial" panose="020B0604020202020204" pitchFamily="34" charset="0"/>
                <a:cs typeface="Arial" panose="020B0604020202020204" pitchFamily="34" charset="0"/>
              </a:rPr>
              <a:t>Vorteil: Häufig eingesetzt, sehr große Community, viele unterstütze Programmiersprechen</a:t>
            </a:r>
          </a:p>
          <a:p>
            <a:pPr lvl="1"/>
            <a:endParaRPr lang="de-DE" sz="12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200" dirty="0" err="1">
                <a:latin typeface="Arial" panose="020B0604020202020204" pitchFamily="34" charset="0"/>
                <a:cs typeface="Arial" panose="020B0604020202020204" pitchFamily="34" charset="0"/>
              </a:rPr>
              <a:t>Tesseract</a:t>
            </a:r>
            <a:r>
              <a:rPr lang="de-DE" sz="1200" dirty="0">
                <a:latin typeface="Arial" panose="020B0604020202020204" pitchFamily="34" charset="0"/>
                <a:cs typeface="Arial" panose="020B0604020202020204" pitchFamily="34" charset="0"/>
              </a:rPr>
              <a:t> (OCR Modul)</a:t>
            </a:r>
          </a:p>
          <a:p>
            <a:pPr marL="742950" lvl="1" indent="-285750">
              <a:buFont typeface="Wingdings" panose="05000000000000000000" pitchFamily="2" charset="2"/>
              <a:buChar char="§"/>
            </a:pPr>
            <a:r>
              <a:rPr lang="de-DE" sz="1200" dirty="0">
                <a:latin typeface="Arial" panose="020B0604020202020204" pitchFamily="34" charset="0"/>
                <a:cs typeface="Arial" panose="020B0604020202020204" pitchFamily="34" charset="0"/>
              </a:rPr>
              <a:t>Einfach zu verwenden</a:t>
            </a:r>
          </a:p>
          <a:p>
            <a:pPr marL="742950" lvl="1" indent="-285750">
              <a:buFont typeface="Wingdings" panose="05000000000000000000" pitchFamily="2" charset="2"/>
              <a:buChar char="§"/>
            </a:pPr>
            <a:r>
              <a:rPr lang="de-DE" sz="1200" dirty="0">
                <a:latin typeface="Arial" panose="020B0604020202020204" pitchFamily="34" charset="0"/>
                <a:cs typeface="Arial" panose="020B0604020202020204" pitchFamily="34" charset="0"/>
              </a:rPr>
              <a:t>Geringer Automatisierungsgrad – Keine </a:t>
            </a:r>
            <a:r>
              <a:rPr lang="de-DE" sz="1200" dirty="0" err="1">
                <a:latin typeface="Arial" panose="020B0604020202020204" pitchFamily="34" charset="0"/>
                <a:cs typeface="Arial" panose="020B0604020202020204" pitchFamily="34" charset="0"/>
              </a:rPr>
              <a:t>autom</a:t>
            </a:r>
            <a:r>
              <a:rPr lang="de-DE" sz="1200" dirty="0">
                <a:latin typeface="Arial" panose="020B0604020202020204" pitchFamily="34" charset="0"/>
                <a:cs typeface="Arial" panose="020B0604020202020204" pitchFamily="34" charset="0"/>
              </a:rPr>
              <a:t>. Extraktion</a:t>
            </a:r>
          </a:p>
          <a:p>
            <a:pPr lvl="1"/>
            <a:endParaRPr lang="de-DE" sz="12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200" dirty="0">
                <a:latin typeface="Arial" panose="020B0604020202020204" pitchFamily="34" charset="0"/>
                <a:cs typeface="Arial" panose="020B0604020202020204" pitchFamily="34" charset="0"/>
              </a:rPr>
              <a:t>YOLO - Objekterkennung</a:t>
            </a:r>
          </a:p>
          <a:p>
            <a:pPr marL="742950" lvl="1" indent="-285750">
              <a:buFont typeface="Wingdings" panose="05000000000000000000" pitchFamily="2" charset="2"/>
              <a:buChar char="§"/>
            </a:pPr>
            <a:r>
              <a:rPr lang="de-DE" sz="1200" dirty="0">
                <a:latin typeface="Arial" panose="020B0604020202020204" pitchFamily="34" charset="0"/>
                <a:cs typeface="Arial" panose="020B0604020202020204" pitchFamily="34" charset="0"/>
              </a:rPr>
              <a:t>Objekterkennung, Objektsegmentierung, usw.</a:t>
            </a:r>
          </a:p>
          <a:p>
            <a:pPr marL="742950" lvl="1" indent="-285750">
              <a:buFont typeface="Wingdings" panose="05000000000000000000" pitchFamily="2" charset="2"/>
              <a:buChar char="§"/>
            </a:pPr>
            <a:r>
              <a:rPr lang="de-DE" sz="1200" dirty="0">
                <a:latin typeface="Arial" panose="020B0604020202020204" pitchFamily="34" charset="0"/>
                <a:cs typeface="Arial" panose="020B0604020202020204" pitchFamily="34" charset="0"/>
              </a:rPr>
              <a:t>Mittelmäßig großer Aufwand bei der Implementierung und Auswertung</a:t>
            </a:r>
          </a:p>
          <a:p>
            <a:pPr marL="742950" lvl="1" indent="-285750">
              <a:buFont typeface="Wingdings" panose="05000000000000000000" pitchFamily="2" charset="2"/>
              <a:buChar char="§"/>
            </a:pPr>
            <a:endParaRPr lang="de-DE" sz="12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200" dirty="0" err="1">
                <a:latin typeface="Arial" panose="020B0604020202020204" pitchFamily="34" charset="0"/>
                <a:cs typeface="Arial" panose="020B0604020202020204" pitchFamily="34" charset="0"/>
              </a:rPr>
              <a:t>CascadeClassifier</a:t>
            </a:r>
            <a:endParaRPr lang="de-DE" sz="1200" dirty="0">
              <a:latin typeface="Arial" panose="020B0604020202020204" pitchFamily="34" charset="0"/>
              <a:cs typeface="Arial" panose="020B0604020202020204" pitchFamily="34" charset="0"/>
            </a:endParaRPr>
          </a:p>
          <a:p>
            <a:pPr marL="742950" lvl="1" indent="-285750">
              <a:buFont typeface="Wingdings" panose="05000000000000000000" pitchFamily="2" charset="2"/>
              <a:buChar char="§"/>
            </a:pPr>
            <a:r>
              <a:rPr lang="de-DE" sz="1200" dirty="0">
                <a:latin typeface="Arial" panose="020B0604020202020204" pitchFamily="34" charset="0"/>
                <a:cs typeface="Arial" panose="020B0604020202020204" pitchFamily="34" charset="0"/>
              </a:rPr>
              <a:t>Kann z.B. für Gesichts(wieder)</a:t>
            </a:r>
            <a:r>
              <a:rPr lang="de-DE" sz="1200" dirty="0" err="1">
                <a:latin typeface="Arial" panose="020B0604020202020204" pitchFamily="34" charset="0"/>
                <a:cs typeface="Arial" panose="020B0604020202020204" pitchFamily="34" charset="0"/>
              </a:rPr>
              <a:t>erkennung</a:t>
            </a:r>
            <a:r>
              <a:rPr lang="de-DE" sz="1200" dirty="0">
                <a:latin typeface="Arial" panose="020B0604020202020204" pitchFamily="34" charset="0"/>
                <a:cs typeface="Arial" panose="020B0604020202020204" pitchFamily="34" charset="0"/>
              </a:rPr>
              <a:t> genutzt werden</a:t>
            </a:r>
          </a:p>
          <a:p>
            <a:pPr marL="742950" lvl="1" indent="-285750">
              <a:buFont typeface="Wingdings" panose="05000000000000000000" pitchFamily="2" charset="2"/>
              <a:buChar char="§"/>
            </a:pPr>
            <a:r>
              <a:rPr lang="de-DE" sz="1200" dirty="0">
                <a:latin typeface="Arial" panose="020B0604020202020204" pitchFamily="34" charset="0"/>
                <a:cs typeface="Arial" panose="020B0604020202020204" pitchFamily="34" charset="0"/>
              </a:rPr>
              <a:t>Einfach trainierbar</a:t>
            </a:r>
          </a:p>
          <a:p>
            <a:pPr marL="742950" lvl="1" indent="-285750">
              <a:buFont typeface="Wingdings" panose="05000000000000000000" pitchFamily="2" charset="2"/>
              <a:buChar char="§"/>
            </a:pPr>
            <a:endParaRPr lang="de-DE" sz="12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200" dirty="0">
                <a:latin typeface="Arial" panose="020B0604020202020204" pitchFamily="34" charset="0"/>
                <a:cs typeface="Arial" panose="020B0604020202020204" pitchFamily="34" charset="0"/>
              </a:rPr>
              <a:t>Kompatibel mit weiteren ML Modulen, z.B. mit </a:t>
            </a:r>
            <a:r>
              <a:rPr lang="de-DE" sz="1200" dirty="0" err="1">
                <a:latin typeface="Arial" panose="020B0604020202020204" pitchFamily="34" charset="0"/>
                <a:cs typeface="Arial" panose="020B0604020202020204" pitchFamily="34" charset="0"/>
              </a:rPr>
              <a:t>TensorFlow</a:t>
            </a:r>
            <a:r>
              <a:rPr lang="de-DE" sz="1200" dirty="0">
                <a:latin typeface="Arial" panose="020B0604020202020204" pitchFamily="34" charset="0"/>
                <a:cs typeface="Arial" panose="020B0604020202020204" pitchFamily="34" charset="0"/>
              </a:rPr>
              <a:t>, </a:t>
            </a:r>
            <a:r>
              <a:rPr lang="de-DE" sz="1200" dirty="0" err="1">
                <a:latin typeface="Arial" panose="020B0604020202020204" pitchFamily="34" charset="0"/>
                <a:cs typeface="Arial" panose="020B0604020202020204" pitchFamily="34" charset="0"/>
              </a:rPr>
              <a:t>PyTorch</a:t>
            </a:r>
            <a:r>
              <a:rPr lang="de-DE" sz="1200" dirty="0">
                <a:latin typeface="Arial" panose="020B0604020202020204" pitchFamily="34" charset="0"/>
                <a:cs typeface="Arial" panose="020B0604020202020204" pitchFamily="34" charset="0"/>
              </a:rPr>
              <a:t> etc.</a:t>
            </a:r>
          </a:p>
          <a:p>
            <a:pPr marL="285750" indent="-285750">
              <a:buFont typeface="Wingdings" panose="05000000000000000000" pitchFamily="2" charset="2"/>
              <a:buChar char="§"/>
            </a:pPr>
            <a:endParaRPr lang="de-DE" sz="12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200" dirty="0">
                <a:latin typeface="Arial" panose="020B0604020202020204" pitchFamily="34" charset="0"/>
                <a:cs typeface="Arial" panose="020B0604020202020204" pitchFamily="34" charset="0"/>
              </a:rPr>
              <a:t>Vorteil: Kostenfrei</a:t>
            </a:r>
          </a:p>
          <a:p>
            <a:pPr marL="285750" indent="-285750">
              <a:buFont typeface="Wingdings" panose="05000000000000000000" pitchFamily="2" charset="2"/>
              <a:buChar char="§"/>
            </a:pPr>
            <a:r>
              <a:rPr lang="de-DE" sz="1200" dirty="0">
                <a:latin typeface="Arial" panose="020B0604020202020204" pitchFamily="34" charset="0"/>
                <a:cs typeface="Arial" panose="020B0604020202020204" pitchFamily="34" charset="0"/>
              </a:rPr>
              <a:t>Nachteil: Hoher Aufwand, geringer Automatisierungsgrad</a:t>
            </a:r>
          </a:p>
        </p:txBody>
      </p:sp>
      <p:pic>
        <p:nvPicPr>
          <p:cNvPr id="1028" name="Picture 4" descr="YOLO Explained. What is YOLO? | by Ani Aggarwal | Analytics Vidhya | Medium">
            <a:extLst>
              <a:ext uri="{FF2B5EF4-FFF2-40B4-BE49-F238E27FC236}">
                <a16:creationId xmlns:a16="http://schemas.microsoft.com/office/drawing/2014/main" id="{BF65D7FA-54C3-D905-1E1F-C7BF32DFB48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8163" b="16326"/>
          <a:stretch/>
        </p:blipFill>
        <p:spPr bwMode="auto">
          <a:xfrm>
            <a:off x="6672064" y="1628800"/>
            <a:ext cx="5255052" cy="2664296"/>
          </a:xfrm>
          <a:prstGeom prst="rect">
            <a:avLst/>
          </a:prstGeom>
          <a:noFill/>
          <a:extLst>
            <a:ext uri="{909E8E84-426E-40DD-AFC4-6F175D3DCCD1}">
              <a14:hiddenFill xmlns:a14="http://schemas.microsoft.com/office/drawing/2010/main">
                <a:solidFill>
                  <a:srgbClr val="FFFFFF"/>
                </a:solidFill>
              </a14:hiddenFill>
            </a:ext>
          </a:extLst>
        </p:spPr>
      </p:pic>
      <p:pic>
        <p:nvPicPr>
          <p:cNvPr id="7" name="Grafik 6">
            <a:extLst>
              <a:ext uri="{FF2B5EF4-FFF2-40B4-BE49-F238E27FC236}">
                <a16:creationId xmlns:a16="http://schemas.microsoft.com/office/drawing/2014/main" id="{F3CD522C-1D20-78D7-8846-56ED6A8E0862}"/>
              </a:ext>
            </a:extLst>
          </p:cNvPr>
          <p:cNvPicPr>
            <a:picLocks noChangeAspect="1"/>
          </p:cNvPicPr>
          <p:nvPr/>
        </p:nvPicPr>
        <p:blipFill>
          <a:blip r:embed="rId4"/>
          <a:srcRect l="3137" t="16123" r="7228" b="21402"/>
          <a:stretch/>
        </p:blipFill>
        <p:spPr>
          <a:xfrm>
            <a:off x="9264352" y="3645023"/>
            <a:ext cx="2520280" cy="3076533"/>
          </a:xfrm>
          <a:prstGeom prst="rect">
            <a:avLst/>
          </a:prstGeom>
        </p:spPr>
      </p:pic>
    </p:spTree>
    <p:extLst>
      <p:ext uri="{BB962C8B-B14F-4D97-AF65-F5344CB8AC3E}">
        <p14:creationId xmlns:p14="http://schemas.microsoft.com/office/powerpoint/2010/main" val="3753084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elle 43">
            <a:extLst>
              <a:ext uri="{FF2B5EF4-FFF2-40B4-BE49-F238E27FC236}">
                <a16:creationId xmlns:a16="http://schemas.microsoft.com/office/drawing/2014/main" id="{D0C400BB-09BD-3E17-70A5-06A821838AEC}"/>
              </a:ext>
            </a:extLst>
          </p:cNvPr>
          <p:cNvGraphicFramePr>
            <a:graphicFrameLocks noGrp="1"/>
          </p:cNvGraphicFramePr>
          <p:nvPr>
            <p:extLst>
              <p:ext uri="{D42A27DB-BD31-4B8C-83A1-F6EECF244321}">
                <p14:modId xmlns:p14="http://schemas.microsoft.com/office/powerpoint/2010/main" val="477210767"/>
              </p:ext>
            </p:extLst>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a:solidFill>
                          <a:schemeClr val="bg1"/>
                        </a:solidFill>
                      </a:endParaRPr>
                    </a:p>
                  </a:txBody>
                  <a:tcPr>
                    <a:solidFill>
                      <a:srgbClr val="438086"/>
                    </a:solidFill>
                  </a:tcPr>
                </a:tc>
                <a:tc>
                  <a:txBody>
                    <a:bodyPr/>
                    <a:lstStyle/>
                    <a:p>
                      <a:endParaRPr lang="de-DE" sz="1600" dirty="0">
                        <a:solidFill>
                          <a:schemeClr val="bg1"/>
                        </a:solidFill>
                      </a:endParaRPr>
                    </a:p>
                  </a:txBody>
                  <a:tcPr>
                    <a:solidFill>
                      <a:srgbClr val="FFC000"/>
                    </a:solidFill>
                  </a:tcPr>
                </a:tc>
                <a:tc>
                  <a:txBody>
                    <a:bodyPr/>
                    <a:lstStyle/>
                    <a:p>
                      <a:endParaRPr lang="de-DE" sz="1600" b="1">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sp>
        <p:nvSpPr>
          <p:cNvPr id="19" name="Titel 1">
            <a:extLst>
              <a:ext uri="{FF2B5EF4-FFF2-40B4-BE49-F238E27FC236}">
                <a16:creationId xmlns:a16="http://schemas.microsoft.com/office/drawing/2014/main" id="{71ECED2B-BEDC-4033-205E-E54D660F836C}"/>
              </a:ext>
            </a:extLst>
          </p:cNvPr>
          <p:cNvSpPr>
            <a:spLocks noGrp="1"/>
          </p:cNvSpPr>
          <p:nvPr>
            <p:ph type="title"/>
          </p:nvPr>
        </p:nvSpPr>
        <p:spPr>
          <a:xfrm>
            <a:off x="0" y="476672"/>
            <a:ext cx="12192000" cy="576000"/>
          </a:xfrm>
        </p:spPr>
        <p:txBody>
          <a:bodyPr>
            <a:noAutofit/>
          </a:bodyPr>
          <a:lstStyle/>
          <a:p>
            <a:r>
              <a:rPr kumimoji="0" lang="de-DE" altLang="de-DE" sz="2000" b="1" i="0" u="none" strike="noStrike" cap="none" normalizeH="0" baseline="0" dirty="0">
                <a:ln>
                  <a:noFill/>
                </a:ln>
                <a:solidFill>
                  <a:schemeClr val="tx1"/>
                </a:solidFill>
                <a:effectLst/>
                <a:latin typeface="Arial" panose="020B0604020202020204" pitchFamily="34" charset="0"/>
              </a:rPr>
              <a:t>2️⃣ Data Pipeline - Eingabe &amp; Vorverarbeitung</a:t>
            </a:r>
            <a:endParaRPr lang="de-DE" sz="2000" b="1" dirty="0">
              <a:latin typeface="Arial" panose="020B0604020202020204" pitchFamily="34" charset="0"/>
              <a:ea typeface="Verdana" panose="020B0604030504040204" pitchFamily="34" charset="0"/>
              <a:cs typeface="Arial" panose="020B0604020202020204" pitchFamily="34" charset="0"/>
            </a:endParaRPr>
          </a:p>
        </p:txBody>
      </p:sp>
      <p:sp>
        <p:nvSpPr>
          <p:cNvPr id="2" name="Textfeld 1">
            <a:extLst>
              <a:ext uri="{FF2B5EF4-FFF2-40B4-BE49-F238E27FC236}">
                <a16:creationId xmlns:a16="http://schemas.microsoft.com/office/drawing/2014/main" id="{90410248-A5CC-F9DF-2194-2F576F39169E}"/>
              </a:ext>
            </a:extLst>
          </p:cNvPr>
          <p:cNvSpPr txBox="1"/>
          <p:nvPr/>
        </p:nvSpPr>
        <p:spPr>
          <a:xfrm>
            <a:off x="407368" y="1628800"/>
            <a:ext cx="6196012" cy="2893100"/>
          </a:xfrm>
          <a:prstGeom prst="rect">
            <a:avLst/>
          </a:prstGeom>
          <a:noFill/>
        </p:spPr>
        <p:txBody>
          <a:bodyPr wrap="square">
            <a:spAutoFit/>
          </a:bodyPr>
          <a:lstStyle/>
          <a:p>
            <a:pPr>
              <a:buNone/>
            </a:pPr>
            <a:r>
              <a:rPr lang="de-DE" sz="1400">
                <a:latin typeface="Arial" panose="020B0604020202020204" pitchFamily="34" charset="0"/>
                <a:cs typeface="Arial" panose="020B0604020202020204" pitchFamily="34" charset="0"/>
              </a:rPr>
              <a:t>Punkt 1: tbd tbd</a:t>
            </a:r>
          </a:p>
          <a:p>
            <a:pPr>
              <a:buNone/>
            </a:pPr>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1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2</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3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p:txBody>
      </p:sp>
    </p:spTree>
    <p:extLst>
      <p:ext uri="{BB962C8B-B14F-4D97-AF65-F5344CB8AC3E}">
        <p14:creationId xmlns:p14="http://schemas.microsoft.com/office/powerpoint/2010/main" val="21487715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F2159-77DA-D525-89F2-5D4A44D62487}"/>
            </a:ext>
          </a:extLst>
        </p:cNvPr>
        <p:cNvGrpSpPr/>
        <p:nvPr/>
      </p:nvGrpSpPr>
      <p:grpSpPr>
        <a:xfrm>
          <a:off x="0" y="0"/>
          <a:ext cx="0" cy="0"/>
          <a:chOff x="0" y="0"/>
          <a:chExt cx="0" cy="0"/>
        </a:xfrm>
      </p:grpSpPr>
      <p:graphicFrame>
        <p:nvGraphicFramePr>
          <p:cNvPr id="4" name="Tabelle 43">
            <a:extLst>
              <a:ext uri="{FF2B5EF4-FFF2-40B4-BE49-F238E27FC236}">
                <a16:creationId xmlns:a16="http://schemas.microsoft.com/office/drawing/2014/main" id="{C320BB4C-3048-B098-7E21-AF514E4A168D}"/>
              </a:ext>
            </a:extLst>
          </p:cNvPr>
          <p:cNvGraphicFramePr>
            <a:graphicFrameLocks noGrp="1"/>
          </p:cNvGraphicFramePr>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a:solidFill>
                          <a:schemeClr val="bg1"/>
                        </a:solidFill>
                      </a:endParaRPr>
                    </a:p>
                  </a:txBody>
                  <a:tcPr>
                    <a:solidFill>
                      <a:srgbClr val="438086"/>
                    </a:solidFill>
                  </a:tcPr>
                </a:tc>
                <a:tc>
                  <a:txBody>
                    <a:bodyPr/>
                    <a:lstStyle/>
                    <a:p>
                      <a:endParaRPr lang="de-DE" sz="1600" dirty="0">
                        <a:solidFill>
                          <a:schemeClr val="bg1"/>
                        </a:solidFill>
                      </a:endParaRPr>
                    </a:p>
                  </a:txBody>
                  <a:tcPr>
                    <a:solidFill>
                      <a:srgbClr val="FFC000"/>
                    </a:solidFill>
                  </a:tcPr>
                </a:tc>
                <a:tc>
                  <a:txBody>
                    <a:bodyPr/>
                    <a:lstStyle/>
                    <a:p>
                      <a:endParaRPr lang="de-DE" sz="1600" b="1">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sp>
        <p:nvSpPr>
          <p:cNvPr id="19" name="Titel 1">
            <a:extLst>
              <a:ext uri="{FF2B5EF4-FFF2-40B4-BE49-F238E27FC236}">
                <a16:creationId xmlns:a16="http://schemas.microsoft.com/office/drawing/2014/main" id="{6B91B476-1BA2-7F1F-D277-AEB1B8C85645}"/>
              </a:ext>
            </a:extLst>
          </p:cNvPr>
          <p:cNvSpPr>
            <a:spLocks noGrp="1"/>
          </p:cNvSpPr>
          <p:nvPr>
            <p:ph type="title"/>
          </p:nvPr>
        </p:nvSpPr>
        <p:spPr>
          <a:xfrm>
            <a:off x="0" y="476672"/>
            <a:ext cx="12192000" cy="576000"/>
          </a:xfrm>
        </p:spPr>
        <p:txBody>
          <a:bodyPr>
            <a:noAutofit/>
          </a:bodyPr>
          <a:lstStyle/>
          <a:p>
            <a:r>
              <a:rPr kumimoji="0" lang="de-DE" altLang="de-DE" sz="2000" b="1" i="0" u="none" strike="noStrike" cap="none" normalizeH="0" baseline="0">
                <a:ln>
                  <a:noFill/>
                </a:ln>
                <a:solidFill>
                  <a:schemeClr val="tx1"/>
                </a:solidFill>
                <a:effectLst/>
                <a:latin typeface="Arial" panose="020B0604020202020204" pitchFamily="34" charset="0"/>
              </a:rPr>
              <a:t>2️⃣ Data Pipeline - Visuelle Analyse &amp; Beschreibung</a:t>
            </a:r>
            <a:endParaRPr lang="de-DE" sz="2000" b="1" dirty="0">
              <a:latin typeface="Arial" panose="020B0604020202020204" pitchFamily="34" charset="0"/>
              <a:ea typeface="Verdana" panose="020B0604030504040204" pitchFamily="34" charset="0"/>
              <a:cs typeface="Arial" panose="020B0604020202020204" pitchFamily="34" charset="0"/>
            </a:endParaRPr>
          </a:p>
        </p:txBody>
      </p:sp>
      <p:sp>
        <p:nvSpPr>
          <p:cNvPr id="2" name="Textfeld 1">
            <a:extLst>
              <a:ext uri="{FF2B5EF4-FFF2-40B4-BE49-F238E27FC236}">
                <a16:creationId xmlns:a16="http://schemas.microsoft.com/office/drawing/2014/main" id="{F1B592C9-C9F2-0B09-6795-129F5B0F4979}"/>
              </a:ext>
            </a:extLst>
          </p:cNvPr>
          <p:cNvSpPr txBox="1"/>
          <p:nvPr/>
        </p:nvSpPr>
        <p:spPr>
          <a:xfrm>
            <a:off x="407368" y="1628800"/>
            <a:ext cx="6196012" cy="2893100"/>
          </a:xfrm>
          <a:prstGeom prst="rect">
            <a:avLst/>
          </a:prstGeom>
          <a:noFill/>
        </p:spPr>
        <p:txBody>
          <a:bodyPr wrap="square">
            <a:spAutoFit/>
          </a:bodyPr>
          <a:lstStyle/>
          <a:p>
            <a:pPr>
              <a:buNone/>
            </a:pPr>
            <a:r>
              <a:rPr lang="de-DE" sz="1400">
                <a:latin typeface="Arial" panose="020B0604020202020204" pitchFamily="34" charset="0"/>
                <a:cs typeface="Arial" panose="020B0604020202020204" pitchFamily="34" charset="0"/>
              </a:rPr>
              <a:t>Punkt 1: tbd tbd</a:t>
            </a:r>
          </a:p>
          <a:p>
            <a:pPr>
              <a:buNone/>
            </a:pPr>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1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2</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3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p:txBody>
      </p:sp>
    </p:spTree>
    <p:extLst>
      <p:ext uri="{BB962C8B-B14F-4D97-AF65-F5344CB8AC3E}">
        <p14:creationId xmlns:p14="http://schemas.microsoft.com/office/powerpoint/2010/main" val="1785247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CC9B9-EE4E-0ABC-9971-A381CC6ACFBD}"/>
            </a:ext>
          </a:extLst>
        </p:cNvPr>
        <p:cNvGrpSpPr/>
        <p:nvPr/>
      </p:nvGrpSpPr>
      <p:grpSpPr>
        <a:xfrm>
          <a:off x="0" y="0"/>
          <a:ext cx="0" cy="0"/>
          <a:chOff x="0" y="0"/>
          <a:chExt cx="0" cy="0"/>
        </a:xfrm>
      </p:grpSpPr>
      <p:graphicFrame>
        <p:nvGraphicFramePr>
          <p:cNvPr id="4" name="Tabelle 43">
            <a:extLst>
              <a:ext uri="{FF2B5EF4-FFF2-40B4-BE49-F238E27FC236}">
                <a16:creationId xmlns:a16="http://schemas.microsoft.com/office/drawing/2014/main" id="{9AB1E8C8-6A05-EFF7-DA0B-D2325776020E}"/>
              </a:ext>
            </a:extLst>
          </p:cNvPr>
          <p:cNvGraphicFramePr>
            <a:graphicFrameLocks noGrp="1"/>
          </p:cNvGraphicFramePr>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a:solidFill>
                          <a:schemeClr val="bg1"/>
                        </a:solidFill>
                      </a:endParaRPr>
                    </a:p>
                  </a:txBody>
                  <a:tcPr>
                    <a:solidFill>
                      <a:srgbClr val="438086"/>
                    </a:solidFill>
                  </a:tcPr>
                </a:tc>
                <a:tc>
                  <a:txBody>
                    <a:bodyPr/>
                    <a:lstStyle/>
                    <a:p>
                      <a:endParaRPr lang="de-DE" sz="1600" dirty="0">
                        <a:solidFill>
                          <a:schemeClr val="bg1"/>
                        </a:solidFill>
                      </a:endParaRPr>
                    </a:p>
                  </a:txBody>
                  <a:tcPr>
                    <a:solidFill>
                      <a:srgbClr val="FFC000"/>
                    </a:solidFill>
                  </a:tcPr>
                </a:tc>
                <a:tc>
                  <a:txBody>
                    <a:bodyPr/>
                    <a:lstStyle/>
                    <a:p>
                      <a:endParaRPr lang="de-DE" sz="1600" b="1">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sp>
        <p:nvSpPr>
          <p:cNvPr id="19" name="Titel 1">
            <a:extLst>
              <a:ext uri="{FF2B5EF4-FFF2-40B4-BE49-F238E27FC236}">
                <a16:creationId xmlns:a16="http://schemas.microsoft.com/office/drawing/2014/main" id="{EB7ACC83-023C-E888-D134-68F5D6B63B01}"/>
              </a:ext>
            </a:extLst>
          </p:cNvPr>
          <p:cNvSpPr>
            <a:spLocks noGrp="1"/>
          </p:cNvSpPr>
          <p:nvPr>
            <p:ph type="title"/>
          </p:nvPr>
        </p:nvSpPr>
        <p:spPr>
          <a:xfrm>
            <a:off x="0" y="476672"/>
            <a:ext cx="12192000" cy="576000"/>
          </a:xfrm>
        </p:spPr>
        <p:txBody>
          <a:bodyPr>
            <a:noAutofit/>
          </a:bodyPr>
          <a:lstStyle/>
          <a:p>
            <a:r>
              <a:rPr kumimoji="0" lang="de-DE" altLang="de-DE" sz="2000" b="1" i="0" u="none" strike="noStrike" cap="none" normalizeH="0" baseline="0">
                <a:ln>
                  <a:noFill/>
                </a:ln>
                <a:solidFill>
                  <a:schemeClr val="tx1"/>
                </a:solidFill>
                <a:effectLst/>
                <a:latin typeface="Arial" panose="020B0604020202020204" pitchFamily="34" charset="0"/>
              </a:rPr>
              <a:t>2️⃣ Data Pipeline - Ausgabe, Evaluation &amp; Optimierung</a:t>
            </a:r>
            <a:endParaRPr lang="de-DE" sz="2000" b="1" dirty="0">
              <a:latin typeface="Arial" panose="020B0604020202020204" pitchFamily="34" charset="0"/>
              <a:ea typeface="Verdana" panose="020B0604030504040204" pitchFamily="34" charset="0"/>
              <a:cs typeface="Arial" panose="020B0604020202020204" pitchFamily="34" charset="0"/>
            </a:endParaRPr>
          </a:p>
        </p:txBody>
      </p:sp>
      <p:sp>
        <p:nvSpPr>
          <p:cNvPr id="2" name="Textfeld 1">
            <a:extLst>
              <a:ext uri="{FF2B5EF4-FFF2-40B4-BE49-F238E27FC236}">
                <a16:creationId xmlns:a16="http://schemas.microsoft.com/office/drawing/2014/main" id="{388B6155-D366-DDF1-7E97-C2045B625C3A}"/>
              </a:ext>
            </a:extLst>
          </p:cNvPr>
          <p:cNvSpPr txBox="1"/>
          <p:nvPr/>
        </p:nvSpPr>
        <p:spPr>
          <a:xfrm>
            <a:off x="407368" y="1628800"/>
            <a:ext cx="6196012" cy="2893100"/>
          </a:xfrm>
          <a:prstGeom prst="rect">
            <a:avLst/>
          </a:prstGeom>
          <a:noFill/>
        </p:spPr>
        <p:txBody>
          <a:bodyPr wrap="square">
            <a:spAutoFit/>
          </a:bodyPr>
          <a:lstStyle/>
          <a:p>
            <a:pPr>
              <a:buNone/>
            </a:pPr>
            <a:r>
              <a:rPr lang="de-DE" sz="1400">
                <a:latin typeface="Arial" panose="020B0604020202020204" pitchFamily="34" charset="0"/>
                <a:cs typeface="Arial" panose="020B0604020202020204" pitchFamily="34" charset="0"/>
              </a:rPr>
              <a:t>Punkt 1: tbd tbd</a:t>
            </a:r>
          </a:p>
          <a:p>
            <a:pPr>
              <a:buNone/>
            </a:pPr>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1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2</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3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p:txBody>
      </p:sp>
    </p:spTree>
    <p:extLst>
      <p:ext uri="{BB962C8B-B14F-4D97-AF65-F5344CB8AC3E}">
        <p14:creationId xmlns:p14="http://schemas.microsoft.com/office/powerpoint/2010/main" val="1615908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Foliennummernplatzhalter 5"/>
          <p:cNvSpPr>
            <a:spLocks noGrp="1"/>
          </p:cNvSpPr>
          <p:nvPr>
            <p:ph type="sldNum" sz="quarter" idx="12"/>
          </p:nvPr>
        </p:nvSpPr>
        <p:spPr>
          <a:xfrm>
            <a:off x="8832304" y="0"/>
            <a:ext cx="1628432" cy="368032"/>
          </a:xfrm>
        </p:spPr>
        <p:txBody>
          <a:bodyPr/>
          <a:lstStyle/>
          <a:p>
            <a:r>
              <a:rPr lang="de-DE">
                <a:latin typeface="Verdana" panose="020B0604030504040204" pitchFamily="34" charset="0"/>
                <a:ea typeface="Verdana" panose="020B0604030504040204" pitchFamily="34" charset="0"/>
                <a:cs typeface="Verdana" panose="020B0604030504040204" pitchFamily="34" charset="0"/>
              </a:rPr>
              <a:t>Seite </a:t>
            </a:r>
            <a:fld id="{538D1101-B71C-42C1-B823-1158DE9643FE}" type="slidenum">
              <a:rPr lang="de-DE" smtClean="0">
                <a:latin typeface="Verdana" panose="020B0604030504040204" pitchFamily="34" charset="0"/>
                <a:ea typeface="Verdana" panose="020B0604030504040204" pitchFamily="34" charset="0"/>
                <a:cs typeface="Verdana" panose="020B0604030504040204" pitchFamily="34" charset="0"/>
              </a:rPr>
              <a:t>11</a:t>
            </a:fld>
            <a:r>
              <a:rPr lang="de-DE">
                <a:latin typeface="Verdana" panose="020B0604030504040204" pitchFamily="34" charset="0"/>
                <a:ea typeface="Verdana" panose="020B0604030504040204" pitchFamily="34" charset="0"/>
                <a:cs typeface="Verdana" panose="020B0604030504040204" pitchFamily="34" charset="0"/>
              </a:rPr>
              <a:t> </a:t>
            </a:r>
          </a:p>
        </p:txBody>
      </p:sp>
      <p:graphicFrame>
        <p:nvGraphicFramePr>
          <p:cNvPr id="44" name="Tabelle 43"/>
          <p:cNvGraphicFramePr>
            <a:graphicFrameLocks noGrp="1"/>
          </p:cNvGraphicFramePr>
          <p:nvPr>
            <p:extLst>
              <p:ext uri="{D42A27DB-BD31-4B8C-83A1-F6EECF244321}">
                <p14:modId xmlns:p14="http://schemas.microsoft.com/office/powerpoint/2010/main" val="3412236246"/>
              </p:ext>
            </p:extLst>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dirty="0">
                        <a:solidFill>
                          <a:schemeClr val="bg1"/>
                        </a:solidFill>
                      </a:endParaRPr>
                    </a:p>
                  </a:txBody>
                  <a:tcPr>
                    <a:solidFill>
                      <a:srgbClr val="438086"/>
                    </a:solidFill>
                  </a:tcPr>
                </a:tc>
                <a:tc>
                  <a:txBody>
                    <a:bodyPr/>
                    <a:lstStyle/>
                    <a:p>
                      <a:endParaRPr lang="de-DE" sz="1600" dirty="0">
                        <a:solidFill>
                          <a:schemeClr val="bg1"/>
                        </a:solidFill>
                      </a:endParaRPr>
                    </a:p>
                  </a:txBody>
                  <a:tcPr>
                    <a:solidFill>
                      <a:srgbClr val="438086"/>
                    </a:solidFill>
                  </a:tcPr>
                </a:tc>
                <a:tc>
                  <a:txBody>
                    <a:bodyPr/>
                    <a:lstStyle/>
                    <a:p>
                      <a:endParaRPr lang="de-DE" sz="1600" b="1" dirty="0">
                        <a:solidFill>
                          <a:schemeClr val="bg1"/>
                        </a:solidFill>
                      </a:endParaRPr>
                    </a:p>
                  </a:txBody>
                  <a:tcPr>
                    <a:solidFill>
                      <a:srgbClr val="FFC000"/>
                    </a:solidFill>
                  </a:tcPr>
                </a:tc>
                <a:tc>
                  <a:txBody>
                    <a:bodyPr/>
                    <a:lstStyle/>
                    <a:p>
                      <a:endParaRPr lang="de-DE" sz="1600" dirty="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sp>
        <p:nvSpPr>
          <p:cNvPr id="9" name="Titel 1">
            <a:extLst>
              <a:ext uri="{FF2B5EF4-FFF2-40B4-BE49-F238E27FC236}">
                <a16:creationId xmlns:a16="http://schemas.microsoft.com/office/drawing/2014/main" id="{91CBE2C3-755A-EAB2-FF90-759C22CF37C6}"/>
              </a:ext>
            </a:extLst>
          </p:cNvPr>
          <p:cNvSpPr>
            <a:spLocks noGrp="1"/>
          </p:cNvSpPr>
          <p:nvPr>
            <p:ph type="title"/>
          </p:nvPr>
        </p:nvSpPr>
        <p:spPr>
          <a:xfrm>
            <a:off x="0" y="476672"/>
            <a:ext cx="12192000" cy="576000"/>
          </a:xfrm>
        </p:spPr>
        <p:txBody>
          <a:bodyPr>
            <a:noAutofit/>
          </a:bodyPr>
          <a:lstStyle/>
          <a:p>
            <a:r>
              <a:rPr lang="de-DE" altLang="de-DE" sz="2000" dirty="0">
                <a:latin typeface="Arial" panose="020B0604020202020204" pitchFamily="34" charset="0"/>
                <a:cs typeface="Arial" panose="020B0604020202020204" pitchFamily="34" charset="0"/>
              </a:rPr>
              <a:t>3️⃣ </a:t>
            </a:r>
            <a:r>
              <a:rPr kumimoji="0" lang="de-DE" altLang="de-DE" sz="2000" b="1" i="0" u="none" strike="noStrike" cap="none" normalizeH="0" baseline="0" dirty="0">
                <a:ln>
                  <a:noFill/>
                </a:ln>
                <a:solidFill>
                  <a:schemeClr val="tx1"/>
                </a:solidFill>
                <a:effectLst/>
                <a:latin typeface="Arial" panose="020B0604020202020204" pitchFamily="34" charset="0"/>
              </a:rPr>
              <a:t>Punkt 3</a:t>
            </a:r>
            <a:endParaRPr lang="de-DE" sz="2400" b="1" dirty="0">
              <a:latin typeface="Arial" panose="020B0604020202020204" pitchFamily="34" charset="0"/>
              <a:ea typeface="Verdana" panose="020B0604030504040204" pitchFamily="34" charset="0"/>
              <a:cs typeface="Arial" panose="020B0604020202020204" pitchFamily="34" charset="0"/>
            </a:endParaRPr>
          </a:p>
        </p:txBody>
      </p:sp>
      <p:sp>
        <p:nvSpPr>
          <p:cNvPr id="2" name="Textfeld 1">
            <a:extLst>
              <a:ext uri="{FF2B5EF4-FFF2-40B4-BE49-F238E27FC236}">
                <a16:creationId xmlns:a16="http://schemas.microsoft.com/office/drawing/2014/main" id="{F648057C-98BB-A2AF-FE16-8D06F2216C13}"/>
              </a:ext>
            </a:extLst>
          </p:cNvPr>
          <p:cNvSpPr txBox="1"/>
          <p:nvPr/>
        </p:nvSpPr>
        <p:spPr>
          <a:xfrm>
            <a:off x="407368" y="1628800"/>
            <a:ext cx="6196012" cy="2893100"/>
          </a:xfrm>
          <a:prstGeom prst="rect">
            <a:avLst/>
          </a:prstGeom>
          <a:noFill/>
        </p:spPr>
        <p:txBody>
          <a:bodyPr wrap="square">
            <a:spAutoFit/>
          </a:bodyPr>
          <a:lstStyle/>
          <a:p>
            <a:pPr>
              <a:buNone/>
            </a:pPr>
            <a:r>
              <a:rPr lang="de-DE" sz="1400">
                <a:latin typeface="Arial" panose="020B0604020202020204" pitchFamily="34" charset="0"/>
                <a:cs typeface="Arial" panose="020B0604020202020204" pitchFamily="34" charset="0"/>
              </a:rPr>
              <a:t>Punkt 1: tbd tbd</a:t>
            </a:r>
          </a:p>
          <a:p>
            <a:pPr>
              <a:buNone/>
            </a:pPr>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1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2</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3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p:txBody>
      </p:sp>
    </p:spTree>
    <p:extLst>
      <p:ext uri="{BB962C8B-B14F-4D97-AF65-F5344CB8AC3E}">
        <p14:creationId xmlns:p14="http://schemas.microsoft.com/office/powerpoint/2010/main" val="1068059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Foliennummernplatzhalter 5"/>
          <p:cNvSpPr>
            <a:spLocks noGrp="1"/>
          </p:cNvSpPr>
          <p:nvPr>
            <p:ph type="sldNum" sz="quarter" idx="12"/>
          </p:nvPr>
        </p:nvSpPr>
        <p:spPr>
          <a:xfrm>
            <a:off x="8832304" y="0"/>
            <a:ext cx="1628432" cy="368032"/>
          </a:xfrm>
        </p:spPr>
        <p:txBody>
          <a:bodyPr/>
          <a:lstStyle/>
          <a:p>
            <a:r>
              <a:rPr lang="de-DE">
                <a:latin typeface="Verdana" panose="020B0604030504040204" pitchFamily="34" charset="0"/>
                <a:ea typeface="Verdana" panose="020B0604030504040204" pitchFamily="34" charset="0"/>
                <a:cs typeface="Verdana" panose="020B0604030504040204" pitchFamily="34" charset="0"/>
              </a:rPr>
              <a:t>Seite </a:t>
            </a:r>
            <a:fld id="{538D1101-B71C-42C1-B823-1158DE9643FE}" type="slidenum">
              <a:rPr lang="de-DE" smtClean="0">
                <a:latin typeface="Verdana" panose="020B0604030504040204" pitchFamily="34" charset="0"/>
                <a:ea typeface="Verdana" panose="020B0604030504040204" pitchFamily="34" charset="0"/>
                <a:cs typeface="Verdana" panose="020B0604030504040204" pitchFamily="34" charset="0"/>
              </a:rPr>
              <a:t>12</a:t>
            </a:fld>
            <a:r>
              <a:rPr lang="de-DE">
                <a:latin typeface="Verdana" panose="020B0604030504040204" pitchFamily="34" charset="0"/>
                <a:ea typeface="Verdana" panose="020B0604030504040204" pitchFamily="34" charset="0"/>
                <a:cs typeface="Verdana" panose="020B0604030504040204" pitchFamily="34" charset="0"/>
              </a:rPr>
              <a:t> </a:t>
            </a:r>
          </a:p>
        </p:txBody>
      </p:sp>
      <p:graphicFrame>
        <p:nvGraphicFramePr>
          <p:cNvPr id="44" name="Tabelle 43"/>
          <p:cNvGraphicFramePr>
            <a:graphicFrameLocks noGrp="1"/>
          </p:cNvGraphicFramePr>
          <p:nvPr>
            <p:extLst>
              <p:ext uri="{D42A27DB-BD31-4B8C-83A1-F6EECF244321}">
                <p14:modId xmlns:p14="http://schemas.microsoft.com/office/powerpoint/2010/main" val="3236536304"/>
              </p:ext>
            </p:extLst>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dirty="0">
                        <a:solidFill>
                          <a:schemeClr val="bg1"/>
                        </a:solidFill>
                      </a:endParaRPr>
                    </a:p>
                  </a:txBody>
                  <a:tcPr>
                    <a:solidFill>
                      <a:srgbClr val="438086"/>
                    </a:solidFill>
                  </a:tcPr>
                </a:tc>
                <a:tc>
                  <a:txBody>
                    <a:bodyPr/>
                    <a:lstStyle/>
                    <a:p>
                      <a:endParaRPr kumimoji="0" lang="de-DE" sz="1600" b="1" kern="1200">
                        <a:solidFill>
                          <a:schemeClr val="bg1"/>
                        </a:solidFill>
                        <a:latin typeface="+mn-lt"/>
                        <a:ea typeface="+mn-ea"/>
                        <a:cs typeface="+mn-cs"/>
                      </a:endParaRPr>
                    </a:p>
                  </a:txBody>
                  <a:tcPr>
                    <a:solidFill>
                      <a:srgbClr val="438086"/>
                    </a:solidFill>
                  </a:tcPr>
                </a:tc>
                <a:tc>
                  <a:txBody>
                    <a:bodyPr/>
                    <a:lstStyle/>
                    <a:p>
                      <a:endParaRPr lang="de-DE" sz="1600" b="1" dirty="0">
                        <a:solidFill>
                          <a:schemeClr val="bg1"/>
                        </a:solidFill>
                      </a:endParaRPr>
                    </a:p>
                  </a:txBody>
                  <a:tcPr>
                    <a:solidFill>
                      <a:srgbClr val="438086"/>
                    </a:solidFill>
                  </a:tcPr>
                </a:tc>
                <a:tc>
                  <a:txBody>
                    <a:bodyPr/>
                    <a:lstStyle/>
                    <a:p>
                      <a:endParaRPr lang="de-DE" sz="1600" dirty="0">
                        <a:solidFill>
                          <a:schemeClr val="bg1"/>
                        </a:solidFill>
                      </a:endParaRPr>
                    </a:p>
                  </a:txBody>
                  <a:tcPr>
                    <a:solidFill>
                      <a:srgbClr val="FFC000"/>
                    </a:solidFill>
                  </a:tcPr>
                </a:tc>
                <a:tc>
                  <a:txBody>
                    <a:bodyPr/>
                    <a:lstStyle/>
                    <a:p>
                      <a:endParaRPr lang="de-DE" sz="1600" dirty="0">
                        <a:solidFill>
                          <a:schemeClr val="bg1"/>
                        </a:solidFill>
                      </a:endParaRPr>
                    </a:p>
                  </a:txBody>
                  <a:tcPr>
                    <a:solidFill>
                      <a:schemeClr val="bg1"/>
                    </a:solidFill>
                  </a:tcPr>
                </a:tc>
                <a:tc>
                  <a:txBody>
                    <a:bodyPr/>
                    <a:lstStyle/>
                    <a:p>
                      <a:endParaRPr lang="de-DE" sz="160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sp>
        <p:nvSpPr>
          <p:cNvPr id="10" name="Titel 1">
            <a:extLst>
              <a:ext uri="{FF2B5EF4-FFF2-40B4-BE49-F238E27FC236}">
                <a16:creationId xmlns:a16="http://schemas.microsoft.com/office/drawing/2014/main" id="{CC429978-3636-4B4A-B4C7-6C0315F97873}"/>
              </a:ext>
            </a:extLst>
          </p:cNvPr>
          <p:cNvSpPr txBox="1">
            <a:spLocks/>
          </p:cNvSpPr>
          <p:nvPr/>
        </p:nvSpPr>
        <p:spPr>
          <a:xfrm>
            <a:off x="0" y="476672"/>
            <a:ext cx="12191998" cy="576000"/>
          </a:xfrm>
          <a:prstGeom prst="rect">
            <a:avLst/>
          </a:prstGeom>
        </p:spPr>
        <p:txBody>
          <a:bodyPr vert="horz" anchor="ctr">
            <a:noAutofit/>
          </a:bodyPr>
          <a:lstStyle>
            <a:lvl1pPr algn="l" rtl="0" eaLnBrk="1" latinLnBrk="0" hangingPunct="1">
              <a:spcBef>
                <a:spcPct val="0"/>
              </a:spcBef>
              <a:buNone/>
              <a:defRPr kumimoji="0" sz="4000" kern="1200">
                <a:solidFill>
                  <a:schemeClr val="tx2"/>
                </a:solidFill>
                <a:latin typeface="+mj-lt"/>
                <a:ea typeface="+mj-ea"/>
                <a:cs typeface="+mj-cs"/>
              </a:defRPr>
            </a:lvl1pPr>
          </a:lstStyle>
          <a:p>
            <a:r>
              <a:rPr kumimoji="0" lang="de-DE" altLang="de-DE" sz="2000" i="0" u="none" strike="noStrike" cap="none" normalizeH="0" baseline="0">
                <a:ln>
                  <a:noFill/>
                </a:ln>
                <a:solidFill>
                  <a:schemeClr val="tx1"/>
                </a:solidFill>
                <a:effectLst/>
                <a:latin typeface="Arial" panose="020B0604020202020204" pitchFamily="34" charset="0"/>
              </a:rPr>
              <a:t>4️⃣ </a:t>
            </a:r>
            <a:r>
              <a:rPr kumimoji="0" lang="de-DE" altLang="de-DE" sz="2000" b="1" i="0" u="none" strike="noStrike" cap="none" normalizeH="0" baseline="0">
                <a:ln>
                  <a:noFill/>
                </a:ln>
                <a:solidFill>
                  <a:schemeClr val="tx1"/>
                </a:solidFill>
                <a:effectLst/>
                <a:latin typeface="Arial" panose="020B0604020202020204" pitchFamily="34" charset="0"/>
              </a:rPr>
              <a:t>Punkt 4</a:t>
            </a:r>
            <a:endParaRPr lang="de-DE" sz="2000" dirty="0">
              <a:latin typeface="Verdana" panose="020B0604030504040204" pitchFamily="34" charset="0"/>
              <a:ea typeface="Verdana" panose="020B0604030504040204" pitchFamily="34" charset="0"/>
              <a:cs typeface="Verdana" panose="020B0604030504040204" pitchFamily="34" charset="0"/>
            </a:endParaRPr>
          </a:p>
        </p:txBody>
      </p:sp>
      <p:sp>
        <p:nvSpPr>
          <p:cNvPr id="2" name="Textfeld 1">
            <a:extLst>
              <a:ext uri="{FF2B5EF4-FFF2-40B4-BE49-F238E27FC236}">
                <a16:creationId xmlns:a16="http://schemas.microsoft.com/office/drawing/2014/main" id="{9E431BF7-E73B-C3F4-DD72-1668BB7C37AA}"/>
              </a:ext>
            </a:extLst>
          </p:cNvPr>
          <p:cNvSpPr txBox="1"/>
          <p:nvPr/>
        </p:nvSpPr>
        <p:spPr>
          <a:xfrm>
            <a:off x="407368" y="1628800"/>
            <a:ext cx="6196012" cy="2893100"/>
          </a:xfrm>
          <a:prstGeom prst="rect">
            <a:avLst/>
          </a:prstGeom>
          <a:noFill/>
        </p:spPr>
        <p:txBody>
          <a:bodyPr wrap="square">
            <a:spAutoFit/>
          </a:bodyPr>
          <a:lstStyle/>
          <a:p>
            <a:pPr>
              <a:buNone/>
            </a:pPr>
            <a:r>
              <a:rPr lang="de-DE" sz="1400">
                <a:latin typeface="Arial" panose="020B0604020202020204" pitchFamily="34" charset="0"/>
                <a:cs typeface="Arial" panose="020B0604020202020204" pitchFamily="34" charset="0"/>
              </a:rPr>
              <a:t>Punkt 1: tbd tbd</a:t>
            </a:r>
          </a:p>
          <a:p>
            <a:pPr>
              <a:buNone/>
            </a:pPr>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1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2</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3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p:txBody>
      </p:sp>
    </p:spTree>
    <p:extLst>
      <p:ext uri="{BB962C8B-B14F-4D97-AF65-F5344CB8AC3E}">
        <p14:creationId xmlns:p14="http://schemas.microsoft.com/office/powerpoint/2010/main" val="3042659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Foliennummernplatzhalter 5"/>
          <p:cNvSpPr>
            <a:spLocks noGrp="1"/>
          </p:cNvSpPr>
          <p:nvPr>
            <p:ph type="sldNum" sz="quarter" idx="12"/>
          </p:nvPr>
        </p:nvSpPr>
        <p:spPr>
          <a:xfrm>
            <a:off x="8832304" y="0"/>
            <a:ext cx="1628432" cy="368032"/>
          </a:xfrm>
        </p:spPr>
        <p:txBody>
          <a:bodyPr/>
          <a:lstStyle/>
          <a:p>
            <a:r>
              <a:rPr lang="de-DE">
                <a:latin typeface="Verdana" panose="020B0604030504040204" pitchFamily="34" charset="0"/>
                <a:ea typeface="Verdana" panose="020B0604030504040204" pitchFamily="34" charset="0"/>
                <a:cs typeface="Verdana" panose="020B0604030504040204" pitchFamily="34" charset="0"/>
              </a:rPr>
              <a:t>Seite </a:t>
            </a:r>
            <a:fld id="{538D1101-B71C-42C1-B823-1158DE9643FE}" type="slidenum">
              <a:rPr lang="de-DE" smtClean="0">
                <a:latin typeface="Verdana" panose="020B0604030504040204" pitchFamily="34" charset="0"/>
                <a:ea typeface="Verdana" panose="020B0604030504040204" pitchFamily="34" charset="0"/>
                <a:cs typeface="Verdana" panose="020B0604030504040204" pitchFamily="34" charset="0"/>
              </a:rPr>
              <a:t>13</a:t>
            </a:fld>
            <a:r>
              <a:rPr lang="de-DE">
                <a:latin typeface="Verdana" panose="020B0604030504040204" pitchFamily="34" charset="0"/>
                <a:ea typeface="Verdana" panose="020B0604030504040204" pitchFamily="34" charset="0"/>
                <a:cs typeface="Verdana" panose="020B0604030504040204" pitchFamily="34" charset="0"/>
              </a:rPr>
              <a:t> </a:t>
            </a:r>
          </a:p>
        </p:txBody>
      </p:sp>
      <p:graphicFrame>
        <p:nvGraphicFramePr>
          <p:cNvPr id="44" name="Tabelle 43"/>
          <p:cNvGraphicFramePr>
            <a:graphicFrameLocks noGrp="1"/>
          </p:cNvGraphicFramePr>
          <p:nvPr>
            <p:extLst>
              <p:ext uri="{D42A27DB-BD31-4B8C-83A1-F6EECF244321}">
                <p14:modId xmlns:p14="http://schemas.microsoft.com/office/powerpoint/2010/main" val="3219621214"/>
              </p:ext>
            </p:extLst>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dirty="0">
                        <a:solidFill>
                          <a:schemeClr val="bg1"/>
                        </a:solidFill>
                      </a:endParaRPr>
                    </a:p>
                  </a:txBody>
                  <a:tcPr>
                    <a:solidFill>
                      <a:srgbClr val="438086"/>
                    </a:solidFill>
                  </a:tcPr>
                </a:tc>
                <a:tc>
                  <a:txBody>
                    <a:bodyPr/>
                    <a:lstStyle/>
                    <a:p>
                      <a:endParaRPr kumimoji="0" lang="de-DE" sz="1600" b="1" kern="1200">
                        <a:solidFill>
                          <a:schemeClr val="bg1"/>
                        </a:solidFill>
                        <a:latin typeface="+mn-lt"/>
                        <a:ea typeface="+mn-ea"/>
                        <a:cs typeface="+mn-cs"/>
                      </a:endParaRPr>
                    </a:p>
                  </a:txBody>
                  <a:tcPr>
                    <a:solidFill>
                      <a:srgbClr val="438086"/>
                    </a:solidFill>
                  </a:tcPr>
                </a:tc>
                <a:tc>
                  <a:txBody>
                    <a:bodyPr/>
                    <a:lstStyle/>
                    <a:p>
                      <a:endParaRPr lang="de-DE" sz="1600" b="1" dirty="0">
                        <a:solidFill>
                          <a:schemeClr val="bg1"/>
                        </a:solidFill>
                      </a:endParaRPr>
                    </a:p>
                  </a:txBody>
                  <a:tcPr>
                    <a:solidFill>
                      <a:srgbClr val="438086"/>
                    </a:solidFill>
                  </a:tcPr>
                </a:tc>
                <a:tc>
                  <a:txBody>
                    <a:bodyPr/>
                    <a:lstStyle/>
                    <a:p>
                      <a:endParaRPr lang="de-DE" sz="1600" dirty="0">
                        <a:solidFill>
                          <a:schemeClr val="bg1"/>
                        </a:solidFill>
                      </a:endParaRPr>
                    </a:p>
                  </a:txBody>
                  <a:tcPr>
                    <a:solidFill>
                      <a:srgbClr val="438086"/>
                    </a:solidFill>
                  </a:tcPr>
                </a:tc>
                <a:tc>
                  <a:txBody>
                    <a:bodyPr/>
                    <a:lstStyle/>
                    <a:p>
                      <a:endParaRPr lang="de-DE" sz="1600" dirty="0">
                        <a:solidFill>
                          <a:schemeClr val="bg1"/>
                        </a:solidFill>
                      </a:endParaRPr>
                    </a:p>
                  </a:txBody>
                  <a:tcPr>
                    <a:solidFill>
                      <a:srgbClr val="FFC000"/>
                    </a:solidFill>
                  </a:tcPr>
                </a:tc>
                <a:tc>
                  <a:txBody>
                    <a:bodyPr/>
                    <a:lstStyle/>
                    <a:p>
                      <a:endParaRPr lang="de-DE" sz="1600">
                        <a:solidFill>
                          <a:schemeClr val="bg1"/>
                        </a:solidFill>
                      </a:endParaRPr>
                    </a:p>
                  </a:txBody>
                  <a:tcPr>
                    <a:solidFill>
                      <a:schemeClr val="bg1"/>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sp>
        <p:nvSpPr>
          <p:cNvPr id="10" name="Titel 1">
            <a:extLst>
              <a:ext uri="{FF2B5EF4-FFF2-40B4-BE49-F238E27FC236}">
                <a16:creationId xmlns:a16="http://schemas.microsoft.com/office/drawing/2014/main" id="{CC429978-3636-4B4A-B4C7-6C0315F97873}"/>
              </a:ext>
            </a:extLst>
          </p:cNvPr>
          <p:cNvSpPr txBox="1">
            <a:spLocks/>
          </p:cNvSpPr>
          <p:nvPr/>
        </p:nvSpPr>
        <p:spPr>
          <a:xfrm>
            <a:off x="0" y="476672"/>
            <a:ext cx="12191998" cy="576000"/>
          </a:xfrm>
          <a:prstGeom prst="rect">
            <a:avLst/>
          </a:prstGeom>
        </p:spPr>
        <p:txBody>
          <a:bodyPr vert="horz" anchor="ctr">
            <a:no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buNone/>
            </a:pPr>
            <a:r>
              <a:rPr lang="de-DE" sz="2000">
                <a:latin typeface="Arial" panose="020B0604020202020204" pitchFamily="34" charset="0"/>
                <a:cs typeface="Arial" panose="020B0604020202020204" pitchFamily="34" charset="0"/>
              </a:rPr>
              <a:t>5️⃣ </a:t>
            </a:r>
            <a:r>
              <a:rPr kumimoji="0" lang="de-DE" altLang="de-DE" sz="2000" b="1" i="0" u="none" strike="noStrike" cap="none" normalizeH="0" baseline="0">
                <a:ln>
                  <a:noFill/>
                </a:ln>
                <a:solidFill>
                  <a:schemeClr val="tx1"/>
                </a:solidFill>
                <a:effectLst/>
                <a:latin typeface="Arial" panose="020B0604020202020204" pitchFamily="34" charset="0"/>
              </a:rPr>
              <a:t>Punkt 5</a:t>
            </a:r>
            <a:endParaRPr lang="de-DE" sz="2000" b="1">
              <a:latin typeface="Arial" panose="020B0604020202020204" pitchFamily="34" charset="0"/>
              <a:cs typeface="Arial" panose="020B0604020202020204" pitchFamily="34" charset="0"/>
            </a:endParaRPr>
          </a:p>
        </p:txBody>
      </p:sp>
      <p:sp>
        <p:nvSpPr>
          <p:cNvPr id="2" name="Textfeld 1">
            <a:extLst>
              <a:ext uri="{FF2B5EF4-FFF2-40B4-BE49-F238E27FC236}">
                <a16:creationId xmlns:a16="http://schemas.microsoft.com/office/drawing/2014/main" id="{7599820A-AD65-BBB1-AB31-2372787A9443}"/>
              </a:ext>
            </a:extLst>
          </p:cNvPr>
          <p:cNvSpPr txBox="1"/>
          <p:nvPr/>
        </p:nvSpPr>
        <p:spPr>
          <a:xfrm>
            <a:off x="407368" y="1628800"/>
            <a:ext cx="6196012" cy="2893100"/>
          </a:xfrm>
          <a:prstGeom prst="rect">
            <a:avLst/>
          </a:prstGeom>
          <a:noFill/>
        </p:spPr>
        <p:txBody>
          <a:bodyPr wrap="square">
            <a:spAutoFit/>
          </a:bodyPr>
          <a:lstStyle/>
          <a:p>
            <a:pPr>
              <a:buNone/>
            </a:pPr>
            <a:r>
              <a:rPr lang="de-DE" sz="1400">
                <a:latin typeface="Arial" panose="020B0604020202020204" pitchFamily="34" charset="0"/>
                <a:cs typeface="Arial" panose="020B0604020202020204" pitchFamily="34" charset="0"/>
              </a:rPr>
              <a:t>Punkt 1: tbd tbd</a:t>
            </a:r>
          </a:p>
          <a:p>
            <a:pPr>
              <a:buNone/>
            </a:pPr>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1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2</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3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p:txBody>
      </p:sp>
    </p:spTree>
    <p:extLst>
      <p:ext uri="{BB962C8B-B14F-4D97-AF65-F5344CB8AC3E}">
        <p14:creationId xmlns:p14="http://schemas.microsoft.com/office/powerpoint/2010/main" val="27774355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liennummernplatzhalter 5"/>
          <p:cNvSpPr>
            <a:spLocks noGrp="1"/>
          </p:cNvSpPr>
          <p:nvPr>
            <p:ph type="sldNum" sz="quarter" idx="12"/>
          </p:nvPr>
        </p:nvSpPr>
        <p:spPr>
          <a:xfrm>
            <a:off x="8688288" y="0"/>
            <a:ext cx="1772448" cy="368032"/>
          </a:xfrm>
        </p:spPr>
        <p:txBody>
          <a:bodyPr/>
          <a:lstStyle/>
          <a:p>
            <a:r>
              <a:rPr lang="de-DE">
                <a:latin typeface="Verdana" panose="020B0604030504040204" pitchFamily="34" charset="0"/>
                <a:ea typeface="Verdana" panose="020B0604030504040204" pitchFamily="34" charset="0"/>
                <a:cs typeface="Verdana" panose="020B0604030504040204" pitchFamily="34" charset="0"/>
              </a:rPr>
              <a:t>Seite </a:t>
            </a:r>
            <a:fld id="{538D1101-B71C-42C1-B823-1158DE9643FE}" type="slidenum">
              <a:rPr lang="de-DE" smtClean="0">
                <a:latin typeface="Verdana" panose="020B0604030504040204" pitchFamily="34" charset="0"/>
                <a:ea typeface="Verdana" panose="020B0604030504040204" pitchFamily="34" charset="0"/>
                <a:cs typeface="Verdana" panose="020B0604030504040204" pitchFamily="34" charset="0"/>
              </a:rPr>
              <a:t>14</a:t>
            </a:fld>
            <a:endParaRPr lang="de-DE">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8" name="Tabelle 7"/>
          <p:cNvGraphicFramePr>
            <a:graphicFrameLocks noGrp="1"/>
          </p:cNvGraphicFramePr>
          <p:nvPr>
            <p:extLst>
              <p:ext uri="{D42A27DB-BD31-4B8C-83A1-F6EECF244321}">
                <p14:modId xmlns:p14="http://schemas.microsoft.com/office/powerpoint/2010/main" val="461619535"/>
              </p:ext>
            </p:extLst>
          </p:nvPr>
        </p:nvGraphicFramePr>
        <p:xfrm>
          <a:off x="0" y="1057816"/>
          <a:ext cx="12191998" cy="33528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741714">
                  <a:extLst>
                    <a:ext uri="{9D8B030D-6E8A-4147-A177-3AD203B41FA5}">
                      <a16:colId xmlns:a16="http://schemas.microsoft.com/office/drawing/2014/main" val="20000"/>
                    </a:ext>
                  </a:extLst>
                </a:gridCol>
                <a:gridCol w="1741714">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298832">
                <a:tc>
                  <a:txBody>
                    <a:bodyPr/>
                    <a:lstStyle/>
                    <a:p>
                      <a:endParaRPr lang="de-DE" sz="1600" dirty="0">
                        <a:solidFill>
                          <a:schemeClr val="bg1"/>
                        </a:solidFill>
                      </a:endParaRPr>
                    </a:p>
                  </a:txBody>
                  <a:tcPr>
                    <a:solidFill>
                      <a:srgbClr val="438086"/>
                    </a:solidFill>
                  </a:tcPr>
                </a:tc>
                <a:tc>
                  <a:txBody>
                    <a:bodyPr/>
                    <a:lstStyle/>
                    <a:p>
                      <a:endParaRPr lang="de-DE" sz="1600">
                        <a:solidFill>
                          <a:schemeClr val="bg1"/>
                        </a:solidFill>
                      </a:endParaRPr>
                    </a:p>
                  </a:txBody>
                  <a:tcPr>
                    <a:solidFill>
                      <a:srgbClr val="438086"/>
                    </a:solidFill>
                  </a:tcPr>
                </a:tc>
                <a:tc>
                  <a:txBody>
                    <a:bodyPr/>
                    <a:lstStyle/>
                    <a:p>
                      <a:endParaRPr lang="de-DE" sz="1600">
                        <a:solidFill>
                          <a:schemeClr val="bg1"/>
                        </a:solidFill>
                      </a:endParaRPr>
                    </a:p>
                  </a:txBody>
                  <a:tcPr>
                    <a:solidFill>
                      <a:srgbClr val="438086"/>
                    </a:solidFill>
                  </a:tcPr>
                </a:tc>
                <a:tc>
                  <a:txBody>
                    <a:bodyPr/>
                    <a:lstStyle/>
                    <a:p>
                      <a:endParaRPr lang="de-DE" sz="1600">
                        <a:solidFill>
                          <a:schemeClr val="bg1"/>
                        </a:solidFill>
                      </a:endParaRPr>
                    </a:p>
                  </a:txBody>
                  <a:tcPr>
                    <a:solidFill>
                      <a:srgbClr val="438086"/>
                    </a:solidFill>
                  </a:tcPr>
                </a:tc>
                <a:tc>
                  <a:txBody>
                    <a:bodyPr/>
                    <a:lstStyle/>
                    <a:p>
                      <a:endParaRPr lang="de-DE" sz="1600">
                        <a:solidFill>
                          <a:schemeClr val="bg1"/>
                        </a:solidFill>
                      </a:endParaRPr>
                    </a:p>
                  </a:txBody>
                  <a:tcPr>
                    <a:solidFill>
                      <a:srgbClr val="438086"/>
                    </a:solidFill>
                  </a:tcPr>
                </a:tc>
                <a:tc>
                  <a:txBody>
                    <a:bodyPr/>
                    <a:lstStyle/>
                    <a:p>
                      <a:endParaRPr lang="de-DE" sz="1600">
                        <a:solidFill>
                          <a:schemeClr val="bg1"/>
                        </a:solidFill>
                      </a:endParaRPr>
                    </a:p>
                  </a:txBody>
                  <a:tcPr>
                    <a:solidFill>
                      <a:srgbClr val="FFC000"/>
                    </a:solidFill>
                  </a:tcPr>
                </a:tc>
                <a:tc>
                  <a:txBody>
                    <a:bodyPr/>
                    <a:lstStyle/>
                    <a:p>
                      <a:endParaRPr lang="de-DE" sz="1600" dirty="0">
                        <a:solidFill>
                          <a:schemeClr val="bg1"/>
                        </a:solidFill>
                      </a:endParaRPr>
                    </a:p>
                  </a:txBody>
                  <a:tcPr>
                    <a:solidFill>
                      <a:schemeClr val="bg1"/>
                    </a:solidFill>
                  </a:tcPr>
                </a:tc>
                <a:extLst>
                  <a:ext uri="{0D108BD9-81ED-4DB2-BD59-A6C34878D82A}">
                    <a16:rowId xmlns:a16="http://schemas.microsoft.com/office/drawing/2014/main" val="10000"/>
                  </a:ext>
                </a:extLst>
              </a:tr>
            </a:tbl>
          </a:graphicData>
        </a:graphic>
      </p:graphicFrame>
      <p:sp>
        <p:nvSpPr>
          <p:cNvPr id="10" name="Titel 1">
            <a:extLst>
              <a:ext uri="{FF2B5EF4-FFF2-40B4-BE49-F238E27FC236}">
                <a16:creationId xmlns:a16="http://schemas.microsoft.com/office/drawing/2014/main" id="{AD18ADAA-B318-9D41-A82D-BC6358346B90}"/>
              </a:ext>
            </a:extLst>
          </p:cNvPr>
          <p:cNvSpPr txBox="1">
            <a:spLocks/>
          </p:cNvSpPr>
          <p:nvPr/>
        </p:nvSpPr>
        <p:spPr>
          <a:xfrm>
            <a:off x="0" y="476672"/>
            <a:ext cx="12191998" cy="576000"/>
          </a:xfrm>
          <a:prstGeom prst="rect">
            <a:avLst/>
          </a:prstGeom>
        </p:spPr>
        <p:txBody>
          <a:bodyPr vert="horz" anchor="ctr">
            <a:no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buNone/>
            </a:pPr>
            <a:r>
              <a:rPr lang="de-DE" sz="2000">
                <a:latin typeface="Arial" panose="020B0604020202020204" pitchFamily="34" charset="0"/>
                <a:cs typeface="Arial" panose="020B0604020202020204" pitchFamily="34" charset="0"/>
              </a:rPr>
              <a:t>6️⃣ </a:t>
            </a:r>
            <a:r>
              <a:rPr kumimoji="0" lang="de-DE" altLang="de-DE" sz="2000" b="1" i="0" u="none" strike="noStrike" cap="none" normalizeH="0" baseline="0">
                <a:ln>
                  <a:noFill/>
                </a:ln>
                <a:solidFill>
                  <a:schemeClr val="tx1"/>
                </a:solidFill>
                <a:effectLst/>
                <a:latin typeface="Arial" panose="020B0604020202020204" pitchFamily="34" charset="0"/>
              </a:rPr>
              <a:t>Punkt 6</a:t>
            </a:r>
            <a:endParaRPr lang="de-DE" sz="2000" b="1">
              <a:latin typeface="Arial" panose="020B0604020202020204" pitchFamily="34" charset="0"/>
              <a:cs typeface="Arial" panose="020B0604020202020204" pitchFamily="34" charset="0"/>
            </a:endParaRPr>
          </a:p>
        </p:txBody>
      </p:sp>
      <p:sp>
        <p:nvSpPr>
          <p:cNvPr id="2" name="Textfeld 1">
            <a:extLst>
              <a:ext uri="{FF2B5EF4-FFF2-40B4-BE49-F238E27FC236}">
                <a16:creationId xmlns:a16="http://schemas.microsoft.com/office/drawing/2014/main" id="{010B89CF-0B5E-B430-BD36-EB4867F7A460}"/>
              </a:ext>
            </a:extLst>
          </p:cNvPr>
          <p:cNvSpPr txBox="1"/>
          <p:nvPr/>
        </p:nvSpPr>
        <p:spPr>
          <a:xfrm>
            <a:off x="407368" y="1628800"/>
            <a:ext cx="6196012" cy="2893100"/>
          </a:xfrm>
          <a:prstGeom prst="rect">
            <a:avLst/>
          </a:prstGeom>
          <a:noFill/>
        </p:spPr>
        <p:txBody>
          <a:bodyPr wrap="square">
            <a:spAutoFit/>
          </a:bodyPr>
          <a:lstStyle/>
          <a:p>
            <a:pPr>
              <a:buNone/>
            </a:pPr>
            <a:r>
              <a:rPr lang="de-DE" sz="1400">
                <a:latin typeface="Arial" panose="020B0604020202020204" pitchFamily="34" charset="0"/>
                <a:cs typeface="Arial" panose="020B0604020202020204" pitchFamily="34" charset="0"/>
              </a:rPr>
              <a:t>Punkt 1: tbd tbd</a:t>
            </a:r>
          </a:p>
          <a:p>
            <a:pPr>
              <a:buNone/>
            </a:pPr>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1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2</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lvl="1"/>
            <a:endParaRPr lang="de-DE" sz="140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a:latin typeface="Arial" panose="020B0604020202020204" pitchFamily="34" charset="0"/>
                <a:cs typeface="Arial" panose="020B0604020202020204" pitchFamily="34" charset="0"/>
              </a:rPr>
              <a:t>Punkt 3 </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a:p>
            <a:pPr marL="742950" lvl="1" indent="-285750">
              <a:buFont typeface="Wingdings" panose="05000000000000000000" pitchFamily="2" charset="2"/>
              <a:buChar char="§"/>
            </a:pPr>
            <a:r>
              <a:rPr lang="de-DE" sz="1400">
                <a:latin typeface="Arial" panose="020B0604020202020204" pitchFamily="34" charset="0"/>
                <a:cs typeface="Arial" panose="020B0604020202020204" pitchFamily="34" charset="0"/>
              </a:rPr>
              <a:t>TBD</a:t>
            </a:r>
          </a:p>
        </p:txBody>
      </p:sp>
    </p:spTree>
    <p:extLst>
      <p:ext uri="{BB962C8B-B14F-4D97-AF65-F5344CB8AC3E}">
        <p14:creationId xmlns:p14="http://schemas.microsoft.com/office/powerpoint/2010/main" val="239731835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Rhea">
  <a:themeElements>
    <a:clrScheme name="Rhea">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Rhea">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Rhea">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0</TotalTime>
  <Words>935</Words>
  <Application>Microsoft Office PowerPoint</Application>
  <PresentationFormat>Breitbild</PresentationFormat>
  <Paragraphs>242</Paragraphs>
  <Slides>14</Slides>
  <Notes>8</Notes>
  <HiddenSlides>0</HiddenSlides>
  <MMClips>0</MMClips>
  <ScaleCrop>false</ScaleCrop>
  <HeadingPairs>
    <vt:vector size="6" baseType="variant">
      <vt:variant>
        <vt:lpstr>Verwendete Schriftarten</vt:lpstr>
      </vt:variant>
      <vt:variant>
        <vt:i4>7</vt:i4>
      </vt:variant>
      <vt:variant>
        <vt:lpstr>Design</vt:lpstr>
      </vt:variant>
      <vt:variant>
        <vt:i4>1</vt:i4>
      </vt:variant>
      <vt:variant>
        <vt:lpstr>Folientitel</vt:lpstr>
      </vt:variant>
      <vt:variant>
        <vt:i4>14</vt:i4>
      </vt:variant>
    </vt:vector>
  </HeadingPairs>
  <TitlesOfParts>
    <vt:vector size="22" baseType="lpstr">
      <vt:lpstr>Arial</vt:lpstr>
      <vt:lpstr>Calibri</vt:lpstr>
      <vt:lpstr>Georgia</vt:lpstr>
      <vt:lpstr>Trebuchet MS</vt:lpstr>
      <vt:lpstr>Verdana</vt:lpstr>
      <vt:lpstr>Wingdings</vt:lpstr>
      <vt:lpstr>Wingdings 2</vt:lpstr>
      <vt:lpstr>Rhea</vt:lpstr>
      <vt:lpstr>Aufgabenabgrenzung (zu entfernen)</vt:lpstr>
      <vt:lpstr>PowerPoint-Präsentation</vt:lpstr>
      <vt:lpstr>PowerPoint-Präsentation</vt:lpstr>
      <vt:lpstr>1️⃣ Ausgangslage - Mediennutzung und Barrierefreiheit</vt:lpstr>
      <vt:lpstr>1️⃣ Ausgangslage - Stand der Wissenschaft und technologischer Fortschritt​</vt:lpstr>
      <vt:lpstr>2️⃣ Vertex AI – Google Cloud Analyse von Daten, Bildern und Videos mit Gemini</vt:lpstr>
      <vt:lpstr>2️⃣ OpenCV &amp; OpenSource – Tesseract – YOLO – CascadeClassifier (Ges.erk.)</vt:lpstr>
      <vt:lpstr>2️⃣ Data Pipeline - Eingabe &amp; Vorverarbeitung</vt:lpstr>
      <vt:lpstr>2️⃣ Data Pipeline - Visuelle Analyse &amp; Beschreibung</vt:lpstr>
      <vt:lpstr>2️⃣ Data Pipeline - Ausgabe, Evaluation &amp; Optimierung</vt:lpstr>
      <vt:lpstr>3️⃣ Punkt 3</vt:lpstr>
      <vt:lpstr>PowerPoint-Präsentation</vt:lpstr>
      <vt:lpstr>PowerPoint-Präsentation</vt:lpstr>
      <vt:lpstr>PowerPoint-Präsentation</vt:lpstr>
    </vt:vector>
  </TitlesOfParts>
  <Company>Elster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Balczukat, Phil</dc:creator>
  <cp:lastModifiedBy>Claus-Peter Koch</cp:lastModifiedBy>
  <cp:revision>440</cp:revision>
  <dcterms:created xsi:type="dcterms:W3CDTF">2012-01-31T07:49:28Z</dcterms:created>
  <dcterms:modified xsi:type="dcterms:W3CDTF">2025-04-26T17:11:29Z</dcterms:modified>
</cp:coreProperties>
</file>