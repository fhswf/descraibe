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2AFF1B-1427-43A1-A04F-D83EB0831D8C}">
  <a:tblStyle styleId="{C92AFF1B-1427-43A1-A04F-D83EB0831D8C}" styleName="Table_0">
    <a:wholeTbl>
      <a:tcTxStyle b="off" i="off">
        <a:font>
          <a:latin typeface="Georgia"/>
          <a:ea typeface="Georgia"/>
          <a:cs typeface="Georgi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9ED"/>
          </a:solidFill>
        </a:fill>
      </a:tcStyle>
    </a:wholeTbl>
    <a:band1H>
      <a:tcTxStyle/>
      <a:tcStyle>
        <a:fill>
          <a:solidFill>
            <a:srgbClr val="CFCFD9"/>
          </a:solidFill>
        </a:fill>
      </a:tcStyle>
    </a:band1H>
    <a:band2H>
      <a:tcTxStyle/>
    </a:band2H>
    <a:band1V>
      <a:tcTxStyle/>
      <a:tcStyle>
        <a:fill>
          <a:solidFill>
            <a:srgbClr val="CFCFD9"/>
          </a:solidFill>
        </a:fill>
      </a:tcStyle>
    </a:band1V>
    <a:band2V>
      <a:tcTxStyle/>
    </a:band2V>
    <a:lastCol>
      <a:tcTxStyle b="on" i="off">
        <a:font>
          <a:latin typeface="Georgia"/>
          <a:ea typeface="Georgia"/>
          <a:cs typeface="Georgi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Georgia"/>
          <a:ea typeface="Georgia"/>
          <a:cs typeface="Georgi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Georgia"/>
          <a:ea typeface="Georgia"/>
          <a:cs typeface="Georgi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eorgia"/>
          <a:ea typeface="Georgia"/>
          <a:cs typeface="Georgi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4.xml"/><Relationship Id="rId22" Type="http://schemas.openxmlformats.org/officeDocument/2006/relationships/font" Target="fonts/Roboto-italic.fntdata"/><Relationship Id="rId10" Type="http://schemas.openxmlformats.org/officeDocument/2006/relationships/slide" Target="slides/slide3.xml"/><Relationship Id="rId21" Type="http://schemas.openxmlformats.org/officeDocument/2006/relationships/font" Target="fonts/Roboto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1a6fab52c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51a6fab52c_2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1a6fab52c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51a6fab52c_2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1a6fab52c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51a6fab52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Adrianna</a:t>
            </a:r>
            <a:endParaRPr/>
          </a:p>
        </p:txBody>
      </p:sp>
      <p:sp>
        <p:nvSpPr>
          <p:cNvPr id="179" name="Google Shape;179;g351a6fab52c_0_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1a6fab52c_2_1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51a6fab52c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Adrianna</a:t>
            </a:r>
            <a:endParaRPr/>
          </a:p>
        </p:txBody>
      </p:sp>
      <p:sp>
        <p:nvSpPr>
          <p:cNvPr id="190" name="Google Shape;190;g351a6fab52c_2_1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1a6fab52c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51a6fab52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Adrianna</a:t>
            </a:r>
            <a:endParaRPr/>
          </a:p>
        </p:txBody>
      </p:sp>
      <p:sp>
        <p:nvSpPr>
          <p:cNvPr id="201" name="Google Shape;201;g351a6fab52c_0_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1a6fab52c_2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Adrianna</a:t>
            </a:r>
            <a:endParaRPr/>
          </a:p>
        </p:txBody>
      </p:sp>
      <p:sp>
        <p:nvSpPr>
          <p:cNvPr id="211" name="Google Shape;211;g351a6fab52c_2_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51a6fab52c_2_1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51a6fab52c_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Lars</a:t>
            </a:r>
            <a:endParaRPr/>
          </a:p>
        </p:txBody>
      </p:sp>
      <p:sp>
        <p:nvSpPr>
          <p:cNvPr id="221" name="Google Shape;221;g351a6fab52c_2_1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499839662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549983966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Lars</a:t>
            </a:r>
            <a:endParaRPr/>
          </a:p>
        </p:txBody>
      </p:sp>
      <p:sp>
        <p:nvSpPr>
          <p:cNvPr id="233" name="Google Shape;233;g35499839662_0_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49983966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549983966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Lars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51a6fab52c_2_1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51a6fab52c_2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Lars</a:t>
            </a:r>
            <a:endParaRPr/>
          </a:p>
        </p:txBody>
      </p:sp>
      <p:sp>
        <p:nvSpPr>
          <p:cNvPr id="257" name="Google Shape;257;g351a6fab52c_2_1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51a6fab52c_2_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51a6fab52c_2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2" name="Google Shape;272;g351a6fab52c_2_16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4a47f4f0f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54a47f4f0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2" name="Google Shape;282;g354a47f4f0f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/>
          <p:nvPr/>
        </p:nvSpPr>
        <p:spPr>
          <a:xfrm flipH="1" rot="10800000">
            <a:off x="5410183" y="2857501"/>
            <a:ext cx="3733819" cy="683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" name="Google Shape;71;p14"/>
          <p:cNvSpPr/>
          <p:nvPr/>
        </p:nvSpPr>
        <p:spPr>
          <a:xfrm flipH="1" rot="10800000">
            <a:off x="5410201" y="2922757"/>
            <a:ext cx="3733801" cy="144018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" name="Google Shape;72;p14"/>
          <p:cNvSpPr/>
          <p:nvPr/>
        </p:nvSpPr>
        <p:spPr>
          <a:xfrm flipH="1" rot="10800000">
            <a:off x="5410201" y="3086375"/>
            <a:ext cx="3733801" cy="6858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" name="Google Shape;73;p14"/>
          <p:cNvSpPr/>
          <p:nvPr/>
        </p:nvSpPr>
        <p:spPr>
          <a:xfrm flipH="1" rot="10800000">
            <a:off x="5410200" y="3123302"/>
            <a:ext cx="1965960" cy="13716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" name="Google Shape;74;p14"/>
          <p:cNvSpPr/>
          <p:nvPr/>
        </p:nvSpPr>
        <p:spPr>
          <a:xfrm flipH="1" rot="10800000">
            <a:off x="5410200" y="3149679"/>
            <a:ext cx="1965960" cy="6858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5410200" y="2971800"/>
            <a:ext cx="3063240" cy="2057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7376507" y="3045737"/>
            <a:ext cx="160020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1" y="2737247"/>
            <a:ext cx="9144000" cy="183128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1" y="2756646"/>
            <a:ext cx="9144001" cy="1055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" name="Google Shape;79;p14"/>
          <p:cNvSpPr/>
          <p:nvPr/>
        </p:nvSpPr>
        <p:spPr>
          <a:xfrm flipH="1" rot="10800000">
            <a:off x="6414051" y="2732318"/>
            <a:ext cx="2729950" cy="1863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0" y="0"/>
            <a:ext cx="9144000" cy="277627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" name="Google Shape;81;p14"/>
          <p:cNvSpPr txBox="1"/>
          <p:nvPr>
            <p:ph type="ctrTitle"/>
          </p:nvPr>
        </p:nvSpPr>
        <p:spPr>
          <a:xfrm>
            <a:off x="457200" y="1801416"/>
            <a:ext cx="84582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Trebuchet MS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" type="subTitle"/>
          </p:nvPr>
        </p:nvSpPr>
        <p:spPr>
          <a:xfrm>
            <a:off x="457200" y="2924953"/>
            <a:ext cx="49530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0" type="dt"/>
          </p:nvPr>
        </p:nvSpPr>
        <p:spPr>
          <a:xfrm>
            <a:off x="6705600" y="3154680"/>
            <a:ext cx="960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1" type="ftr"/>
          </p:nvPr>
        </p:nvSpPr>
        <p:spPr>
          <a:xfrm>
            <a:off x="5410200" y="3153966"/>
            <a:ext cx="1295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8320088" y="852"/>
            <a:ext cx="747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idx="10" type="dt"/>
          </p:nvPr>
        </p:nvSpPr>
        <p:spPr>
          <a:xfrm>
            <a:off x="6586536" y="459486"/>
            <a:ext cx="9572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5257800" y="459486"/>
            <a:ext cx="13258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174736" y="1704"/>
            <a:ext cx="76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7063992" y="4793742"/>
            <a:ext cx="1988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" sz="900" u="none" cap="none" strike="noStrik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900" u="none" cap="none" strike="noStrik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 type="obj">
  <p:cSld name="OBJEC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457200" y="857250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457200" y="1687068"/>
            <a:ext cx="8229600" cy="32438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2pPr>
            <a:lvl3pPr indent="-317500" lvl="2" marL="1371600" algn="l"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3pPr>
            <a:lvl4pPr indent="-317500" lvl="3" marL="1828800" algn="l"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0" type="dt"/>
          </p:nvPr>
        </p:nvSpPr>
        <p:spPr>
          <a:xfrm>
            <a:off x="6586536" y="459486"/>
            <a:ext cx="9572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1" type="ftr"/>
          </p:nvPr>
        </p:nvSpPr>
        <p:spPr>
          <a:xfrm>
            <a:off x="5257800" y="459486"/>
            <a:ext cx="13258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7063992" y="4793742"/>
            <a:ext cx="1988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schnitts-&#10;überschrift" type="secHead">
  <p:cSld name="SECTION_HEAD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722313" y="1485901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  <a:defRPr b="1" sz="320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722313" y="2525316"/>
            <a:ext cx="7772400" cy="11322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SzPts val="1600"/>
              <a:buNone/>
              <a:defRPr b="0" sz="16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317500" lvl="5" marL="27432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0" type="dt"/>
          </p:nvPr>
        </p:nvSpPr>
        <p:spPr>
          <a:xfrm>
            <a:off x="6586536" y="459486"/>
            <a:ext cx="9572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1" type="ftr"/>
          </p:nvPr>
        </p:nvSpPr>
        <p:spPr>
          <a:xfrm>
            <a:off x="5257800" y="459486"/>
            <a:ext cx="13258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8174736" y="1704"/>
            <a:ext cx="76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7063992" y="4793742"/>
            <a:ext cx="1988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 sz="9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9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ei Inhalte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457200" y="857250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457200" y="1687069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spcBef>
                <a:spcPts val="2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17500" lvl="1" marL="914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 sz="1400"/>
            </a:lvl2pPr>
            <a:lvl3pPr indent="-317500" lvl="2" marL="1371600" algn="l">
              <a:spcBef>
                <a:spcPts val="2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spcBef>
                <a:spcPts val="2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 sz="1400"/>
            </a:lvl5pPr>
            <a:lvl6pPr indent="-317500" lvl="5" marL="27432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2" type="body"/>
          </p:nvPr>
        </p:nvSpPr>
        <p:spPr>
          <a:xfrm>
            <a:off x="4648200" y="1687069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spcBef>
                <a:spcPts val="2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17500" lvl="1" marL="914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 sz="1400"/>
            </a:lvl2pPr>
            <a:lvl3pPr indent="-317500" lvl="2" marL="1371600" algn="l">
              <a:spcBef>
                <a:spcPts val="2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spcBef>
                <a:spcPts val="2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 sz="1400"/>
            </a:lvl5pPr>
            <a:lvl6pPr indent="-317500" lvl="5" marL="27432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10" type="dt"/>
          </p:nvPr>
        </p:nvSpPr>
        <p:spPr>
          <a:xfrm>
            <a:off x="6586536" y="459486"/>
            <a:ext cx="9572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1" type="ftr"/>
          </p:nvPr>
        </p:nvSpPr>
        <p:spPr>
          <a:xfrm>
            <a:off x="5257800" y="459486"/>
            <a:ext cx="13258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174736" y="1704"/>
            <a:ext cx="76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7063992" y="4793742"/>
            <a:ext cx="1988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 sz="9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9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gleich" type="twoTxTwoObj">
  <p:cSld name="TWO_OBJECTS_WITH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81000" y="857250"/>
            <a:ext cx="8382000" cy="802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  <a:defRPr b="0" i="0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81000" y="1683728"/>
            <a:ext cx="4041648" cy="342900"/>
          </a:xfrm>
          <a:prstGeom prst="rect">
            <a:avLst/>
          </a:prstGeom>
          <a:solidFill>
            <a:srgbClr val="328D96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317500" lvl="5" marL="27432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2" type="body"/>
          </p:nvPr>
        </p:nvSpPr>
        <p:spPr>
          <a:xfrm>
            <a:off x="4721226" y="1683728"/>
            <a:ext cx="4041775" cy="342900"/>
          </a:xfrm>
          <a:prstGeom prst="rect">
            <a:avLst/>
          </a:prstGeom>
          <a:solidFill>
            <a:srgbClr val="328D96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317500" lvl="5" marL="27432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3" type="body"/>
          </p:nvPr>
        </p:nvSpPr>
        <p:spPr>
          <a:xfrm>
            <a:off x="381000" y="2031389"/>
            <a:ext cx="4041648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spcBef>
                <a:spcPts val="2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23850" lvl="1" marL="914400" algn="l">
              <a:spcBef>
                <a:spcPts val="200"/>
              </a:spcBef>
              <a:spcAft>
                <a:spcPts val="0"/>
              </a:spcAft>
              <a:buSzPts val="1500"/>
              <a:buChar char="▫"/>
              <a:defRPr sz="1500"/>
            </a:lvl2pPr>
            <a:lvl3pPr indent="-317500" lvl="2" marL="1371600" algn="l">
              <a:spcBef>
                <a:spcPts val="2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17500" lvl="5" marL="27432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4" type="body"/>
          </p:nvPr>
        </p:nvSpPr>
        <p:spPr>
          <a:xfrm>
            <a:off x="4718305" y="2031389"/>
            <a:ext cx="4041775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spcBef>
                <a:spcPts val="2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23850" lvl="1" marL="914400" algn="l">
              <a:spcBef>
                <a:spcPts val="200"/>
              </a:spcBef>
              <a:spcAft>
                <a:spcPts val="0"/>
              </a:spcAft>
              <a:buSzPts val="1500"/>
              <a:buChar char="▫"/>
              <a:defRPr sz="1500"/>
            </a:lvl2pPr>
            <a:lvl3pPr indent="-317500" lvl="2" marL="1371600" algn="l">
              <a:spcBef>
                <a:spcPts val="2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17500" lvl="5" marL="27432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10" type="dt"/>
          </p:nvPr>
        </p:nvSpPr>
        <p:spPr>
          <a:xfrm>
            <a:off x="6586536" y="459486"/>
            <a:ext cx="9572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8174736" y="1704"/>
            <a:ext cx="76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20" name="Google Shape;120;p19"/>
          <p:cNvSpPr txBox="1"/>
          <p:nvPr>
            <p:ph idx="11" type="ftr"/>
          </p:nvPr>
        </p:nvSpPr>
        <p:spPr>
          <a:xfrm>
            <a:off x="5257800" y="459486"/>
            <a:ext cx="13258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/>
        </p:nvSpPr>
        <p:spPr>
          <a:xfrm>
            <a:off x="7063992" y="4793742"/>
            <a:ext cx="1988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 sz="9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9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457200" y="857250"/>
            <a:ext cx="8229600" cy="802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0"/>
          <p:cNvSpPr txBox="1"/>
          <p:nvPr>
            <p:ph idx="10" type="dt"/>
          </p:nvPr>
        </p:nvSpPr>
        <p:spPr>
          <a:xfrm>
            <a:off x="6583680" y="459486"/>
            <a:ext cx="9572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11" type="ftr"/>
          </p:nvPr>
        </p:nvSpPr>
        <p:spPr>
          <a:xfrm>
            <a:off x="5257800" y="459486"/>
            <a:ext cx="13258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2" type="sldNum"/>
          </p:nvPr>
        </p:nvSpPr>
        <p:spPr>
          <a:xfrm>
            <a:off x="8174736" y="1704"/>
            <a:ext cx="76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27" name="Google Shape;127;p20"/>
          <p:cNvSpPr txBox="1"/>
          <p:nvPr/>
        </p:nvSpPr>
        <p:spPr>
          <a:xfrm>
            <a:off x="7063992" y="4793742"/>
            <a:ext cx="1988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 sz="9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9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mit Überschrift" type="objTx">
  <p:cSld name="OBJECT_WITH_CAPTIO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5353496" y="826478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5353496" y="1508045"/>
            <a:ext cx="3383280" cy="34632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5pPr>
            <a:lvl6pPr indent="-317500" lvl="5" marL="27432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2" type="body"/>
          </p:nvPr>
        </p:nvSpPr>
        <p:spPr>
          <a:xfrm>
            <a:off x="152400" y="582215"/>
            <a:ext cx="5102352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1950" lvl="1" marL="914400" algn="l">
              <a:spcBef>
                <a:spcPts val="200"/>
              </a:spcBef>
              <a:spcAft>
                <a:spcPts val="0"/>
              </a:spcAft>
              <a:buSzPts val="2100"/>
              <a:buChar char="▫"/>
              <a:defRPr sz="2100"/>
            </a:lvl2pPr>
            <a:lvl3pPr indent="-342900" lvl="2" marL="1371600" algn="l">
              <a:spcBef>
                <a:spcPts val="2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23850" lvl="3" marL="1828800" algn="l">
              <a:spcBef>
                <a:spcPts val="2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algn="l">
              <a:spcBef>
                <a:spcPts val="200"/>
              </a:spcBef>
              <a:spcAft>
                <a:spcPts val="0"/>
              </a:spcAft>
              <a:buSzPts val="1500"/>
              <a:buChar char="▫"/>
              <a:defRPr sz="1500"/>
            </a:lvl5pPr>
            <a:lvl6pPr indent="-317500" lvl="5" marL="27432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0" type="dt"/>
          </p:nvPr>
        </p:nvSpPr>
        <p:spPr>
          <a:xfrm>
            <a:off x="6586536" y="459486"/>
            <a:ext cx="9572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>
            <p:ph idx="11" type="ftr"/>
          </p:nvPr>
        </p:nvSpPr>
        <p:spPr>
          <a:xfrm>
            <a:off x="5257800" y="459486"/>
            <a:ext cx="13258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8174736" y="1704"/>
            <a:ext cx="76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35" name="Google Shape;135;p21"/>
          <p:cNvSpPr txBox="1"/>
          <p:nvPr/>
        </p:nvSpPr>
        <p:spPr>
          <a:xfrm>
            <a:off x="7063992" y="4793742"/>
            <a:ext cx="1988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 sz="9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9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mit Überschrift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 rot="-5400000">
            <a:off x="3978222" y="2294083"/>
            <a:ext cx="3511228" cy="5868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rebuchet MS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403671" y="857250"/>
            <a:ext cx="4572000" cy="3429000"/>
          </a:xfrm>
          <a:prstGeom prst="rect">
            <a:avLst/>
          </a:prstGeom>
          <a:solidFill>
            <a:srgbClr val="EAEAEA"/>
          </a:solidFill>
          <a:ln cap="flat" cmpd="sng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l" dir="4800000" dist="31750">
              <a:srgbClr val="000000">
                <a:alpha val="24705"/>
              </a:srgbClr>
            </a:outerShdw>
          </a:effectLst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6088443" y="2455732"/>
            <a:ext cx="2590800" cy="188736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Georgia"/>
              <a:buNone/>
              <a:defRPr sz="10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SzPts val="900"/>
              <a:buFont typeface="Georgia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800"/>
              <a:buFont typeface="Georgia"/>
              <a:buNone/>
              <a:defRPr sz="8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700"/>
              <a:buFont typeface="Georgia"/>
              <a:buNone/>
              <a:defRPr sz="7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700"/>
              <a:buFont typeface="Georgia"/>
              <a:buNone/>
              <a:defRPr sz="700"/>
            </a:lvl5pPr>
            <a:lvl6pPr indent="-317500" lvl="5" marL="27432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6586536" y="459486"/>
            <a:ext cx="9572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5257800" y="459486"/>
            <a:ext cx="13258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8174736" y="1704"/>
            <a:ext cx="76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7063992" y="4793742"/>
            <a:ext cx="1988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 sz="9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9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vertikaler Text" type="vertTx">
  <p:cSld name="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457200" y="857250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 rot="5400000">
            <a:off x="2950083" y="-805815"/>
            <a:ext cx="3243834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2pPr>
            <a:lvl3pPr indent="-317500" lvl="2" marL="1371600" algn="l"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3pPr>
            <a:lvl4pPr indent="-317500" lvl="3" marL="1828800" algn="l"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0" type="dt"/>
          </p:nvPr>
        </p:nvSpPr>
        <p:spPr>
          <a:xfrm>
            <a:off x="6586536" y="459486"/>
            <a:ext cx="9572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1" type="ftr"/>
          </p:nvPr>
        </p:nvSpPr>
        <p:spPr>
          <a:xfrm>
            <a:off x="5257800" y="459486"/>
            <a:ext cx="13258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2" type="sldNum"/>
          </p:nvPr>
        </p:nvSpPr>
        <p:spPr>
          <a:xfrm>
            <a:off x="8174736" y="1704"/>
            <a:ext cx="76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50" name="Google Shape;150;p23"/>
          <p:cNvSpPr txBox="1"/>
          <p:nvPr/>
        </p:nvSpPr>
        <p:spPr>
          <a:xfrm>
            <a:off x="7063992" y="4793742"/>
            <a:ext cx="1988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 sz="9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9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kaler Titel und Text" type="vertTitleAndTx">
  <p:cSld name="VERTICAL_TITLE_AND_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 rot="5400000">
            <a:off x="5676900" y="1962150"/>
            <a:ext cx="41148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 rot="5400000">
            <a:off x="1524000" y="-209550"/>
            <a:ext cx="41148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2pPr>
            <a:lvl3pPr indent="-317500" lvl="2" marL="1371600" algn="l"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3pPr>
            <a:lvl4pPr indent="-317500" lvl="3" marL="1828800" algn="l"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algn="l">
              <a:spcBef>
                <a:spcPts val="2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0" type="dt"/>
          </p:nvPr>
        </p:nvSpPr>
        <p:spPr>
          <a:xfrm>
            <a:off x="6586536" y="459486"/>
            <a:ext cx="9572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1" type="ftr"/>
          </p:nvPr>
        </p:nvSpPr>
        <p:spPr>
          <a:xfrm>
            <a:off x="5257800" y="459486"/>
            <a:ext cx="13258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8174736" y="1704"/>
            <a:ext cx="76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57" name="Google Shape;157;p24"/>
          <p:cNvSpPr txBox="1"/>
          <p:nvPr/>
        </p:nvSpPr>
        <p:spPr>
          <a:xfrm>
            <a:off x="7063992" y="4793742"/>
            <a:ext cx="1988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 sz="9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9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" y="275114"/>
            <a:ext cx="9144000" cy="6330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0" y="-1"/>
            <a:ext cx="9144000" cy="23299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1" y="231208"/>
            <a:ext cx="9144001" cy="68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" name="Google Shape;54;p13"/>
          <p:cNvSpPr/>
          <p:nvPr/>
        </p:nvSpPr>
        <p:spPr>
          <a:xfrm flipH="1" rot="10800000">
            <a:off x="5410183" y="270185"/>
            <a:ext cx="3733819" cy="683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13"/>
          <p:cNvSpPr/>
          <p:nvPr/>
        </p:nvSpPr>
        <p:spPr>
          <a:xfrm flipH="1" rot="10800000">
            <a:off x="5410201" y="330085"/>
            <a:ext cx="3733801" cy="135026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5407339" y="373128"/>
            <a:ext cx="3063240" cy="2057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7373646" y="441707"/>
            <a:ext cx="160020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9084966" y="-1501"/>
            <a:ext cx="57626" cy="466344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9044481" y="-1501"/>
            <a:ext cx="27432" cy="466344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9025428" y="-1501"/>
            <a:ext cx="9144" cy="466344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8975423" y="-1501"/>
            <a:ext cx="27432" cy="466344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8915677" y="285"/>
            <a:ext cx="54864" cy="43891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8873475" y="285"/>
            <a:ext cx="9144" cy="438912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" name="Google Shape;64;p13"/>
          <p:cNvSpPr txBox="1"/>
          <p:nvPr>
            <p:ph type="title"/>
          </p:nvPr>
        </p:nvSpPr>
        <p:spPr>
          <a:xfrm>
            <a:off x="457200" y="857250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None/>
              <a:defRPr b="0" i="0" sz="3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457200" y="1687068"/>
            <a:ext cx="8229600" cy="32438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Georgia"/>
              <a:buChar char="•"/>
              <a:defRPr b="0" i="0" sz="21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55600" lvl="1" marL="914400" marR="0" rtl="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Char char="▫"/>
              <a:defRPr b="0" i="0" sz="20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429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33655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●"/>
              <a:defRPr b="0" i="0" sz="17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32385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▫"/>
              <a:defRPr b="0" i="0" sz="15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175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▫"/>
              <a:defRPr b="0" i="0" sz="14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048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Georgia"/>
              <a:buChar char="▫"/>
              <a:defRPr b="0" i="0" sz="12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29845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Georgia"/>
              <a:buChar char="◦"/>
              <a:defRPr b="0" i="0" sz="11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29845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Georgia"/>
              <a:buChar char="◦"/>
              <a:defRPr b="0" i="0" sz="11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0" type="dt"/>
          </p:nvPr>
        </p:nvSpPr>
        <p:spPr>
          <a:xfrm>
            <a:off x="6586536" y="459486"/>
            <a:ext cx="9572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6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1" type="ftr"/>
          </p:nvPr>
        </p:nvSpPr>
        <p:spPr>
          <a:xfrm>
            <a:off x="5257800" y="459486"/>
            <a:ext cx="13258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6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8174736" y="1704"/>
            <a:ext cx="76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cmp.org/learn/descriptionkey/617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videotovoice.com/" TargetMode="External"/><Relationship Id="rId4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igitalcollection.zhaw.ch/bitstream/11475/22825/3/2021_Jekat_Audiodeskription_verst%C3%A4ndlich_erkl%C3%A4rt_ZHAW.pdf" TargetMode="External"/><Relationship Id="rId4" Type="http://schemas.openxmlformats.org/officeDocument/2006/relationships/hyperlink" Target="https://www.google.com/url?sa=t&amp;source=web&amp;rct=j&amp;opi=89978449&amp;url=https://repository.uantwerpen.be/docstore/d:irua:10715&amp;ved=2ahUKEwis3pGlgv6MAxUyRPEDHXHjLKYQFnoECBgQAQ&amp;usg=AOvVaw2-yI2JqcaDAh2Rfrxy_0cZ" TargetMode="External"/><Relationship Id="rId5" Type="http://schemas.openxmlformats.org/officeDocument/2006/relationships/hyperlink" Target="https://www.google.com/url?sa=t&amp;source=web&amp;rct=j&amp;opi=89978449&amp;url=https://barrierefreiheit.dh.nrw/fileadmin/user_upload/barrierefreiheit/Publikationen/Leitfaden_zur_Erstellung_von_Audiodeskription_im_Hochschulkontext.pdf&amp;ved=2ahUKEwjo35PTgv6MAxXPSfEDHYIBDhYQFnoECB4QAQ&amp;usg=AOvVaw3rMMP6GZnK5E7q28pNJ0yc" TargetMode="External"/><Relationship Id="rId6" Type="http://schemas.openxmlformats.org/officeDocument/2006/relationships/hyperlink" Target="https://adp.acb.org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mm.verdi.de/aktuelle-meldungen/audiodeskription-die-ki-liest-vor-100773" TargetMode="External"/><Relationship Id="rId4" Type="http://schemas.openxmlformats.org/officeDocument/2006/relationships/hyperlink" Target="https://app.videotovoice.com/docs/de/frazier/einleitung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/>
        </p:nvSpPr>
        <p:spPr>
          <a:xfrm>
            <a:off x="305527" y="303498"/>
            <a:ext cx="4266473" cy="19315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Audiodeskription</a:t>
            </a:r>
            <a:endParaRPr sz="1100"/>
          </a:p>
          <a:p>
            <a:pPr indent="-22225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Verdana"/>
              <a:buChar char="-"/>
            </a:pPr>
            <a:r>
              <a:rPr b="0" i="0" lang="de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Technische Grundlagen der Audiodeskription –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06.05. / 07.05.2025</a:t>
            </a:r>
            <a:endParaRPr b="0" i="0" sz="14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Projektgruppe</a:t>
            </a:r>
            <a:endParaRPr b="0" i="0" sz="14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3" name="Google Shape;163;p25"/>
          <p:cNvSpPr txBox="1"/>
          <p:nvPr>
            <p:ph idx="1" type="subTitle"/>
          </p:nvPr>
        </p:nvSpPr>
        <p:spPr>
          <a:xfrm>
            <a:off x="251520" y="3219822"/>
            <a:ext cx="3456384" cy="162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5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 sz="1100" u="sng">
                <a:latin typeface="Verdana"/>
                <a:ea typeface="Verdana"/>
                <a:cs typeface="Verdana"/>
                <a:sym typeface="Verdana"/>
              </a:rPr>
              <a:t>Referenten</a:t>
            </a:r>
            <a:endParaRPr/>
          </a:p>
          <a:p>
            <a:pPr indent="0" lvl="0" marL="508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lang="de" sz="1100">
                <a:latin typeface="Verdana"/>
                <a:ea typeface="Verdana"/>
                <a:cs typeface="Verdana"/>
                <a:sym typeface="Verdana"/>
              </a:rPr>
              <a:t>Klaja, Adrianna</a:t>
            </a:r>
            <a:endParaRPr/>
          </a:p>
          <a:p>
            <a:pPr indent="0" lvl="0" marL="508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lang="de" sz="1100">
                <a:latin typeface="Verdana"/>
                <a:ea typeface="Verdana"/>
                <a:cs typeface="Verdana"/>
                <a:sym typeface="Verdana"/>
              </a:rPr>
              <a:t>Brebeck, Lars</a:t>
            </a:r>
            <a:endParaRPr/>
          </a:p>
        </p:txBody>
      </p:sp>
      <p:pic>
        <p:nvPicPr>
          <p:cNvPr id="164" name="Google Shape;16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0162" y="4266322"/>
            <a:ext cx="2881384" cy="706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in Bild, das Screenshot, Raum, Kreis, Licht enthält." id="165" name="Google Shape;16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0"/>
            <a:ext cx="4572000" cy="27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5"/>
          <p:cNvSpPr/>
          <p:nvPr/>
        </p:nvSpPr>
        <p:spPr>
          <a:xfrm>
            <a:off x="4572000" y="0"/>
            <a:ext cx="4572000" cy="2764800"/>
          </a:xfrm>
          <a:prstGeom prst="rect">
            <a:avLst/>
          </a:prstGeom>
          <a:solidFill>
            <a:srgbClr val="424456">
              <a:alpha val="29803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idx="12" type="sldNum"/>
          </p:nvPr>
        </p:nvSpPr>
        <p:spPr>
          <a:xfrm>
            <a:off x="6624228" y="0"/>
            <a:ext cx="1221324" cy="27602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Verdana"/>
                <a:ea typeface="Verdana"/>
                <a:cs typeface="Verdana"/>
                <a:sym typeface="Verdana"/>
              </a:rPr>
              <a:t>Seite </a:t>
            </a:r>
            <a:fld id="{00000000-1234-1234-1234-123412341234}" type="slidenum">
              <a:rPr lang="de"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305526" y="1398850"/>
            <a:ext cx="5892000" cy="27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de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1️⃣ </a:t>
            </a:r>
            <a:r>
              <a:rPr b="1" lang="de" sz="1200">
                <a:solidFill>
                  <a:schemeClr val="dk1"/>
                </a:solidFill>
              </a:rPr>
              <a:t>Prozess und Arbeitsschritte bei der Erstellung von </a:t>
            </a:r>
            <a:r>
              <a:rPr b="1" lang="de" sz="1200">
                <a:solidFill>
                  <a:schemeClr val="dk1"/>
                </a:solidFill>
              </a:rPr>
              <a:t>Audiodeskriptionen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de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2️⃣ </a:t>
            </a:r>
            <a:r>
              <a:rPr b="1" i="0" lang="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Leitfäden und Richtlinien für </a:t>
            </a:r>
            <a:r>
              <a:rPr b="1" lang="de" sz="1200">
                <a:solidFill>
                  <a:schemeClr val="dk1"/>
                </a:solidFill>
              </a:rPr>
              <a:t>Audiodeskriptionen</a:t>
            </a:r>
            <a:r>
              <a:rPr b="1" i="0" lang="de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  <a:p>
            <a:pPr indent="-6350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i="0" lang="de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3️⃣ </a:t>
            </a:r>
            <a:r>
              <a:rPr b="1" lang="de" sz="1200">
                <a:solidFill>
                  <a:schemeClr val="dk1"/>
                </a:solidFill>
              </a:rPr>
              <a:t>Tools und Techniken (klassisch und KI-gestützt)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de" sz="1300">
                <a:solidFill>
                  <a:schemeClr val="dk1"/>
                </a:solidFill>
              </a:rPr>
              <a:t>     </a:t>
            </a:r>
            <a:r>
              <a:rPr b="1" lang="de" sz="1200">
                <a:solidFill>
                  <a:schemeClr val="dk1"/>
                </a:solidFill>
              </a:rPr>
              <a:t>Fazit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73" name="Google Shape;173;p26"/>
          <p:cNvSpPr/>
          <p:nvPr/>
        </p:nvSpPr>
        <p:spPr>
          <a:xfrm>
            <a:off x="413538" y="735546"/>
            <a:ext cx="1322766" cy="270030"/>
          </a:xfrm>
          <a:prstGeom prst="homePlate">
            <a:avLst>
              <a:gd fmla="val 50000" name="adj"/>
            </a:avLst>
          </a:prstGeom>
          <a:solidFill>
            <a:srgbClr val="43808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Agenda</a:t>
            </a:r>
            <a:endParaRPr sz="1100"/>
          </a:p>
        </p:txBody>
      </p:sp>
      <p:sp>
        <p:nvSpPr>
          <p:cNvPr id="174" name="Google Shape;174;p26"/>
          <p:cNvSpPr txBox="1"/>
          <p:nvPr/>
        </p:nvSpPr>
        <p:spPr>
          <a:xfrm>
            <a:off x="281425" y="3264375"/>
            <a:ext cx="224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>
                <a:solidFill>
                  <a:schemeClr val="dk1"/>
                </a:solidFill>
              </a:rPr>
              <a:t>4️⃣</a:t>
            </a:r>
            <a:endParaRPr sz="1100"/>
          </a:p>
        </p:txBody>
      </p:sp>
      <p:sp>
        <p:nvSpPr>
          <p:cNvPr id="175" name="Google Shape;175;p26"/>
          <p:cNvSpPr txBox="1"/>
          <p:nvPr>
            <p:ph idx="12" type="sldNum"/>
          </p:nvPr>
        </p:nvSpPr>
        <p:spPr>
          <a:xfrm>
            <a:off x="8174736" y="1704"/>
            <a:ext cx="76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0" y="357504"/>
            <a:ext cx="914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de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1️⃣ </a:t>
            </a:r>
            <a:r>
              <a:rPr b="1" lang="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Prozess und Arbeitsschritte bei der Erstellung vo</a:t>
            </a:r>
            <a:r>
              <a:rPr b="1" lang="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1" lang="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Audiodeskriptionen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2" name="Google Shape;182;p27"/>
          <p:cNvGraphicFramePr/>
          <p:nvPr/>
        </p:nvGraphicFramePr>
        <p:xfrm>
          <a:off x="0" y="793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{C92AFF1B-1427-43A1-A04F-D83EB0831D8C}</a:tableStyleId>
              </a:tblPr>
              <a:tblGrid>
                <a:gridCol w="1306275"/>
                <a:gridCol w="1306275"/>
                <a:gridCol w="1306275"/>
                <a:gridCol w="1306275"/>
                <a:gridCol w="1306275"/>
                <a:gridCol w="1306275"/>
                <a:gridCol w="1306275"/>
              </a:tblGrid>
              <a:tr h="22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3" name="Google Shape;183;p27"/>
          <p:cNvSpPr txBox="1"/>
          <p:nvPr/>
        </p:nvSpPr>
        <p:spPr>
          <a:xfrm>
            <a:off x="305526" y="1221600"/>
            <a:ext cx="46470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</a:rPr>
              <a:t>Der </a:t>
            </a:r>
            <a:r>
              <a:rPr b="1" lang="de" sz="1100">
                <a:solidFill>
                  <a:schemeClr val="dk1"/>
                </a:solidFill>
              </a:rPr>
              <a:t>grundlegende Prozess der AD-Produktion</a:t>
            </a:r>
            <a:r>
              <a:rPr lang="de" sz="1100">
                <a:solidFill>
                  <a:schemeClr val="dk1"/>
                </a:solidFill>
              </a:rPr>
              <a:t> lässt sich in drei Hauptschritte unterteilen: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de" sz="1100">
                <a:solidFill>
                  <a:schemeClr val="dk1"/>
                </a:solidFill>
              </a:rPr>
              <a:t>“</a:t>
            </a:r>
            <a:r>
              <a:rPr b="1" lang="de" sz="1100">
                <a:solidFill>
                  <a:schemeClr val="dk1"/>
                </a:solidFill>
              </a:rPr>
              <a:t>1.</a:t>
            </a:r>
            <a:r>
              <a:rPr lang="de" sz="1100">
                <a:solidFill>
                  <a:schemeClr val="dk1"/>
                </a:solidFill>
              </a:rPr>
              <a:t> Die akustischen Beschreibungen werden schriftlich in Form eines Skripts erstellt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de" sz="1100">
                <a:solidFill>
                  <a:schemeClr val="dk1"/>
                </a:solidFill>
              </a:rPr>
              <a:t>2.</a:t>
            </a:r>
            <a:r>
              <a:rPr lang="de" sz="1100">
                <a:solidFill>
                  <a:schemeClr val="dk1"/>
                </a:solidFill>
              </a:rPr>
              <a:t> Anschließend wird das Skript eingesprochen - aus Text wird Ton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de" sz="1100">
                <a:solidFill>
                  <a:schemeClr val="dk1"/>
                </a:solidFill>
              </a:rPr>
              <a:t>3.</a:t>
            </a:r>
            <a:r>
              <a:rPr lang="de" sz="1100">
                <a:solidFill>
                  <a:schemeClr val="dk1"/>
                </a:solidFill>
              </a:rPr>
              <a:t> Zuletzt wird die AD in die Tonspur integriert.” (Jekat et al., 2021)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5257925" y="3987125"/>
            <a:ext cx="301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>
                <a:solidFill>
                  <a:schemeClr val="dk1"/>
                </a:solidFill>
              </a:rPr>
              <a:t>https://www.google.com/url?sa=t&amp;source=web&amp;rct=j&amp;opi=89978449&amp;url=https://www.dbsv.org/files/aktuelles/kampagnen-themen/sehbehindertentag/2017/Faltblatt-AD-ganz-einfach-barrierefrei.pdf&amp;ved=2ahUKEwiy1oH9-f2MAxV3zwIHHcEeOU8QFnoECD0QAQ&amp;usg=AOvVaw1Ynb_U34hGYbhCfHNT4hNS</a:t>
            </a:r>
            <a:endParaRPr sz="600">
              <a:solidFill>
                <a:schemeClr val="dk1"/>
              </a:solidFill>
            </a:endParaRPr>
          </a:p>
        </p:txBody>
      </p:sp>
      <p:pic>
        <p:nvPicPr>
          <p:cNvPr id="185" name="Google Shape;18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5051" y="1958312"/>
            <a:ext cx="3295650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7"/>
          <p:cNvSpPr txBox="1"/>
          <p:nvPr>
            <p:ph idx="12" type="sldNum"/>
          </p:nvPr>
        </p:nvSpPr>
        <p:spPr>
          <a:xfrm>
            <a:off x="8174736" y="1704"/>
            <a:ext cx="76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0" y="357504"/>
            <a:ext cx="914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de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1️⃣ </a:t>
            </a:r>
            <a:r>
              <a:rPr b="1" lang="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Prozess und Arbeitsschritte bei der Erstellung von Audiodeskriptionen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3" name="Google Shape;193;p28"/>
          <p:cNvGraphicFramePr/>
          <p:nvPr/>
        </p:nvGraphicFramePr>
        <p:xfrm>
          <a:off x="0" y="793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{C92AFF1B-1427-43A1-A04F-D83EB0831D8C}</a:tableStyleId>
              </a:tblPr>
              <a:tblGrid>
                <a:gridCol w="1306275"/>
                <a:gridCol w="1306275"/>
                <a:gridCol w="1306275"/>
                <a:gridCol w="1306275"/>
                <a:gridCol w="1306275"/>
                <a:gridCol w="1306275"/>
                <a:gridCol w="1306275"/>
              </a:tblGrid>
              <a:tr h="22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28"/>
          <p:cNvSpPr txBox="1"/>
          <p:nvPr/>
        </p:nvSpPr>
        <p:spPr>
          <a:xfrm>
            <a:off x="305526" y="1221600"/>
            <a:ext cx="4647000" cy="4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</a:rPr>
              <a:t>Ein </a:t>
            </a:r>
            <a:r>
              <a:rPr b="1" lang="de" sz="1100">
                <a:solidFill>
                  <a:schemeClr val="dk1"/>
                </a:solidFill>
              </a:rPr>
              <a:t>detaillierterer Blick auf die Arbeitsschritte</a:t>
            </a:r>
            <a:r>
              <a:rPr lang="de" sz="1100">
                <a:solidFill>
                  <a:schemeClr val="dk1"/>
                </a:solidFill>
              </a:rPr>
              <a:t> bei der Erstellung von Hörfilm-Manuskripten (für Film und Fernsehen) und des gesamten Produktionsprozesses: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1100">
                <a:solidFill>
                  <a:schemeClr val="dk1"/>
                </a:solidFill>
              </a:rPr>
              <a:t>1.</a:t>
            </a:r>
            <a:r>
              <a:rPr lang="de" sz="1100">
                <a:solidFill>
                  <a:schemeClr val="dk1"/>
                </a:solidFill>
              </a:rPr>
              <a:t> Vorarbeiten und Auftragseingang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Beginn des Gesamtprozesses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Rahmenbedingungen abgeklärt, Material bereitgestellt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1100">
                <a:solidFill>
                  <a:schemeClr val="dk1"/>
                </a:solidFill>
              </a:rPr>
              <a:t>2.</a:t>
            </a:r>
            <a:r>
              <a:rPr lang="de" sz="1100">
                <a:solidFill>
                  <a:schemeClr val="dk1"/>
                </a:solidFill>
              </a:rPr>
              <a:t> Analyse und Sichtung des Materials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gründliche Sichtung des Films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Analyse der inhaltlichen und formalen Aspekte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1100">
                <a:solidFill>
                  <a:schemeClr val="dk1"/>
                </a:solidFill>
              </a:rPr>
              <a:t>3.</a:t>
            </a:r>
            <a:r>
              <a:rPr lang="de" sz="1100">
                <a:solidFill>
                  <a:schemeClr val="dk1"/>
                </a:solidFill>
              </a:rPr>
              <a:t> Recherche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dient dazu, die Verwendung des richtigen Vokabulars zu gewährleisten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1100">
                <a:solidFill>
                  <a:schemeClr val="dk1"/>
                </a:solidFill>
              </a:rPr>
              <a:t>4.</a:t>
            </a:r>
            <a:r>
              <a:rPr lang="de" sz="1100">
                <a:solidFill>
                  <a:schemeClr val="dk1"/>
                </a:solidFill>
              </a:rPr>
              <a:t> Planung und Skripterstellung (Der “AD-Akt”)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de" sz="1100">
                <a:solidFill>
                  <a:schemeClr val="dk1"/>
                </a:solidFill>
              </a:rPr>
              <a:t>Pre-drafting/Vorentwurf</a:t>
            </a:r>
            <a:endParaRPr sz="1100"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Vorphase des Schreibens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de" sz="1100">
                <a:solidFill>
                  <a:schemeClr val="dk1"/>
                </a:solidFill>
              </a:rPr>
              <a:t>Drafting/Entwurf</a:t>
            </a:r>
            <a:endParaRPr sz="1100"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Eigentlicher Schreibprozess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de" sz="1100">
                <a:solidFill>
                  <a:schemeClr val="dk1"/>
                </a:solidFill>
              </a:rPr>
              <a:t>Post-drafting</a:t>
            </a:r>
            <a:endParaRPr sz="1100"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Nachbearbeitung des Skripts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95" name="Google Shape;19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8901" y="1865787"/>
            <a:ext cx="3886675" cy="227342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8"/>
          <p:cNvSpPr txBox="1"/>
          <p:nvPr/>
        </p:nvSpPr>
        <p:spPr>
          <a:xfrm>
            <a:off x="5225100" y="4191900"/>
            <a:ext cx="301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>
                <a:solidFill>
                  <a:schemeClr val="dk1"/>
                </a:solidFill>
              </a:rPr>
              <a:t>Abb. Prozess der AD-Erstellung (erstellt mit Hilfe von Napkin AI)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97" name="Google Shape;197;p28"/>
          <p:cNvSpPr txBox="1"/>
          <p:nvPr>
            <p:ph idx="12" type="sldNum"/>
          </p:nvPr>
        </p:nvSpPr>
        <p:spPr>
          <a:xfrm>
            <a:off x="8174736" y="1704"/>
            <a:ext cx="76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0" y="357504"/>
            <a:ext cx="914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de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1️⃣ </a:t>
            </a:r>
            <a:r>
              <a:rPr b="1" lang="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Prozess und Arbeitsschritte bei der Erstellung von Audiodeskriptionen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4" name="Google Shape;204;p29"/>
          <p:cNvGraphicFramePr/>
          <p:nvPr/>
        </p:nvGraphicFramePr>
        <p:xfrm>
          <a:off x="0" y="793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{C92AFF1B-1427-43A1-A04F-D83EB0831D8C}</a:tableStyleId>
              </a:tblPr>
              <a:tblGrid>
                <a:gridCol w="1306275"/>
                <a:gridCol w="1306275"/>
                <a:gridCol w="1306275"/>
                <a:gridCol w="1306275"/>
                <a:gridCol w="1306275"/>
                <a:gridCol w="1306275"/>
                <a:gridCol w="1306275"/>
              </a:tblGrid>
              <a:tr h="22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p29"/>
          <p:cNvSpPr txBox="1"/>
          <p:nvPr/>
        </p:nvSpPr>
        <p:spPr>
          <a:xfrm>
            <a:off x="305526" y="1221600"/>
            <a:ext cx="4647000" cy="29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100">
                <a:solidFill>
                  <a:schemeClr val="dk1"/>
                </a:solidFill>
              </a:rPr>
              <a:t>5.</a:t>
            </a:r>
            <a:r>
              <a:rPr lang="de" sz="1100">
                <a:solidFill>
                  <a:schemeClr val="dk1"/>
                </a:solidFill>
              </a:rPr>
              <a:t> Lektorat und Redaktion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Skript wird von einer zweiten Person lektoriert und ggf. korrigiert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Feedback von blinden/sehbehinderten Personen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100">
                <a:solidFill>
                  <a:schemeClr val="dk1"/>
                </a:solidFill>
              </a:rPr>
              <a:t>6.</a:t>
            </a:r>
            <a:r>
              <a:rPr lang="de" sz="1100">
                <a:solidFill>
                  <a:schemeClr val="dk1"/>
                </a:solidFill>
              </a:rPr>
              <a:t> Erstellung der Audiodateien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a</a:t>
            </a:r>
            <a:r>
              <a:rPr lang="de" sz="1100">
                <a:solidFill>
                  <a:schemeClr val="dk1"/>
                </a:solidFill>
              </a:rPr>
              <a:t>us dem finalen Skript werden Audiodateien erstellt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100">
                <a:solidFill>
                  <a:schemeClr val="dk1"/>
                </a:solidFill>
              </a:rPr>
              <a:t>7.</a:t>
            </a:r>
            <a:r>
              <a:rPr lang="de" sz="1100">
                <a:solidFill>
                  <a:schemeClr val="dk1"/>
                </a:solidFill>
              </a:rPr>
              <a:t> Tonschnitt und -mischung (Editing)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Voicing/Narration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die </a:t>
            </a:r>
            <a:r>
              <a:rPr lang="de" sz="1100">
                <a:solidFill>
                  <a:schemeClr val="dk1"/>
                </a:solidFill>
              </a:rPr>
              <a:t>eingesprochene</a:t>
            </a:r>
            <a:r>
              <a:rPr lang="de" sz="1100">
                <a:solidFill>
                  <a:schemeClr val="dk1"/>
                </a:solidFill>
              </a:rPr>
              <a:t>n</a:t>
            </a:r>
            <a:r>
              <a:rPr lang="de" sz="1100">
                <a:solidFill>
                  <a:schemeClr val="dk1"/>
                </a:solidFill>
              </a:rPr>
              <a:t> Beschreibungen werden mit dem Originalton des Films abgemischt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100">
                <a:solidFill>
                  <a:schemeClr val="dk1"/>
                </a:solidFill>
              </a:rPr>
              <a:t>8.</a:t>
            </a:r>
            <a:r>
              <a:rPr lang="de" sz="1100">
                <a:solidFill>
                  <a:schemeClr val="dk1"/>
                </a:solidFill>
              </a:rPr>
              <a:t> Überprüfung und Bereitstellung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Abschluss des Gesamtprozesses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d</a:t>
            </a:r>
            <a:r>
              <a:rPr lang="de" sz="1100">
                <a:solidFill>
                  <a:schemeClr val="dk1"/>
                </a:solidFill>
              </a:rPr>
              <a:t>ie finale AD wird dem Endnutzer zugänglich gemacht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06" name="Google Shape;20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8901" y="1865787"/>
            <a:ext cx="3886675" cy="227342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9"/>
          <p:cNvSpPr txBox="1"/>
          <p:nvPr/>
        </p:nvSpPr>
        <p:spPr>
          <a:xfrm>
            <a:off x="5225100" y="4191900"/>
            <a:ext cx="301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>
                <a:solidFill>
                  <a:schemeClr val="dk1"/>
                </a:solidFill>
              </a:rPr>
              <a:t>Abb. Prozess der AD-Erstellung (erstellt mit Hilfe von Napkin AI)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08" name="Google Shape;208;p29"/>
          <p:cNvSpPr txBox="1"/>
          <p:nvPr>
            <p:ph idx="12" type="sldNum"/>
          </p:nvPr>
        </p:nvSpPr>
        <p:spPr>
          <a:xfrm>
            <a:off x="8174736" y="1704"/>
            <a:ext cx="76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" name="Google Shape;213;p30"/>
          <p:cNvGraphicFramePr/>
          <p:nvPr/>
        </p:nvGraphicFramePr>
        <p:xfrm>
          <a:off x="0" y="793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{C92AFF1B-1427-43A1-A04F-D83EB0831D8C}</a:tableStyleId>
              </a:tblPr>
              <a:tblGrid>
                <a:gridCol w="1306275"/>
                <a:gridCol w="1306275"/>
                <a:gridCol w="1306275"/>
                <a:gridCol w="1306275"/>
                <a:gridCol w="1306275"/>
                <a:gridCol w="1306275"/>
                <a:gridCol w="1306275"/>
              </a:tblGrid>
              <a:tr h="22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4" name="Google Shape;214;p30"/>
          <p:cNvSpPr txBox="1"/>
          <p:nvPr>
            <p:ph type="title"/>
          </p:nvPr>
        </p:nvSpPr>
        <p:spPr>
          <a:xfrm>
            <a:off x="0" y="357504"/>
            <a:ext cx="914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de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2️⃣ </a:t>
            </a:r>
            <a:r>
              <a:rPr b="1" lang="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Leitfäden und Richtlinien für Audiodeskriptionen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305526" y="1221600"/>
            <a:ext cx="4647000" cy="27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für Audiodeskriptionen existieren mehrere Leitfäden und Standards, die Stilregeln vorgeben z. B. Web Content Accessibility Guidelines 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Öffentlich-rechtliche Sender (ARD/ZDF/ORF/SRF etc.) haben ebenfalls verbindliche Mindestanforderungen formuliert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Zudem geben Praxis-Leitfäden wie der DCMP-Description-Key oder kommerzielle Styleguides weitergehende Empfehlungen (</a:t>
            </a:r>
            <a:r>
              <a:rPr lang="de" sz="1100" u="sng">
                <a:solidFill>
                  <a:schemeClr val="hlink"/>
                </a:solidFill>
                <a:hlinkClick r:id="rId3"/>
              </a:rPr>
              <a:t>https://dcmp.org/learn/descriptionkey/617</a:t>
            </a:r>
            <a:r>
              <a:rPr lang="de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ein zentrales Prinzip ist die Regel </a:t>
            </a:r>
            <a:r>
              <a:rPr b="1" lang="de" sz="1100">
                <a:solidFill>
                  <a:schemeClr val="dk1"/>
                </a:solidFill>
              </a:rPr>
              <a:t>„Beschreibe, was du siehst“ </a:t>
            </a:r>
            <a:r>
              <a:rPr lang="de" sz="1100">
                <a:solidFill>
                  <a:schemeClr val="dk1"/>
                </a:solidFill>
              </a:rPr>
              <a:t>und </a:t>
            </a:r>
            <a:r>
              <a:rPr b="1" lang="de" sz="1100">
                <a:solidFill>
                  <a:schemeClr val="dk1"/>
                </a:solidFill>
              </a:rPr>
              <a:t>„Wer/Was/Wo/Wann?”</a:t>
            </a:r>
            <a:r>
              <a:rPr lang="de" sz="1100">
                <a:solidFill>
                  <a:schemeClr val="dk1"/>
                </a:solidFill>
              </a:rPr>
              <a:t>​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 sz="1100">
                <a:solidFill>
                  <a:schemeClr val="dk1"/>
                </a:solidFill>
              </a:rPr>
              <a:t>das Vorgehen bei den Audiodeskriptionen ist aber nicht </a:t>
            </a:r>
            <a:r>
              <a:rPr lang="de" sz="1100">
                <a:solidFill>
                  <a:schemeClr val="dk1"/>
                </a:solidFill>
              </a:rPr>
              <a:t>offiziell</a:t>
            </a:r>
            <a:r>
              <a:rPr lang="de" sz="1100">
                <a:solidFill>
                  <a:schemeClr val="dk1"/>
                </a:solidFill>
              </a:rPr>
              <a:t> ‘normiert’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16" name="Google Shape;21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4926" y="1197237"/>
            <a:ext cx="3768258" cy="3793863"/>
          </a:xfrm>
          <a:prstGeom prst="rect">
            <a:avLst/>
          </a:prstGeom>
          <a:noFill/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7" name="Google Shape;217;p30"/>
          <p:cNvSpPr txBox="1"/>
          <p:nvPr>
            <p:ph idx="12" type="sldNum"/>
          </p:nvPr>
        </p:nvSpPr>
        <p:spPr>
          <a:xfrm>
            <a:off x="8174736" y="1704"/>
            <a:ext cx="76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6624228" y="0"/>
            <a:ext cx="1221324" cy="27602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Verdana"/>
                <a:ea typeface="Verdana"/>
                <a:cs typeface="Verdana"/>
                <a:sym typeface="Verdana"/>
              </a:rPr>
              <a:t>Seite </a:t>
            </a:r>
            <a:fld id="{00000000-1234-1234-1234-123412341234}" type="slidenum">
              <a:rPr lang="de">
                <a:latin typeface="Verdana"/>
                <a:ea typeface="Verdana"/>
                <a:cs typeface="Verdana"/>
                <a:sym typeface="Verdana"/>
              </a:rPr>
              <a:t>‹#›</a:t>
            </a:fld>
            <a:r>
              <a:rPr lang="de"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graphicFrame>
        <p:nvGraphicFramePr>
          <p:cNvPr id="224" name="Google Shape;224;p31"/>
          <p:cNvGraphicFramePr/>
          <p:nvPr/>
        </p:nvGraphicFramePr>
        <p:xfrm>
          <a:off x="0" y="793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{C92AFF1B-1427-43A1-A04F-D83EB0831D8C}</a:tableStyleId>
              </a:tblPr>
              <a:tblGrid>
                <a:gridCol w="1306275"/>
                <a:gridCol w="1306275"/>
                <a:gridCol w="1306275"/>
                <a:gridCol w="1306275"/>
                <a:gridCol w="1306275"/>
                <a:gridCol w="1306275"/>
                <a:gridCol w="1306275"/>
              </a:tblGrid>
              <a:tr h="22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5" name="Google Shape;225;p31"/>
          <p:cNvSpPr txBox="1"/>
          <p:nvPr>
            <p:ph type="title"/>
          </p:nvPr>
        </p:nvSpPr>
        <p:spPr>
          <a:xfrm>
            <a:off x="0" y="357504"/>
            <a:ext cx="914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de" sz="1500">
                <a:latin typeface="Arial"/>
                <a:ea typeface="Arial"/>
                <a:cs typeface="Arial"/>
                <a:sym typeface="Arial"/>
              </a:rPr>
              <a:t>3️⃣ </a:t>
            </a:r>
            <a:r>
              <a:rPr b="1" lang="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Tools und Techniken (klassisch und KI-gestützt)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400" y="2279750"/>
            <a:ext cx="6893200" cy="156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1"/>
          <p:cNvSpPr txBox="1"/>
          <p:nvPr>
            <p:ph type="title"/>
          </p:nvPr>
        </p:nvSpPr>
        <p:spPr>
          <a:xfrm>
            <a:off x="381000" y="857250"/>
            <a:ext cx="8382000" cy="80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AD-Entwicklungsprozess aus technischer Sicht</a:t>
            </a:r>
            <a:endParaRPr/>
          </a:p>
        </p:txBody>
      </p:sp>
      <p:sp>
        <p:nvSpPr>
          <p:cNvPr id="228" name="Google Shape;228;p31"/>
          <p:cNvSpPr txBox="1"/>
          <p:nvPr/>
        </p:nvSpPr>
        <p:spPr>
          <a:xfrm>
            <a:off x="1125400" y="4330525"/>
            <a:ext cx="301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>
                <a:solidFill>
                  <a:schemeClr val="dk1"/>
                </a:solidFill>
              </a:rPr>
              <a:t>Abb. Prozess der AD-Erstellung aus technischer Sicht (Eigene Darstellung)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29" name="Google Shape;229;p31"/>
          <p:cNvSpPr txBox="1"/>
          <p:nvPr>
            <p:ph idx="12" type="sldNum"/>
          </p:nvPr>
        </p:nvSpPr>
        <p:spPr>
          <a:xfrm>
            <a:off x="8174736" y="1704"/>
            <a:ext cx="76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>
            <p:ph idx="12" type="sldNum"/>
          </p:nvPr>
        </p:nvSpPr>
        <p:spPr>
          <a:xfrm>
            <a:off x="6624228" y="0"/>
            <a:ext cx="12213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Verdana"/>
                <a:ea typeface="Verdana"/>
                <a:cs typeface="Verdana"/>
                <a:sym typeface="Verdana"/>
              </a:rPr>
              <a:t>Seite </a:t>
            </a:r>
            <a:fld id="{00000000-1234-1234-1234-123412341234}" type="slidenum">
              <a:rPr lang="de">
                <a:latin typeface="Verdana"/>
                <a:ea typeface="Verdana"/>
                <a:cs typeface="Verdana"/>
                <a:sym typeface="Verdana"/>
              </a:rPr>
              <a:t>‹#›</a:t>
            </a:fld>
            <a:r>
              <a:rPr lang="de"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graphicFrame>
        <p:nvGraphicFramePr>
          <p:cNvPr id="236" name="Google Shape;236;p32"/>
          <p:cNvGraphicFramePr/>
          <p:nvPr/>
        </p:nvGraphicFramePr>
        <p:xfrm>
          <a:off x="0" y="793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{C92AFF1B-1427-43A1-A04F-D83EB0831D8C}</a:tableStyleId>
              </a:tblPr>
              <a:tblGrid>
                <a:gridCol w="1306275"/>
                <a:gridCol w="1306275"/>
                <a:gridCol w="1306275"/>
                <a:gridCol w="1306275"/>
                <a:gridCol w="1306275"/>
                <a:gridCol w="1306275"/>
                <a:gridCol w="1306275"/>
              </a:tblGrid>
              <a:tr h="22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37" name="Google Shape;237;p32"/>
          <p:cNvSpPr txBox="1"/>
          <p:nvPr>
            <p:ph type="title"/>
          </p:nvPr>
        </p:nvSpPr>
        <p:spPr>
          <a:xfrm>
            <a:off x="0" y="357504"/>
            <a:ext cx="914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de" sz="1500">
                <a:latin typeface="Arial"/>
                <a:ea typeface="Arial"/>
                <a:cs typeface="Arial"/>
                <a:sym typeface="Arial"/>
              </a:rPr>
              <a:t>3️⃣ </a:t>
            </a:r>
            <a:r>
              <a:rPr b="1" lang="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Tools und Techniken (klassisch und KI-gestützt)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305525" y="1221600"/>
            <a:ext cx="4685700" cy="3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100">
                <a:solidFill>
                  <a:schemeClr val="dk1"/>
                </a:solidFill>
              </a:rPr>
              <a:t>Softwarelösung für Unterstützung des AD-Entwicklungsprozesses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Video-To-Voice: </a:t>
            </a:r>
            <a:r>
              <a:rPr lang="de" sz="1100">
                <a:solidFill>
                  <a:schemeClr val="dk1"/>
                </a:solidFill>
              </a:rPr>
              <a:t>Frazier Audio Description Software</a:t>
            </a:r>
            <a:endParaRPr sz="1100"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de" sz="1100">
                <a:solidFill>
                  <a:schemeClr val="dk1"/>
                </a:solidFill>
              </a:rPr>
              <a:t>Live-Integration</a:t>
            </a:r>
            <a:r>
              <a:rPr lang="de" sz="1100">
                <a:solidFill>
                  <a:schemeClr val="dk1"/>
                </a:solidFill>
              </a:rPr>
              <a:t> oder </a:t>
            </a:r>
            <a:r>
              <a:rPr b="1" lang="de" sz="1100">
                <a:solidFill>
                  <a:schemeClr val="dk1"/>
                </a:solidFill>
              </a:rPr>
              <a:t>Importieren von AD-Text</a:t>
            </a:r>
            <a:r>
              <a:rPr lang="de" sz="1100">
                <a:solidFill>
                  <a:schemeClr val="dk1"/>
                </a:solidFill>
              </a:rPr>
              <a:t> in laufende Videos 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de" sz="1100">
                <a:solidFill>
                  <a:schemeClr val="dk1"/>
                </a:solidFill>
              </a:rPr>
              <a:t>Text-To-Speech</a:t>
            </a:r>
            <a:r>
              <a:rPr lang="de" sz="1100">
                <a:solidFill>
                  <a:schemeClr val="dk1"/>
                </a:solidFill>
              </a:rPr>
              <a:t>-Funktionalität (Unterstützung durch bspw. Services von </a:t>
            </a:r>
            <a:r>
              <a:rPr b="1" lang="de" sz="1100">
                <a:solidFill>
                  <a:schemeClr val="dk1"/>
                </a:solidFill>
              </a:rPr>
              <a:t>AWS</a:t>
            </a:r>
            <a:r>
              <a:rPr lang="de" sz="1100">
                <a:solidFill>
                  <a:schemeClr val="dk1"/>
                </a:solidFill>
              </a:rPr>
              <a:t>, </a:t>
            </a:r>
            <a:r>
              <a:rPr b="1" lang="de" sz="1100">
                <a:solidFill>
                  <a:schemeClr val="dk1"/>
                </a:solidFill>
              </a:rPr>
              <a:t>Google Cloud</a:t>
            </a:r>
            <a:r>
              <a:rPr lang="de" sz="1100">
                <a:solidFill>
                  <a:schemeClr val="dk1"/>
                </a:solidFill>
              </a:rPr>
              <a:t> &amp;  </a:t>
            </a:r>
            <a:r>
              <a:rPr b="1" lang="de" sz="1100">
                <a:solidFill>
                  <a:schemeClr val="dk1"/>
                </a:solidFill>
              </a:rPr>
              <a:t>ElevenLabs</a:t>
            </a:r>
            <a:r>
              <a:rPr lang="de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de" sz="1100">
                <a:solidFill>
                  <a:schemeClr val="dk1"/>
                </a:solidFill>
              </a:rPr>
              <a:t>Übersetzung </a:t>
            </a:r>
            <a:r>
              <a:rPr lang="de" sz="1100">
                <a:solidFill>
                  <a:schemeClr val="dk1"/>
                </a:solidFill>
              </a:rPr>
              <a:t>von AD-Texten (Unterstützung durch </a:t>
            </a:r>
            <a:r>
              <a:rPr b="1" lang="de" sz="1100">
                <a:solidFill>
                  <a:schemeClr val="dk1"/>
                </a:solidFill>
              </a:rPr>
              <a:t>DeepL</a:t>
            </a:r>
            <a:r>
              <a:rPr lang="de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Export in </a:t>
            </a:r>
            <a:r>
              <a:rPr b="1" lang="de" sz="1100">
                <a:solidFill>
                  <a:schemeClr val="dk1"/>
                </a:solidFill>
              </a:rPr>
              <a:t>verschiedene Ziel-Dateiformate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de" sz="1100">
                <a:solidFill>
                  <a:schemeClr val="dk1"/>
                </a:solidFill>
              </a:rPr>
              <a:t>AD-Text mit Zeitangaben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de" sz="1100">
                <a:solidFill>
                  <a:schemeClr val="dk1"/>
                </a:solidFill>
              </a:rPr>
              <a:t>AD-Audio mit Pausen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de" sz="1100">
                <a:solidFill>
                  <a:schemeClr val="dk1"/>
                </a:solidFill>
              </a:rPr>
              <a:t>ZIP mit einzelnen AD-Audios (ohne Pausen)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de" sz="1100">
                <a:solidFill>
                  <a:schemeClr val="dk1"/>
                </a:solidFill>
              </a:rPr>
              <a:t>Video inklusive AD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wird ua. von ZDF, NDR und </a:t>
            </a:r>
            <a:r>
              <a:rPr b="1" lang="de" sz="1100">
                <a:solidFill>
                  <a:schemeClr val="dk1"/>
                </a:solidFill>
              </a:rPr>
              <a:t>MDR </a:t>
            </a:r>
            <a:r>
              <a:rPr lang="de" sz="1100">
                <a:solidFill>
                  <a:schemeClr val="dk1"/>
                </a:solidFill>
              </a:rPr>
              <a:t>eingesetzt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Videobeispiel: </a:t>
            </a:r>
            <a:r>
              <a:rPr lang="de" sz="1100" u="sng">
                <a:solidFill>
                  <a:schemeClr val="hlink"/>
                </a:solidFill>
                <a:hlinkClick r:id="rId3"/>
              </a:rPr>
              <a:t>Frazier Audio Description Software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39" name="Google Shape;23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1225" y="1338362"/>
            <a:ext cx="3847977" cy="240498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2"/>
          <p:cNvSpPr txBox="1"/>
          <p:nvPr/>
        </p:nvSpPr>
        <p:spPr>
          <a:xfrm>
            <a:off x="4991225" y="3879250"/>
            <a:ext cx="301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>
                <a:solidFill>
                  <a:schemeClr val="dk1"/>
                </a:solidFill>
              </a:rPr>
              <a:t>Abb. Frazier Audi Description Software (https://cdn.chimpify.net/5c459effa8587203198b4568/2025/02/frazier-home.webp)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41" name="Google Shape;241;p32"/>
          <p:cNvSpPr txBox="1"/>
          <p:nvPr>
            <p:ph idx="12" type="sldNum"/>
          </p:nvPr>
        </p:nvSpPr>
        <p:spPr>
          <a:xfrm>
            <a:off x="8174736" y="1704"/>
            <a:ext cx="76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/>
          <p:nvPr>
            <p:ph type="title"/>
          </p:nvPr>
        </p:nvSpPr>
        <p:spPr>
          <a:xfrm>
            <a:off x="381000" y="857250"/>
            <a:ext cx="8382000" cy="80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Einsatz von KI im AD-Entwicklungsprozess</a:t>
            </a:r>
            <a:endParaRPr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381000" y="1683728"/>
            <a:ext cx="4041600" cy="342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de"/>
              <a:t>Das klappt bereits</a:t>
            </a:r>
            <a:endParaRPr/>
          </a:p>
        </p:txBody>
      </p:sp>
      <p:sp>
        <p:nvSpPr>
          <p:cNvPr id="248" name="Google Shape;248;p33"/>
          <p:cNvSpPr txBox="1"/>
          <p:nvPr>
            <p:ph idx="2" type="body"/>
          </p:nvPr>
        </p:nvSpPr>
        <p:spPr>
          <a:xfrm>
            <a:off x="4721226" y="1683728"/>
            <a:ext cx="4041900" cy="342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de"/>
              <a:t>Daran wird gearbeitet</a:t>
            </a:r>
            <a:endParaRPr/>
          </a:p>
        </p:txBody>
      </p:sp>
      <p:sp>
        <p:nvSpPr>
          <p:cNvPr id="249" name="Google Shape;249;p33"/>
          <p:cNvSpPr txBox="1"/>
          <p:nvPr>
            <p:ph idx="3" type="body"/>
          </p:nvPr>
        </p:nvSpPr>
        <p:spPr>
          <a:xfrm>
            <a:off x="381000" y="2031389"/>
            <a:ext cx="4041600" cy="2914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500"/>
              <a:buChar char="●"/>
            </a:pPr>
            <a:r>
              <a:rPr lang="de"/>
              <a:t>Rechtschreibprüfung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de"/>
              <a:t>Prüfung der Rechtschreibung in AD-Text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/>
              <a:t>Sprachübersetzung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de"/>
              <a:t>Übersetzung von AD-Text in verschiedene Sprachen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/>
              <a:t>Neural Voices &amp; Individual Voices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/>
              <a:t>Einsatz von synthetischen, natürlich klingenden Stimmen und Stimm-Klonen zur Generierung von Audio aus AD-Text</a:t>
            </a:r>
            <a:endParaRPr/>
          </a:p>
        </p:txBody>
      </p:sp>
      <p:sp>
        <p:nvSpPr>
          <p:cNvPr id="250" name="Google Shape;250;p33"/>
          <p:cNvSpPr txBox="1"/>
          <p:nvPr>
            <p:ph idx="4" type="body"/>
          </p:nvPr>
        </p:nvSpPr>
        <p:spPr>
          <a:xfrm>
            <a:off x="4718305" y="2031389"/>
            <a:ext cx="4041900" cy="2914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spcBef>
                <a:spcPts val="200"/>
              </a:spcBef>
              <a:spcAft>
                <a:spcPts val="0"/>
              </a:spcAft>
              <a:buSzPts val="1500"/>
              <a:buChar char="●"/>
            </a:pPr>
            <a:r>
              <a:rPr lang="de"/>
              <a:t>Automatisierte Videosequenz-Beschreibung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de"/>
              <a:t>zu wenig öffentlich zugängliche Trainingsdaten (AD-Text für Videomaterial)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de"/>
              <a:t>Identifikation von relevanten Videosequenzen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de">
                <a:solidFill>
                  <a:schemeClr val="accent2"/>
                </a:solidFill>
              </a:rPr>
              <a:t>Identifikation von handlungsrelevanten Inhalten in Video-Sequenzen</a:t>
            </a:r>
            <a:endParaRPr/>
          </a:p>
        </p:txBody>
      </p:sp>
      <p:sp>
        <p:nvSpPr>
          <p:cNvPr id="251" name="Google Shape;251;p33"/>
          <p:cNvSpPr txBox="1"/>
          <p:nvPr>
            <p:ph type="title"/>
          </p:nvPr>
        </p:nvSpPr>
        <p:spPr>
          <a:xfrm>
            <a:off x="0" y="357504"/>
            <a:ext cx="914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de" sz="1500">
                <a:latin typeface="Arial"/>
                <a:ea typeface="Arial"/>
                <a:cs typeface="Arial"/>
                <a:sym typeface="Arial"/>
              </a:rPr>
              <a:t>3️⃣ </a:t>
            </a:r>
            <a:r>
              <a:rPr b="1" lang="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Tools und Techniken (klassisch und KI-gestützt)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2" name="Google Shape;252;p33"/>
          <p:cNvGraphicFramePr/>
          <p:nvPr/>
        </p:nvGraphicFramePr>
        <p:xfrm>
          <a:off x="0" y="793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{C92AFF1B-1427-43A1-A04F-D83EB0831D8C}</a:tableStyleId>
              </a:tblPr>
              <a:tblGrid>
                <a:gridCol w="1306275"/>
                <a:gridCol w="1306275"/>
                <a:gridCol w="1306275"/>
                <a:gridCol w="1306275"/>
                <a:gridCol w="1306275"/>
                <a:gridCol w="1306275"/>
                <a:gridCol w="1306275"/>
              </a:tblGrid>
              <a:tr h="22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53" name="Google Shape;253;p33"/>
          <p:cNvSpPr txBox="1"/>
          <p:nvPr>
            <p:ph idx="12" type="sldNum"/>
          </p:nvPr>
        </p:nvSpPr>
        <p:spPr>
          <a:xfrm>
            <a:off x="8174736" y="1704"/>
            <a:ext cx="76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 txBox="1"/>
          <p:nvPr>
            <p:ph idx="12" type="sldNum"/>
          </p:nvPr>
        </p:nvSpPr>
        <p:spPr>
          <a:xfrm>
            <a:off x="8174736" y="1704"/>
            <a:ext cx="76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260" name="Google Shape;260;p34"/>
          <p:cNvGraphicFramePr/>
          <p:nvPr/>
        </p:nvGraphicFramePr>
        <p:xfrm>
          <a:off x="0" y="793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{C92AFF1B-1427-43A1-A04F-D83EB0831D8C}</a:tableStyleId>
              </a:tblPr>
              <a:tblGrid>
                <a:gridCol w="1306275"/>
                <a:gridCol w="1306275"/>
                <a:gridCol w="1306275"/>
                <a:gridCol w="1306275"/>
                <a:gridCol w="1306275"/>
                <a:gridCol w="1306275"/>
                <a:gridCol w="1306275"/>
              </a:tblGrid>
              <a:tr h="22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61" name="Google Shape;261;p34"/>
          <p:cNvSpPr txBox="1"/>
          <p:nvPr/>
        </p:nvSpPr>
        <p:spPr>
          <a:xfrm>
            <a:off x="0" y="357504"/>
            <a:ext cx="9143999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i="0" lang="de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4️⃣ </a:t>
            </a:r>
            <a:r>
              <a:rPr b="1" lang="de" sz="1500">
                <a:solidFill>
                  <a:schemeClr val="dk1"/>
                </a:solidFill>
              </a:rPr>
              <a:t>Fazit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305526" y="1221600"/>
            <a:ext cx="4647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100">
                <a:solidFill>
                  <a:schemeClr val="dk1"/>
                </a:solidFill>
              </a:rPr>
              <a:t>Technische Grundlagen des AD-Prozesses</a:t>
            </a:r>
            <a:endParaRPr sz="1100"/>
          </a:p>
        </p:txBody>
      </p:sp>
      <p:sp>
        <p:nvSpPr>
          <p:cNvPr id="263" name="Google Shape;263;p34"/>
          <p:cNvSpPr txBox="1"/>
          <p:nvPr>
            <p:ph idx="1" type="body"/>
          </p:nvPr>
        </p:nvSpPr>
        <p:spPr>
          <a:xfrm>
            <a:off x="381000" y="1683728"/>
            <a:ext cx="4041600" cy="342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de"/>
              <a:t>AD-Entwicklungsprozess Gesamt</a:t>
            </a:r>
            <a:endParaRPr/>
          </a:p>
        </p:txBody>
      </p:sp>
      <p:sp>
        <p:nvSpPr>
          <p:cNvPr id="264" name="Google Shape;264;p34"/>
          <p:cNvSpPr txBox="1"/>
          <p:nvPr>
            <p:ph idx="2" type="body"/>
          </p:nvPr>
        </p:nvSpPr>
        <p:spPr>
          <a:xfrm>
            <a:off x="4721226" y="1683728"/>
            <a:ext cx="4041900" cy="342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de"/>
              <a:t>AD-Entwicklungsprozess Technologisch</a:t>
            </a:r>
            <a:endParaRPr/>
          </a:p>
        </p:txBody>
      </p:sp>
      <p:pic>
        <p:nvPicPr>
          <p:cNvPr id="265" name="Google Shape;26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251" y="2266987"/>
            <a:ext cx="3886675" cy="227342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4"/>
          <p:cNvSpPr txBox="1"/>
          <p:nvPr/>
        </p:nvSpPr>
        <p:spPr>
          <a:xfrm>
            <a:off x="591450" y="4593100"/>
            <a:ext cx="301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>
                <a:solidFill>
                  <a:schemeClr val="dk1"/>
                </a:solidFill>
              </a:rPr>
              <a:t>Abb. Prozess der AD-Erstellung (erstellt mit Hilfe von Napkin AI)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67" name="Google Shape;267;p34"/>
          <p:cNvSpPr txBox="1"/>
          <p:nvPr/>
        </p:nvSpPr>
        <p:spPr>
          <a:xfrm>
            <a:off x="4721225" y="4593100"/>
            <a:ext cx="301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>
                <a:solidFill>
                  <a:schemeClr val="dk1"/>
                </a:solidFill>
              </a:rPr>
              <a:t>Abb. Prozess der AD-Erstellung aus technischer Sicht (Eigene Darstellung)</a:t>
            </a:r>
            <a:endParaRPr sz="600">
              <a:solidFill>
                <a:schemeClr val="dk1"/>
              </a:solidFill>
            </a:endParaRPr>
          </a:p>
        </p:txBody>
      </p:sp>
      <p:pic>
        <p:nvPicPr>
          <p:cNvPr id="268" name="Google Shape;26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1225" y="2538275"/>
            <a:ext cx="4041899" cy="1730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5"/>
          <p:cNvSpPr txBox="1"/>
          <p:nvPr>
            <p:ph idx="12" type="sldNum"/>
          </p:nvPr>
        </p:nvSpPr>
        <p:spPr>
          <a:xfrm>
            <a:off x="6624228" y="0"/>
            <a:ext cx="1221324" cy="27602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Verdana"/>
                <a:ea typeface="Verdana"/>
                <a:cs typeface="Verdana"/>
                <a:sym typeface="Verdana"/>
              </a:rPr>
              <a:t>Seite </a:t>
            </a:r>
            <a:fld id="{00000000-1234-1234-1234-123412341234}" type="slidenum">
              <a:rPr lang="de">
                <a:latin typeface="Verdana"/>
                <a:ea typeface="Verdana"/>
                <a:cs typeface="Verdana"/>
                <a:sym typeface="Verdana"/>
              </a:rPr>
              <a:t>‹#›</a:t>
            </a:fld>
            <a:r>
              <a:rPr lang="de"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graphicFrame>
        <p:nvGraphicFramePr>
          <p:cNvPr id="275" name="Google Shape;275;p35"/>
          <p:cNvGraphicFramePr/>
          <p:nvPr/>
        </p:nvGraphicFramePr>
        <p:xfrm>
          <a:off x="0" y="793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{C92AFF1B-1427-43A1-A04F-D83EB0831D8C}</a:tableStyleId>
              </a:tblPr>
              <a:tblGrid>
                <a:gridCol w="1306275"/>
                <a:gridCol w="1306275"/>
                <a:gridCol w="1306275"/>
                <a:gridCol w="1306275"/>
                <a:gridCol w="1306275"/>
                <a:gridCol w="1306275"/>
                <a:gridCol w="1306275"/>
              </a:tblGrid>
              <a:tr h="22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76" name="Google Shape;276;p35"/>
          <p:cNvSpPr txBox="1"/>
          <p:nvPr/>
        </p:nvSpPr>
        <p:spPr>
          <a:xfrm>
            <a:off x="0" y="357504"/>
            <a:ext cx="9143999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de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5️⃣ </a:t>
            </a:r>
            <a:r>
              <a:rPr b="1" lang="de" sz="1500">
                <a:solidFill>
                  <a:schemeClr val="dk1"/>
                </a:solidFill>
              </a:rPr>
              <a:t>Quellenverzeichnis</a:t>
            </a:r>
            <a:endParaRPr b="1"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5"/>
          <p:cNvSpPr txBox="1"/>
          <p:nvPr/>
        </p:nvSpPr>
        <p:spPr>
          <a:xfrm>
            <a:off x="305525" y="1221600"/>
            <a:ext cx="8554200" cy="3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</a:rPr>
              <a:t>Jekat, S. J., Puhl, S., Carrer, L., Hagmann, D., Lintner, A., Torres, S. L., &amp; Parli, M. (2021). Audiodeskription verständlich erklärt: Einblicke in Theorie und Praxis. ZHAW Zürcher Hochschule für Angewandte Wissenschaften, IUED Institut für Übersetzen und Dolmetschen. </a:t>
            </a:r>
            <a:r>
              <a:rPr lang="de" sz="8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https://digitalcollection.zhaw.ch/bitstream/11475/22825/3/2021_Jekat_Audiodeskription_verst%C3%A4ndlich_erkl%C3%A4rt_ZHAW.pdf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</a:rPr>
              <a:t>Jankowska, A. (2021). Audio describing films: A first look into the description process. The Journal of Specialised Translation, (36a), 26-52. </a:t>
            </a:r>
            <a:r>
              <a:rPr lang="de" sz="8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https://www.google.com/url?sa=t&amp;source=web&amp;rct=j&amp;opi=89978449&amp;url=https://repository.uantwerpen.be/docstore/d:irua:10715&amp;ved=2ahUKEwis3pGlgv6MAxUyRPEDHXHjLKYQFnoECBgQAQ&amp;usg=AOvVaw2-yI2JqcaDAh2Rfrxy_0cZ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</a:rPr>
              <a:t>Lüttmann, F., Wilkens, L., Kurth, F., &amp; Haage, A. (2024). Leitfaden zur Erstellung von Audiodeskription im Hochschulkontext. degree 5.0; Kompetenzzentrum digitale Barrierefreiheit.nrw. 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oogle.com/url?sa=t&amp;source=web&amp;rct=j&amp;opi=89978449&amp;url=https://barrierefreiheit.dh.nrw/fileadmin/user_upload/barrierefreiheit/Publikationen/Leitfaden_zur_Erstellung_von_Audiodeskription_im_Hochschulkontext.pdf&amp;ved=2ahUKEwjo35PTgv6MAxXPSfEDHYIBDhYQFnoECB4QAQ&amp;usg=AOvVaw3rMMP6GZnK5E7q28pNJ0yc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</a:rPr>
              <a:t>Bender, C., Bühner, L., &amp; Drolshagen, B. (Hrsg.). (2023). Teilhabe an Hochschulbildung: Grundsätze, Konzepte und Praxisbeispiele für die Beratung und Begleitung von Studierenden mit Behinderung. Waxmann Verlag. https://www.google.com/url?sa=t&amp;source=web&amp;rct=j&amp;opi=89978449&amp;url=https://dobus.zhb.tu-dortmund.de/storages/dobus-zhb/r/Dokumente/DoBuS-Sammelband_2024/Bender-Janhsen_Hochschuldidaktische_Angebote_Teilhabe-an-Hochschulbildung.pdf&amp;ved=2ahUKEwj4koGbg_6MAxX5SfEDHQGTLzgQFnoECBQQAQ&amp;usg=AOvVaw3FejrSX1NKFOgaRzRDIKSo</a:t>
            </a:r>
            <a:endParaRPr sz="1200">
              <a:solidFill>
                <a:srgbClr val="424242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24242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</a:rPr>
              <a:t>Brack, F. (2024). Audio Description – Where and How? (Version 9). Audio Description Project, American Council of the Blind. </a:t>
            </a:r>
            <a:r>
              <a:rPr lang="de" sz="8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https://adp.acb.org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24242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</a:rPr>
              <a:t>Nagel, M., &amp; Reich, A. (2023). Audiodeskription im Theater: Ein Leitfaden des Zentrums für Kulturelle Teilhabe Baden-Württemberg. Zentrum für Kulturelle Teilhabe Baden-Württemberg. https://kulturelle-teilhabe-bw.de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24242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24242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24242"/>
              </a:solidFill>
              <a:highlight>
                <a:srgbClr val="FAFAFA"/>
              </a:highlight>
            </a:endParaRPr>
          </a:p>
        </p:txBody>
      </p:sp>
      <p:sp>
        <p:nvSpPr>
          <p:cNvPr id="278" name="Google Shape;278;p35"/>
          <p:cNvSpPr txBox="1"/>
          <p:nvPr>
            <p:ph idx="12" type="sldNum"/>
          </p:nvPr>
        </p:nvSpPr>
        <p:spPr>
          <a:xfrm>
            <a:off x="8174736" y="1704"/>
            <a:ext cx="76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>
            <p:ph idx="12" type="sldNum"/>
          </p:nvPr>
        </p:nvSpPr>
        <p:spPr>
          <a:xfrm>
            <a:off x="6624228" y="0"/>
            <a:ext cx="12213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Verdana"/>
                <a:ea typeface="Verdana"/>
                <a:cs typeface="Verdana"/>
                <a:sym typeface="Verdana"/>
              </a:rPr>
              <a:t>Seite </a:t>
            </a:r>
            <a:fld id="{00000000-1234-1234-1234-123412341234}" type="slidenum">
              <a:rPr lang="de">
                <a:latin typeface="Verdana"/>
                <a:ea typeface="Verdana"/>
                <a:cs typeface="Verdana"/>
                <a:sym typeface="Verdana"/>
              </a:rPr>
              <a:t>‹#›</a:t>
            </a:fld>
            <a:r>
              <a:rPr lang="de"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graphicFrame>
        <p:nvGraphicFramePr>
          <p:cNvPr id="285" name="Google Shape;285;p36"/>
          <p:cNvGraphicFramePr/>
          <p:nvPr/>
        </p:nvGraphicFramePr>
        <p:xfrm>
          <a:off x="0" y="793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{C92AFF1B-1427-43A1-A04F-D83EB0831D8C}</a:tableStyleId>
              </a:tblPr>
              <a:tblGrid>
                <a:gridCol w="1306275"/>
                <a:gridCol w="1306275"/>
                <a:gridCol w="1306275"/>
                <a:gridCol w="1306275"/>
                <a:gridCol w="1306275"/>
                <a:gridCol w="1306275"/>
                <a:gridCol w="1306275"/>
              </a:tblGrid>
              <a:tr h="22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6" name="Google Shape;286;p36"/>
          <p:cNvSpPr txBox="1"/>
          <p:nvPr/>
        </p:nvSpPr>
        <p:spPr>
          <a:xfrm>
            <a:off x="0" y="357504"/>
            <a:ext cx="914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de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5️⃣ </a:t>
            </a:r>
            <a:r>
              <a:rPr b="1" lang="de" sz="1500">
                <a:solidFill>
                  <a:schemeClr val="dk1"/>
                </a:solidFill>
              </a:rPr>
              <a:t>Quellenverzeichnis</a:t>
            </a:r>
            <a:endParaRPr b="1"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6"/>
          <p:cNvSpPr txBox="1"/>
          <p:nvPr/>
        </p:nvSpPr>
        <p:spPr>
          <a:xfrm>
            <a:off x="305525" y="1221600"/>
            <a:ext cx="8554200" cy="3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</a:rPr>
              <a:t>BIK für Alle. (2025). Audiodeskription, BIK für Alle.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</a:rPr>
              <a:t>https://bik-fuer-alle.de/audiodeskription.html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</a:rPr>
              <a:t>ElevenLabs</a:t>
            </a:r>
            <a:r>
              <a:rPr lang="de" sz="800">
                <a:solidFill>
                  <a:schemeClr val="dk1"/>
                </a:solidFill>
              </a:rPr>
              <a:t>. (2025). Kostenloser Text To Speech &amp; KI-Sprachgenerator, ElevenLabs.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</a:rPr>
              <a:t>https://elevenlabs.io/de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</a:rPr>
              <a:t>LanguageTooler</a:t>
            </a:r>
            <a:r>
              <a:rPr lang="de" sz="800">
                <a:solidFill>
                  <a:schemeClr val="dk1"/>
                </a:solidFill>
              </a:rPr>
              <a:t>. (2025). Kostenlose KI-Rechtschreibprüfung - LanguageTool, LanguageTooler.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</a:rPr>
              <a:t>https://languagetool.org/de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800">
                <a:solidFill>
                  <a:schemeClr val="dk1"/>
                </a:solidFill>
              </a:rPr>
              <a:t>Medienwerkstatt Franken. (2024). Warum es noch keine KI für Audiodeskriptionen gibt: Ein Gespräch mit zwei Wissenschaftlern, Medienwerkstatt Franken.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800">
                <a:solidFill>
                  <a:schemeClr val="dk1"/>
                </a:solidFill>
              </a:rPr>
              <a:t>https://www.medienwerkstatt-franken.de/2024/08/13/warum-es-noch-keine-ki-fuer-audiodeskriptionen-gibt/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</a:rPr>
              <a:t>Medienwerkstatt Franken. (2024). Wie viel KI steckt schon in aktuellen Audiodeskription-Tools? Tools für die Audiodeskription im Test, Medienwerkstatt Franken.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</a:rPr>
              <a:t>https://www.medienwerkstatt-franken.de/2024/06/11/audiodeskription-im-test/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800">
                <a:solidFill>
                  <a:schemeClr val="dk1"/>
                </a:solidFill>
              </a:rPr>
              <a:t>Nünning, V (2024). Audiodeskription: Die KI liest vor, ver.di – Vereinte Dienstleistungsgewerkschaft Bundesvorstand, Fachbereich 8 (Medien, Kunst, Industrie); „M Menschen – Machen – Medien“.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https://mmm.verdi.de/aktuelle-meldungen/audiodeskription-die-ki-liest-vor-100773</a:t>
            </a:r>
            <a:endParaRPr sz="1200">
              <a:solidFill>
                <a:srgbClr val="424242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24242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</a:rPr>
              <a:t>VIDEO TO VOICE. (2025). Frazier Audio Description Software, VIDEO TO VOICE.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</a:rPr>
              <a:t>https://www.videotovoice.com/</a:t>
            </a:r>
            <a:endParaRPr sz="800">
              <a:solidFill>
                <a:schemeClr val="dk1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24242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800">
                <a:solidFill>
                  <a:schemeClr val="dk1"/>
                </a:solidFill>
              </a:rPr>
              <a:t>VIDEO TO VOICE. (2023). Frazier Dokumentation, VIDEO TO VOICE.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https://app.videotovoice.com/docs/de/frazier/einleitung.html</a:t>
            </a:r>
            <a:endParaRPr sz="1200">
              <a:solidFill>
                <a:srgbClr val="424242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24242"/>
              </a:solidFill>
              <a:highlight>
                <a:srgbClr val="FAFAFA"/>
              </a:highlight>
            </a:endParaRPr>
          </a:p>
        </p:txBody>
      </p:sp>
      <p:sp>
        <p:nvSpPr>
          <p:cNvPr id="288" name="Google Shape;288;p36"/>
          <p:cNvSpPr txBox="1"/>
          <p:nvPr>
            <p:ph idx="12" type="sldNum"/>
          </p:nvPr>
        </p:nvSpPr>
        <p:spPr>
          <a:xfrm>
            <a:off x="8174736" y="1704"/>
            <a:ext cx="76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hea">
  <a:themeElements>
    <a:clrScheme name="Rhea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