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17"/>
  </p:notesMasterIdLst>
  <p:sldIdLst>
    <p:sldId id="256" r:id="rId2"/>
    <p:sldId id="287" r:id="rId3"/>
    <p:sldId id="266" r:id="rId4"/>
    <p:sldId id="288" r:id="rId5"/>
    <p:sldId id="289" r:id="rId6"/>
    <p:sldId id="298" r:id="rId7"/>
    <p:sldId id="296" r:id="rId8"/>
    <p:sldId id="297" r:id="rId9"/>
    <p:sldId id="275" r:id="rId10"/>
    <p:sldId id="292" r:id="rId11"/>
    <p:sldId id="293" r:id="rId12"/>
    <p:sldId id="271" r:id="rId13"/>
    <p:sldId id="294" r:id="rId14"/>
    <p:sldId id="295" r:id="rId15"/>
    <p:sldId id="28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0A7E251F-EBED-DA4E-9843-99381250EF2E}">
          <p14:sldIdLst>
            <p14:sldId id="256"/>
            <p14:sldId id="287"/>
          </p14:sldIdLst>
        </p14:section>
        <p14:section name="Grundlagen der Audiodeskription" id="{E86BE977-5BA3-A844-AFEC-D55C8E46B0E3}">
          <p14:sldIdLst>
            <p14:sldId id="266"/>
            <p14:sldId id="288"/>
            <p14:sldId id="289"/>
          </p14:sldIdLst>
        </p14:section>
        <p14:section name="Vorgehen zum Erstellen einer Audiodeskription" id="{6400A7C3-05CB-074B-9FC7-4AAA4227148A}">
          <p14:sldIdLst>
            <p14:sldId id="298"/>
            <p14:sldId id="296"/>
            <p14:sldId id="297"/>
          </p14:sldIdLst>
        </p14:section>
        <p14:section name="Rechtliche und ethische Überlegungen" id="{75804F09-4372-7844-B9C9-966F09852536}">
          <p14:sldIdLst>
            <p14:sldId id="275"/>
            <p14:sldId id="292"/>
            <p14:sldId id="293"/>
          </p14:sldIdLst>
        </p14:section>
        <p14:section name="Anwendung und Praxis" id="{B959390A-9939-C747-A791-FAAC845DDC22}">
          <p14:sldIdLst>
            <p14:sldId id="271"/>
            <p14:sldId id="294"/>
            <p14:sldId id="295"/>
          </p14:sldIdLst>
        </p14:section>
        <p14:section name="Diskussion" id="{6EB01E4A-9F14-AD4B-BB39-4538F732A8AA}">
          <p14:sldIdLst>
            <p14:sldId id="28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8086"/>
    <a:srgbClr val="FFC101"/>
    <a:srgbClr val="F6DC40"/>
    <a:srgbClr val="424456"/>
    <a:srgbClr val="438086"/>
    <a:srgbClr val="488A88"/>
    <a:srgbClr val="FFFF4F"/>
    <a:srgbClr val="C3E74F"/>
    <a:srgbClr val="72AF2F"/>
    <a:srgbClr val="5A8B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D1A167-CAFE-3440-A6E9-925FB1CFA176}" v="1572" dt="2025-05-03T13:03:17.812"/>
    <p1510:client id="{BD6485C8-7C35-778B-6951-989524908325}" v="1113" dt="2025-05-03T12:28:51.383"/>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37" autoAdjust="0"/>
    <p:restoredTop sz="71332" autoAdjust="0"/>
  </p:normalViewPr>
  <p:slideViewPr>
    <p:cSldViewPr>
      <p:cViewPr>
        <p:scale>
          <a:sx n="160" d="100"/>
          <a:sy n="160" d="100"/>
        </p:scale>
        <p:origin x="504" y="10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60EE5F-3591-4966-B77F-E5BDCB6756DE}" type="doc">
      <dgm:prSet loTypeId="urn:microsoft.com/office/officeart/2005/8/layout/cycle6" loCatId="cycle" qsTypeId="urn:microsoft.com/office/officeart/2005/8/quickstyle/3d1" qsCatId="3D" csTypeId="urn:microsoft.com/office/officeart/2005/8/colors/accent2_3" csCatId="accent2" phldr="1"/>
      <dgm:spPr/>
      <dgm:t>
        <a:bodyPr/>
        <a:lstStyle/>
        <a:p>
          <a:endParaRPr lang="en-US"/>
        </a:p>
      </dgm:t>
    </dgm:pt>
    <dgm:pt modelId="{3E14F266-3314-4B9E-B56E-A6F839F59862}">
      <dgm:prSet phldr="0"/>
      <dgm:spPr/>
      <dgm:t>
        <a:bodyPr/>
        <a:lstStyle/>
        <a:p>
          <a:pPr algn="l"/>
          <a:r>
            <a:rPr lang="de-DE" b="1">
              <a:latin typeface="Arial"/>
              <a:cs typeface="Arial"/>
            </a:rPr>
            <a:t>Barrierefreiheit</a:t>
          </a:r>
          <a:endParaRPr lang="en-US">
            <a:latin typeface="Arial"/>
            <a:cs typeface="Arial"/>
          </a:endParaRPr>
        </a:p>
      </dgm:t>
    </dgm:pt>
    <dgm:pt modelId="{A21C9390-54E8-4FB8-B39A-1689E92A519B}" type="parTrans" cxnId="{13262092-5A18-AB46-86AE-E415CBC8374D}">
      <dgm:prSet/>
      <dgm:spPr/>
    </dgm:pt>
    <dgm:pt modelId="{724A5A84-AC4D-4ED3-878C-629FE1811A51}" type="sibTrans" cxnId="{13262092-5A18-AB46-86AE-E415CBC8374D}">
      <dgm:prSet/>
      <dgm:spPr/>
    </dgm:pt>
    <dgm:pt modelId="{02FEBC8B-3D6C-4149-B16B-9583F9048E24}">
      <dgm:prSet phldr="0"/>
      <dgm:spPr/>
      <dgm:t>
        <a:bodyPr/>
        <a:lstStyle/>
        <a:p>
          <a:pPr algn="l"/>
          <a:r>
            <a:rPr lang="de-DE" b="1">
              <a:latin typeface="Arial"/>
              <a:cs typeface="Arial"/>
            </a:rPr>
            <a:t>Teilhabe an kulturellen Aktivitäten</a:t>
          </a:r>
          <a:endParaRPr lang="en-US">
            <a:latin typeface="Arial"/>
            <a:cs typeface="Arial"/>
          </a:endParaRPr>
        </a:p>
      </dgm:t>
    </dgm:pt>
    <dgm:pt modelId="{EAC406D9-C826-47C7-A03A-F916E5FA08E6}" type="parTrans" cxnId="{307F60F8-4571-A941-9F5B-950494BE6E7B}">
      <dgm:prSet/>
      <dgm:spPr/>
    </dgm:pt>
    <dgm:pt modelId="{81AB16D6-68EE-4787-ACC6-28F0F357CA99}" type="sibTrans" cxnId="{307F60F8-4571-A941-9F5B-950494BE6E7B}">
      <dgm:prSet/>
      <dgm:spPr/>
    </dgm:pt>
    <dgm:pt modelId="{33A25CEB-EC9B-4EED-B586-3A748AF06356}">
      <dgm:prSet phldr="0"/>
      <dgm:spPr/>
      <dgm:t>
        <a:bodyPr/>
        <a:lstStyle/>
        <a:p>
          <a:pPr algn="l"/>
          <a:r>
            <a:rPr lang="de-DE" b="1">
              <a:latin typeface="Arial"/>
              <a:cs typeface="Arial"/>
            </a:rPr>
            <a:t>Inklusive Gesellschaft</a:t>
          </a:r>
          <a:endParaRPr lang="en-US"/>
        </a:p>
      </dgm:t>
    </dgm:pt>
    <dgm:pt modelId="{C9B07FBB-8524-4AF1-BEB8-3DF066752AC6}" type="parTrans" cxnId="{EC64668F-2186-0C49-A694-5169FCEEE482}">
      <dgm:prSet/>
      <dgm:spPr/>
    </dgm:pt>
    <dgm:pt modelId="{0410BEAC-36E3-48C6-A6A2-7D95852FDD66}" type="sibTrans" cxnId="{EC64668F-2186-0C49-A694-5169FCEEE482}">
      <dgm:prSet/>
      <dgm:spPr/>
    </dgm:pt>
    <dgm:pt modelId="{F39D4EF4-DDFD-4F81-B62F-0A3F5FFB26B4}" type="pres">
      <dgm:prSet presAssocID="{7560EE5F-3591-4966-B77F-E5BDCB6756DE}" presName="cycle" presStyleCnt="0">
        <dgm:presLayoutVars>
          <dgm:dir/>
          <dgm:resizeHandles val="exact"/>
        </dgm:presLayoutVars>
      </dgm:prSet>
      <dgm:spPr/>
    </dgm:pt>
    <dgm:pt modelId="{B39C2642-A9D1-489B-8851-DFD2092A82A1}" type="pres">
      <dgm:prSet presAssocID="{3E14F266-3314-4B9E-B56E-A6F839F59862}" presName="node" presStyleLbl="node1" presStyleIdx="0" presStyleCnt="3">
        <dgm:presLayoutVars>
          <dgm:bulletEnabled val="1"/>
        </dgm:presLayoutVars>
      </dgm:prSet>
      <dgm:spPr/>
    </dgm:pt>
    <dgm:pt modelId="{5CE07AE9-0E8D-4CC3-9B7E-30B15DAB2CD3}" type="pres">
      <dgm:prSet presAssocID="{3E14F266-3314-4B9E-B56E-A6F839F59862}" presName="spNode" presStyleCnt="0"/>
      <dgm:spPr/>
    </dgm:pt>
    <dgm:pt modelId="{8BAF219F-723B-44AF-B310-C758740AB4A1}" type="pres">
      <dgm:prSet presAssocID="{724A5A84-AC4D-4ED3-878C-629FE1811A51}" presName="sibTrans" presStyleLbl="sibTrans1D1" presStyleIdx="0" presStyleCnt="3"/>
      <dgm:spPr/>
    </dgm:pt>
    <dgm:pt modelId="{5F6E2E86-96DC-4052-889D-0A5CF6D9A643}" type="pres">
      <dgm:prSet presAssocID="{02FEBC8B-3D6C-4149-B16B-9583F9048E24}" presName="node" presStyleLbl="node1" presStyleIdx="1" presStyleCnt="3">
        <dgm:presLayoutVars>
          <dgm:bulletEnabled val="1"/>
        </dgm:presLayoutVars>
      </dgm:prSet>
      <dgm:spPr/>
    </dgm:pt>
    <dgm:pt modelId="{BFD6EE07-CCC7-4DAF-8EE6-A6C67AF09375}" type="pres">
      <dgm:prSet presAssocID="{02FEBC8B-3D6C-4149-B16B-9583F9048E24}" presName="spNode" presStyleCnt="0"/>
      <dgm:spPr/>
    </dgm:pt>
    <dgm:pt modelId="{B884D85D-EBE9-4B0D-898A-E0DDFFA3A903}" type="pres">
      <dgm:prSet presAssocID="{81AB16D6-68EE-4787-ACC6-28F0F357CA99}" presName="sibTrans" presStyleLbl="sibTrans1D1" presStyleIdx="1" presStyleCnt="3"/>
      <dgm:spPr/>
    </dgm:pt>
    <dgm:pt modelId="{C153D31E-AFB8-4C7C-B378-CEE20E7391CB}" type="pres">
      <dgm:prSet presAssocID="{33A25CEB-EC9B-4EED-B586-3A748AF06356}" presName="node" presStyleLbl="node1" presStyleIdx="2" presStyleCnt="3">
        <dgm:presLayoutVars>
          <dgm:bulletEnabled val="1"/>
        </dgm:presLayoutVars>
      </dgm:prSet>
      <dgm:spPr/>
    </dgm:pt>
    <dgm:pt modelId="{31DF7547-84F2-4A01-897E-1CF9D2DC3B82}" type="pres">
      <dgm:prSet presAssocID="{33A25CEB-EC9B-4EED-B586-3A748AF06356}" presName="spNode" presStyleCnt="0"/>
      <dgm:spPr/>
    </dgm:pt>
    <dgm:pt modelId="{07E3ADDE-7B6C-44A0-B10A-5B6E359AAE71}" type="pres">
      <dgm:prSet presAssocID="{0410BEAC-36E3-48C6-A6A2-7D95852FDD66}" presName="sibTrans" presStyleLbl="sibTrans1D1" presStyleIdx="2" presStyleCnt="3"/>
      <dgm:spPr/>
    </dgm:pt>
  </dgm:ptLst>
  <dgm:cxnLst>
    <dgm:cxn modelId="{7585FC15-E14D-4323-959E-C79404CECA6E}" type="presOf" srcId="{7560EE5F-3591-4966-B77F-E5BDCB6756DE}" destId="{F39D4EF4-DDFD-4F81-B62F-0A3F5FFB26B4}" srcOrd="0" destOrd="0" presId="urn:microsoft.com/office/officeart/2005/8/layout/cycle6"/>
    <dgm:cxn modelId="{E6C98C1E-EA54-3745-B0AA-9005783C69DC}" type="presOf" srcId="{3E14F266-3314-4B9E-B56E-A6F839F59862}" destId="{B39C2642-A9D1-489B-8851-DFD2092A82A1}" srcOrd="0" destOrd="0" presId="urn:microsoft.com/office/officeart/2005/8/layout/cycle6"/>
    <dgm:cxn modelId="{26BE6139-97DD-0D48-82FD-9ECE114362B2}" type="presOf" srcId="{0410BEAC-36E3-48C6-A6A2-7D95852FDD66}" destId="{07E3ADDE-7B6C-44A0-B10A-5B6E359AAE71}" srcOrd="0" destOrd="0" presId="urn:microsoft.com/office/officeart/2005/8/layout/cycle6"/>
    <dgm:cxn modelId="{77F83F40-3D0A-AF43-8574-E0B8477F9DB7}" type="presOf" srcId="{33A25CEB-EC9B-4EED-B586-3A748AF06356}" destId="{C153D31E-AFB8-4C7C-B378-CEE20E7391CB}" srcOrd="0" destOrd="0" presId="urn:microsoft.com/office/officeart/2005/8/layout/cycle6"/>
    <dgm:cxn modelId="{1BB4DF42-A423-6246-A0D1-A0AD0E2B4155}" type="presOf" srcId="{02FEBC8B-3D6C-4149-B16B-9583F9048E24}" destId="{5F6E2E86-96DC-4052-889D-0A5CF6D9A643}" srcOrd="0" destOrd="0" presId="urn:microsoft.com/office/officeart/2005/8/layout/cycle6"/>
    <dgm:cxn modelId="{9B5D0043-6448-4A4E-8481-20733D01ABD0}" type="presOf" srcId="{81AB16D6-68EE-4787-ACC6-28F0F357CA99}" destId="{B884D85D-EBE9-4B0D-898A-E0DDFFA3A903}" srcOrd="0" destOrd="0" presId="urn:microsoft.com/office/officeart/2005/8/layout/cycle6"/>
    <dgm:cxn modelId="{EC64668F-2186-0C49-A694-5169FCEEE482}" srcId="{7560EE5F-3591-4966-B77F-E5BDCB6756DE}" destId="{33A25CEB-EC9B-4EED-B586-3A748AF06356}" srcOrd="2" destOrd="0" parTransId="{C9B07FBB-8524-4AF1-BEB8-3DF066752AC6}" sibTransId="{0410BEAC-36E3-48C6-A6A2-7D95852FDD66}"/>
    <dgm:cxn modelId="{13262092-5A18-AB46-86AE-E415CBC8374D}" srcId="{7560EE5F-3591-4966-B77F-E5BDCB6756DE}" destId="{3E14F266-3314-4B9E-B56E-A6F839F59862}" srcOrd="0" destOrd="0" parTransId="{A21C9390-54E8-4FB8-B39A-1689E92A519B}" sibTransId="{724A5A84-AC4D-4ED3-878C-629FE1811A51}"/>
    <dgm:cxn modelId="{E934039C-51C5-0C4B-BC0D-1F2E1C927D01}" type="presOf" srcId="{724A5A84-AC4D-4ED3-878C-629FE1811A51}" destId="{8BAF219F-723B-44AF-B310-C758740AB4A1}" srcOrd="0" destOrd="0" presId="urn:microsoft.com/office/officeart/2005/8/layout/cycle6"/>
    <dgm:cxn modelId="{307F60F8-4571-A941-9F5B-950494BE6E7B}" srcId="{7560EE5F-3591-4966-B77F-E5BDCB6756DE}" destId="{02FEBC8B-3D6C-4149-B16B-9583F9048E24}" srcOrd="1" destOrd="0" parTransId="{EAC406D9-C826-47C7-A03A-F916E5FA08E6}" sibTransId="{81AB16D6-68EE-4787-ACC6-28F0F357CA99}"/>
    <dgm:cxn modelId="{5AF7567D-DD8F-DF4E-947C-44A88B120FE8}" type="presParOf" srcId="{F39D4EF4-DDFD-4F81-B62F-0A3F5FFB26B4}" destId="{B39C2642-A9D1-489B-8851-DFD2092A82A1}" srcOrd="0" destOrd="0" presId="urn:microsoft.com/office/officeart/2005/8/layout/cycle6"/>
    <dgm:cxn modelId="{2B770463-9AE0-C745-869E-EACDBE385386}" type="presParOf" srcId="{F39D4EF4-DDFD-4F81-B62F-0A3F5FFB26B4}" destId="{5CE07AE9-0E8D-4CC3-9B7E-30B15DAB2CD3}" srcOrd="1" destOrd="0" presId="urn:microsoft.com/office/officeart/2005/8/layout/cycle6"/>
    <dgm:cxn modelId="{BCC82EC0-5B26-AA4E-A006-3CA999774FE6}" type="presParOf" srcId="{F39D4EF4-DDFD-4F81-B62F-0A3F5FFB26B4}" destId="{8BAF219F-723B-44AF-B310-C758740AB4A1}" srcOrd="2" destOrd="0" presId="urn:microsoft.com/office/officeart/2005/8/layout/cycle6"/>
    <dgm:cxn modelId="{58275252-0616-F644-857E-2CD8C4772D4C}" type="presParOf" srcId="{F39D4EF4-DDFD-4F81-B62F-0A3F5FFB26B4}" destId="{5F6E2E86-96DC-4052-889D-0A5CF6D9A643}" srcOrd="3" destOrd="0" presId="urn:microsoft.com/office/officeart/2005/8/layout/cycle6"/>
    <dgm:cxn modelId="{5E2E0567-B0AD-EE48-AF07-CA0D63DB328D}" type="presParOf" srcId="{F39D4EF4-DDFD-4F81-B62F-0A3F5FFB26B4}" destId="{BFD6EE07-CCC7-4DAF-8EE6-A6C67AF09375}" srcOrd="4" destOrd="0" presId="urn:microsoft.com/office/officeart/2005/8/layout/cycle6"/>
    <dgm:cxn modelId="{FCCCAB0D-2B68-4845-9456-1E7CCDE7E7B8}" type="presParOf" srcId="{F39D4EF4-DDFD-4F81-B62F-0A3F5FFB26B4}" destId="{B884D85D-EBE9-4B0D-898A-E0DDFFA3A903}" srcOrd="5" destOrd="0" presId="urn:microsoft.com/office/officeart/2005/8/layout/cycle6"/>
    <dgm:cxn modelId="{9046AFFD-8828-F04B-B1FD-C4D4D2B734C6}" type="presParOf" srcId="{F39D4EF4-DDFD-4F81-B62F-0A3F5FFB26B4}" destId="{C153D31E-AFB8-4C7C-B378-CEE20E7391CB}" srcOrd="6" destOrd="0" presId="urn:microsoft.com/office/officeart/2005/8/layout/cycle6"/>
    <dgm:cxn modelId="{CFA6EF83-CD84-1C42-9168-16048AD06754}" type="presParOf" srcId="{F39D4EF4-DDFD-4F81-B62F-0A3F5FFB26B4}" destId="{31DF7547-84F2-4A01-897E-1CF9D2DC3B82}" srcOrd="7" destOrd="0" presId="urn:microsoft.com/office/officeart/2005/8/layout/cycle6"/>
    <dgm:cxn modelId="{0112C88A-C72A-9845-BC2E-C8363C1B65B2}" type="presParOf" srcId="{F39D4EF4-DDFD-4F81-B62F-0A3F5FFB26B4}" destId="{07E3ADDE-7B6C-44A0-B10A-5B6E359AAE71}" srcOrd="8" destOrd="0" presId="urn:microsoft.com/office/officeart/2005/8/layout/cycle6"/>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C91D8C-ED06-4C35-BB7D-F16A8AFBBE34}" type="doc">
      <dgm:prSet loTypeId="urn:microsoft.com/office/officeart/2005/8/layout/process1" loCatId="process" qsTypeId="urn:microsoft.com/office/officeart/2005/8/quickstyle/3d1" qsCatId="3D" csTypeId="urn:microsoft.com/office/officeart/2005/8/colors/accent2_3" csCatId="accent2" phldr="1"/>
      <dgm:spPr/>
    </dgm:pt>
    <dgm:pt modelId="{B5C19A56-4AAC-4667-A732-91292B8E59A9}">
      <dgm:prSet phldr="0"/>
      <dgm:spPr/>
      <dgm:t>
        <a:bodyPr/>
        <a:lstStyle/>
        <a:p>
          <a:pPr algn="l"/>
          <a:r>
            <a:rPr lang="de-DE" b="1">
              <a:latin typeface="Arial"/>
              <a:cs typeface="Arial"/>
            </a:rPr>
            <a:t>AD möglich und nötig?</a:t>
          </a:r>
          <a:endParaRPr lang="en-US">
            <a:latin typeface="Arial"/>
            <a:cs typeface="Arial"/>
          </a:endParaRPr>
        </a:p>
      </dgm:t>
    </dgm:pt>
    <dgm:pt modelId="{92B4A82C-A21A-4FF7-A356-AD9194FC3B31}" type="parTrans" cxnId="{3961423B-236B-48DC-8DB8-0CB8EB7D9381}">
      <dgm:prSet/>
      <dgm:spPr/>
    </dgm:pt>
    <dgm:pt modelId="{AB14E515-C8F7-44FE-A368-AFE80280583C}" type="sibTrans" cxnId="{3961423B-236B-48DC-8DB8-0CB8EB7D9381}">
      <dgm:prSet/>
      <dgm:spPr/>
      <dgm:t>
        <a:bodyPr/>
        <a:lstStyle/>
        <a:p>
          <a:endParaRPr lang="en-US"/>
        </a:p>
      </dgm:t>
    </dgm:pt>
    <dgm:pt modelId="{24A7CFA6-B65D-4419-B5B9-4896EC929C61}">
      <dgm:prSet phldr="0"/>
      <dgm:spPr/>
      <dgm:t>
        <a:bodyPr/>
        <a:lstStyle/>
        <a:p>
          <a:pPr algn="l" rtl="0"/>
          <a:r>
            <a:rPr lang="de-DE" b="1">
              <a:latin typeface="Arial"/>
              <a:cs typeface="Arial"/>
            </a:rPr>
            <a:t>Sezenen festhalten wo Beschreibung nötig ist </a:t>
          </a:r>
          <a:endParaRPr lang="en-US">
            <a:latin typeface="Arial"/>
            <a:cs typeface="Arial"/>
          </a:endParaRPr>
        </a:p>
      </dgm:t>
    </dgm:pt>
    <dgm:pt modelId="{A5069923-ABD8-4C53-AC11-2CFA503D1BBB}" type="parTrans" cxnId="{20720FED-5DB3-4109-B49B-8A856821229A}">
      <dgm:prSet/>
      <dgm:spPr/>
    </dgm:pt>
    <dgm:pt modelId="{D68D832A-C9FD-4843-9700-D2BFA16905EC}" type="sibTrans" cxnId="{20720FED-5DB3-4109-B49B-8A856821229A}">
      <dgm:prSet/>
      <dgm:spPr/>
      <dgm:t>
        <a:bodyPr/>
        <a:lstStyle/>
        <a:p>
          <a:endParaRPr lang="en-US"/>
        </a:p>
      </dgm:t>
    </dgm:pt>
    <dgm:pt modelId="{019A2375-C972-43DA-9628-54F571E24255}">
      <dgm:prSet phldr="0"/>
      <dgm:spPr/>
      <dgm:t>
        <a:bodyPr/>
        <a:lstStyle/>
        <a:p>
          <a:pPr algn="l"/>
          <a:r>
            <a:rPr lang="de-DE" b="1">
              <a:latin typeface="Arial"/>
              <a:cs typeface="Arial"/>
            </a:rPr>
            <a:t>Texte der AD schreiben</a:t>
          </a:r>
          <a:endParaRPr lang="en-US">
            <a:latin typeface="Arial"/>
            <a:cs typeface="Arial"/>
          </a:endParaRPr>
        </a:p>
      </dgm:t>
    </dgm:pt>
    <dgm:pt modelId="{A717A0A8-FE89-4167-81E6-17C510E57682}" type="parTrans" cxnId="{4E6967BD-D98A-4BB9-9F8A-0AD35643CC16}">
      <dgm:prSet/>
      <dgm:spPr/>
    </dgm:pt>
    <dgm:pt modelId="{A413591A-E012-4AC6-B004-61BE8C133295}" type="sibTrans" cxnId="{4E6967BD-D98A-4BB9-9F8A-0AD35643CC16}">
      <dgm:prSet/>
      <dgm:spPr/>
      <dgm:t>
        <a:bodyPr/>
        <a:lstStyle/>
        <a:p>
          <a:endParaRPr lang="en-US"/>
        </a:p>
      </dgm:t>
    </dgm:pt>
    <dgm:pt modelId="{B134508A-292A-4CC5-857C-9EF034E3C41D}">
      <dgm:prSet phldr="0"/>
      <dgm:spPr/>
      <dgm:t>
        <a:bodyPr/>
        <a:lstStyle/>
        <a:p>
          <a:pPr algn="l"/>
          <a:r>
            <a:rPr lang="de-DE" b="1">
              <a:latin typeface="Arial"/>
              <a:cs typeface="Arial"/>
            </a:rPr>
            <a:t>Einsprechen</a:t>
          </a:r>
          <a:endParaRPr lang="en-US">
            <a:latin typeface="Arial"/>
            <a:cs typeface="Arial"/>
          </a:endParaRPr>
        </a:p>
      </dgm:t>
    </dgm:pt>
    <dgm:pt modelId="{3EBE550A-5B2A-4EBD-A93E-C84C7D0F4002}" type="parTrans" cxnId="{6B67D558-8AC2-4636-B1D7-8A64F35814C0}">
      <dgm:prSet/>
      <dgm:spPr/>
    </dgm:pt>
    <dgm:pt modelId="{D61BA6B4-D6A6-4E41-BB9C-95FB5FC3DE6C}" type="sibTrans" cxnId="{6B67D558-8AC2-4636-B1D7-8A64F35814C0}">
      <dgm:prSet/>
      <dgm:spPr/>
      <dgm:t>
        <a:bodyPr/>
        <a:lstStyle/>
        <a:p>
          <a:endParaRPr lang="en-US"/>
        </a:p>
      </dgm:t>
    </dgm:pt>
    <dgm:pt modelId="{7289A05B-F086-4643-AB4D-40F5B6A3CAC6}">
      <dgm:prSet phldr="0"/>
      <dgm:spPr/>
      <dgm:t>
        <a:bodyPr/>
        <a:lstStyle/>
        <a:p>
          <a:pPr algn="l"/>
          <a:r>
            <a:rPr lang="de-DE" b="1">
              <a:latin typeface="Arial"/>
              <a:cs typeface="Arial"/>
            </a:rPr>
            <a:t>Synchronisieren mit Film</a:t>
          </a:r>
          <a:endParaRPr lang="en-US"/>
        </a:p>
      </dgm:t>
    </dgm:pt>
    <dgm:pt modelId="{95823CB2-480A-46E5-AFD1-A00169293991}" type="parTrans" cxnId="{232D4F7C-46B2-4BB3-9A14-CAB2D0163FBB}">
      <dgm:prSet/>
      <dgm:spPr/>
    </dgm:pt>
    <dgm:pt modelId="{9FAF2AC8-6C86-4613-B416-6BDD42C46770}" type="sibTrans" cxnId="{232D4F7C-46B2-4BB3-9A14-CAB2D0163FBB}">
      <dgm:prSet/>
      <dgm:spPr/>
    </dgm:pt>
    <dgm:pt modelId="{77AF442C-8D9C-4FF5-A32C-584880FCF4EA}" type="pres">
      <dgm:prSet presAssocID="{4EC91D8C-ED06-4C35-BB7D-F16A8AFBBE34}" presName="Name0" presStyleCnt="0">
        <dgm:presLayoutVars>
          <dgm:dir/>
          <dgm:resizeHandles val="exact"/>
        </dgm:presLayoutVars>
      </dgm:prSet>
      <dgm:spPr/>
    </dgm:pt>
    <dgm:pt modelId="{27969D9B-D5F7-4B4C-87E9-E156746C54D6}" type="pres">
      <dgm:prSet presAssocID="{B5C19A56-4AAC-4667-A732-91292B8E59A9}" presName="node" presStyleLbl="node1" presStyleIdx="0" presStyleCnt="5">
        <dgm:presLayoutVars>
          <dgm:bulletEnabled val="1"/>
        </dgm:presLayoutVars>
      </dgm:prSet>
      <dgm:spPr/>
    </dgm:pt>
    <dgm:pt modelId="{B835D8FC-451A-4185-9BDB-44D98BEC38C3}" type="pres">
      <dgm:prSet presAssocID="{AB14E515-C8F7-44FE-A368-AFE80280583C}" presName="sibTrans" presStyleLbl="sibTrans2D1" presStyleIdx="0" presStyleCnt="4"/>
      <dgm:spPr/>
    </dgm:pt>
    <dgm:pt modelId="{D302A3B3-7EBC-40E3-B464-4F561D15824E}" type="pres">
      <dgm:prSet presAssocID="{AB14E515-C8F7-44FE-A368-AFE80280583C}" presName="connectorText" presStyleLbl="sibTrans2D1" presStyleIdx="0" presStyleCnt="4"/>
      <dgm:spPr/>
    </dgm:pt>
    <dgm:pt modelId="{40665D9E-AB49-437B-962A-2A988249DC66}" type="pres">
      <dgm:prSet presAssocID="{24A7CFA6-B65D-4419-B5B9-4896EC929C61}" presName="node" presStyleLbl="node1" presStyleIdx="1" presStyleCnt="5">
        <dgm:presLayoutVars>
          <dgm:bulletEnabled val="1"/>
        </dgm:presLayoutVars>
      </dgm:prSet>
      <dgm:spPr/>
    </dgm:pt>
    <dgm:pt modelId="{367DC30D-36F8-43FC-B4CF-911D477D3925}" type="pres">
      <dgm:prSet presAssocID="{D68D832A-C9FD-4843-9700-D2BFA16905EC}" presName="sibTrans" presStyleLbl="sibTrans2D1" presStyleIdx="1" presStyleCnt="4"/>
      <dgm:spPr/>
    </dgm:pt>
    <dgm:pt modelId="{00AAAF39-67CB-457D-8B6D-F1E97A09158F}" type="pres">
      <dgm:prSet presAssocID="{D68D832A-C9FD-4843-9700-D2BFA16905EC}" presName="connectorText" presStyleLbl="sibTrans2D1" presStyleIdx="1" presStyleCnt="4"/>
      <dgm:spPr/>
    </dgm:pt>
    <dgm:pt modelId="{68CE3A84-4078-418E-853C-9E1C45400BF1}" type="pres">
      <dgm:prSet presAssocID="{019A2375-C972-43DA-9628-54F571E24255}" presName="node" presStyleLbl="node1" presStyleIdx="2" presStyleCnt="5">
        <dgm:presLayoutVars>
          <dgm:bulletEnabled val="1"/>
        </dgm:presLayoutVars>
      </dgm:prSet>
      <dgm:spPr/>
    </dgm:pt>
    <dgm:pt modelId="{8EAEC6A6-1262-40A6-B7E3-925D92B3B09C}" type="pres">
      <dgm:prSet presAssocID="{A413591A-E012-4AC6-B004-61BE8C133295}" presName="sibTrans" presStyleLbl="sibTrans2D1" presStyleIdx="2" presStyleCnt="4"/>
      <dgm:spPr/>
    </dgm:pt>
    <dgm:pt modelId="{B8596D11-50D3-4267-9AF9-33EE8119AEB7}" type="pres">
      <dgm:prSet presAssocID="{A413591A-E012-4AC6-B004-61BE8C133295}" presName="connectorText" presStyleLbl="sibTrans2D1" presStyleIdx="2" presStyleCnt="4"/>
      <dgm:spPr/>
    </dgm:pt>
    <dgm:pt modelId="{F16FD566-9AE5-4327-AE41-631FF612349C}" type="pres">
      <dgm:prSet presAssocID="{B134508A-292A-4CC5-857C-9EF034E3C41D}" presName="node" presStyleLbl="node1" presStyleIdx="3" presStyleCnt="5">
        <dgm:presLayoutVars>
          <dgm:bulletEnabled val="1"/>
        </dgm:presLayoutVars>
      </dgm:prSet>
      <dgm:spPr/>
    </dgm:pt>
    <dgm:pt modelId="{5A755AFB-C136-4843-86CF-69F28859A491}" type="pres">
      <dgm:prSet presAssocID="{D61BA6B4-D6A6-4E41-BB9C-95FB5FC3DE6C}" presName="sibTrans" presStyleLbl="sibTrans2D1" presStyleIdx="3" presStyleCnt="4"/>
      <dgm:spPr/>
    </dgm:pt>
    <dgm:pt modelId="{CC966F72-87C6-483D-AF09-AD670BA429C1}" type="pres">
      <dgm:prSet presAssocID="{D61BA6B4-D6A6-4E41-BB9C-95FB5FC3DE6C}" presName="connectorText" presStyleLbl="sibTrans2D1" presStyleIdx="3" presStyleCnt="4"/>
      <dgm:spPr/>
    </dgm:pt>
    <dgm:pt modelId="{4DF26372-625D-4C9F-9A98-E57A3BF59F9D}" type="pres">
      <dgm:prSet presAssocID="{7289A05B-F086-4643-AB4D-40F5B6A3CAC6}" presName="node" presStyleLbl="node1" presStyleIdx="4" presStyleCnt="5">
        <dgm:presLayoutVars>
          <dgm:bulletEnabled val="1"/>
        </dgm:presLayoutVars>
      </dgm:prSet>
      <dgm:spPr/>
    </dgm:pt>
  </dgm:ptLst>
  <dgm:cxnLst>
    <dgm:cxn modelId="{5D888411-744F-4271-B852-047DE348576B}" type="presOf" srcId="{A413591A-E012-4AC6-B004-61BE8C133295}" destId="{8EAEC6A6-1262-40A6-B7E3-925D92B3B09C}" srcOrd="0" destOrd="0" presId="urn:microsoft.com/office/officeart/2005/8/layout/process1"/>
    <dgm:cxn modelId="{91EB8520-2218-40EE-A90B-D78786401668}" type="presOf" srcId="{4EC91D8C-ED06-4C35-BB7D-F16A8AFBBE34}" destId="{77AF442C-8D9C-4FF5-A32C-584880FCF4EA}" srcOrd="0" destOrd="0" presId="urn:microsoft.com/office/officeart/2005/8/layout/process1"/>
    <dgm:cxn modelId="{D513ED22-CF65-4398-A31F-50E124DC046E}" type="presOf" srcId="{D68D832A-C9FD-4843-9700-D2BFA16905EC}" destId="{00AAAF39-67CB-457D-8B6D-F1E97A09158F}" srcOrd="1" destOrd="0" presId="urn:microsoft.com/office/officeart/2005/8/layout/process1"/>
    <dgm:cxn modelId="{C9709232-9AFF-4053-A066-1ECCBE289651}" type="presOf" srcId="{7289A05B-F086-4643-AB4D-40F5B6A3CAC6}" destId="{4DF26372-625D-4C9F-9A98-E57A3BF59F9D}" srcOrd="0" destOrd="0" presId="urn:microsoft.com/office/officeart/2005/8/layout/process1"/>
    <dgm:cxn modelId="{3961423B-236B-48DC-8DB8-0CB8EB7D9381}" srcId="{4EC91D8C-ED06-4C35-BB7D-F16A8AFBBE34}" destId="{B5C19A56-4AAC-4667-A732-91292B8E59A9}" srcOrd="0" destOrd="0" parTransId="{92B4A82C-A21A-4FF7-A356-AD9194FC3B31}" sibTransId="{AB14E515-C8F7-44FE-A368-AFE80280583C}"/>
    <dgm:cxn modelId="{97ED9F3D-8FB4-487C-9B2B-1DC9ED462002}" type="presOf" srcId="{019A2375-C972-43DA-9628-54F571E24255}" destId="{68CE3A84-4078-418E-853C-9E1C45400BF1}" srcOrd="0" destOrd="0" presId="urn:microsoft.com/office/officeart/2005/8/layout/process1"/>
    <dgm:cxn modelId="{C144BD53-05EA-437F-AA17-DB2334A4B82A}" type="presOf" srcId="{B134508A-292A-4CC5-857C-9EF034E3C41D}" destId="{F16FD566-9AE5-4327-AE41-631FF612349C}" srcOrd="0" destOrd="0" presId="urn:microsoft.com/office/officeart/2005/8/layout/process1"/>
    <dgm:cxn modelId="{6B67D558-8AC2-4636-B1D7-8A64F35814C0}" srcId="{4EC91D8C-ED06-4C35-BB7D-F16A8AFBBE34}" destId="{B134508A-292A-4CC5-857C-9EF034E3C41D}" srcOrd="3" destOrd="0" parTransId="{3EBE550A-5B2A-4EBD-A93E-C84C7D0F4002}" sibTransId="{D61BA6B4-D6A6-4E41-BB9C-95FB5FC3DE6C}"/>
    <dgm:cxn modelId="{04B35170-299A-4189-829E-E047DFA836C9}" type="presOf" srcId="{B5C19A56-4AAC-4667-A732-91292B8E59A9}" destId="{27969D9B-D5F7-4B4C-87E9-E156746C54D6}" srcOrd="0" destOrd="0" presId="urn:microsoft.com/office/officeart/2005/8/layout/process1"/>
    <dgm:cxn modelId="{232D4F7C-46B2-4BB3-9A14-CAB2D0163FBB}" srcId="{4EC91D8C-ED06-4C35-BB7D-F16A8AFBBE34}" destId="{7289A05B-F086-4643-AB4D-40F5B6A3CAC6}" srcOrd="4" destOrd="0" parTransId="{95823CB2-480A-46E5-AFD1-A00169293991}" sibTransId="{9FAF2AC8-6C86-4613-B416-6BDD42C46770}"/>
    <dgm:cxn modelId="{6BC08A83-F10D-459E-9F0D-7EAE191428CD}" type="presOf" srcId="{A413591A-E012-4AC6-B004-61BE8C133295}" destId="{B8596D11-50D3-4267-9AF9-33EE8119AEB7}" srcOrd="1" destOrd="0" presId="urn:microsoft.com/office/officeart/2005/8/layout/process1"/>
    <dgm:cxn modelId="{5FD04587-4BE0-41F7-9AF6-ED9CAF8F5E6A}" type="presOf" srcId="{D61BA6B4-D6A6-4E41-BB9C-95FB5FC3DE6C}" destId="{5A755AFB-C136-4843-86CF-69F28859A491}" srcOrd="0" destOrd="0" presId="urn:microsoft.com/office/officeart/2005/8/layout/process1"/>
    <dgm:cxn modelId="{4E6967BD-D98A-4BB9-9F8A-0AD35643CC16}" srcId="{4EC91D8C-ED06-4C35-BB7D-F16A8AFBBE34}" destId="{019A2375-C972-43DA-9628-54F571E24255}" srcOrd="2" destOrd="0" parTransId="{A717A0A8-FE89-4167-81E6-17C510E57682}" sibTransId="{A413591A-E012-4AC6-B004-61BE8C133295}"/>
    <dgm:cxn modelId="{20C8A7D4-825E-4950-A911-7CF7FD727C57}" type="presOf" srcId="{D68D832A-C9FD-4843-9700-D2BFA16905EC}" destId="{367DC30D-36F8-43FC-B4CF-911D477D3925}" srcOrd="0" destOrd="0" presId="urn:microsoft.com/office/officeart/2005/8/layout/process1"/>
    <dgm:cxn modelId="{E92FB8D6-148F-4890-AAA1-89C0B9ACF0A6}" type="presOf" srcId="{AB14E515-C8F7-44FE-A368-AFE80280583C}" destId="{D302A3B3-7EBC-40E3-B464-4F561D15824E}" srcOrd="1" destOrd="0" presId="urn:microsoft.com/office/officeart/2005/8/layout/process1"/>
    <dgm:cxn modelId="{136CB8DE-B08E-4D26-B50C-61420F222083}" type="presOf" srcId="{AB14E515-C8F7-44FE-A368-AFE80280583C}" destId="{B835D8FC-451A-4185-9BDB-44D98BEC38C3}" srcOrd="0" destOrd="0" presId="urn:microsoft.com/office/officeart/2005/8/layout/process1"/>
    <dgm:cxn modelId="{20720FED-5DB3-4109-B49B-8A856821229A}" srcId="{4EC91D8C-ED06-4C35-BB7D-F16A8AFBBE34}" destId="{24A7CFA6-B65D-4419-B5B9-4896EC929C61}" srcOrd="1" destOrd="0" parTransId="{A5069923-ABD8-4C53-AC11-2CFA503D1BBB}" sibTransId="{D68D832A-C9FD-4843-9700-D2BFA16905EC}"/>
    <dgm:cxn modelId="{EBA403F1-C3B7-410E-8A81-41BFB8FC3346}" type="presOf" srcId="{24A7CFA6-B65D-4419-B5B9-4896EC929C61}" destId="{40665D9E-AB49-437B-962A-2A988249DC66}" srcOrd="0" destOrd="0" presId="urn:microsoft.com/office/officeart/2005/8/layout/process1"/>
    <dgm:cxn modelId="{74F694FC-7860-4C30-BAFB-DC5183708C0C}" type="presOf" srcId="{D61BA6B4-D6A6-4E41-BB9C-95FB5FC3DE6C}" destId="{CC966F72-87C6-483D-AF09-AD670BA429C1}" srcOrd="1" destOrd="0" presId="urn:microsoft.com/office/officeart/2005/8/layout/process1"/>
    <dgm:cxn modelId="{94C1245F-C385-4662-A918-42AE7271A554}" type="presParOf" srcId="{77AF442C-8D9C-4FF5-A32C-584880FCF4EA}" destId="{27969D9B-D5F7-4B4C-87E9-E156746C54D6}" srcOrd="0" destOrd="0" presId="urn:microsoft.com/office/officeart/2005/8/layout/process1"/>
    <dgm:cxn modelId="{B3E7EA95-D0F1-4B6C-953E-8CEF84F8F402}" type="presParOf" srcId="{77AF442C-8D9C-4FF5-A32C-584880FCF4EA}" destId="{B835D8FC-451A-4185-9BDB-44D98BEC38C3}" srcOrd="1" destOrd="0" presId="urn:microsoft.com/office/officeart/2005/8/layout/process1"/>
    <dgm:cxn modelId="{E3FE45AA-3074-4C12-BFC5-579C1321EFEA}" type="presParOf" srcId="{B835D8FC-451A-4185-9BDB-44D98BEC38C3}" destId="{D302A3B3-7EBC-40E3-B464-4F561D15824E}" srcOrd="0" destOrd="0" presId="urn:microsoft.com/office/officeart/2005/8/layout/process1"/>
    <dgm:cxn modelId="{86578CCF-AF51-4FE1-9D8B-FB460B88F534}" type="presParOf" srcId="{77AF442C-8D9C-4FF5-A32C-584880FCF4EA}" destId="{40665D9E-AB49-437B-962A-2A988249DC66}" srcOrd="2" destOrd="0" presId="urn:microsoft.com/office/officeart/2005/8/layout/process1"/>
    <dgm:cxn modelId="{BDBC1480-11F5-4367-8EE7-B16094ECD138}" type="presParOf" srcId="{77AF442C-8D9C-4FF5-A32C-584880FCF4EA}" destId="{367DC30D-36F8-43FC-B4CF-911D477D3925}" srcOrd="3" destOrd="0" presId="urn:microsoft.com/office/officeart/2005/8/layout/process1"/>
    <dgm:cxn modelId="{87E7011F-F144-4A49-BA0B-E38D55A20102}" type="presParOf" srcId="{367DC30D-36F8-43FC-B4CF-911D477D3925}" destId="{00AAAF39-67CB-457D-8B6D-F1E97A09158F}" srcOrd="0" destOrd="0" presId="urn:microsoft.com/office/officeart/2005/8/layout/process1"/>
    <dgm:cxn modelId="{A28CB1D0-68A3-4B6B-9A64-C1F4B2837380}" type="presParOf" srcId="{77AF442C-8D9C-4FF5-A32C-584880FCF4EA}" destId="{68CE3A84-4078-418E-853C-9E1C45400BF1}" srcOrd="4" destOrd="0" presId="urn:microsoft.com/office/officeart/2005/8/layout/process1"/>
    <dgm:cxn modelId="{FF9F8A69-6D3C-4A08-920E-7A517617148C}" type="presParOf" srcId="{77AF442C-8D9C-4FF5-A32C-584880FCF4EA}" destId="{8EAEC6A6-1262-40A6-B7E3-925D92B3B09C}" srcOrd="5" destOrd="0" presId="urn:microsoft.com/office/officeart/2005/8/layout/process1"/>
    <dgm:cxn modelId="{88EDCBC9-8BDB-464B-94E8-50634794E2BD}" type="presParOf" srcId="{8EAEC6A6-1262-40A6-B7E3-925D92B3B09C}" destId="{B8596D11-50D3-4267-9AF9-33EE8119AEB7}" srcOrd="0" destOrd="0" presId="urn:microsoft.com/office/officeart/2005/8/layout/process1"/>
    <dgm:cxn modelId="{4D868754-1356-4DE3-A1D0-FEB1CF9C84E8}" type="presParOf" srcId="{77AF442C-8D9C-4FF5-A32C-584880FCF4EA}" destId="{F16FD566-9AE5-4327-AE41-631FF612349C}" srcOrd="6" destOrd="0" presId="urn:microsoft.com/office/officeart/2005/8/layout/process1"/>
    <dgm:cxn modelId="{AB2AD01B-CD55-4A8A-9931-16DBC02B4916}" type="presParOf" srcId="{77AF442C-8D9C-4FF5-A32C-584880FCF4EA}" destId="{5A755AFB-C136-4843-86CF-69F28859A491}" srcOrd="7" destOrd="0" presId="urn:microsoft.com/office/officeart/2005/8/layout/process1"/>
    <dgm:cxn modelId="{4617E34B-9762-4F39-AC84-9E9BC4D960EF}" type="presParOf" srcId="{5A755AFB-C136-4843-86CF-69F28859A491}" destId="{CC966F72-87C6-483D-AF09-AD670BA429C1}" srcOrd="0" destOrd="0" presId="urn:microsoft.com/office/officeart/2005/8/layout/process1"/>
    <dgm:cxn modelId="{964D2C6F-F9FE-4E49-80F4-A71D486A3F65}" type="presParOf" srcId="{77AF442C-8D9C-4FF5-A32C-584880FCF4EA}" destId="{4DF26372-625D-4C9F-9A98-E57A3BF59F9D}"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529505D-F53D-4113-BB42-16CAEAA89E2F}" type="doc">
      <dgm:prSet loTypeId="urn:microsoft.com/office/officeart/2005/8/layout/default" loCatId="list" qsTypeId="urn:microsoft.com/office/officeart/2005/8/quickstyle/3d1" qsCatId="3D" csTypeId="urn:microsoft.com/office/officeart/2005/8/colors/accent2_3" csCatId="accent2" phldr="1"/>
      <dgm:spPr/>
      <dgm:t>
        <a:bodyPr/>
        <a:lstStyle/>
        <a:p>
          <a:endParaRPr lang="en-US"/>
        </a:p>
      </dgm:t>
    </dgm:pt>
    <dgm:pt modelId="{2AA5A543-1E2D-444F-B51B-2B4CB7B108C6}">
      <dgm:prSet phldrT="[Text]" phldr="0"/>
      <dgm:spPr/>
      <dgm:t>
        <a:bodyPr/>
        <a:lstStyle/>
        <a:p>
          <a:r>
            <a:rPr lang="en-US">
              <a:latin typeface="Trebuchet MS"/>
            </a:rPr>
            <a:t>Wer</a:t>
          </a:r>
          <a:endParaRPr lang="en-US"/>
        </a:p>
      </dgm:t>
    </dgm:pt>
    <dgm:pt modelId="{E313A822-2A76-4C2D-A4D3-141C0605BC5F}" type="parTrans" cxnId="{BD0123EC-A236-4384-B106-CE8F7E21B7B2}">
      <dgm:prSet/>
      <dgm:spPr/>
      <dgm:t>
        <a:bodyPr/>
        <a:lstStyle/>
        <a:p>
          <a:endParaRPr lang="en-US"/>
        </a:p>
      </dgm:t>
    </dgm:pt>
    <dgm:pt modelId="{28CC01BB-E3BE-40FD-BC66-43FC2B565EF6}" type="sibTrans" cxnId="{BD0123EC-A236-4384-B106-CE8F7E21B7B2}">
      <dgm:prSet/>
      <dgm:spPr/>
      <dgm:t>
        <a:bodyPr/>
        <a:lstStyle/>
        <a:p>
          <a:endParaRPr lang="en-US"/>
        </a:p>
      </dgm:t>
    </dgm:pt>
    <dgm:pt modelId="{A98B5117-4E3B-49B1-9D31-5F82C739E25A}">
      <dgm:prSet phldrT="[Text]" phldr="0"/>
      <dgm:spPr/>
      <dgm:t>
        <a:bodyPr/>
        <a:lstStyle/>
        <a:p>
          <a:r>
            <a:rPr lang="en-US">
              <a:latin typeface="Trebuchet MS"/>
            </a:rPr>
            <a:t>Wo</a:t>
          </a:r>
          <a:endParaRPr lang="en-US"/>
        </a:p>
      </dgm:t>
    </dgm:pt>
    <dgm:pt modelId="{449A2FED-931F-4775-859A-969A0A5F974E}" type="parTrans" cxnId="{7760AD6F-8AA2-45D8-BA20-2F2EA6104F78}">
      <dgm:prSet/>
      <dgm:spPr/>
      <dgm:t>
        <a:bodyPr/>
        <a:lstStyle/>
        <a:p>
          <a:endParaRPr lang="en-US"/>
        </a:p>
      </dgm:t>
    </dgm:pt>
    <dgm:pt modelId="{AADB7C13-8631-4782-975A-496C19D39EE2}" type="sibTrans" cxnId="{7760AD6F-8AA2-45D8-BA20-2F2EA6104F78}">
      <dgm:prSet/>
      <dgm:spPr/>
      <dgm:t>
        <a:bodyPr/>
        <a:lstStyle/>
        <a:p>
          <a:endParaRPr lang="en-US"/>
        </a:p>
      </dgm:t>
    </dgm:pt>
    <dgm:pt modelId="{F43B6AB6-26AE-4BE7-8444-747A23359370}">
      <dgm:prSet phldrT="[Text]" phldr="0"/>
      <dgm:spPr/>
      <dgm:t>
        <a:bodyPr/>
        <a:lstStyle/>
        <a:p>
          <a:r>
            <a:rPr lang="en-US">
              <a:latin typeface="Trebuchet MS"/>
            </a:rPr>
            <a:t>Was</a:t>
          </a:r>
          <a:endParaRPr lang="en-US"/>
        </a:p>
      </dgm:t>
    </dgm:pt>
    <dgm:pt modelId="{FC020906-698B-45B9-8630-37EB81A47268}" type="parTrans" cxnId="{FAD9BC33-2068-415E-B1B5-79FCD1506212}">
      <dgm:prSet/>
      <dgm:spPr/>
      <dgm:t>
        <a:bodyPr/>
        <a:lstStyle/>
        <a:p>
          <a:endParaRPr lang="en-US"/>
        </a:p>
      </dgm:t>
    </dgm:pt>
    <dgm:pt modelId="{8D143551-A9F2-411B-9094-8D63A8357F67}" type="sibTrans" cxnId="{FAD9BC33-2068-415E-B1B5-79FCD1506212}">
      <dgm:prSet/>
      <dgm:spPr/>
      <dgm:t>
        <a:bodyPr/>
        <a:lstStyle/>
        <a:p>
          <a:endParaRPr lang="en-US"/>
        </a:p>
      </dgm:t>
    </dgm:pt>
    <dgm:pt modelId="{79ABA860-FD32-48B5-A218-0A4010E97110}">
      <dgm:prSet phldrT="[Text]" phldr="0"/>
      <dgm:spPr/>
      <dgm:t>
        <a:bodyPr/>
        <a:lstStyle/>
        <a:p>
          <a:r>
            <a:rPr lang="en-US">
              <a:latin typeface="Trebuchet MS"/>
            </a:rPr>
            <a:t>Wann</a:t>
          </a:r>
          <a:endParaRPr lang="en-US"/>
        </a:p>
      </dgm:t>
    </dgm:pt>
    <dgm:pt modelId="{43FE2A9A-1377-420D-BBAF-6D3EB839AD23}" type="parTrans" cxnId="{AE3C5160-E1FD-4BCC-BA70-6D82293D5111}">
      <dgm:prSet/>
      <dgm:spPr/>
      <dgm:t>
        <a:bodyPr/>
        <a:lstStyle/>
        <a:p>
          <a:endParaRPr lang="en-US"/>
        </a:p>
      </dgm:t>
    </dgm:pt>
    <dgm:pt modelId="{296F926F-CD0D-493A-BB8B-B50E019CFDF0}" type="sibTrans" cxnId="{AE3C5160-E1FD-4BCC-BA70-6D82293D5111}">
      <dgm:prSet/>
      <dgm:spPr/>
      <dgm:t>
        <a:bodyPr/>
        <a:lstStyle/>
        <a:p>
          <a:endParaRPr lang="en-US"/>
        </a:p>
      </dgm:t>
    </dgm:pt>
    <dgm:pt modelId="{3A0D5BB9-80E0-4265-8500-9F01697E210D}" type="pres">
      <dgm:prSet presAssocID="{0529505D-F53D-4113-BB42-16CAEAA89E2F}" presName="diagram" presStyleCnt="0">
        <dgm:presLayoutVars>
          <dgm:dir/>
          <dgm:resizeHandles val="exact"/>
        </dgm:presLayoutVars>
      </dgm:prSet>
      <dgm:spPr/>
    </dgm:pt>
    <dgm:pt modelId="{DD038091-A837-4F07-8088-9C928691B7B5}" type="pres">
      <dgm:prSet presAssocID="{2AA5A543-1E2D-444F-B51B-2B4CB7B108C6}" presName="node" presStyleLbl="node1" presStyleIdx="0" presStyleCnt="4">
        <dgm:presLayoutVars>
          <dgm:bulletEnabled val="1"/>
        </dgm:presLayoutVars>
      </dgm:prSet>
      <dgm:spPr/>
    </dgm:pt>
    <dgm:pt modelId="{0EDD32F0-1088-459B-BE5A-C9FA7BC04452}" type="pres">
      <dgm:prSet presAssocID="{28CC01BB-E3BE-40FD-BC66-43FC2B565EF6}" presName="sibTrans" presStyleCnt="0"/>
      <dgm:spPr/>
    </dgm:pt>
    <dgm:pt modelId="{AF19D073-1D64-45DE-92D4-3D85729E9FAC}" type="pres">
      <dgm:prSet presAssocID="{A98B5117-4E3B-49B1-9D31-5F82C739E25A}" presName="node" presStyleLbl="node1" presStyleIdx="1" presStyleCnt="4">
        <dgm:presLayoutVars>
          <dgm:bulletEnabled val="1"/>
        </dgm:presLayoutVars>
      </dgm:prSet>
      <dgm:spPr/>
    </dgm:pt>
    <dgm:pt modelId="{AF11FF0F-371C-4FE1-8865-A6BBB516257C}" type="pres">
      <dgm:prSet presAssocID="{AADB7C13-8631-4782-975A-496C19D39EE2}" presName="sibTrans" presStyleCnt="0"/>
      <dgm:spPr/>
    </dgm:pt>
    <dgm:pt modelId="{8A643788-493A-4058-8D21-4534F2231CDF}" type="pres">
      <dgm:prSet presAssocID="{F43B6AB6-26AE-4BE7-8444-747A23359370}" presName="node" presStyleLbl="node1" presStyleIdx="2" presStyleCnt="4">
        <dgm:presLayoutVars>
          <dgm:bulletEnabled val="1"/>
        </dgm:presLayoutVars>
      </dgm:prSet>
      <dgm:spPr/>
    </dgm:pt>
    <dgm:pt modelId="{A674DB49-309E-4E85-8A18-DF285EC9D50E}" type="pres">
      <dgm:prSet presAssocID="{8D143551-A9F2-411B-9094-8D63A8357F67}" presName="sibTrans" presStyleCnt="0"/>
      <dgm:spPr/>
    </dgm:pt>
    <dgm:pt modelId="{7DBDA5A1-1A00-4304-B5B4-75CFFFC367C2}" type="pres">
      <dgm:prSet presAssocID="{79ABA860-FD32-48B5-A218-0A4010E97110}" presName="node" presStyleLbl="node1" presStyleIdx="3" presStyleCnt="4">
        <dgm:presLayoutVars>
          <dgm:bulletEnabled val="1"/>
        </dgm:presLayoutVars>
      </dgm:prSet>
      <dgm:spPr/>
    </dgm:pt>
  </dgm:ptLst>
  <dgm:cxnLst>
    <dgm:cxn modelId="{3684D901-73A6-41D2-A3FA-BA73807E7470}" type="presOf" srcId="{F43B6AB6-26AE-4BE7-8444-747A23359370}" destId="{8A643788-493A-4058-8D21-4534F2231CDF}" srcOrd="0" destOrd="0" presId="urn:microsoft.com/office/officeart/2005/8/layout/default"/>
    <dgm:cxn modelId="{FAD9BC33-2068-415E-B1B5-79FCD1506212}" srcId="{0529505D-F53D-4113-BB42-16CAEAA89E2F}" destId="{F43B6AB6-26AE-4BE7-8444-747A23359370}" srcOrd="2" destOrd="0" parTransId="{FC020906-698B-45B9-8630-37EB81A47268}" sibTransId="{8D143551-A9F2-411B-9094-8D63A8357F67}"/>
    <dgm:cxn modelId="{8454E953-3DCA-4A7D-A11D-DA9C65F1E528}" type="presOf" srcId="{79ABA860-FD32-48B5-A218-0A4010E97110}" destId="{7DBDA5A1-1A00-4304-B5B4-75CFFFC367C2}" srcOrd="0" destOrd="0" presId="urn:microsoft.com/office/officeart/2005/8/layout/default"/>
    <dgm:cxn modelId="{AE3C5160-E1FD-4BCC-BA70-6D82293D5111}" srcId="{0529505D-F53D-4113-BB42-16CAEAA89E2F}" destId="{79ABA860-FD32-48B5-A218-0A4010E97110}" srcOrd="3" destOrd="0" parTransId="{43FE2A9A-1377-420D-BBAF-6D3EB839AD23}" sibTransId="{296F926F-CD0D-493A-BB8B-B50E019CFDF0}"/>
    <dgm:cxn modelId="{141CD968-68A4-444F-AB32-0D6A4DA99F62}" type="presOf" srcId="{A98B5117-4E3B-49B1-9D31-5F82C739E25A}" destId="{AF19D073-1D64-45DE-92D4-3D85729E9FAC}" srcOrd="0" destOrd="0" presId="urn:microsoft.com/office/officeart/2005/8/layout/default"/>
    <dgm:cxn modelId="{7760AD6F-8AA2-45D8-BA20-2F2EA6104F78}" srcId="{0529505D-F53D-4113-BB42-16CAEAA89E2F}" destId="{A98B5117-4E3B-49B1-9D31-5F82C739E25A}" srcOrd="1" destOrd="0" parTransId="{449A2FED-931F-4775-859A-969A0A5F974E}" sibTransId="{AADB7C13-8631-4782-975A-496C19D39EE2}"/>
    <dgm:cxn modelId="{7748E188-E68F-4B9E-8D0F-5A5DA33FB03A}" type="presOf" srcId="{0529505D-F53D-4113-BB42-16CAEAA89E2F}" destId="{3A0D5BB9-80E0-4265-8500-9F01697E210D}" srcOrd="0" destOrd="0" presId="urn:microsoft.com/office/officeart/2005/8/layout/default"/>
    <dgm:cxn modelId="{D6F13EAD-DD10-4FAC-88CA-AF58317BCA39}" type="presOf" srcId="{2AA5A543-1E2D-444F-B51B-2B4CB7B108C6}" destId="{DD038091-A837-4F07-8088-9C928691B7B5}" srcOrd="0" destOrd="0" presId="urn:microsoft.com/office/officeart/2005/8/layout/default"/>
    <dgm:cxn modelId="{BD0123EC-A236-4384-B106-CE8F7E21B7B2}" srcId="{0529505D-F53D-4113-BB42-16CAEAA89E2F}" destId="{2AA5A543-1E2D-444F-B51B-2B4CB7B108C6}" srcOrd="0" destOrd="0" parTransId="{E313A822-2A76-4C2D-A4D3-141C0605BC5F}" sibTransId="{28CC01BB-E3BE-40FD-BC66-43FC2B565EF6}"/>
    <dgm:cxn modelId="{878C9C90-9F84-42BC-A26E-D97BED81E2B8}" type="presParOf" srcId="{3A0D5BB9-80E0-4265-8500-9F01697E210D}" destId="{DD038091-A837-4F07-8088-9C928691B7B5}" srcOrd="0" destOrd="0" presId="urn:microsoft.com/office/officeart/2005/8/layout/default"/>
    <dgm:cxn modelId="{1FB18808-C2F9-470D-B609-391A86291810}" type="presParOf" srcId="{3A0D5BB9-80E0-4265-8500-9F01697E210D}" destId="{0EDD32F0-1088-459B-BE5A-C9FA7BC04452}" srcOrd="1" destOrd="0" presId="urn:microsoft.com/office/officeart/2005/8/layout/default"/>
    <dgm:cxn modelId="{B18AED79-0F93-4183-996C-C73B12A13652}" type="presParOf" srcId="{3A0D5BB9-80E0-4265-8500-9F01697E210D}" destId="{AF19D073-1D64-45DE-92D4-3D85729E9FAC}" srcOrd="2" destOrd="0" presId="urn:microsoft.com/office/officeart/2005/8/layout/default"/>
    <dgm:cxn modelId="{8265234E-E5D4-49E2-AF13-68D3E1F621BB}" type="presParOf" srcId="{3A0D5BB9-80E0-4265-8500-9F01697E210D}" destId="{AF11FF0F-371C-4FE1-8865-A6BBB516257C}" srcOrd="3" destOrd="0" presId="urn:microsoft.com/office/officeart/2005/8/layout/default"/>
    <dgm:cxn modelId="{F8CE98DE-EB7B-491A-AACF-2E5FFA96EA4C}" type="presParOf" srcId="{3A0D5BB9-80E0-4265-8500-9F01697E210D}" destId="{8A643788-493A-4058-8D21-4534F2231CDF}" srcOrd="4" destOrd="0" presId="urn:microsoft.com/office/officeart/2005/8/layout/default"/>
    <dgm:cxn modelId="{37700C17-4954-4706-A9D2-E8884CE17368}" type="presParOf" srcId="{3A0D5BB9-80E0-4265-8500-9F01697E210D}" destId="{A674DB49-309E-4E85-8A18-DF285EC9D50E}" srcOrd="5" destOrd="0" presId="urn:microsoft.com/office/officeart/2005/8/layout/default"/>
    <dgm:cxn modelId="{D6B4E7D8-2E21-4F66-8F57-AB90AFE336F3}" type="presParOf" srcId="{3A0D5BB9-80E0-4265-8500-9F01697E210D}" destId="{7DBDA5A1-1A00-4304-B5B4-75CFFFC367C2}"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9C2642-A9D1-489B-8851-DFD2092A82A1}">
      <dsp:nvSpPr>
        <dsp:cNvPr id="0" name=""/>
        <dsp:cNvSpPr/>
      </dsp:nvSpPr>
      <dsp:spPr>
        <a:xfrm>
          <a:off x="1446609" y="324"/>
          <a:ext cx="1678781" cy="1091207"/>
        </a:xfrm>
        <a:prstGeom prst="roundRect">
          <a:avLst/>
        </a:prstGeom>
        <a:gradFill rotWithShape="0">
          <a:gsLst>
            <a:gs pos="0">
              <a:schemeClr val="accent2">
                <a:shade val="80000"/>
                <a:hueOff val="0"/>
                <a:satOff val="0"/>
                <a:lumOff val="0"/>
                <a:alphaOff val="0"/>
                <a:tint val="43000"/>
                <a:satMod val="165000"/>
              </a:schemeClr>
            </a:gs>
            <a:gs pos="55000">
              <a:schemeClr val="accent2">
                <a:shade val="80000"/>
                <a:hueOff val="0"/>
                <a:satOff val="0"/>
                <a:lumOff val="0"/>
                <a:alphaOff val="0"/>
                <a:tint val="83000"/>
                <a:satMod val="155000"/>
              </a:schemeClr>
            </a:gs>
            <a:gs pos="100000">
              <a:schemeClr val="accent2">
                <a:shade val="80000"/>
                <a:hueOff val="0"/>
                <a:satOff val="0"/>
                <a:lumOff val="0"/>
                <a:alphaOff val="0"/>
                <a:shade val="85000"/>
              </a:schemeClr>
            </a:gs>
          </a:gsLst>
          <a:path path="circle">
            <a:fillToRect l="-40000" t="-90000" r="140000" b="190000"/>
          </a:path>
        </a:gradFill>
        <a:ln>
          <a:noFill/>
        </a:ln>
        <a:effectLst>
          <a:outerShdw blurRad="508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de-DE" sz="1500" b="1" kern="1200">
              <a:latin typeface="Arial"/>
              <a:cs typeface="Arial"/>
            </a:rPr>
            <a:t>Barrierefreiheit</a:t>
          </a:r>
          <a:endParaRPr lang="en-US" sz="1500" kern="1200">
            <a:latin typeface="Arial"/>
            <a:cs typeface="Arial"/>
          </a:endParaRPr>
        </a:p>
      </dsp:txBody>
      <dsp:txXfrm>
        <a:off x="1499877" y="53592"/>
        <a:ext cx="1572245" cy="984671"/>
      </dsp:txXfrm>
    </dsp:sp>
    <dsp:sp modelId="{8BAF219F-723B-44AF-B310-C758740AB4A1}">
      <dsp:nvSpPr>
        <dsp:cNvPr id="0" name=""/>
        <dsp:cNvSpPr/>
      </dsp:nvSpPr>
      <dsp:spPr>
        <a:xfrm>
          <a:off x="831052" y="545927"/>
          <a:ext cx="2909894" cy="2909894"/>
        </a:xfrm>
        <a:custGeom>
          <a:avLst/>
          <a:gdLst/>
          <a:ahLst/>
          <a:cxnLst/>
          <a:rect l="0" t="0" r="0" b="0"/>
          <a:pathLst>
            <a:path>
              <a:moveTo>
                <a:pt x="2306524" y="275249"/>
              </a:moveTo>
              <a:arcTo wR="1454947" hR="1454947" stAng="18349443" swAng="3646021"/>
            </a:path>
          </a:pathLst>
        </a:custGeom>
        <a:noFill/>
        <a:ln w="9525" cap="flat" cmpd="sng" algn="ctr">
          <a:solidFill>
            <a:schemeClr val="accent2">
              <a:shade val="90000"/>
              <a:hueOff val="0"/>
              <a:satOff val="0"/>
              <a:lumOff val="0"/>
              <a:alphaOff val="0"/>
            </a:schemeClr>
          </a:solidFill>
          <a:prstDash val="solid"/>
        </a:ln>
        <a:effectLst/>
        <a:scene3d>
          <a:camera prst="orthographicFront"/>
          <a:lightRig rig="flat" dir="t"/>
        </a:scene3d>
        <a:sp3d z="-40000" prstMaterial="matte"/>
      </dsp:spPr>
      <dsp:style>
        <a:lnRef idx="1">
          <a:scrgbClr r="0" g="0" b="0"/>
        </a:lnRef>
        <a:fillRef idx="0">
          <a:scrgbClr r="0" g="0" b="0"/>
        </a:fillRef>
        <a:effectRef idx="0">
          <a:scrgbClr r="0" g="0" b="0"/>
        </a:effectRef>
        <a:fontRef idx="minor"/>
      </dsp:style>
    </dsp:sp>
    <dsp:sp modelId="{5F6E2E86-96DC-4052-889D-0A5CF6D9A643}">
      <dsp:nvSpPr>
        <dsp:cNvPr id="0" name=""/>
        <dsp:cNvSpPr/>
      </dsp:nvSpPr>
      <dsp:spPr>
        <a:xfrm>
          <a:off x="2706630" y="2182744"/>
          <a:ext cx="1678781" cy="1091207"/>
        </a:xfrm>
        <a:prstGeom prst="roundRect">
          <a:avLst/>
        </a:prstGeom>
        <a:gradFill rotWithShape="0">
          <a:gsLst>
            <a:gs pos="0">
              <a:schemeClr val="accent2">
                <a:shade val="80000"/>
                <a:hueOff val="44392"/>
                <a:satOff val="-9753"/>
                <a:lumOff val="15552"/>
                <a:alphaOff val="0"/>
                <a:tint val="43000"/>
                <a:satMod val="165000"/>
              </a:schemeClr>
            </a:gs>
            <a:gs pos="55000">
              <a:schemeClr val="accent2">
                <a:shade val="80000"/>
                <a:hueOff val="44392"/>
                <a:satOff val="-9753"/>
                <a:lumOff val="15552"/>
                <a:alphaOff val="0"/>
                <a:tint val="83000"/>
                <a:satMod val="155000"/>
              </a:schemeClr>
            </a:gs>
            <a:gs pos="100000">
              <a:schemeClr val="accent2">
                <a:shade val="80000"/>
                <a:hueOff val="44392"/>
                <a:satOff val="-9753"/>
                <a:lumOff val="15552"/>
                <a:alphaOff val="0"/>
                <a:shade val="85000"/>
              </a:schemeClr>
            </a:gs>
          </a:gsLst>
          <a:path path="circle">
            <a:fillToRect l="-40000" t="-90000" r="140000" b="190000"/>
          </a:path>
        </a:gradFill>
        <a:ln>
          <a:noFill/>
        </a:ln>
        <a:effectLst>
          <a:outerShdw blurRad="508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de-DE" sz="1500" b="1" kern="1200">
              <a:latin typeface="Arial"/>
              <a:cs typeface="Arial"/>
            </a:rPr>
            <a:t>Teilhabe an kulturellen Aktivitäten</a:t>
          </a:r>
          <a:endParaRPr lang="en-US" sz="1500" kern="1200">
            <a:latin typeface="Arial"/>
            <a:cs typeface="Arial"/>
          </a:endParaRPr>
        </a:p>
      </dsp:txBody>
      <dsp:txXfrm>
        <a:off x="2759898" y="2236012"/>
        <a:ext cx="1572245" cy="984671"/>
      </dsp:txXfrm>
    </dsp:sp>
    <dsp:sp modelId="{B884D85D-EBE9-4B0D-898A-E0DDFFA3A903}">
      <dsp:nvSpPr>
        <dsp:cNvPr id="0" name=""/>
        <dsp:cNvSpPr/>
      </dsp:nvSpPr>
      <dsp:spPr>
        <a:xfrm>
          <a:off x="831052" y="545927"/>
          <a:ext cx="2909894" cy="2909894"/>
        </a:xfrm>
        <a:custGeom>
          <a:avLst/>
          <a:gdLst/>
          <a:ahLst/>
          <a:cxnLst/>
          <a:rect l="0" t="0" r="0" b="0"/>
          <a:pathLst>
            <a:path>
              <a:moveTo>
                <a:pt x="2146963" y="2734784"/>
              </a:moveTo>
              <a:arcTo wR="1454947" hR="1454947" stAng="3695978" swAng="3408043"/>
            </a:path>
          </a:pathLst>
        </a:custGeom>
        <a:noFill/>
        <a:ln w="9525" cap="flat" cmpd="sng" algn="ctr">
          <a:solidFill>
            <a:schemeClr val="accent2">
              <a:shade val="90000"/>
              <a:hueOff val="44330"/>
              <a:satOff val="-9627"/>
              <a:lumOff val="14522"/>
              <a:alphaOff val="0"/>
            </a:schemeClr>
          </a:solidFill>
          <a:prstDash val="solid"/>
        </a:ln>
        <a:effectLst/>
        <a:scene3d>
          <a:camera prst="orthographicFront"/>
          <a:lightRig rig="flat" dir="t"/>
        </a:scene3d>
        <a:sp3d z="-40000" prstMaterial="matte"/>
      </dsp:spPr>
      <dsp:style>
        <a:lnRef idx="1">
          <a:scrgbClr r="0" g="0" b="0"/>
        </a:lnRef>
        <a:fillRef idx="0">
          <a:scrgbClr r="0" g="0" b="0"/>
        </a:fillRef>
        <a:effectRef idx="0">
          <a:scrgbClr r="0" g="0" b="0"/>
        </a:effectRef>
        <a:fontRef idx="minor"/>
      </dsp:style>
    </dsp:sp>
    <dsp:sp modelId="{C153D31E-AFB8-4C7C-B378-CEE20E7391CB}">
      <dsp:nvSpPr>
        <dsp:cNvPr id="0" name=""/>
        <dsp:cNvSpPr/>
      </dsp:nvSpPr>
      <dsp:spPr>
        <a:xfrm>
          <a:off x="186588" y="2182744"/>
          <a:ext cx="1678781" cy="1091207"/>
        </a:xfrm>
        <a:prstGeom prst="roundRect">
          <a:avLst/>
        </a:prstGeom>
        <a:gradFill rotWithShape="0">
          <a:gsLst>
            <a:gs pos="0">
              <a:schemeClr val="accent2">
                <a:shade val="80000"/>
                <a:hueOff val="88784"/>
                <a:satOff val="-19505"/>
                <a:lumOff val="31104"/>
                <a:alphaOff val="0"/>
                <a:tint val="43000"/>
                <a:satMod val="165000"/>
              </a:schemeClr>
            </a:gs>
            <a:gs pos="55000">
              <a:schemeClr val="accent2">
                <a:shade val="80000"/>
                <a:hueOff val="88784"/>
                <a:satOff val="-19505"/>
                <a:lumOff val="31104"/>
                <a:alphaOff val="0"/>
                <a:tint val="83000"/>
                <a:satMod val="155000"/>
              </a:schemeClr>
            </a:gs>
            <a:gs pos="100000">
              <a:schemeClr val="accent2">
                <a:shade val="80000"/>
                <a:hueOff val="88784"/>
                <a:satOff val="-19505"/>
                <a:lumOff val="31104"/>
                <a:alphaOff val="0"/>
                <a:shade val="85000"/>
              </a:schemeClr>
            </a:gs>
          </a:gsLst>
          <a:path path="circle">
            <a:fillToRect l="-40000" t="-90000" r="140000" b="190000"/>
          </a:path>
        </a:gradFill>
        <a:ln>
          <a:noFill/>
        </a:ln>
        <a:effectLst>
          <a:outerShdw blurRad="508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de-DE" sz="1500" b="1" kern="1200">
              <a:latin typeface="Arial"/>
              <a:cs typeface="Arial"/>
            </a:rPr>
            <a:t>Inklusive Gesellschaft</a:t>
          </a:r>
          <a:endParaRPr lang="en-US" sz="1500" kern="1200"/>
        </a:p>
      </dsp:txBody>
      <dsp:txXfrm>
        <a:off x="239856" y="2236012"/>
        <a:ext cx="1572245" cy="984671"/>
      </dsp:txXfrm>
    </dsp:sp>
    <dsp:sp modelId="{07E3ADDE-7B6C-44A0-B10A-5B6E359AAE71}">
      <dsp:nvSpPr>
        <dsp:cNvPr id="0" name=""/>
        <dsp:cNvSpPr/>
      </dsp:nvSpPr>
      <dsp:spPr>
        <a:xfrm>
          <a:off x="831052" y="545927"/>
          <a:ext cx="2909894" cy="2909894"/>
        </a:xfrm>
        <a:custGeom>
          <a:avLst/>
          <a:gdLst/>
          <a:ahLst/>
          <a:cxnLst/>
          <a:rect l="0" t="0" r="0" b="0"/>
          <a:pathLst>
            <a:path>
              <a:moveTo>
                <a:pt x="9616" y="1621949"/>
              </a:moveTo>
              <a:arcTo wR="1454947" hR="1454947" stAng="10404536" swAng="3646021"/>
            </a:path>
          </a:pathLst>
        </a:custGeom>
        <a:noFill/>
        <a:ln w="9525" cap="flat" cmpd="sng" algn="ctr">
          <a:solidFill>
            <a:schemeClr val="accent2">
              <a:shade val="90000"/>
              <a:hueOff val="88660"/>
              <a:satOff val="-19253"/>
              <a:lumOff val="29045"/>
              <a:alphaOff val="0"/>
            </a:schemeClr>
          </a:solidFill>
          <a:prstDash val="solid"/>
        </a:ln>
        <a:effectLst/>
        <a:scene3d>
          <a:camera prst="orthographicFront"/>
          <a:lightRig rig="flat" dir="t"/>
        </a:scene3d>
        <a:sp3d z="-40000" prstMaterial="matte"/>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969D9B-D5F7-4B4C-87E9-E156746C54D6}">
      <dsp:nvSpPr>
        <dsp:cNvPr id="0" name=""/>
        <dsp:cNvSpPr/>
      </dsp:nvSpPr>
      <dsp:spPr>
        <a:xfrm>
          <a:off x="5959" y="2570616"/>
          <a:ext cx="1847359" cy="1108415"/>
        </a:xfrm>
        <a:prstGeom prst="roundRect">
          <a:avLst>
            <a:gd name="adj" fmla="val 10000"/>
          </a:avLst>
        </a:prstGeom>
        <a:gradFill rotWithShape="0">
          <a:gsLst>
            <a:gs pos="0">
              <a:schemeClr val="accent2">
                <a:shade val="80000"/>
                <a:hueOff val="0"/>
                <a:satOff val="0"/>
                <a:lumOff val="0"/>
                <a:alphaOff val="0"/>
                <a:tint val="43000"/>
                <a:satMod val="165000"/>
              </a:schemeClr>
            </a:gs>
            <a:gs pos="55000">
              <a:schemeClr val="accent2">
                <a:shade val="80000"/>
                <a:hueOff val="0"/>
                <a:satOff val="0"/>
                <a:lumOff val="0"/>
                <a:alphaOff val="0"/>
                <a:tint val="83000"/>
                <a:satMod val="155000"/>
              </a:schemeClr>
            </a:gs>
            <a:gs pos="100000">
              <a:schemeClr val="accent2">
                <a:shade val="80000"/>
                <a:hueOff val="0"/>
                <a:satOff val="0"/>
                <a:lumOff val="0"/>
                <a:alphaOff val="0"/>
                <a:shade val="85000"/>
              </a:schemeClr>
            </a:gs>
          </a:gsLst>
          <a:path path="circle">
            <a:fillToRect l="-40000" t="-90000" r="140000" b="190000"/>
          </a:path>
        </a:gradFill>
        <a:ln>
          <a:noFill/>
        </a:ln>
        <a:effectLst>
          <a:outerShdw blurRad="508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de-DE" sz="1600" b="1" kern="1200">
              <a:latin typeface="Arial"/>
              <a:cs typeface="Arial"/>
            </a:rPr>
            <a:t>AD möglich und nötig?</a:t>
          </a:r>
          <a:endParaRPr lang="en-US" sz="1600" kern="1200">
            <a:latin typeface="Arial"/>
            <a:cs typeface="Arial"/>
          </a:endParaRPr>
        </a:p>
      </dsp:txBody>
      <dsp:txXfrm>
        <a:off x="38423" y="2603080"/>
        <a:ext cx="1782431" cy="1043487"/>
      </dsp:txXfrm>
    </dsp:sp>
    <dsp:sp modelId="{B835D8FC-451A-4185-9BDB-44D98BEC38C3}">
      <dsp:nvSpPr>
        <dsp:cNvPr id="0" name=""/>
        <dsp:cNvSpPr/>
      </dsp:nvSpPr>
      <dsp:spPr>
        <a:xfrm>
          <a:off x="2038054" y="2895751"/>
          <a:ext cx="391640" cy="458145"/>
        </a:xfrm>
        <a:prstGeom prst="rightArrow">
          <a:avLst>
            <a:gd name="adj1" fmla="val 60000"/>
            <a:gd name="adj2" fmla="val 50000"/>
          </a:avLst>
        </a:prstGeom>
        <a:gradFill rotWithShape="0">
          <a:gsLst>
            <a:gs pos="0">
              <a:schemeClr val="accent2">
                <a:shade val="90000"/>
                <a:hueOff val="0"/>
                <a:satOff val="0"/>
                <a:lumOff val="0"/>
                <a:alphaOff val="0"/>
                <a:tint val="43000"/>
                <a:satMod val="165000"/>
              </a:schemeClr>
            </a:gs>
            <a:gs pos="55000">
              <a:schemeClr val="accent2">
                <a:shade val="90000"/>
                <a:hueOff val="0"/>
                <a:satOff val="0"/>
                <a:lumOff val="0"/>
                <a:alphaOff val="0"/>
                <a:tint val="83000"/>
                <a:satMod val="155000"/>
              </a:schemeClr>
            </a:gs>
            <a:gs pos="100000">
              <a:schemeClr val="accent2">
                <a:shade val="90000"/>
                <a:hueOff val="0"/>
                <a:satOff val="0"/>
                <a:lumOff val="0"/>
                <a:alphaOff val="0"/>
                <a:shade val="85000"/>
              </a:schemeClr>
            </a:gs>
          </a:gsLst>
          <a:path path="circle">
            <a:fillToRect l="-40000" t="-90000" r="140000" b="190000"/>
          </a:path>
        </a:gradFill>
        <a:ln>
          <a:noFill/>
        </a:ln>
        <a:effectLst>
          <a:outerShdw blurRad="50800" dist="25400" dir="5400000" rotWithShape="0">
            <a:srgbClr val="000000">
              <a:alpha val="4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2038054" y="2987380"/>
        <a:ext cx="274148" cy="274887"/>
      </dsp:txXfrm>
    </dsp:sp>
    <dsp:sp modelId="{40665D9E-AB49-437B-962A-2A988249DC66}">
      <dsp:nvSpPr>
        <dsp:cNvPr id="0" name=""/>
        <dsp:cNvSpPr/>
      </dsp:nvSpPr>
      <dsp:spPr>
        <a:xfrm>
          <a:off x="2592262" y="2570616"/>
          <a:ext cx="1847359" cy="1108415"/>
        </a:xfrm>
        <a:prstGeom prst="roundRect">
          <a:avLst>
            <a:gd name="adj" fmla="val 10000"/>
          </a:avLst>
        </a:prstGeom>
        <a:gradFill rotWithShape="0">
          <a:gsLst>
            <a:gs pos="0">
              <a:schemeClr val="accent2">
                <a:shade val="80000"/>
                <a:hueOff val="22196"/>
                <a:satOff val="-4876"/>
                <a:lumOff val="7776"/>
                <a:alphaOff val="0"/>
                <a:tint val="43000"/>
                <a:satMod val="165000"/>
              </a:schemeClr>
            </a:gs>
            <a:gs pos="55000">
              <a:schemeClr val="accent2">
                <a:shade val="80000"/>
                <a:hueOff val="22196"/>
                <a:satOff val="-4876"/>
                <a:lumOff val="7776"/>
                <a:alphaOff val="0"/>
                <a:tint val="83000"/>
                <a:satMod val="155000"/>
              </a:schemeClr>
            </a:gs>
            <a:gs pos="100000">
              <a:schemeClr val="accent2">
                <a:shade val="80000"/>
                <a:hueOff val="22196"/>
                <a:satOff val="-4876"/>
                <a:lumOff val="7776"/>
                <a:alphaOff val="0"/>
                <a:shade val="85000"/>
              </a:schemeClr>
            </a:gs>
          </a:gsLst>
          <a:path path="circle">
            <a:fillToRect l="-40000" t="-90000" r="140000" b="190000"/>
          </a:path>
        </a:gradFill>
        <a:ln>
          <a:noFill/>
        </a:ln>
        <a:effectLst>
          <a:outerShdw blurRad="508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de-DE" sz="1600" b="1" kern="1200">
              <a:latin typeface="Arial"/>
              <a:cs typeface="Arial"/>
            </a:rPr>
            <a:t>Sezenen festhalten wo Beschreibung nötig ist </a:t>
          </a:r>
          <a:endParaRPr lang="en-US" sz="1600" kern="1200">
            <a:latin typeface="Arial"/>
            <a:cs typeface="Arial"/>
          </a:endParaRPr>
        </a:p>
      </dsp:txBody>
      <dsp:txXfrm>
        <a:off x="2624726" y="2603080"/>
        <a:ext cx="1782431" cy="1043487"/>
      </dsp:txXfrm>
    </dsp:sp>
    <dsp:sp modelId="{367DC30D-36F8-43FC-B4CF-911D477D3925}">
      <dsp:nvSpPr>
        <dsp:cNvPr id="0" name=""/>
        <dsp:cNvSpPr/>
      </dsp:nvSpPr>
      <dsp:spPr>
        <a:xfrm>
          <a:off x="4624357" y="2895751"/>
          <a:ext cx="391640" cy="458145"/>
        </a:xfrm>
        <a:prstGeom prst="rightArrow">
          <a:avLst>
            <a:gd name="adj1" fmla="val 60000"/>
            <a:gd name="adj2" fmla="val 50000"/>
          </a:avLst>
        </a:prstGeom>
        <a:gradFill rotWithShape="0">
          <a:gsLst>
            <a:gs pos="0">
              <a:schemeClr val="accent2">
                <a:shade val="90000"/>
                <a:hueOff val="29553"/>
                <a:satOff val="-6418"/>
                <a:lumOff val="9682"/>
                <a:alphaOff val="0"/>
                <a:tint val="43000"/>
                <a:satMod val="165000"/>
              </a:schemeClr>
            </a:gs>
            <a:gs pos="55000">
              <a:schemeClr val="accent2">
                <a:shade val="90000"/>
                <a:hueOff val="29553"/>
                <a:satOff val="-6418"/>
                <a:lumOff val="9682"/>
                <a:alphaOff val="0"/>
                <a:tint val="83000"/>
                <a:satMod val="155000"/>
              </a:schemeClr>
            </a:gs>
            <a:gs pos="100000">
              <a:schemeClr val="accent2">
                <a:shade val="90000"/>
                <a:hueOff val="29553"/>
                <a:satOff val="-6418"/>
                <a:lumOff val="9682"/>
                <a:alphaOff val="0"/>
                <a:shade val="85000"/>
              </a:schemeClr>
            </a:gs>
          </a:gsLst>
          <a:path path="circle">
            <a:fillToRect l="-40000" t="-90000" r="140000" b="190000"/>
          </a:path>
        </a:gradFill>
        <a:ln>
          <a:noFill/>
        </a:ln>
        <a:effectLst>
          <a:outerShdw blurRad="50800" dist="25400" dir="5400000" rotWithShape="0">
            <a:srgbClr val="000000">
              <a:alpha val="4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624357" y="2987380"/>
        <a:ext cx="274148" cy="274887"/>
      </dsp:txXfrm>
    </dsp:sp>
    <dsp:sp modelId="{68CE3A84-4078-418E-853C-9E1C45400BF1}">
      <dsp:nvSpPr>
        <dsp:cNvPr id="0" name=""/>
        <dsp:cNvSpPr/>
      </dsp:nvSpPr>
      <dsp:spPr>
        <a:xfrm>
          <a:off x="5178565" y="2570616"/>
          <a:ext cx="1847359" cy="1108415"/>
        </a:xfrm>
        <a:prstGeom prst="roundRect">
          <a:avLst>
            <a:gd name="adj" fmla="val 10000"/>
          </a:avLst>
        </a:prstGeom>
        <a:gradFill rotWithShape="0">
          <a:gsLst>
            <a:gs pos="0">
              <a:schemeClr val="accent2">
                <a:shade val="80000"/>
                <a:hueOff val="44392"/>
                <a:satOff val="-9753"/>
                <a:lumOff val="15552"/>
                <a:alphaOff val="0"/>
                <a:tint val="43000"/>
                <a:satMod val="165000"/>
              </a:schemeClr>
            </a:gs>
            <a:gs pos="55000">
              <a:schemeClr val="accent2">
                <a:shade val="80000"/>
                <a:hueOff val="44392"/>
                <a:satOff val="-9753"/>
                <a:lumOff val="15552"/>
                <a:alphaOff val="0"/>
                <a:tint val="83000"/>
                <a:satMod val="155000"/>
              </a:schemeClr>
            </a:gs>
            <a:gs pos="100000">
              <a:schemeClr val="accent2">
                <a:shade val="80000"/>
                <a:hueOff val="44392"/>
                <a:satOff val="-9753"/>
                <a:lumOff val="15552"/>
                <a:alphaOff val="0"/>
                <a:shade val="85000"/>
              </a:schemeClr>
            </a:gs>
          </a:gsLst>
          <a:path path="circle">
            <a:fillToRect l="-40000" t="-90000" r="140000" b="190000"/>
          </a:path>
        </a:gradFill>
        <a:ln>
          <a:noFill/>
        </a:ln>
        <a:effectLst>
          <a:outerShdw blurRad="508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de-DE" sz="1600" b="1" kern="1200">
              <a:latin typeface="Arial"/>
              <a:cs typeface="Arial"/>
            </a:rPr>
            <a:t>Texte der AD schreiben</a:t>
          </a:r>
          <a:endParaRPr lang="en-US" sz="1600" kern="1200">
            <a:latin typeface="Arial"/>
            <a:cs typeface="Arial"/>
          </a:endParaRPr>
        </a:p>
      </dsp:txBody>
      <dsp:txXfrm>
        <a:off x="5211029" y="2603080"/>
        <a:ext cx="1782431" cy="1043487"/>
      </dsp:txXfrm>
    </dsp:sp>
    <dsp:sp modelId="{8EAEC6A6-1262-40A6-B7E3-925D92B3B09C}">
      <dsp:nvSpPr>
        <dsp:cNvPr id="0" name=""/>
        <dsp:cNvSpPr/>
      </dsp:nvSpPr>
      <dsp:spPr>
        <a:xfrm>
          <a:off x="7210661" y="2895751"/>
          <a:ext cx="391640" cy="458145"/>
        </a:xfrm>
        <a:prstGeom prst="rightArrow">
          <a:avLst>
            <a:gd name="adj1" fmla="val 60000"/>
            <a:gd name="adj2" fmla="val 50000"/>
          </a:avLst>
        </a:prstGeom>
        <a:gradFill rotWithShape="0">
          <a:gsLst>
            <a:gs pos="0">
              <a:schemeClr val="accent2">
                <a:shade val="90000"/>
                <a:hueOff val="59106"/>
                <a:satOff val="-12835"/>
                <a:lumOff val="19363"/>
                <a:alphaOff val="0"/>
                <a:tint val="43000"/>
                <a:satMod val="165000"/>
              </a:schemeClr>
            </a:gs>
            <a:gs pos="55000">
              <a:schemeClr val="accent2">
                <a:shade val="90000"/>
                <a:hueOff val="59106"/>
                <a:satOff val="-12835"/>
                <a:lumOff val="19363"/>
                <a:alphaOff val="0"/>
                <a:tint val="83000"/>
                <a:satMod val="155000"/>
              </a:schemeClr>
            </a:gs>
            <a:gs pos="100000">
              <a:schemeClr val="accent2">
                <a:shade val="90000"/>
                <a:hueOff val="59106"/>
                <a:satOff val="-12835"/>
                <a:lumOff val="19363"/>
                <a:alphaOff val="0"/>
                <a:shade val="85000"/>
              </a:schemeClr>
            </a:gs>
          </a:gsLst>
          <a:path path="circle">
            <a:fillToRect l="-40000" t="-90000" r="140000" b="190000"/>
          </a:path>
        </a:gradFill>
        <a:ln>
          <a:noFill/>
        </a:ln>
        <a:effectLst>
          <a:outerShdw blurRad="50800" dist="25400" dir="5400000" rotWithShape="0">
            <a:srgbClr val="000000">
              <a:alpha val="4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7210661" y="2987380"/>
        <a:ext cx="274148" cy="274887"/>
      </dsp:txXfrm>
    </dsp:sp>
    <dsp:sp modelId="{F16FD566-9AE5-4327-AE41-631FF612349C}">
      <dsp:nvSpPr>
        <dsp:cNvPr id="0" name=""/>
        <dsp:cNvSpPr/>
      </dsp:nvSpPr>
      <dsp:spPr>
        <a:xfrm>
          <a:off x="7764869" y="2570616"/>
          <a:ext cx="1847359" cy="1108415"/>
        </a:xfrm>
        <a:prstGeom prst="roundRect">
          <a:avLst>
            <a:gd name="adj" fmla="val 10000"/>
          </a:avLst>
        </a:prstGeom>
        <a:gradFill rotWithShape="0">
          <a:gsLst>
            <a:gs pos="0">
              <a:schemeClr val="accent2">
                <a:shade val="80000"/>
                <a:hueOff val="66588"/>
                <a:satOff val="-14629"/>
                <a:lumOff val="23328"/>
                <a:alphaOff val="0"/>
                <a:tint val="43000"/>
                <a:satMod val="165000"/>
              </a:schemeClr>
            </a:gs>
            <a:gs pos="55000">
              <a:schemeClr val="accent2">
                <a:shade val="80000"/>
                <a:hueOff val="66588"/>
                <a:satOff val="-14629"/>
                <a:lumOff val="23328"/>
                <a:alphaOff val="0"/>
                <a:tint val="83000"/>
                <a:satMod val="155000"/>
              </a:schemeClr>
            </a:gs>
            <a:gs pos="100000">
              <a:schemeClr val="accent2">
                <a:shade val="80000"/>
                <a:hueOff val="66588"/>
                <a:satOff val="-14629"/>
                <a:lumOff val="23328"/>
                <a:alphaOff val="0"/>
                <a:shade val="85000"/>
              </a:schemeClr>
            </a:gs>
          </a:gsLst>
          <a:path path="circle">
            <a:fillToRect l="-40000" t="-90000" r="140000" b="190000"/>
          </a:path>
        </a:gradFill>
        <a:ln>
          <a:noFill/>
        </a:ln>
        <a:effectLst>
          <a:outerShdw blurRad="508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de-DE" sz="1600" b="1" kern="1200">
              <a:latin typeface="Arial"/>
              <a:cs typeface="Arial"/>
            </a:rPr>
            <a:t>Einsprechen</a:t>
          </a:r>
          <a:endParaRPr lang="en-US" sz="1600" kern="1200">
            <a:latin typeface="Arial"/>
            <a:cs typeface="Arial"/>
          </a:endParaRPr>
        </a:p>
      </dsp:txBody>
      <dsp:txXfrm>
        <a:off x="7797333" y="2603080"/>
        <a:ext cx="1782431" cy="1043487"/>
      </dsp:txXfrm>
    </dsp:sp>
    <dsp:sp modelId="{5A755AFB-C136-4843-86CF-69F28859A491}">
      <dsp:nvSpPr>
        <dsp:cNvPr id="0" name=""/>
        <dsp:cNvSpPr/>
      </dsp:nvSpPr>
      <dsp:spPr>
        <a:xfrm>
          <a:off x="9796964" y="2895751"/>
          <a:ext cx="391640" cy="458145"/>
        </a:xfrm>
        <a:prstGeom prst="rightArrow">
          <a:avLst>
            <a:gd name="adj1" fmla="val 60000"/>
            <a:gd name="adj2" fmla="val 50000"/>
          </a:avLst>
        </a:prstGeom>
        <a:gradFill rotWithShape="0">
          <a:gsLst>
            <a:gs pos="0">
              <a:schemeClr val="accent2">
                <a:shade val="90000"/>
                <a:hueOff val="88660"/>
                <a:satOff val="-19253"/>
                <a:lumOff val="29045"/>
                <a:alphaOff val="0"/>
                <a:tint val="43000"/>
                <a:satMod val="165000"/>
              </a:schemeClr>
            </a:gs>
            <a:gs pos="55000">
              <a:schemeClr val="accent2">
                <a:shade val="90000"/>
                <a:hueOff val="88660"/>
                <a:satOff val="-19253"/>
                <a:lumOff val="29045"/>
                <a:alphaOff val="0"/>
                <a:tint val="83000"/>
                <a:satMod val="155000"/>
              </a:schemeClr>
            </a:gs>
            <a:gs pos="100000">
              <a:schemeClr val="accent2">
                <a:shade val="90000"/>
                <a:hueOff val="88660"/>
                <a:satOff val="-19253"/>
                <a:lumOff val="29045"/>
                <a:alphaOff val="0"/>
                <a:shade val="85000"/>
              </a:schemeClr>
            </a:gs>
          </a:gsLst>
          <a:path path="circle">
            <a:fillToRect l="-40000" t="-90000" r="140000" b="190000"/>
          </a:path>
        </a:gradFill>
        <a:ln>
          <a:noFill/>
        </a:ln>
        <a:effectLst>
          <a:outerShdw blurRad="50800" dist="25400" dir="5400000" rotWithShape="0">
            <a:srgbClr val="000000">
              <a:alpha val="45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9796964" y="2987380"/>
        <a:ext cx="274148" cy="274887"/>
      </dsp:txXfrm>
    </dsp:sp>
    <dsp:sp modelId="{4DF26372-625D-4C9F-9A98-E57A3BF59F9D}">
      <dsp:nvSpPr>
        <dsp:cNvPr id="0" name=""/>
        <dsp:cNvSpPr/>
      </dsp:nvSpPr>
      <dsp:spPr>
        <a:xfrm>
          <a:off x="10351172" y="2570616"/>
          <a:ext cx="1847359" cy="1108415"/>
        </a:xfrm>
        <a:prstGeom prst="roundRect">
          <a:avLst>
            <a:gd name="adj" fmla="val 10000"/>
          </a:avLst>
        </a:prstGeom>
        <a:gradFill rotWithShape="0">
          <a:gsLst>
            <a:gs pos="0">
              <a:schemeClr val="accent2">
                <a:shade val="80000"/>
                <a:hueOff val="88784"/>
                <a:satOff val="-19505"/>
                <a:lumOff val="31104"/>
                <a:alphaOff val="0"/>
                <a:tint val="43000"/>
                <a:satMod val="165000"/>
              </a:schemeClr>
            </a:gs>
            <a:gs pos="55000">
              <a:schemeClr val="accent2">
                <a:shade val="80000"/>
                <a:hueOff val="88784"/>
                <a:satOff val="-19505"/>
                <a:lumOff val="31104"/>
                <a:alphaOff val="0"/>
                <a:tint val="83000"/>
                <a:satMod val="155000"/>
              </a:schemeClr>
            </a:gs>
            <a:gs pos="100000">
              <a:schemeClr val="accent2">
                <a:shade val="80000"/>
                <a:hueOff val="88784"/>
                <a:satOff val="-19505"/>
                <a:lumOff val="31104"/>
                <a:alphaOff val="0"/>
                <a:shade val="85000"/>
              </a:schemeClr>
            </a:gs>
          </a:gsLst>
          <a:path path="circle">
            <a:fillToRect l="-40000" t="-90000" r="140000" b="190000"/>
          </a:path>
        </a:gradFill>
        <a:ln>
          <a:noFill/>
        </a:ln>
        <a:effectLst>
          <a:outerShdw blurRad="508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de-DE" sz="1600" b="1" kern="1200">
              <a:latin typeface="Arial"/>
              <a:cs typeface="Arial"/>
            </a:rPr>
            <a:t>Synchronisieren mit Film</a:t>
          </a:r>
          <a:endParaRPr lang="en-US" sz="1600" kern="1200"/>
        </a:p>
      </dsp:txBody>
      <dsp:txXfrm>
        <a:off x="10383636" y="2603080"/>
        <a:ext cx="1782431" cy="10434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038091-A837-4F07-8088-9C928691B7B5}">
      <dsp:nvSpPr>
        <dsp:cNvPr id="0" name=""/>
        <dsp:cNvSpPr/>
      </dsp:nvSpPr>
      <dsp:spPr>
        <a:xfrm>
          <a:off x="0" y="242833"/>
          <a:ext cx="1540747" cy="924448"/>
        </a:xfrm>
        <a:prstGeom prst="rect">
          <a:avLst/>
        </a:prstGeom>
        <a:gradFill rotWithShape="0">
          <a:gsLst>
            <a:gs pos="0">
              <a:schemeClr val="accent2">
                <a:shade val="80000"/>
                <a:hueOff val="0"/>
                <a:satOff val="0"/>
                <a:lumOff val="0"/>
                <a:alphaOff val="0"/>
                <a:tint val="43000"/>
                <a:satMod val="165000"/>
              </a:schemeClr>
            </a:gs>
            <a:gs pos="55000">
              <a:schemeClr val="accent2">
                <a:shade val="80000"/>
                <a:hueOff val="0"/>
                <a:satOff val="0"/>
                <a:lumOff val="0"/>
                <a:alphaOff val="0"/>
                <a:tint val="83000"/>
                <a:satMod val="155000"/>
              </a:schemeClr>
            </a:gs>
            <a:gs pos="100000">
              <a:schemeClr val="accent2">
                <a:shade val="80000"/>
                <a:hueOff val="0"/>
                <a:satOff val="0"/>
                <a:lumOff val="0"/>
                <a:alphaOff val="0"/>
                <a:shade val="85000"/>
              </a:schemeClr>
            </a:gs>
          </a:gsLst>
          <a:path path="circle">
            <a:fillToRect l="-40000" t="-90000" r="140000" b="190000"/>
          </a:path>
        </a:gradFill>
        <a:ln>
          <a:noFill/>
        </a:ln>
        <a:effectLst>
          <a:outerShdw blurRad="508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latin typeface="Trebuchet MS"/>
            </a:rPr>
            <a:t>Wer</a:t>
          </a:r>
          <a:endParaRPr lang="en-US" sz="4000" kern="1200"/>
        </a:p>
      </dsp:txBody>
      <dsp:txXfrm>
        <a:off x="0" y="242833"/>
        <a:ext cx="1540747" cy="924448"/>
      </dsp:txXfrm>
    </dsp:sp>
    <dsp:sp modelId="{AF19D073-1D64-45DE-92D4-3D85729E9FAC}">
      <dsp:nvSpPr>
        <dsp:cNvPr id="0" name=""/>
        <dsp:cNvSpPr/>
      </dsp:nvSpPr>
      <dsp:spPr>
        <a:xfrm>
          <a:off x="0" y="1321357"/>
          <a:ext cx="1540747" cy="924448"/>
        </a:xfrm>
        <a:prstGeom prst="rect">
          <a:avLst/>
        </a:prstGeom>
        <a:gradFill rotWithShape="0">
          <a:gsLst>
            <a:gs pos="0">
              <a:schemeClr val="accent2">
                <a:shade val="80000"/>
                <a:hueOff val="29595"/>
                <a:satOff val="-6502"/>
                <a:lumOff val="10368"/>
                <a:alphaOff val="0"/>
                <a:tint val="43000"/>
                <a:satMod val="165000"/>
              </a:schemeClr>
            </a:gs>
            <a:gs pos="55000">
              <a:schemeClr val="accent2">
                <a:shade val="80000"/>
                <a:hueOff val="29595"/>
                <a:satOff val="-6502"/>
                <a:lumOff val="10368"/>
                <a:alphaOff val="0"/>
                <a:tint val="83000"/>
                <a:satMod val="155000"/>
              </a:schemeClr>
            </a:gs>
            <a:gs pos="100000">
              <a:schemeClr val="accent2">
                <a:shade val="80000"/>
                <a:hueOff val="29595"/>
                <a:satOff val="-6502"/>
                <a:lumOff val="10368"/>
                <a:alphaOff val="0"/>
                <a:shade val="85000"/>
              </a:schemeClr>
            </a:gs>
          </a:gsLst>
          <a:path path="circle">
            <a:fillToRect l="-40000" t="-90000" r="140000" b="190000"/>
          </a:path>
        </a:gradFill>
        <a:ln>
          <a:noFill/>
        </a:ln>
        <a:effectLst>
          <a:outerShdw blurRad="508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latin typeface="Trebuchet MS"/>
            </a:rPr>
            <a:t>Wo</a:t>
          </a:r>
          <a:endParaRPr lang="en-US" sz="4000" kern="1200"/>
        </a:p>
      </dsp:txBody>
      <dsp:txXfrm>
        <a:off x="0" y="1321357"/>
        <a:ext cx="1540747" cy="924448"/>
      </dsp:txXfrm>
    </dsp:sp>
    <dsp:sp modelId="{8A643788-493A-4058-8D21-4534F2231CDF}">
      <dsp:nvSpPr>
        <dsp:cNvPr id="0" name=""/>
        <dsp:cNvSpPr/>
      </dsp:nvSpPr>
      <dsp:spPr>
        <a:xfrm>
          <a:off x="0" y="2399880"/>
          <a:ext cx="1540747" cy="924448"/>
        </a:xfrm>
        <a:prstGeom prst="rect">
          <a:avLst/>
        </a:prstGeom>
        <a:gradFill rotWithShape="0">
          <a:gsLst>
            <a:gs pos="0">
              <a:schemeClr val="accent2">
                <a:shade val="80000"/>
                <a:hueOff val="59189"/>
                <a:satOff val="-13003"/>
                <a:lumOff val="20736"/>
                <a:alphaOff val="0"/>
                <a:tint val="43000"/>
                <a:satMod val="165000"/>
              </a:schemeClr>
            </a:gs>
            <a:gs pos="55000">
              <a:schemeClr val="accent2">
                <a:shade val="80000"/>
                <a:hueOff val="59189"/>
                <a:satOff val="-13003"/>
                <a:lumOff val="20736"/>
                <a:alphaOff val="0"/>
                <a:tint val="83000"/>
                <a:satMod val="155000"/>
              </a:schemeClr>
            </a:gs>
            <a:gs pos="100000">
              <a:schemeClr val="accent2">
                <a:shade val="80000"/>
                <a:hueOff val="59189"/>
                <a:satOff val="-13003"/>
                <a:lumOff val="20736"/>
                <a:alphaOff val="0"/>
                <a:shade val="85000"/>
              </a:schemeClr>
            </a:gs>
          </a:gsLst>
          <a:path path="circle">
            <a:fillToRect l="-40000" t="-90000" r="140000" b="190000"/>
          </a:path>
        </a:gradFill>
        <a:ln>
          <a:noFill/>
        </a:ln>
        <a:effectLst>
          <a:outerShdw blurRad="508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latin typeface="Trebuchet MS"/>
            </a:rPr>
            <a:t>Was</a:t>
          </a:r>
          <a:endParaRPr lang="en-US" sz="4000" kern="1200"/>
        </a:p>
      </dsp:txBody>
      <dsp:txXfrm>
        <a:off x="0" y="2399880"/>
        <a:ext cx="1540747" cy="924448"/>
      </dsp:txXfrm>
    </dsp:sp>
    <dsp:sp modelId="{7DBDA5A1-1A00-4304-B5B4-75CFFFC367C2}">
      <dsp:nvSpPr>
        <dsp:cNvPr id="0" name=""/>
        <dsp:cNvSpPr/>
      </dsp:nvSpPr>
      <dsp:spPr>
        <a:xfrm>
          <a:off x="0" y="3478404"/>
          <a:ext cx="1540747" cy="924448"/>
        </a:xfrm>
        <a:prstGeom prst="rect">
          <a:avLst/>
        </a:prstGeom>
        <a:gradFill rotWithShape="0">
          <a:gsLst>
            <a:gs pos="0">
              <a:schemeClr val="accent2">
                <a:shade val="80000"/>
                <a:hueOff val="88784"/>
                <a:satOff val="-19505"/>
                <a:lumOff val="31104"/>
                <a:alphaOff val="0"/>
                <a:tint val="43000"/>
                <a:satMod val="165000"/>
              </a:schemeClr>
            </a:gs>
            <a:gs pos="55000">
              <a:schemeClr val="accent2">
                <a:shade val="80000"/>
                <a:hueOff val="88784"/>
                <a:satOff val="-19505"/>
                <a:lumOff val="31104"/>
                <a:alphaOff val="0"/>
                <a:tint val="83000"/>
                <a:satMod val="155000"/>
              </a:schemeClr>
            </a:gs>
            <a:gs pos="100000">
              <a:schemeClr val="accent2">
                <a:shade val="80000"/>
                <a:hueOff val="88784"/>
                <a:satOff val="-19505"/>
                <a:lumOff val="31104"/>
                <a:alphaOff val="0"/>
                <a:shade val="85000"/>
              </a:schemeClr>
            </a:gs>
          </a:gsLst>
          <a:path path="circle">
            <a:fillToRect l="-40000" t="-90000" r="140000" b="190000"/>
          </a:path>
        </a:gradFill>
        <a:ln>
          <a:noFill/>
        </a:ln>
        <a:effectLst>
          <a:outerShdw blurRad="50800" dist="25400" dir="5400000" rotWithShape="0">
            <a:srgbClr val="000000">
              <a:alpha val="4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latin typeface="Trebuchet MS"/>
            </a:rPr>
            <a:t>Wann</a:t>
          </a:r>
          <a:endParaRPr lang="en-US" sz="4000" kern="1200"/>
        </a:p>
      </dsp:txBody>
      <dsp:txXfrm>
        <a:off x="0" y="3478404"/>
        <a:ext cx="1540747" cy="924448"/>
      </dsp:txXfrm>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CE451F-3E05-4335-B799-31A1CA24BC8E}" type="datetimeFigureOut">
              <a:rPr lang="de-DE" smtClean="0"/>
              <a:t>28.04.25</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BF85D8-A6AA-4CB5-A30A-03B8A365335B}" type="slidenum">
              <a:rPr lang="de-DE" smtClean="0"/>
              <a:t>‹Nr.›</a:t>
            </a:fld>
            <a:endParaRPr lang="de-DE"/>
          </a:p>
        </p:txBody>
      </p:sp>
    </p:spTree>
    <p:extLst>
      <p:ext uri="{BB962C8B-B14F-4D97-AF65-F5344CB8AC3E}">
        <p14:creationId xmlns:p14="http://schemas.microsoft.com/office/powerpoint/2010/main" val="1805833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a:defRPr/>
            </a:pPr>
            <a:r>
              <a:rPr lang="de-DE" dirty="0" err="1"/>
              <a:t>Audiodiskreption</a:t>
            </a:r>
            <a:r>
              <a:rPr lang="de-DE" dirty="0"/>
              <a:t> oder auch akustische Bildbeschreibung ist ein Verfahren welches blinden und sehbehinderten ermöglichen soll visuelle Vorgänge besser wahrnehmen zu können. </a:t>
            </a:r>
            <a:endParaRPr lang="en-US" dirty="0"/>
          </a:p>
          <a:p>
            <a:pPr>
              <a:defRPr/>
            </a:pPr>
            <a:r>
              <a:rPr lang="de-DE" dirty="0"/>
              <a:t>Es übersetzt dazu visuelle Inhalte in gesprochene Worte. </a:t>
            </a:r>
          </a:p>
          <a:p>
            <a:pPr>
              <a:defRPr/>
            </a:pPr>
            <a:endParaRPr lang="de-DE"/>
          </a:p>
          <a:p>
            <a:pPr>
              <a:defRPr/>
            </a:pPr>
            <a:endParaRPr lang="de-DE">
              <a:ea typeface="Calibri"/>
              <a:cs typeface="Calibri"/>
            </a:endParaRPr>
          </a:p>
          <a:p>
            <a:pPr>
              <a:defRPr/>
            </a:pPr>
            <a:endParaRPr lang="de-DE"/>
          </a:p>
          <a:p>
            <a:pPr>
              <a:defRPr/>
            </a:pPr>
            <a:r>
              <a:rPr lang="de-DE" dirty="0" err="1"/>
              <a:t>Audiodiskreption</a:t>
            </a:r>
            <a:r>
              <a:rPr lang="de-DE" dirty="0"/>
              <a:t> wird meist in Filmen sowie vereinzelt Live Übertragungen verwendet um ein Barrierefreies Erlebnis für alle Interessierten zu ermöglichen. Dies wird als Hörfassung bzw. </a:t>
            </a:r>
            <a:r>
              <a:rPr lang="de-DE" dirty="0" err="1"/>
              <a:t>Hörfilm</a:t>
            </a:r>
            <a:r>
              <a:rPr lang="de-DE" dirty="0"/>
              <a:t> bezeichnet.</a:t>
            </a:r>
          </a:p>
          <a:p>
            <a:pPr>
              <a:defRPr/>
            </a:pPr>
            <a:r>
              <a:rPr lang="de-DE" dirty="0"/>
              <a:t>Weitere Einsatzgebiete sind Schauspiel und Musiktheater, Stadtführungen, Naturerlebnispfade und Live-Sportereignisse. Nicht zu verwechseln mit einem Audiokommentar, welches zum </a:t>
            </a:r>
            <a:r>
              <a:rPr lang="de-DE" dirty="0" err="1"/>
              <a:t>beispiel</a:t>
            </a:r>
            <a:r>
              <a:rPr lang="de-DE" dirty="0"/>
              <a:t> in Museen existiert.</a:t>
            </a:r>
          </a:p>
          <a:p>
            <a:pPr>
              <a:defRPr/>
            </a:pPr>
            <a:r>
              <a:rPr lang="de-DE" dirty="0"/>
              <a:t>Hauptzielgruppe sind logischerweise blinde sowie sehbehinderte Menschen. Es ist aber auch ebenfalls hilfreich für Autistische Menschen welche bedingt durch Gesichtsblindheit oft die handelnden Charaktere miteinander verwechseln.</a:t>
            </a:r>
          </a:p>
          <a:p>
            <a:pPr marL="0" marR="0" indent="0" algn="l" defTabSz="914400">
              <a:lnSpc>
                <a:spcPct val="100000"/>
              </a:lnSpc>
              <a:spcBef>
                <a:spcPts val="0"/>
              </a:spcBef>
              <a:spcAft>
                <a:spcPts val="0"/>
              </a:spcAft>
              <a:buClrTx/>
              <a:buSzTx/>
              <a:buFontTx/>
              <a:buNone/>
              <a:tabLst/>
              <a:defRPr/>
            </a:pPr>
            <a:endParaRPr lang="de-DE" sz="1200" kern="1200" dirty="0">
              <a:solidFill>
                <a:schemeClr val="tx1"/>
              </a:solidFill>
              <a:effectLst/>
              <a:latin typeface="+mn-lt"/>
              <a:ea typeface="Calibri"/>
              <a:cs typeface="Calibri"/>
            </a:endParaRPr>
          </a:p>
        </p:txBody>
      </p:sp>
      <p:sp>
        <p:nvSpPr>
          <p:cNvPr id="4" name="Foliennummernplatzhalter 3"/>
          <p:cNvSpPr>
            <a:spLocks noGrp="1"/>
          </p:cNvSpPr>
          <p:nvPr>
            <p:ph type="sldNum" sz="quarter" idx="10"/>
          </p:nvPr>
        </p:nvSpPr>
        <p:spPr/>
        <p:txBody>
          <a:bodyPr/>
          <a:lstStyle/>
          <a:p>
            <a:fld id="{D9BF85D8-A6AA-4CB5-A30A-03B8A365335B}" type="slidenum">
              <a:rPr lang="de-DE" smtClean="0"/>
              <a:t>3</a:t>
            </a:fld>
            <a:endParaRPr lang="de-DE"/>
          </a:p>
        </p:txBody>
      </p:sp>
    </p:spTree>
    <p:extLst>
      <p:ext uri="{BB962C8B-B14F-4D97-AF65-F5344CB8AC3E}">
        <p14:creationId xmlns:p14="http://schemas.microsoft.com/office/powerpoint/2010/main" val="2059787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D1772-9434-0E80-AE7C-A8C21DEED02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3EA1EBC-990E-B7BF-79E2-DFFE962C63B9}"/>
              </a:ext>
            </a:extLst>
          </p:cNvPr>
          <p:cNvSpPr>
            <a:spLocks noGrp="1" noRot="1" noChangeAspect="1"/>
          </p:cNvSpPr>
          <p:nvPr>
            <p:ph type="sldImg"/>
          </p:nvPr>
        </p:nvSpPr>
        <p:spPr>
          <a:xfrm>
            <a:off x="381000" y="685800"/>
            <a:ext cx="6096000" cy="3429000"/>
          </a:xfrm>
        </p:spPr>
      </p:sp>
      <p:sp>
        <p:nvSpPr>
          <p:cNvPr id="3" name="Notizenplatzhalter 2">
            <a:extLst>
              <a:ext uri="{FF2B5EF4-FFF2-40B4-BE49-F238E27FC236}">
                <a16:creationId xmlns:a16="http://schemas.microsoft.com/office/drawing/2014/main" id="{923E742C-B756-F46F-4A3F-BCA62B3E5A6D}"/>
              </a:ext>
            </a:extLst>
          </p:cNvPr>
          <p:cNvSpPr>
            <a:spLocks noGrp="1"/>
          </p:cNvSpPr>
          <p:nvPr>
            <p:ph type="body" idx="1"/>
          </p:nvPr>
        </p:nvSpPr>
        <p:spPr/>
        <p:txBody>
          <a:bodyPr/>
          <a:lstStyle/>
          <a:p>
            <a:pPr>
              <a:defRPr/>
            </a:pPr>
            <a:r>
              <a:rPr lang="de-DE"/>
              <a:t>Die Audiodeskription hat ihre Wurzeln in den 1970er Jahren, als sie zum ersten Mal in den USA eingesetzt wurde. Seitdem hat sie sich weltweit verbreitet und wird heute in einer Vielzahl von Medienformaten verwendet, um den Zugang zu Informationen zu verbessern.</a:t>
            </a:r>
            <a:endParaRPr lang="en-US"/>
          </a:p>
          <a:p>
            <a:pPr>
              <a:defRPr/>
            </a:pPr>
            <a:r>
              <a:rPr lang="de-DE" b="1"/>
              <a:t>Deutsches Fernsehen</a:t>
            </a:r>
            <a:endParaRPr lang="de-DE"/>
          </a:p>
          <a:p>
            <a:pPr>
              <a:defRPr/>
            </a:pPr>
            <a:r>
              <a:rPr lang="de-DE"/>
              <a:t>•Am 11. Oktober 1993 strahlte das ZDF mit "Eine unheilige Liebe" das erste Mal einen Hörfilm aus</a:t>
            </a:r>
          </a:p>
          <a:p>
            <a:pPr>
              <a:defRPr/>
            </a:pPr>
            <a:r>
              <a:rPr lang="de-DE"/>
              <a:t>•Bis zur Digitalisierung wurden Hörfilme mit Zweitonkanal ausgestrahlt</a:t>
            </a:r>
          </a:p>
          <a:p>
            <a:pPr>
              <a:defRPr/>
            </a:pPr>
            <a:r>
              <a:rPr lang="de-DE"/>
              <a:t>• Filme nur Momo gesendet ein kanal Hörfilm ein kanal normaler Filmton --&gt; Technisch unbefriedigend, nicht für jeden umsetzbar</a:t>
            </a:r>
          </a:p>
          <a:p>
            <a:pPr>
              <a:defRPr/>
            </a:pPr>
            <a:r>
              <a:rPr lang="de-DE"/>
              <a:t>•Finanzierung und Technische Limitierungen als Problem</a:t>
            </a:r>
          </a:p>
          <a:p>
            <a:pPr>
              <a:defRPr/>
            </a:pPr>
            <a:r>
              <a:rPr lang="de-DE"/>
              <a:t>•Seit Digitalisierung: Audiodeskription als eigene Tonspur </a:t>
            </a:r>
          </a:p>
          <a:p>
            <a:pPr>
              <a:defRPr/>
            </a:pPr>
            <a:r>
              <a:rPr lang="de-DE"/>
              <a:t>•</a:t>
            </a:r>
          </a:p>
          <a:p>
            <a:pPr>
              <a:defRPr/>
            </a:pPr>
            <a:r>
              <a:rPr lang="de-DE"/>
              <a:t>•</a:t>
            </a:r>
            <a:r>
              <a:rPr lang="de-DE" b="1"/>
              <a:t>Förderung</a:t>
            </a:r>
            <a:endParaRPr lang="de-DE"/>
          </a:p>
          <a:p>
            <a:pPr>
              <a:defRPr/>
            </a:pPr>
            <a:r>
              <a:rPr lang="de-DE"/>
              <a:t>•Seit 1. Mai 2013 neue Regeln bei Filmförderungsanstalt --&gt; förderung barrierefreier Filme : audiodescription, untertitel</a:t>
            </a:r>
          </a:p>
          <a:p>
            <a:pPr marL="0" marR="0" indent="0" algn="l" defTabSz="914400">
              <a:lnSpc>
                <a:spcPct val="100000"/>
              </a:lnSpc>
              <a:spcBef>
                <a:spcPts val="0"/>
              </a:spcBef>
              <a:spcAft>
                <a:spcPts val="0"/>
              </a:spcAft>
              <a:buClrTx/>
              <a:buSzTx/>
              <a:buFontTx/>
              <a:buNone/>
              <a:tabLst/>
              <a:defRPr/>
            </a:pPr>
            <a:endParaRPr lang="de-DE" sz="1200" kern="1200">
              <a:solidFill>
                <a:schemeClr val="tx1"/>
              </a:solidFill>
              <a:effectLst/>
              <a:latin typeface="+mn-lt"/>
              <a:ea typeface="Calibri"/>
              <a:cs typeface="Calibri"/>
            </a:endParaRPr>
          </a:p>
        </p:txBody>
      </p:sp>
      <p:sp>
        <p:nvSpPr>
          <p:cNvPr id="4" name="Foliennummernplatzhalter 3">
            <a:extLst>
              <a:ext uri="{FF2B5EF4-FFF2-40B4-BE49-F238E27FC236}">
                <a16:creationId xmlns:a16="http://schemas.microsoft.com/office/drawing/2014/main" id="{4C04D58B-746A-9923-AAF4-20BE29058F81}"/>
              </a:ext>
            </a:extLst>
          </p:cNvPr>
          <p:cNvSpPr>
            <a:spLocks noGrp="1"/>
          </p:cNvSpPr>
          <p:nvPr>
            <p:ph type="sldNum" sz="quarter" idx="10"/>
          </p:nvPr>
        </p:nvSpPr>
        <p:spPr/>
        <p:txBody>
          <a:bodyPr/>
          <a:lstStyle/>
          <a:p>
            <a:fld id="{D9BF85D8-A6AA-4CB5-A30A-03B8A365335B}" type="slidenum">
              <a:rPr lang="de-DE" smtClean="0"/>
              <a:t>4</a:t>
            </a:fld>
            <a:endParaRPr lang="de-DE"/>
          </a:p>
        </p:txBody>
      </p:sp>
    </p:spTree>
    <p:extLst>
      <p:ext uri="{BB962C8B-B14F-4D97-AF65-F5344CB8AC3E}">
        <p14:creationId xmlns:p14="http://schemas.microsoft.com/office/powerpoint/2010/main" val="38531592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65136-E49B-4957-ED92-025E7E4A796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47F6E02-302F-1048-0CB7-A2502646C6DB}"/>
              </a:ext>
            </a:extLst>
          </p:cNvPr>
          <p:cNvSpPr>
            <a:spLocks noGrp="1" noRot="1" noChangeAspect="1"/>
          </p:cNvSpPr>
          <p:nvPr>
            <p:ph type="sldImg"/>
          </p:nvPr>
        </p:nvSpPr>
        <p:spPr>
          <a:xfrm>
            <a:off x="381000" y="685800"/>
            <a:ext cx="6096000" cy="3429000"/>
          </a:xfrm>
        </p:spPr>
      </p:sp>
      <p:sp>
        <p:nvSpPr>
          <p:cNvPr id="3" name="Notizenplatzhalter 2">
            <a:extLst>
              <a:ext uri="{FF2B5EF4-FFF2-40B4-BE49-F238E27FC236}">
                <a16:creationId xmlns:a16="http://schemas.microsoft.com/office/drawing/2014/main" id="{5ABB54CB-3BE4-7554-56A4-104AE080BA96}"/>
              </a:ext>
            </a:extLst>
          </p:cNvPr>
          <p:cNvSpPr>
            <a:spLocks noGrp="1"/>
          </p:cNvSpPr>
          <p:nvPr>
            <p:ph type="body" idx="1"/>
          </p:nvPr>
        </p:nvSpPr>
        <p:spPr/>
        <p:txBody>
          <a:bodyPr/>
          <a:lstStyle/>
          <a:p>
            <a:pPr>
              <a:defRPr/>
            </a:pPr>
            <a:endParaRPr lang="de-DE"/>
          </a:p>
          <a:p>
            <a:pPr marL="285750" indent="-285750">
              <a:buFont typeface="Wingdings,Sans-Serif"/>
              <a:buChar char="§"/>
              <a:defRPr/>
            </a:pPr>
            <a:r>
              <a:rPr lang="de-DE" b="1"/>
              <a:t>Barrierefreiheit </a:t>
            </a:r>
            <a:endParaRPr lang="en-US"/>
          </a:p>
          <a:p>
            <a:pPr>
              <a:defRPr/>
            </a:pPr>
            <a:r>
              <a:rPr lang="de-DE"/>
              <a:t>Audiodeskription ist entscheidend für die Schaffung von Barrierefreiheit, damit alle Menschen Zugang zu wichtigen Informationen erhalten.</a:t>
            </a:r>
            <a:endParaRPr lang="en-US"/>
          </a:p>
          <a:p>
            <a:pPr lvl="1">
              <a:defRPr/>
            </a:pPr>
            <a:endParaRPr lang="de-DE"/>
          </a:p>
          <a:p>
            <a:pPr marL="285750" indent="-285750">
              <a:buFont typeface="Wingdings,Sans-Serif"/>
              <a:buChar char="§"/>
              <a:defRPr/>
            </a:pPr>
            <a:r>
              <a:rPr lang="de-DE" b="1"/>
              <a:t>Teilhabe an kulturellen Aktivitäten</a:t>
            </a:r>
            <a:endParaRPr lang="en-US"/>
          </a:p>
          <a:p>
            <a:pPr lvl="1">
              <a:defRPr/>
            </a:pPr>
            <a:r>
              <a:rPr lang="de-DE"/>
              <a:t>Durch Audiodeskription können Menschen mit Sehbehinderungen aktiv an kulturellen Aktivitäten teilnehmen und diese erleben.</a:t>
            </a:r>
            <a:endParaRPr lang="en-US"/>
          </a:p>
          <a:p>
            <a:pPr lvl="1">
              <a:defRPr/>
            </a:pPr>
            <a:endParaRPr lang="de-DE"/>
          </a:p>
          <a:p>
            <a:pPr marL="285750" indent="-285750">
              <a:buFont typeface="Wingdings,Sans-Serif"/>
              <a:buChar char="§"/>
              <a:defRPr/>
            </a:pPr>
            <a:r>
              <a:rPr lang="de-DE" b="1"/>
              <a:t>Inklusive Gesellschaft</a:t>
            </a:r>
            <a:endParaRPr lang="en-US"/>
          </a:p>
          <a:p>
            <a:pPr>
              <a:defRPr/>
            </a:pPr>
            <a:r>
              <a:rPr lang="de-DE"/>
              <a:t>Die Implementierung von Audiodeskriptionen fördert die gesellschaftliche Inklusion und das Verständnis für Menschen mit Behinderungen.</a:t>
            </a:r>
            <a:endParaRPr lang="de-DE">
              <a:ea typeface="+mn-ea"/>
              <a:cs typeface="+mn-cs"/>
            </a:endParaRPr>
          </a:p>
        </p:txBody>
      </p:sp>
      <p:sp>
        <p:nvSpPr>
          <p:cNvPr id="4" name="Foliennummernplatzhalter 3">
            <a:extLst>
              <a:ext uri="{FF2B5EF4-FFF2-40B4-BE49-F238E27FC236}">
                <a16:creationId xmlns:a16="http://schemas.microsoft.com/office/drawing/2014/main" id="{E6C1ED22-24F0-6F67-56A8-58071251B5FF}"/>
              </a:ext>
            </a:extLst>
          </p:cNvPr>
          <p:cNvSpPr>
            <a:spLocks noGrp="1"/>
          </p:cNvSpPr>
          <p:nvPr>
            <p:ph type="sldNum" sz="quarter" idx="10"/>
          </p:nvPr>
        </p:nvSpPr>
        <p:spPr/>
        <p:txBody>
          <a:bodyPr/>
          <a:lstStyle/>
          <a:p>
            <a:fld id="{D9BF85D8-A6AA-4CB5-A30A-03B8A365335B}" type="slidenum">
              <a:rPr lang="de-DE" smtClean="0"/>
              <a:t>5</a:t>
            </a:fld>
            <a:endParaRPr lang="de-DE"/>
          </a:p>
        </p:txBody>
      </p:sp>
    </p:spTree>
    <p:extLst>
      <p:ext uri="{BB962C8B-B14F-4D97-AF65-F5344CB8AC3E}">
        <p14:creationId xmlns:p14="http://schemas.microsoft.com/office/powerpoint/2010/main" val="16565135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a:t>Prüfen  ob eine AD notwendig und möglich ist. Bei Videos mit hohem Sprachanteil fehlen die nötige Pausen.  In solchen Fällen nicht nötig.</a:t>
            </a:r>
          </a:p>
          <a:p>
            <a:pPr marL="285750" indent="-285750">
              <a:buFont typeface="Arial"/>
              <a:buChar char="•"/>
            </a:pPr>
            <a:r>
              <a:rPr lang="en-US"/>
              <a:t>Halten Sie die Szenen fest, die beschrieben werden müssen. Nutzbare passagen (Passagen ohne dialog oder andere Wichtige Geräusche) Zeitlich festhalten. </a:t>
            </a:r>
          </a:p>
          <a:p>
            <a:pPr marL="285750" indent="-285750">
              <a:buFont typeface="Arial"/>
              <a:buChar char="•"/>
            </a:pPr>
            <a:r>
              <a:rPr lang="en-US"/>
              <a:t>Schreiben Sie die Texte für die Audiodeskription. Wie alle Texte müssen diese sorgfältig redigiert werden. Die AD soll nicht werten, sondern objektiv beschreiben. Mehr dazu auf den kommenden Folien</a:t>
            </a:r>
          </a:p>
          <a:p>
            <a:pPr marL="285750" indent="-285750">
              <a:buFont typeface="Arial"/>
              <a:buChar char="•"/>
            </a:pPr>
            <a:r>
              <a:rPr lang="en-US"/>
              <a:t>Ist der Text geschrieben, müssen die einzelnen Passagen eingesprochen werden. Aufnahmetechnik verwenden, welche  der Aufnahmequalität des Videos entspricht. Ist die AD verrauscht und der Clip nicht, wirkt dies ablenkend und unprofessionell. Der Sprecher sollte neutral und langsam sprechen. Abspielgeschwindigkeit kann hinterher überarbeitet werden. neutraler Erzähler und nicht Teil des Filmgeschehens. Er beschreibt das zu Sehende und wertet nicht.</a:t>
            </a:r>
          </a:p>
          <a:p>
            <a:pPr marL="285750" indent="-285750">
              <a:buFont typeface="Arial"/>
              <a:buChar char="•"/>
            </a:pPr>
            <a:r>
              <a:rPr lang="en-US"/>
              <a:t>Im letzten Schritt müssen die eingesprochenen Passagen mit dem Film synchronisiert werden.</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D9BF85D8-A6AA-4CB5-A30A-03B8A365335B}" type="slidenum">
              <a:rPr lang="de-DE" smtClean="0"/>
              <a:t>6</a:t>
            </a:fld>
            <a:endParaRPr lang="de-DE"/>
          </a:p>
        </p:txBody>
      </p:sp>
    </p:spTree>
    <p:extLst>
      <p:ext uri="{BB962C8B-B14F-4D97-AF65-F5344CB8AC3E}">
        <p14:creationId xmlns:p14="http://schemas.microsoft.com/office/powerpoint/2010/main" val="3358109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Wingdings,Sans-Serif"/>
              <a:buChar char="§"/>
            </a:pPr>
            <a:r>
              <a:rPr lang="de-DE"/>
              <a:t>Personen: „Aussehen der Protagonisten, Haar- und Hautfarbe, Alter, Kleidung, Körpersprache, Gesichtsausdrücke (Gestik und Gesichtsausdrücke sollten sorgfältig abgewogen und eher vorsichtig beschrieben werden. Sie können schnell missverstanden werden.)“ (ARD et al. 2019) </a:t>
            </a:r>
          </a:p>
          <a:p>
            <a:pPr marL="285750" indent="-285750">
              <a:buFont typeface="Wingdings,Sans-Serif"/>
              <a:buChar char="§"/>
            </a:pPr>
            <a:r>
              <a:rPr lang="de-DE"/>
              <a:t>Situation </a:t>
            </a:r>
          </a:p>
          <a:p>
            <a:pPr marL="285750" indent="-285750">
              <a:buFont typeface="Wingdings,Sans-Serif"/>
              <a:buChar char="§"/>
            </a:pPr>
            <a:r>
              <a:rPr lang="de-DE"/>
              <a:t>Räumlichkeiten, Orte, Umgebung</a:t>
            </a:r>
            <a:endParaRPr lang="en-US"/>
          </a:p>
          <a:p>
            <a:pPr marL="285750" indent="-285750">
              <a:buFont typeface="Wingdings,Sans-Serif"/>
              <a:buChar char="§"/>
            </a:pPr>
            <a:r>
              <a:rPr lang="de-DE"/>
              <a:t>unklare Geräusche</a:t>
            </a:r>
          </a:p>
          <a:p>
            <a:pPr marL="285750" indent="-285750">
              <a:buFont typeface="Wingdings,Sans-Serif"/>
              <a:buChar char="§"/>
            </a:pPr>
            <a:r>
              <a:rPr lang="de-DE"/>
              <a:t>Texteinblendungen oder Schrift im Bild</a:t>
            </a:r>
          </a:p>
          <a:p>
            <a:pPr marL="285750" indent="-285750">
              <a:buFont typeface="Wingdings,Sans-Serif"/>
              <a:buChar char="§"/>
            </a:pPr>
            <a:r>
              <a:rPr lang="de-DE"/>
              <a:t>Farben, erwähnen, wenn inhaltlich relevant </a:t>
            </a:r>
          </a:p>
          <a:p>
            <a:pPr marL="285750" indent="-285750">
              <a:buFont typeface="Wingdings,Sans-Serif"/>
              <a:buChar char="§"/>
            </a:pPr>
            <a:r>
              <a:rPr lang="de-DE"/>
              <a:t>Ortsnamen und Markennamen wenn handlungsrelevant</a:t>
            </a:r>
            <a:endParaRPr lang="en-US"/>
          </a:p>
        </p:txBody>
      </p:sp>
      <p:sp>
        <p:nvSpPr>
          <p:cNvPr id="4" name="Slide Number Placeholder 3"/>
          <p:cNvSpPr>
            <a:spLocks noGrp="1"/>
          </p:cNvSpPr>
          <p:nvPr>
            <p:ph type="sldNum" sz="quarter" idx="5"/>
          </p:nvPr>
        </p:nvSpPr>
        <p:spPr/>
        <p:txBody>
          <a:bodyPr/>
          <a:lstStyle/>
          <a:p>
            <a:fld id="{D9BF85D8-A6AA-4CB5-A30A-03B8A365335B}" type="slidenum">
              <a:rPr lang="de-DE" smtClean="0"/>
              <a:t>7</a:t>
            </a:fld>
            <a:endParaRPr lang="de-DE"/>
          </a:p>
        </p:txBody>
      </p:sp>
    </p:spTree>
    <p:extLst>
      <p:ext uri="{BB962C8B-B14F-4D97-AF65-F5344CB8AC3E}">
        <p14:creationId xmlns:p14="http://schemas.microsoft.com/office/powerpoint/2010/main" val="13902255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Wingdings,Sans-Serif"/>
              <a:buChar char="§"/>
            </a:pPr>
            <a:r>
              <a:rPr lang="de-DE"/>
              <a:t>Präsens </a:t>
            </a:r>
          </a:p>
          <a:p>
            <a:pPr marL="285750" indent="-285750">
              <a:buFont typeface="Wingdings,Sans-Serif"/>
              <a:buChar char="§"/>
            </a:pPr>
            <a:r>
              <a:rPr lang="de-DE"/>
              <a:t>Einfache Satzstruktur bzw. nicht unbedingt vollständige Sätze (Anstatt: „Es ist ein Klassenzimmer zu sehen, in dem Schüler*innen an Tischen sitzen und schreiben. Ein Lehrer steht vorne.“ Besser: „Klassenzimmer. Schüler*innen sitzen an Tischen und schreiben. Lehrer steht vorne.“)</a:t>
            </a:r>
            <a:endParaRPr lang="en-US"/>
          </a:p>
          <a:p>
            <a:pPr marL="285750" indent="-285750">
              <a:buFont typeface="Wingdings,Sans-Serif"/>
              <a:buChar char="§"/>
            </a:pPr>
            <a:r>
              <a:rPr lang="de-DE"/>
              <a:t>handlungssynchron, nach Möglichkeit in Sprechpausen (falls nötig Standzeiten einbauen) </a:t>
            </a:r>
          </a:p>
          <a:p>
            <a:pPr marL="285750" indent="-285750">
              <a:buFont typeface="Wingdings,Sans-Serif"/>
              <a:buChar char="§"/>
            </a:pPr>
            <a:r>
              <a:rPr lang="de-DE"/>
              <a:t>keine handlungsrelevanten Geräusche mit AD überdecken </a:t>
            </a:r>
          </a:p>
          <a:p>
            <a:pPr marL="285750" indent="-285750">
              <a:buFont typeface="Wingdings,Sans-Serif"/>
              <a:buChar char="§"/>
            </a:pPr>
            <a:r>
              <a:rPr lang="de-DE"/>
              <a:t>keine Erklärungen, Interpretationen oder Bewertungen</a:t>
            </a:r>
          </a:p>
          <a:p>
            <a:pPr lvl="1" indent="-285750">
              <a:buFont typeface="Courier New"/>
              <a:buChar char="o"/>
            </a:pPr>
            <a:r>
              <a:rPr lang="de-DE"/>
              <a:t>„Die fröhliche Gruppe schaut in die Kamera.“</a:t>
            </a:r>
            <a:br>
              <a:rPr lang="de-DE"/>
            </a:br>
            <a:r>
              <a:rPr lang="de-DE"/>
              <a:t>Schreiben Sie lieber:</a:t>
            </a:r>
            <a:br>
              <a:rPr lang="de-DE"/>
            </a:br>
            <a:r>
              <a:rPr lang="de-DE"/>
              <a:t>„Die Gruppe schaut lachend in die Kamera.“</a:t>
            </a:r>
            <a:endParaRPr lang="de-DE">
              <a:ea typeface="Calibri"/>
              <a:cs typeface="Calibri"/>
            </a:endParaRPr>
          </a:p>
          <a:p>
            <a:pPr marL="285750" indent="-285750">
              <a:buFont typeface="Wingdings,Sans-Serif"/>
              <a:buChar char="§"/>
            </a:pPr>
            <a:r>
              <a:rPr lang="de-DE"/>
              <a:t>Nutzung von Fachbegriffen, wenn bekannt (z. B. Softwareprogramme, Instrumente, etc.) ansonsten erklären</a:t>
            </a:r>
          </a:p>
          <a:p>
            <a:pPr marL="285750" indent="-285750">
              <a:buFont typeface="Wingdings,Sans-Serif"/>
              <a:buChar char="§"/>
            </a:pPr>
            <a:r>
              <a:rPr lang="de-DE"/>
              <a:t>keine Formulierungen wie „Wir sehen“</a:t>
            </a:r>
          </a:p>
          <a:p>
            <a:pPr marL="285750" indent="-285750">
              <a:buFont typeface="Wingdings,Sans-Serif"/>
              <a:buChar char="§"/>
            </a:pPr>
            <a:r>
              <a:rPr lang="de-DE"/>
              <a:t>Bei Richtungsangaben hat die Perspektive der Betrachter*innen Vorrang. Außer es geht um die Person, um „seinen“ linken Fuß/Arm etc. Dann gilt das Körperprinzip.</a:t>
            </a:r>
            <a:endParaRPr lang="en-US"/>
          </a:p>
        </p:txBody>
      </p:sp>
      <p:sp>
        <p:nvSpPr>
          <p:cNvPr id="4" name="Slide Number Placeholder 3"/>
          <p:cNvSpPr>
            <a:spLocks noGrp="1"/>
          </p:cNvSpPr>
          <p:nvPr>
            <p:ph type="sldNum" sz="quarter" idx="5"/>
          </p:nvPr>
        </p:nvSpPr>
        <p:spPr/>
        <p:txBody>
          <a:bodyPr/>
          <a:lstStyle/>
          <a:p>
            <a:fld id="{D9BF85D8-A6AA-4CB5-A30A-03B8A365335B}" type="slidenum">
              <a:rPr lang="de-DE" smtClean="0"/>
              <a:t>8</a:t>
            </a:fld>
            <a:endParaRPr lang="de-DE"/>
          </a:p>
        </p:txBody>
      </p:sp>
    </p:spTree>
    <p:extLst>
      <p:ext uri="{BB962C8B-B14F-4D97-AF65-F5344CB8AC3E}">
        <p14:creationId xmlns:p14="http://schemas.microsoft.com/office/powerpoint/2010/main" val="575754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In Deutschland ist die wichtigste rechtliche Grundlage für das duale Rundfunksystem der Medienstaatsvertrag, früher Rundfunkstaatsvertrag. Er enthält Grundsatzregelungen für den privaten und öffentlich-rechtlichen Rundfunk und für alle Telemedienanbieter. Unter anderem ist dort festgehalten, dass dem öffentlich-rechtliche Rundfunk Teilhabe an allen neuen technischen Möglichkeiten zur Herstellung von Medien zu gewährleisten ist. Das ist ja genau das, was wir hier jetzt versuchen.</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2010 wurde die AVMD-Richtlinie der EU im Medienstaatsvertrag umgesetzt und somit zu nationalem Recht erklärt. Im Paragraph 7  der Medienstaatsvertrags wird nun zum Thema Barrierefreiheit festgehalten, dass im Rahmen der technischen und finanziellen Möglichkeiten, barrierefreie Angebote aufgenommen und stetig ausgeweitet werden sollen.</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Als Definition für Barrierefreiheit wird folgendes angegeben: </a:t>
            </a:r>
            <a:r>
              <a:rPr lang="de-DE" sz="1800" dirty="0">
                <a:effectLst/>
                <a:latin typeface="Calibri" panose="020F0502020204030204" pitchFamily="34" charset="0"/>
              </a:rPr>
              <a:t>Im Sinne des Medienstaatsvertrag wird unter einem barrierefreien Angebot ein Angebot verstanden, welches für Menschen mit Behinderungen in der allgemein üblichen Weise, bei Nutzung behinderungsbedingt notwendiger Hilfsmittel, nach dem jeweiligen Stand der Technik ohne besondere Erschwernis und möglichst ohne fremde Hilfe auffindbar, zugänglich und nutzbar ist.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1800" dirty="0">
              <a:effectLst/>
              <a:latin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de-DE" sz="1800" dirty="0">
                <a:effectLst/>
                <a:latin typeface="Calibri" panose="020F0502020204030204" pitchFamily="34" charset="0"/>
              </a:rPr>
              <a:t>Es gibt also an sich keine gesetzliche Verpflichtung in einem gewissen Rahmen Inhalte mit Audiodeskription anzubieten, aber die </a:t>
            </a:r>
            <a:r>
              <a:rPr lang="de-DE" sz="1800" dirty="0" err="1">
                <a:effectLst/>
                <a:latin typeface="Calibri" panose="020F0502020204030204" pitchFamily="34" charset="0"/>
              </a:rPr>
              <a:t>Rundfunktanbieter</a:t>
            </a:r>
            <a:r>
              <a:rPr lang="de-DE" sz="1800" dirty="0">
                <a:effectLst/>
                <a:latin typeface="Calibri" panose="020F0502020204030204" pitchFamily="34" charset="0"/>
              </a:rPr>
              <a:t> sind dazu angehalten, dass barrierefreie Angebot stetig auszuweiten und zu verbessern.</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kern="1200" dirty="0">
              <a:solidFill>
                <a:schemeClr val="tx1"/>
              </a:solidFill>
              <a:effectLst/>
              <a:latin typeface="+mn-lt"/>
              <a:ea typeface="+mn-ea"/>
              <a:cs typeface="+mn-cs"/>
            </a:endParaRPr>
          </a:p>
        </p:txBody>
      </p:sp>
      <p:sp>
        <p:nvSpPr>
          <p:cNvPr id="4" name="Foliennummernplatzhalter 3"/>
          <p:cNvSpPr>
            <a:spLocks noGrp="1"/>
          </p:cNvSpPr>
          <p:nvPr>
            <p:ph type="sldNum" sz="quarter" idx="10"/>
          </p:nvPr>
        </p:nvSpPr>
        <p:spPr/>
        <p:txBody>
          <a:bodyPr/>
          <a:lstStyle/>
          <a:p>
            <a:fld id="{D9BF85D8-A6AA-4CB5-A30A-03B8A365335B}" type="slidenum">
              <a:rPr lang="de-DE" smtClean="0"/>
              <a:t>9</a:t>
            </a:fld>
            <a:endParaRPr lang="de-DE"/>
          </a:p>
        </p:txBody>
      </p:sp>
    </p:spTree>
    <p:extLst>
      <p:ext uri="{BB962C8B-B14F-4D97-AF65-F5344CB8AC3E}">
        <p14:creationId xmlns:p14="http://schemas.microsoft.com/office/powerpoint/2010/main" val="2183786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F1382-16F8-AE4E-7F2E-C94CC5FCD79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9294BE4-00F6-0635-B902-8DE16A9DD5A2}"/>
              </a:ext>
            </a:extLst>
          </p:cNvPr>
          <p:cNvSpPr>
            <a:spLocks noGrp="1" noRot="1" noChangeAspect="1"/>
          </p:cNvSpPr>
          <p:nvPr>
            <p:ph type="sldImg"/>
          </p:nvPr>
        </p:nvSpPr>
        <p:spPr>
          <a:xfrm>
            <a:off x="381000" y="685800"/>
            <a:ext cx="6096000" cy="3429000"/>
          </a:xfrm>
        </p:spPr>
      </p:sp>
      <p:sp>
        <p:nvSpPr>
          <p:cNvPr id="3" name="Notizenplatzhalter 2">
            <a:extLst>
              <a:ext uri="{FF2B5EF4-FFF2-40B4-BE49-F238E27FC236}">
                <a16:creationId xmlns:a16="http://schemas.microsoft.com/office/drawing/2014/main" id="{97BEABCF-1ABC-7B75-B702-76F0E4ACAB74}"/>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Um die Frage nach der ethischen Verantwortung zur Audiodeskription </a:t>
            </a:r>
            <a:r>
              <a:rPr lang="de-DE" sz="1200" kern="1200" dirty="0" err="1">
                <a:solidFill>
                  <a:schemeClr val="tx1"/>
                </a:solidFill>
                <a:effectLst/>
                <a:latin typeface="+mn-lt"/>
                <a:ea typeface="+mn-ea"/>
                <a:cs typeface="+mn-cs"/>
              </a:rPr>
              <a:t>bzw</a:t>
            </a:r>
            <a:r>
              <a:rPr lang="de-DE" sz="1200" kern="1200" dirty="0">
                <a:solidFill>
                  <a:schemeClr val="tx1"/>
                </a:solidFill>
                <a:effectLst/>
                <a:latin typeface="+mn-lt"/>
                <a:ea typeface="+mn-ea"/>
                <a:cs typeface="+mn-cs"/>
              </a:rPr>
              <a:t> barrierefreier Medien im allgemeinen zu beantworten, haben wir uns mit einem Paper von Prof. Dr. Ingo Busse befasst, welcher das Lehrgebiet Körperliche und Motorische Entwicklung an der TU Dortmund leitet und Sprecher der Fachgruppe inklusiver Medienbildung der Gesellschaft für Medienpädagogik und Kommunikationskultur ist. In dem Paper werden die folgenden Punkte behandelt:</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kern="1200" dirty="0">
              <a:solidFill>
                <a:schemeClr val="tx1"/>
              </a:solidFill>
              <a:effectLst/>
              <a:latin typeface="+mn-lt"/>
              <a:ea typeface="+mn-ea"/>
              <a:cs typeface="+mn-cs"/>
            </a:endParaRPr>
          </a:p>
          <a:p>
            <a:pPr marL="0" marR="0">
              <a:buNone/>
            </a:pPr>
            <a:r>
              <a:rPr lang="de-DE" sz="1800" b="1" dirty="0">
                <a:effectLst/>
                <a:latin typeface="Calibri" panose="020F0502020204030204" pitchFamily="34" charset="0"/>
              </a:rPr>
              <a:t>Teilhabe &amp; Inklusion</a:t>
            </a:r>
            <a:endParaRPr lang="de-DE" sz="1800" dirty="0">
              <a:effectLst/>
              <a:latin typeface="Calibri" panose="020F0502020204030204" pitchFamily="34" charset="0"/>
            </a:endParaRPr>
          </a:p>
          <a:p>
            <a:pPr marL="0" marR="0">
              <a:buNone/>
            </a:pPr>
            <a:r>
              <a:rPr lang="de-DE" sz="1800" dirty="0">
                <a:effectLst/>
                <a:latin typeface="Calibri" panose="020F0502020204030204" pitchFamily="34" charset="0"/>
              </a:rPr>
              <a:t>Öffentlich-rechtliche Medien tragen eine gesellschaftliche Verantwortung, allen Menschen Zugang zu ihren Angeboten zu ermöglichen. Audiodeskription ist keine optionale Zusatzleistung, sondern ein grundlegendes Mittel, um blinden und sehbehinderten Menschen kulturelle Teilhabe zu sichern. Ohne diese Zugänge werden Menschen von der Nutzung zentraler Kultur- und Informationsmedien ausgeschlossen.</a:t>
            </a:r>
          </a:p>
          <a:p>
            <a:pPr marL="0" marR="0">
              <a:buNone/>
            </a:pPr>
            <a:r>
              <a:rPr lang="de-DE" sz="1800" dirty="0">
                <a:effectLst/>
                <a:latin typeface="Calibri" panose="020F0502020204030204" pitchFamily="34" charset="0"/>
              </a:rPr>
              <a:t> </a:t>
            </a:r>
          </a:p>
          <a:p>
            <a:pPr marL="0" marR="0">
              <a:buNone/>
            </a:pPr>
            <a:r>
              <a:rPr lang="de-DE" sz="1800" dirty="0">
                <a:effectLst/>
                <a:latin typeface="Calibri" panose="020F0502020204030204" pitchFamily="34" charset="0"/>
              </a:rPr>
              <a:t> </a:t>
            </a:r>
          </a:p>
          <a:p>
            <a:pPr marL="0" marR="0">
              <a:buNone/>
            </a:pPr>
            <a:r>
              <a:rPr lang="de-DE" sz="1800" b="1" dirty="0">
                <a:effectLst/>
                <a:latin typeface="Calibri" panose="020F0502020204030204" pitchFamily="34" charset="0"/>
              </a:rPr>
              <a:t>Menschenrechte</a:t>
            </a:r>
            <a:endParaRPr lang="de-DE" sz="1800" dirty="0">
              <a:effectLst/>
              <a:latin typeface="Calibri" panose="020F0502020204030204" pitchFamily="34" charset="0"/>
            </a:endParaRPr>
          </a:p>
          <a:p>
            <a:pPr marL="0" marR="0">
              <a:buNone/>
            </a:pPr>
            <a:r>
              <a:rPr lang="de-DE" sz="1800" dirty="0">
                <a:effectLst/>
                <a:latin typeface="Calibri" panose="020F0502020204030204" pitchFamily="34" charset="0"/>
              </a:rPr>
              <a:t>Die Verpflichtung zur Bereitstellung von Audiodeskription ergibt sich nicht nur aus ethischen Prinzipien, sondern auch aus internationalen Menschenrechtsdokumenten – insbesondere der UN-Behindertenrechtskonvention. Diese garantiert den gleichberechtigten Zugang zu Information, Bildung und Kultur für Menschen mit Behinderung. Audiodeskription ist somit ein elementarer Bestandteil der Verwirklichung dieser Rechte.</a:t>
            </a:r>
          </a:p>
          <a:p>
            <a:pPr marL="0" marR="0">
              <a:buNone/>
            </a:pPr>
            <a:r>
              <a:rPr lang="de-DE" sz="1800" dirty="0">
                <a:effectLst/>
                <a:latin typeface="Calibri" panose="020F0502020204030204" pitchFamily="34" charset="0"/>
              </a:rPr>
              <a:t> </a:t>
            </a:r>
          </a:p>
          <a:p>
            <a:pPr marL="0" marR="0">
              <a:buNone/>
            </a:pPr>
            <a:r>
              <a:rPr lang="de-DE" sz="1800" dirty="0">
                <a:effectLst/>
                <a:latin typeface="Calibri" panose="020F0502020204030204" pitchFamily="34" charset="0"/>
              </a:rPr>
              <a:t> </a:t>
            </a:r>
          </a:p>
          <a:p>
            <a:pPr marL="0" marR="0">
              <a:buNone/>
            </a:pPr>
            <a:r>
              <a:rPr lang="de-DE" sz="1800" b="1" dirty="0">
                <a:effectLst/>
                <a:latin typeface="Calibri" panose="020F0502020204030204" pitchFamily="34" charset="0"/>
              </a:rPr>
              <a:t>Sichtbarkeit</a:t>
            </a:r>
            <a:endParaRPr lang="de-DE" sz="1800" dirty="0">
              <a:effectLst/>
              <a:latin typeface="Calibri" panose="020F0502020204030204" pitchFamily="34" charset="0"/>
            </a:endParaRPr>
          </a:p>
          <a:p>
            <a:pPr marL="0" marR="0">
              <a:buNone/>
            </a:pPr>
            <a:r>
              <a:rPr lang="de-DE" sz="1800" dirty="0">
                <a:effectLst/>
                <a:latin typeface="Calibri" panose="020F0502020204030204" pitchFamily="34" charset="0"/>
              </a:rPr>
              <a:t>Blinde und sehbehinderte Menschen sind in medialen Kontexten oft unsichtbar – auch, weil Inhalte ohne Audiodeskription für sie unzugänglich sind. Das Anbieten von Audiodeskription hat damit auch eine symbolische Dimension: Es signalisiert gesellschaftliche Anerkennung und Inklusion. Es macht eine Gruppe sichtbar, die sonst häufig übersehen wird.</a:t>
            </a:r>
          </a:p>
          <a:p>
            <a:pPr marL="0" marR="0">
              <a:buNone/>
            </a:pPr>
            <a:r>
              <a:rPr lang="de-DE" sz="1800" dirty="0">
                <a:effectLst/>
                <a:latin typeface="Calibri" panose="020F0502020204030204" pitchFamily="34" charset="0"/>
              </a:rPr>
              <a:t> </a:t>
            </a:r>
          </a:p>
          <a:p>
            <a:pPr marL="0" marR="0">
              <a:buNone/>
            </a:pPr>
            <a:r>
              <a:rPr lang="de-DE" sz="1800" dirty="0">
                <a:effectLst/>
                <a:latin typeface="Calibri" panose="020F0502020204030204" pitchFamily="34" charset="0"/>
              </a:rPr>
              <a:t> </a:t>
            </a:r>
          </a:p>
          <a:p>
            <a:pPr marL="0" marR="0">
              <a:buNone/>
            </a:pPr>
            <a:r>
              <a:rPr lang="de-DE" sz="1800" b="1" dirty="0">
                <a:effectLst/>
                <a:latin typeface="Calibri" panose="020F0502020204030204" pitchFamily="34" charset="0"/>
              </a:rPr>
              <a:t>Demokratische Partizipation</a:t>
            </a:r>
            <a:endParaRPr lang="de-DE" sz="1800" dirty="0">
              <a:effectLst/>
              <a:latin typeface="Calibri" panose="020F0502020204030204" pitchFamily="34" charset="0"/>
            </a:endParaRPr>
          </a:p>
          <a:p>
            <a:pPr marL="0" marR="0">
              <a:buNone/>
            </a:pPr>
            <a:r>
              <a:rPr lang="de-DE" sz="1800" dirty="0">
                <a:effectLst/>
                <a:latin typeface="Calibri" panose="020F0502020204030204" pitchFamily="34" charset="0"/>
              </a:rPr>
              <a:t>Medien spielen eine zentrale Rolle in der politischen Meinungsbildung. Ohne barrierefreien Zugang sind blinde Menschen von gesellschaftlichen Diskursen faktisch ausgeschlossen. Audiodeskription ermöglicht, dass sie sich informiert, kritisch und aktiv in Diskussionen einbringen können – eine Grundvoraussetzung für eine funktionierende Demokratie.</a:t>
            </a:r>
          </a:p>
          <a:p>
            <a:pPr marL="0" marR="0">
              <a:buNone/>
            </a:pPr>
            <a:r>
              <a:rPr lang="de-DE" sz="1800" dirty="0">
                <a:effectLst/>
                <a:latin typeface="Calibri" panose="020F0502020204030204" pitchFamily="34" charset="0"/>
              </a:rPr>
              <a:t> </a:t>
            </a:r>
          </a:p>
          <a:p>
            <a:pPr marL="0" marR="0">
              <a:buNone/>
            </a:pPr>
            <a:r>
              <a:rPr lang="de-DE" sz="1800" dirty="0">
                <a:effectLst/>
                <a:latin typeface="Calibri" panose="020F0502020204030204" pitchFamily="34" charset="0"/>
              </a:rPr>
              <a:t> </a:t>
            </a:r>
          </a:p>
          <a:p>
            <a:pPr marL="0" marR="0">
              <a:buNone/>
            </a:pPr>
            <a:r>
              <a:rPr lang="de-DE" sz="1800" b="1" dirty="0">
                <a:effectLst/>
                <a:latin typeface="Calibri" panose="020F0502020204030204" pitchFamily="34" charset="0"/>
              </a:rPr>
              <a:t>Gerechtigkeit</a:t>
            </a:r>
            <a:endParaRPr lang="de-DE" sz="1800" dirty="0">
              <a:effectLst/>
              <a:latin typeface="Calibri" panose="020F0502020204030204" pitchFamily="34" charset="0"/>
            </a:endParaRPr>
          </a:p>
          <a:p>
            <a:pPr marL="0" marR="0">
              <a:buNone/>
            </a:pPr>
            <a:r>
              <a:rPr lang="de-DE" sz="1800" dirty="0">
                <a:effectLst/>
                <a:latin typeface="Calibri" panose="020F0502020204030204" pitchFamily="34" charset="0"/>
              </a:rPr>
              <a:t>Ethik verlangt nicht nur theoretische Gleichbehandlung, sondern auch praktisch umsetzbare Gerechtigkeit. Es wäre ungerecht, wenn nur ein Teil der Bevölkerung Medien vollumfänglich nutzen kann. Audiodeskription ist daher ein Akt der Gerechtigkeit – sie schafft Chancengleichheit im kulturellen und gesellschaftlichen Leben.</a:t>
            </a:r>
          </a:p>
          <a:p>
            <a:pPr marL="0" marR="0">
              <a:buNone/>
            </a:pPr>
            <a:r>
              <a:rPr lang="de-DE" sz="1800" dirty="0">
                <a:effectLst/>
                <a:latin typeface="Calibri" panose="020F0502020204030204" pitchFamily="34" charset="0"/>
              </a:rPr>
              <a:t> </a:t>
            </a:r>
          </a:p>
          <a:p>
            <a:pPr marL="0" marR="0">
              <a:buNone/>
            </a:pPr>
            <a:r>
              <a:rPr lang="de-DE" sz="1800" dirty="0">
                <a:effectLst/>
                <a:latin typeface="Calibri" panose="020F0502020204030204" pitchFamily="34" charset="0"/>
              </a:rPr>
              <a:t> </a:t>
            </a:r>
          </a:p>
          <a:p>
            <a:pPr marL="0" marR="0">
              <a:buNone/>
            </a:pPr>
            <a:r>
              <a:rPr lang="de-DE" sz="1800" b="1" dirty="0">
                <a:effectLst/>
                <a:latin typeface="Calibri" panose="020F0502020204030204" pitchFamily="34" charset="0"/>
              </a:rPr>
              <a:t>Verantwortung bei KI-Einsatz</a:t>
            </a:r>
            <a:endParaRPr lang="de-DE" sz="1800" dirty="0">
              <a:effectLst/>
              <a:latin typeface="Calibri" panose="020F0502020204030204" pitchFamily="34" charset="0"/>
            </a:endParaRPr>
          </a:p>
          <a:p>
            <a:pPr marL="0" marR="0"/>
            <a:r>
              <a:rPr lang="de-DE" sz="1800" dirty="0">
                <a:effectLst/>
                <a:latin typeface="Calibri" panose="020F0502020204030204" pitchFamily="34" charset="0"/>
              </a:rPr>
              <a:t>Die Entwicklung KI-gestützter Audiodeskription eröffnet neue Möglichkeiten, aber auch neue Verantwortlichkeiten. Es gilt sicherzustellen, dass automatisierte Beschreibungen verständlich, respektvoll und qualitativ hochwertig bleiben. Die Automatisierung darf nicht zu einer Entwertung menschlicher Sprecher*innen oder zu einem Rückschritt in Sachen Inklusion führen. KI sollte ein Werkzeug sein – kein Ersatz für ethische Reflexion.</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kern="1200" dirty="0">
              <a:solidFill>
                <a:schemeClr val="tx1"/>
              </a:solidFill>
              <a:effectLst/>
              <a:latin typeface="+mn-lt"/>
              <a:ea typeface="+mn-ea"/>
              <a:cs typeface="+mn-cs"/>
            </a:endParaRPr>
          </a:p>
        </p:txBody>
      </p:sp>
      <p:sp>
        <p:nvSpPr>
          <p:cNvPr id="4" name="Foliennummernplatzhalter 3">
            <a:extLst>
              <a:ext uri="{FF2B5EF4-FFF2-40B4-BE49-F238E27FC236}">
                <a16:creationId xmlns:a16="http://schemas.microsoft.com/office/drawing/2014/main" id="{209D3C0A-8012-51E7-2C4E-A328C81ED533}"/>
              </a:ext>
            </a:extLst>
          </p:cNvPr>
          <p:cNvSpPr>
            <a:spLocks noGrp="1"/>
          </p:cNvSpPr>
          <p:nvPr>
            <p:ph type="sldNum" sz="quarter" idx="10"/>
          </p:nvPr>
        </p:nvSpPr>
        <p:spPr/>
        <p:txBody>
          <a:bodyPr/>
          <a:lstStyle/>
          <a:p>
            <a:fld id="{D9BF85D8-A6AA-4CB5-A30A-03B8A365335B}" type="slidenum">
              <a:rPr lang="de-DE" smtClean="0"/>
              <a:t>10</a:t>
            </a:fld>
            <a:endParaRPr lang="de-DE"/>
          </a:p>
        </p:txBody>
      </p:sp>
    </p:spTree>
    <p:extLst>
      <p:ext uri="{BB962C8B-B14F-4D97-AF65-F5344CB8AC3E}">
        <p14:creationId xmlns:p14="http://schemas.microsoft.com/office/powerpoint/2010/main" val="1476683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FC6CD-50CE-4E1C-37E1-639CD2EE8F6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0BBAEC4-70D9-FE7A-0D22-837B29642861}"/>
              </a:ext>
            </a:extLst>
          </p:cNvPr>
          <p:cNvSpPr>
            <a:spLocks noGrp="1" noRot="1" noChangeAspect="1"/>
          </p:cNvSpPr>
          <p:nvPr>
            <p:ph type="sldImg"/>
          </p:nvPr>
        </p:nvSpPr>
        <p:spPr>
          <a:xfrm>
            <a:off x="381000" y="685800"/>
            <a:ext cx="6096000" cy="3429000"/>
          </a:xfrm>
        </p:spPr>
      </p:sp>
      <p:sp>
        <p:nvSpPr>
          <p:cNvPr id="3" name="Notizenplatzhalter 2">
            <a:extLst>
              <a:ext uri="{FF2B5EF4-FFF2-40B4-BE49-F238E27FC236}">
                <a16:creationId xmlns:a16="http://schemas.microsoft.com/office/drawing/2014/main" id="{DC14CB4E-5006-7048-E833-D0C1F5319D2B}"/>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Larissa</a:t>
            </a:r>
          </a:p>
        </p:txBody>
      </p:sp>
      <p:sp>
        <p:nvSpPr>
          <p:cNvPr id="4" name="Foliennummernplatzhalter 3">
            <a:extLst>
              <a:ext uri="{FF2B5EF4-FFF2-40B4-BE49-F238E27FC236}">
                <a16:creationId xmlns:a16="http://schemas.microsoft.com/office/drawing/2014/main" id="{9E25CDB1-3BA1-4DF4-F457-EF4AA4752347}"/>
              </a:ext>
            </a:extLst>
          </p:cNvPr>
          <p:cNvSpPr>
            <a:spLocks noGrp="1"/>
          </p:cNvSpPr>
          <p:nvPr>
            <p:ph type="sldNum" sz="quarter" idx="10"/>
          </p:nvPr>
        </p:nvSpPr>
        <p:spPr/>
        <p:txBody>
          <a:bodyPr/>
          <a:lstStyle/>
          <a:p>
            <a:fld id="{D9BF85D8-A6AA-4CB5-A30A-03B8A365335B}" type="slidenum">
              <a:rPr lang="de-DE" smtClean="0"/>
              <a:t>11</a:t>
            </a:fld>
            <a:endParaRPr lang="de-DE"/>
          </a:p>
        </p:txBody>
      </p:sp>
    </p:spTree>
    <p:extLst>
      <p:ext uri="{BB962C8B-B14F-4D97-AF65-F5344CB8AC3E}">
        <p14:creationId xmlns:p14="http://schemas.microsoft.com/office/powerpoint/2010/main" val="864399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In der ARD wird bereits seit über 20 Jahren Programm mit Audiodeskription angeboten und aktuell ist für </a:t>
            </a:r>
            <a:r>
              <a:rPr lang="de-DE" sz="1200" kern="1200" dirty="0" err="1">
                <a:solidFill>
                  <a:schemeClr val="tx1"/>
                </a:solidFill>
                <a:effectLst/>
                <a:latin typeface="+mn-lt"/>
                <a:ea typeface="+mn-ea"/>
                <a:cs typeface="+mn-cs"/>
              </a:rPr>
              <a:t>ca</a:t>
            </a:r>
            <a:r>
              <a:rPr lang="de-DE" sz="1200" kern="1200" dirty="0">
                <a:solidFill>
                  <a:schemeClr val="tx1"/>
                </a:solidFill>
                <a:effectLst/>
                <a:latin typeface="+mn-lt"/>
                <a:ea typeface="+mn-ea"/>
                <a:cs typeface="+mn-cs"/>
              </a:rPr>
              <a:t> 54% des Hauptabendprogramms eine Hörfilmfassung verfügbar. In der Mediathek kann man bei der Auswahl der Sprachen auf Audiodeskription umschalten.</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Im MDR werden täglich mehr als 5 Stunden Fernsehen mit Hörbeschreibung angeboten. Dabei arbeitet der mitteldeutsche Rundfunk mit Behindertenverbänden beim Ausbau der Angebote für Menschen mit Seheinschränkungen zusammen.  Interessant ist, dass der MDR auch einen großen Teil der Audiodeskriptionen für die ARD erstellt.</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Auf der Seite des </a:t>
            </a:r>
            <a:r>
              <a:rPr lang="de-DE" sz="1200" kern="1200" dirty="0" err="1">
                <a:solidFill>
                  <a:schemeClr val="tx1"/>
                </a:solidFill>
                <a:effectLst/>
                <a:latin typeface="+mn-lt"/>
                <a:ea typeface="+mn-ea"/>
                <a:cs typeface="+mn-cs"/>
              </a:rPr>
              <a:t>mdr</a:t>
            </a:r>
            <a:r>
              <a:rPr lang="de-DE" sz="1200" kern="1200" dirty="0">
                <a:solidFill>
                  <a:schemeClr val="tx1"/>
                </a:solidFill>
                <a:effectLst/>
                <a:latin typeface="+mn-lt"/>
                <a:ea typeface="+mn-ea"/>
                <a:cs typeface="+mn-cs"/>
              </a:rPr>
              <a:t> sind auch einige Kurvideos eingestellt, bei denen die Entstehung von Hörfilmen erklärt und gezeigt wird. Den Link dazu habe ich einmal eingestellt. Bei Interesse könnt ihr euch die mal angucken, die sind nur einige Minuten lang.</a:t>
            </a:r>
          </a:p>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Ich kann auch empfehlen, mal zum Beispiel eine Tatort mit AD zu starten und dann die Augen zu schließen und sich das zu sehende vorzustellen und dann nach einigen Minuten von vorne zu starten und dann hinzusehen und das gesehene mit dem vorgestellten zu vergleichen. Das ist sehr interessant.</a:t>
            </a:r>
          </a:p>
        </p:txBody>
      </p:sp>
      <p:sp>
        <p:nvSpPr>
          <p:cNvPr id="4" name="Foliennummernplatzhalter 3"/>
          <p:cNvSpPr>
            <a:spLocks noGrp="1"/>
          </p:cNvSpPr>
          <p:nvPr>
            <p:ph type="sldNum" sz="quarter" idx="10"/>
          </p:nvPr>
        </p:nvSpPr>
        <p:spPr/>
        <p:txBody>
          <a:bodyPr/>
          <a:lstStyle/>
          <a:p>
            <a:fld id="{D9BF85D8-A6AA-4CB5-A30A-03B8A365335B}" type="slidenum">
              <a:rPr lang="de-DE" smtClean="0"/>
              <a:t>12</a:t>
            </a:fld>
            <a:endParaRPr lang="de-DE"/>
          </a:p>
        </p:txBody>
      </p:sp>
    </p:spTree>
    <p:extLst>
      <p:ext uri="{BB962C8B-B14F-4D97-AF65-F5344CB8AC3E}">
        <p14:creationId xmlns:p14="http://schemas.microsoft.com/office/powerpoint/2010/main" val="24766953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4D119-07BA-07C7-4997-F8A2C61CF83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A0770EB-1F7B-5AC0-DA71-F57F47D64527}"/>
              </a:ext>
            </a:extLst>
          </p:cNvPr>
          <p:cNvSpPr>
            <a:spLocks noGrp="1" noRot="1" noChangeAspect="1"/>
          </p:cNvSpPr>
          <p:nvPr>
            <p:ph type="sldImg"/>
          </p:nvPr>
        </p:nvSpPr>
        <p:spPr>
          <a:xfrm>
            <a:off x="381000" y="685800"/>
            <a:ext cx="6096000" cy="3429000"/>
          </a:xfrm>
        </p:spPr>
      </p:sp>
      <p:sp>
        <p:nvSpPr>
          <p:cNvPr id="3" name="Notizenplatzhalter 2">
            <a:extLst>
              <a:ext uri="{FF2B5EF4-FFF2-40B4-BE49-F238E27FC236}">
                <a16:creationId xmlns:a16="http://schemas.microsoft.com/office/drawing/2014/main" id="{38BD7E64-28C5-8FB7-F643-002B318BAA21}"/>
              </a:ext>
            </a:extLst>
          </p:cNvPr>
          <p:cNvSpPr>
            <a:spLocks noGrp="1"/>
          </p:cNvSpPr>
          <p:nvPr>
            <p:ph type="body" idx="1"/>
          </p:nvPr>
        </p:nvSpPr>
        <p:spPr/>
        <p:txBody>
          <a:bodyPr/>
          <a:lstStyle/>
          <a:p>
            <a:pPr>
              <a:buNone/>
            </a:pPr>
            <a:r>
              <a:rPr lang="de-DE" b="1" dirty="0"/>
              <a:t>Live-Audiodeskription</a:t>
            </a:r>
            <a:endParaRPr lang="de-DE" dirty="0"/>
          </a:p>
          <a:p>
            <a:pPr>
              <a:buNone/>
            </a:pPr>
            <a:r>
              <a:rPr lang="de-DE" dirty="0"/>
              <a:t>Bei Theater- oder Konzertveranstaltungen erfolgt die Audiodeskription in der Regel live durch ein bis zwei Sprecher*</a:t>
            </a:r>
            <a:r>
              <a:rPr lang="de-DE" i="0" dirty="0"/>
              <a:t>innen</a:t>
            </a:r>
            <a:r>
              <a:rPr lang="de-DE" i="1" dirty="0"/>
              <a:t>. </a:t>
            </a:r>
            <a:r>
              <a:rPr lang="de-DE" i="0" dirty="0"/>
              <a:t>Sie sitzen in einer schallgedämmten Kabine und beschreiben das Geschehen auf der Bühne in den Sprechpausen – dazu gehören Bewegungen, Mimik, Bühnenbild, Kostüme, Requisiten und vieles mehr. Ziel ist es, blinden und sehbehinderten Zuschauer*innen</a:t>
            </a:r>
            <a:r>
              <a:rPr lang="de-DE" dirty="0"/>
              <a:t> einen möglichst vollständigen Eindruck vom visuellen Geschehen zu ermöglichen.</a:t>
            </a:r>
          </a:p>
          <a:p>
            <a:pPr>
              <a:buNone/>
            </a:pPr>
            <a:endParaRPr lang="de-DE" dirty="0"/>
          </a:p>
          <a:p>
            <a:pPr>
              <a:buNone/>
            </a:pPr>
            <a:r>
              <a:rPr lang="de-DE" b="1" dirty="0"/>
              <a:t>Taktile Bühnenführungen</a:t>
            </a:r>
            <a:endParaRPr lang="de-DE" dirty="0"/>
          </a:p>
          <a:p>
            <a:pPr>
              <a:buNone/>
            </a:pPr>
            <a:r>
              <a:rPr lang="de-DE" dirty="0"/>
              <a:t>Ein zentrales ergänzendes Angebot bei Live-Events sind sogenannte taktile Bühnenführungen. Diese ermöglichen es dem Publikum, vor der Vorstellung die Bühne zu betreten und durch Tasten einen sinnlichen Eindruck von Bühnenbild, Requisiten, Kostümen oder Instrumenten zu erhalten. Dies schafft wichtige mentale Bilder, die durch die Audiodeskription ergänzt werden.</a:t>
            </a:r>
          </a:p>
          <a:p>
            <a:pPr>
              <a:buNone/>
            </a:pPr>
            <a:endParaRPr lang="de-DE" dirty="0"/>
          </a:p>
          <a:p>
            <a:pPr>
              <a:buNone/>
            </a:pPr>
            <a:r>
              <a:rPr lang="de-DE" b="1" dirty="0"/>
              <a:t>Technik &amp; Platzierung</a:t>
            </a:r>
            <a:endParaRPr lang="de-DE" dirty="0"/>
          </a:p>
          <a:p>
            <a:pPr>
              <a:buNone/>
            </a:pPr>
            <a:r>
              <a:rPr lang="de-DE" dirty="0"/>
              <a:t>Technisch wird die Audiodeskription meist über Kopfhörer übertragen. Besonders geeignet sind einohrige Kopfhörer, da sie den Originalton durch das freie Ohr weiterhin hörbar machen. Wichtig ist dabei auch die Platzierung im Raum: Besucher*innen mit Sehbeeinträchtigung sollten so sitzen, dass sie einen klaren Empfang haben – am besten am Rand, was auch dem Bedarf von Assistenzhunden gerecht wird. Die Kopfhörer sollten schalldicht sein, um benachbarte Gäste nicht zu stören.</a:t>
            </a:r>
          </a:p>
          <a:p>
            <a:pPr>
              <a:buNone/>
            </a:pPr>
            <a:endParaRPr lang="de-DE" dirty="0"/>
          </a:p>
          <a:p>
            <a:pPr>
              <a:buNone/>
            </a:pPr>
            <a:r>
              <a:rPr lang="de-DE" b="1" dirty="0"/>
              <a:t>Vorproduktion möglich</a:t>
            </a:r>
            <a:endParaRPr lang="de-DE" dirty="0"/>
          </a:p>
          <a:p>
            <a:pPr>
              <a:buNone/>
            </a:pPr>
            <a:r>
              <a:rPr lang="de-DE" dirty="0"/>
              <a:t>Einige Teile der Audiodeskription, wie etwa Figurenbeschreibungen oder die Einführung in das Stück, können auch vorproduziert werden. Dies ermöglicht eine besonders sorgfältige sprachliche Ausarbeitung und erleichtert die Live-Arbeit während der Vorstellung.</a:t>
            </a:r>
          </a:p>
          <a:p>
            <a:pPr>
              <a:buNone/>
            </a:pPr>
            <a:endParaRPr lang="de-DE" dirty="0"/>
          </a:p>
          <a:p>
            <a:pPr>
              <a:buNone/>
            </a:pPr>
            <a:r>
              <a:rPr lang="de-DE" b="1" dirty="0"/>
              <a:t>Inklusion &amp; Information</a:t>
            </a:r>
            <a:endParaRPr lang="de-DE" dirty="0"/>
          </a:p>
          <a:p>
            <a:r>
              <a:rPr lang="de-DE" dirty="0"/>
              <a:t>Wichtig ist, dass Veranstaltungen mit Audiodeskription auch über die üblichen Kommunikationskanäle angekündigt werden. So wird nicht nur das betroffene Publikum informiert, sondern auch eine breitere Öffentlichkeit sensibilisiert. Die bewusste Integration solcher Angebote zeigt, dass Inklusion ernst genommen wird und sich Veranstalter aktiv um Barrierefreiheit bemühen.</a:t>
            </a:r>
          </a:p>
        </p:txBody>
      </p:sp>
      <p:sp>
        <p:nvSpPr>
          <p:cNvPr id="4" name="Foliennummernplatzhalter 3">
            <a:extLst>
              <a:ext uri="{FF2B5EF4-FFF2-40B4-BE49-F238E27FC236}">
                <a16:creationId xmlns:a16="http://schemas.microsoft.com/office/drawing/2014/main" id="{494BA1A7-A2D3-7900-FBD0-817C1F7247F0}"/>
              </a:ext>
            </a:extLst>
          </p:cNvPr>
          <p:cNvSpPr>
            <a:spLocks noGrp="1"/>
          </p:cNvSpPr>
          <p:nvPr>
            <p:ph type="sldNum" sz="quarter" idx="10"/>
          </p:nvPr>
        </p:nvSpPr>
        <p:spPr/>
        <p:txBody>
          <a:bodyPr/>
          <a:lstStyle/>
          <a:p>
            <a:fld id="{D9BF85D8-A6AA-4CB5-A30A-03B8A365335B}" type="slidenum">
              <a:rPr lang="de-DE" smtClean="0"/>
              <a:t>13</a:t>
            </a:fld>
            <a:endParaRPr lang="de-DE"/>
          </a:p>
        </p:txBody>
      </p:sp>
    </p:spTree>
    <p:extLst>
      <p:ext uri="{BB962C8B-B14F-4D97-AF65-F5344CB8AC3E}">
        <p14:creationId xmlns:p14="http://schemas.microsoft.com/office/powerpoint/2010/main" val="4448247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FE64D-B27D-68EB-9A75-BAD13B8BADA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98E2AA8-F7FF-1DCB-E9ED-8B1878388595}"/>
              </a:ext>
            </a:extLst>
          </p:cNvPr>
          <p:cNvSpPr>
            <a:spLocks noGrp="1" noRot="1" noChangeAspect="1"/>
          </p:cNvSpPr>
          <p:nvPr>
            <p:ph type="sldImg"/>
          </p:nvPr>
        </p:nvSpPr>
        <p:spPr>
          <a:xfrm>
            <a:off x="381000" y="685800"/>
            <a:ext cx="6096000" cy="3429000"/>
          </a:xfrm>
        </p:spPr>
      </p:sp>
      <p:sp>
        <p:nvSpPr>
          <p:cNvPr id="3" name="Notizenplatzhalter 2">
            <a:extLst>
              <a:ext uri="{FF2B5EF4-FFF2-40B4-BE49-F238E27FC236}">
                <a16:creationId xmlns:a16="http://schemas.microsoft.com/office/drawing/2014/main" id="{51FCBCA8-BCE9-F9EB-EDBB-7788848C9D8D}"/>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Bei Streaming-Plattformen ist auch AD vertreten.</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Bei Netflix gibt es bei den meisten Netflix Originalen zumindest AD in der Originalsprache. Bei der neuen Staffel von </a:t>
            </a:r>
            <a:r>
              <a:rPr lang="de-DE" sz="1200" kern="1200" dirty="0" err="1">
                <a:solidFill>
                  <a:schemeClr val="tx1"/>
                </a:solidFill>
                <a:effectLst/>
                <a:latin typeface="+mn-lt"/>
                <a:ea typeface="+mn-ea"/>
                <a:cs typeface="+mn-cs"/>
              </a:rPr>
              <a:t>How</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to</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sell</a:t>
            </a:r>
            <a:r>
              <a:rPr lang="de-DE" sz="1200" kern="1200" dirty="0">
                <a:solidFill>
                  <a:schemeClr val="tx1"/>
                </a:solidFill>
                <a:effectLst/>
                <a:latin typeface="+mn-lt"/>
                <a:ea typeface="+mn-ea"/>
                <a:cs typeface="+mn-cs"/>
              </a:rPr>
              <a:t> Drugs Online fast die ja dieses Jahr rausgekommen ist, gibt es AD in vielen Sprachen. Hier ist also auch eine positive Entwicklung zu beobachten.</a:t>
            </a:r>
          </a:p>
          <a:p>
            <a:pPr marL="0" marR="0" indent="0" algn="l" defTabSz="914400" rtl="0" eaLnBrk="1" fontAlgn="auto" latinLnBrk="0" hangingPunct="1">
              <a:lnSpc>
                <a:spcPct val="100000"/>
              </a:lnSpc>
              <a:spcBef>
                <a:spcPts val="0"/>
              </a:spcBef>
              <a:spcAft>
                <a:spcPts val="0"/>
              </a:spcAft>
              <a:buClrTx/>
              <a:buSzTx/>
              <a:buFontTx/>
              <a:buNone/>
              <a:tabLst/>
              <a:defRPr/>
            </a:pPr>
            <a:endParaRPr lang="de-DE"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Bei sozialen Medien wie Instagram oder TikTok gibt es natürlich größere Probleme einheitliche AD zu schaffen, da die Inhalte nicht zentral erstellt werden. Die Creator und </a:t>
            </a:r>
            <a:r>
              <a:rPr lang="de-DE" sz="1200" kern="1200" dirty="0" err="1">
                <a:solidFill>
                  <a:schemeClr val="tx1"/>
                </a:solidFill>
                <a:effectLst/>
                <a:latin typeface="+mn-lt"/>
                <a:ea typeface="+mn-ea"/>
                <a:cs typeface="+mn-cs"/>
              </a:rPr>
              <a:t>Creatorinnen</a:t>
            </a:r>
            <a:r>
              <a:rPr lang="de-DE" sz="1200" kern="1200" dirty="0">
                <a:solidFill>
                  <a:schemeClr val="tx1"/>
                </a:solidFill>
                <a:effectLst/>
                <a:latin typeface="+mn-lt"/>
                <a:ea typeface="+mn-ea"/>
                <a:cs typeface="+mn-cs"/>
              </a:rPr>
              <a:t> müssten individuell AD für ihre Inhalte erstellen. Dabei könnte ein KI-Tool natürlich helfen und so eine große Chance der Barrierefreiheit in sozialen Medien herstellen.</a:t>
            </a:r>
          </a:p>
        </p:txBody>
      </p:sp>
      <p:sp>
        <p:nvSpPr>
          <p:cNvPr id="4" name="Foliennummernplatzhalter 3">
            <a:extLst>
              <a:ext uri="{FF2B5EF4-FFF2-40B4-BE49-F238E27FC236}">
                <a16:creationId xmlns:a16="http://schemas.microsoft.com/office/drawing/2014/main" id="{A46326C2-B277-88EA-19E2-4A74843B8182}"/>
              </a:ext>
            </a:extLst>
          </p:cNvPr>
          <p:cNvSpPr>
            <a:spLocks noGrp="1"/>
          </p:cNvSpPr>
          <p:nvPr>
            <p:ph type="sldNum" sz="quarter" idx="10"/>
          </p:nvPr>
        </p:nvSpPr>
        <p:spPr/>
        <p:txBody>
          <a:bodyPr/>
          <a:lstStyle/>
          <a:p>
            <a:fld id="{D9BF85D8-A6AA-4CB5-A30A-03B8A365335B}" type="slidenum">
              <a:rPr lang="de-DE" smtClean="0"/>
              <a:t>14</a:t>
            </a:fld>
            <a:endParaRPr lang="de-DE"/>
          </a:p>
        </p:txBody>
      </p:sp>
    </p:spTree>
    <p:extLst>
      <p:ext uri="{BB962C8B-B14F-4D97-AF65-F5344CB8AC3E}">
        <p14:creationId xmlns:p14="http://schemas.microsoft.com/office/powerpoint/2010/main" val="24930263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kern="1200" dirty="0">
                <a:solidFill>
                  <a:schemeClr val="tx1"/>
                </a:solidFill>
                <a:effectLst/>
                <a:latin typeface="+mn-lt"/>
                <a:ea typeface="+mn-ea"/>
                <a:cs typeface="+mn-cs"/>
              </a:rPr>
              <a:t>Phil</a:t>
            </a:r>
          </a:p>
        </p:txBody>
      </p:sp>
      <p:sp>
        <p:nvSpPr>
          <p:cNvPr id="4" name="Foliennummernplatzhalter 3"/>
          <p:cNvSpPr>
            <a:spLocks noGrp="1"/>
          </p:cNvSpPr>
          <p:nvPr>
            <p:ph type="sldNum" sz="quarter" idx="10"/>
          </p:nvPr>
        </p:nvSpPr>
        <p:spPr/>
        <p:txBody>
          <a:bodyPr/>
          <a:lstStyle/>
          <a:p>
            <a:fld id="{D9BF85D8-A6AA-4CB5-A30A-03B8A365335B}" type="slidenum">
              <a:rPr lang="de-DE" smtClean="0"/>
              <a:t>15</a:t>
            </a:fld>
            <a:endParaRPr lang="de-DE"/>
          </a:p>
        </p:txBody>
      </p:sp>
    </p:spTree>
    <p:extLst>
      <p:ext uri="{BB962C8B-B14F-4D97-AF65-F5344CB8AC3E}">
        <p14:creationId xmlns:p14="http://schemas.microsoft.com/office/powerpoint/2010/main" val="3867160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3" name="Rechteck 22"/>
          <p:cNvSpPr/>
          <p:nvPr/>
        </p:nvSpPr>
        <p:spPr>
          <a:xfrm flipV="1">
            <a:off x="7213577" y="3810001"/>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4" name="Rechteck 23"/>
          <p:cNvSpPr/>
          <p:nvPr/>
        </p:nvSpPr>
        <p:spPr>
          <a:xfrm flipV="1">
            <a:off x="7213601" y="3897010"/>
            <a:ext cx="49784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5" name="Rechteck 24"/>
          <p:cNvSpPr/>
          <p:nvPr/>
        </p:nvSpPr>
        <p:spPr>
          <a:xfrm flipV="1">
            <a:off x="7213601" y="4115167"/>
            <a:ext cx="49784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6" name="Rechteck 25"/>
          <p:cNvSpPr/>
          <p:nvPr/>
        </p:nvSpPr>
        <p:spPr>
          <a:xfrm flipV="1">
            <a:off x="7213600" y="4164403"/>
            <a:ext cx="262128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7" name="Rechteck 26"/>
          <p:cNvSpPr/>
          <p:nvPr/>
        </p:nvSpPr>
        <p:spPr>
          <a:xfrm flipV="1">
            <a:off x="7213600" y="4199572"/>
            <a:ext cx="262128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0" name="Abgerundetes Rechteck 29"/>
          <p:cNvSpPr/>
          <p:nvPr/>
        </p:nvSpPr>
        <p:spPr bwMode="white">
          <a:xfrm>
            <a:off x="7213600" y="3962400"/>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1" name="Abgerundetes Rechteck 30"/>
          <p:cNvSpPr/>
          <p:nvPr/>
        </p:nvSpPr>
        <p:spPr bwMode="white">
          <a:xfrm>
            <a:off x="9835343" y="406098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7" name="Rechteck 6"/>
          <p:cNvSpPr/>
          <p:nvPr/>
        </p:nvSpPr>
        <p:spPr>
          <a:xfrm>
            <a:off x="1" y="3649662"/>
            <a:ext cx="12192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hteck 9"/>
          <p:cNvSpPr/>
          <p:nvPr/>
        </p:nvSpPr>
        <p:spPr>
          <a:xfrm>
            <a:off x="1" y="3675528"/>
            <a:ext cx="12192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Rechteck 10"/>
          <p:cNvSpPr/>
          <p:nvPr/>
        </p:nvSpPr>
        <p:spPr>
          <a:xfrm flipV="1">
            <a:off x="8552068" y="3643090"/>
            <a:ext cx="3639933"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9" name="Rechteck 18"/>
          <p:cNvSpPr/>
          <p:nvPr/>
        </p:nvSpPr>
        <p:spPr>
          <a:xfrm>
            <a:off x="0" y="0"/>
            <a:ext cx="12192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Titel 7"/>
          <p:cNvSpPr>
            <a:spLocks noGrp="1"/>
          </p:cNvSpPr>
          <p:nvPr>
            <p:ph type="ctrTitle"/>
          </p:nvPr>
        </p:nvSpPr>
        <p:spPr>
          <a:xfrm>
            <a:off x="609600" y="2401888"/>
            <a:ext cx="11277600" cy="1470025"/>
          </a:xfrm>
        </p:spPr>
        <p:txBody>
          <a:bodyPr anchor="b"/>
          <a:lstStyle>
            <a:lvl1pPr>
              <a:defRPr sz="4400">
                <a:solidFill>
                  <a:schemeClr val="bg1"/>
                </a:solidFill>
              </a:defRPr>
            </a:lvl1pPr>
          </a:lstStyle>
          <a:p>
            <a:r>
              <a:rPr kumimoji="0" lang="de-DE"/>
              <a:t>Titelmasterformat durch Klicken bearbeiten</a:t>
            </a:r>
            <a:endParaRPr kumimoji="0" lang="en-US"/>
          </a:p>
        </p:txBody>
      </p:sp>
      <p:sp>
        <p:nvSpPr>
          <p:cNvPr id="9" name="Untertitel 8"/>
          <p:cNvSpPr>
            <a:spLocks noGrp="1"/>
          </p:cNvSpPr>
          <p:nvPr>
            <p:ph type="subTitle" idx="1"/>
          </p:nvPr>
        </p:nvSpPr>
        <p:spPr>
          <a:xfrm>
            <a:off x="609600" y="3899938"/>
            <a:ext cx="6604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de-DE"/>
              <a:t>Formatvorlage des Untertitelmasters durch Klicken bearbeiten</a:t>
            </a:r>
            <a:endParaRPr kumimoji="0" lang="en-US"/>
          </a:p>
        </p:txBody>
      </p:sp>
      <p:sp>
        <p:nvSpPr>
          <p:cNvPr id="28" name="Datumsplatzhalter 27"/>
          <p:cNvSpPr>
            <a:spLocks noGrp="1"/>
          </p:cNvSpPr>
          <p:nvPr>
            <p:ph type="dt" sz="half" idx="10"/>
          </p:nvPr>
        </p:nvSpPr>
        <p:spPr>
          <a:xfrm>
            <a:off x="8940800" y="4206240"/>
            <a:ext cx="1280160" cy="457200"/>
          </a:xfrm>
        </p:spPr>
        <p:txBody>
          <a:bodyPr/>
          <a:lstStyle/>
          <a:p>
            <a:fld id="{12C2D4DF-9C07-4E8A-A9C8-699C3432BB19}" type="datetime1">
              <a:rPr lang="de-DE" smtClean="0"/>
              <a:t>28.04.25</a:t>
            </a:fld>
            <a:endParaRPr lang="en-US"/>
          </a:p>
        </p:txBody>
      </p:sp>
      <p:sp>
        <p:nvSpPr>
          <p:cNvPr id="17" name="Fußzeilenplatzhalter 16"/>
          <p:cNvSpPr>
            <a:spLocks noGrp="1"/>
          </p:cNvSpPr>
          <p:nvPr>
            <p:ph type="ftr" sz="quarter" idx="11"/>
          </p:nvPr>
        </p:nvSpPr>
        <p:spPr>
          <a:xfrm>
            <a:off x="7213600" y="4205288"/>
            <a:ext cx="1727200" cy="457200"/>
          </a:xfrm>
        </p:spPr>
        <p:txBody>
          <a:bodyPr/>
          <a:lstStyle/>
          <a:p>
            <a:endParaRPr lang="en-US"/>
          </a:p>
        </p:txBody>
      </p:sp>
      <p:sp>
        <p:nvSpPr>
          <p:cNvPr id="29" name="Foliennummernplatzhalter 28"/>
          <p:cNvSpPr>
            <a:spLocks noGrp="1"/>
          </p:cNvSpPr>
          <p:nvPr>
            <p:ph type="sldNum" sz="quarter" idx="12"/>
          </p:nvPr>
        </p:nvSpPr>
        <p:spPr>
          <a:xfrm>
            <a:off x="11093451" y="1136"/>
            <a:ext cx="996949" cy="365760"/>
          </a:xfrm>
        </p:spPr>
        <p:txBody>
          <a:bodyPr/>
          <a:lstStyle>
            <a:lvl1pPr algn="r">
              <a:defRPr sz="1800">
                <a:solidFill>
                  <a:schemeClr val="bg1"/>
                </a:solidFill>
              </a:defRPr>
            </a:lvl1pPr>
          </a:lstStyle>
          <a:p>
            <a:fld id="{9E567595-CCD6-4F78-8F27-840D13ABE7E3}" type="slidenum">
              <a:rPr lang="en-US" smtClean="0"/>
              <a:t>‹Nr.›</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de-DE"/>
              <a:t>Titelmasterformat durch Klicken bearbeiten</a:t>
            </a:r>
            <a:endParaRPr kumimoji="0" lang="en-US"/>
          </a:p>
        </p:txBody>
      </p:sp>
      <p:sp>
        <p:nvSpPr>
          <p:cNvPr id="3" name="Inhaltsplatzhalter 2"/>
          <p:cNvSpPr>
            <a:spLocks noGrp="1"/>
          </p:cNvSpPr>
          <p:nvPr>
            <p:ph idx="1"/>
          </p:nvPr>
        </p:nvSpPr>
        <p:spPr/>
        <p:txBody>
          <a:body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fld id="{198E5C24-D96E-4687-A8E5-4115C8070FE3}" type="datetime1">
              <a:rPr lang="de-DE" smtClean="0"/>
              <a:t>28.04.25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a:xfrm>
            <a:off x="9418656" y="6391656"/>
            <a:ext cx="2651296" cy="365760"/>
          </a:xfrm>
        </p:spPr>
        <p:txBody>
          <a:bodyPr/>
          <a:lstStyle>
            <a:lvl1pPr>
              <a:defRPr sz="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stStyle>
          <a:p>
            <a:fld id="{08800960-3D65-46F7-85EE-A2D8630D61E5}" type="slidenum">
              <a:rPr lang="en-US" smtClean="0"/>
              <a:pPr/>
              <a:t>‹Nr.›</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963084" y="1981201"/>
            <a:ext cx="103632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de-DE"/>
              <a:t>Titelmasterformat durch Klicken bearbeiten</a:t>
            </a:r>
            <a:endParaRPr kumimoji="0" lang="en-US"/>
          </a:p>
        </p:txBody>
      </p:sp>
      <p:sp>
        <p:nvSpPr>
          <p:cNvPr id="3" name="Textplatzhalter 2"/>
          <p:cNvSpPr>
            <a:spLocks noGrp="1"/>
          </p:cNvSpPr>
          <p:nvPr>
            <p:ph type="body" idx="1"/>
          </p:nvPr>
        </p:nvSpPr>
        <p:spPr>
          <a:xfrm>
            <a:off x="963084" y="3367088"/>
            <a:ext cx="103632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de-DE"/>
              <a:t>Textmasterformat bearbeiten</a:t>
            </a:r>
          </a:p>
        </p:txBody>
      </p:sp>
      <p:sp>
        <p:nvSpPr>
          <p:cNvPr id="4" name="Datumsplatzhalter 3"/>
          <p:cNvSpPr>
            <a:spLocks noGrp="1"/>
          </p:cNvSpPr>
          <p:nvPr>
            <p:ph type="dt" sz="half" idx="10"/>
          </p:nvPr>
        </p:nvSpPr>
        <p:spPr/>
        <p:txBody>
          <a:bodyPr/>
          <a:lstStyle/>
          <a:p>
            <a:fld id="{C455A406-BDB6-48C3-AB72-8B738A1EB34F}" type="datetime1">
              <a:rPr lang="de-DE" smtClean="0"/>
              <a:t>28.04.25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08800960-3D65-46F7-85EE-A2D8630D61E5}" type="slidenum">
              <a:rPr lang="en-US" smtClean="0"/>
              <a:t>‹Nr.›</a:t>
            </a:fld>
            <a:endParaRPr lang="en-US"/>
          </a:p>
        </p:txBody>
      </p:sp>
      <p:sp>
        <p:nvSpPr>
          <p:cNvPr id="7" name="Foliennummernplatzhalter 5">
            <a:extLst>
              <a:ext uri="{FF2B5EF4-FFF2-40B4-BE49-F238E27FC236}">
                <a16:creationId xmlns:a16="http://schemas.microsoft.com/office/drawing/2014/main" id="{30DE54EF-D574-6C41-BDE5-35E8D23ABF8C}"/>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de-DE"/>
              <a:t>Titelmasterformat durch Klicken bearbeiten</a:t>
            </a:r>
            <a:endParaRPr kumimoji="0" lang="en-US"/>
          </a:p>
        </p:txBody>
      </p:sp>
      <p:sp>
        <p:nvSpPr>
          <p:cNvPr id="3" name="Inhaltsplatzhalter 2"/>
          <p:cNvSpPr>
            <a:spLocks noGrp="1"/>
          </p:cNvSpPr>
          <p:nvPr>
            <p:ph sz="half" idx="1"/>
          </p:nvPr>
        </p:nvSpPr>
        <p:spPr>
          <a:xfrm>
            <a:off x="609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Inhaltsplatzhalter 3"/>
          <p:cNvSpPr>
            <a:spLocks noGrp="1"/>
          </p:cNvSpPr>
          <p:nvPr>
            <p:ph sz="half" idx="2"/>
          </p:nvPr>
        </p:nvSpPr>
        <p:spPr>
          <a:xfrm>
            <a:off x="6197600" y="2249425"/>
            <a:ext cx="53848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5" name="Datumsplatzhalter 4"/>
          <p:cNvSpPr>
            <a:spLocks noGrp="1"/>
          </p:cNvSpPr>
          <p:nvPr>
            <p:ph type="dt" sz="half" idx="10"/>
          </p:nvPr>
        </p:nvSpPr>
        <p:spPr/>
        <p:txBody>
          <a:bodyPr/>
          <a:lstStyle/>
          <a:p>
            <a:fld id="{99C0F66A-EFBE-4D86-B794-B531731BC1EE}" type="datetime1">
              <a:rPr lang="de-DE" smtClean="0"/>
              <a:t>28.04.25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08800960-3D65-46F7-85EE-A2D8630D61E5}" type="slidenum">
              <a:rPr lang="en-US" smtClean="0"/>
              <a:t>‹Nr.›</a:t>
            </a:fld>
            <a:endParaRPr lang="en-US"/>
          </a:p>
        </p:txBody>
      </p:sp>
      <p:sp>
        <p:nvSpPr>
          <p:cNvPr id="8" name="Foliennummernplatzhalter 5">
            <a:extLst>
              <a:ext uri="{FF2B5EF4-FFF2-40B4-BE49-F238E27FC236}">
                <a16:creationId xmlns:a16="http://schemas.microsoft.com/office/drawing/2014/main" id="{28A2B9AB-CEFC-4843-A8CE-9D77611F0E5F}"/>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508000" y="1143000"/>
            <a:ext cx="11176000" cy="1069848"/>
          </a:xfrm>
        </p:spPr>
        <p:txBody>
          <a:bodyPr anchor="ctr"/>
          <a:lstStyle>
            <a:lvl1pPr>
              <a:defRPr sz="4000" b="0" i="0" cap="none" baseline="0"/>
            </a:lvl1pPr>
          </a:lstStyle>
          <a:p>
            <a:r>
              <a:rPr kumimoji="0" lang="de-DE"/>
              <a:t>Titelmasterformat durch Klicken bearbeiten</a:t>
            </a:r>
            <a:endParaRPr kumimoji="0" lang="en-US"/>
          </a:p>
        </p:txBody>
      </p:sp>
      <p:sp>
        <p:nvSpPr>
          <p:cNvPr id="3" name="Textplatzhalter 2"/>
          <p:cNvSpPr>
            <a:spLocks noGrp="1"/>
          </p:cNvSpPr>
          <p:nvPr>
            <p:ph type="body" idx="1"/>
          </p:nvPr>
        </p:nvSpPr>
        <p:spPr>
          <a:xfrm>
            <a:off x="508000" y="2244970"/>
            <a:ext cx="5388864"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de-DE"/>
              <a:t>Textmasterformat bearbeiten</a:t>
            </a:r>
          </a:p>
        </p:txBody>
      </p:sp>
      <p:sp>
        <p:nvSpPr>
          <p:cNvPr id="4" name="Textplatzhalter 3"/>
          <p:cNvSpPr>
            <a:spLocks noGrp="1"/>
          </p:cNvSpPr>
          <p:nvPr>
            <p:ph type="body" sz="half" idx="3"/>
          </p:nvPr>
        </p:nvSpPr>
        <p:spPr>
          <a:xfrm>
            <a:off x="6294968" y="2244970"/>
            <a:ext cx="5389033"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de-DE"/>
              <a:t>Textmasterformat bearbeiten</a:t>
            </a:r>
          </a:p>
        </p:txBody>
      </p:sp>
      <p:sp>
        <p:nvSpPr>
          <p:cNvPr id="5" name="Inhaltsplatzhalter 4"/>
          <p:cNvSpPr>
            <a:spLocks noGrp="1"/>
          </p:cNvSpPr>
          <p:nvPr>
            <p:ph sz="quarter" idx="2"/>
          </p:nvPr>
        </p:nvSpPr>
        <p:spPr>
          <a:xfrm>
            <a:off x="508000" y="2708519"/>
            <a:ext cx="5388864"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6" name="Inhaltsplatzhalter 5"/>
          <p:cNvSpPr>
            <a:spLocks noGrp="1"/>
          </p:cNvSpPr>
          <p:nvPr>
            <p:ph sz="quarter" idx="4"/>
          </p:nvPr>
        </p:nvSpPr>
        <p:spPr>
          <a:xfrm>
            <a:off x="6291073" y="2708519"/>
            <a:ext cx="5389033"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26" name="Datumsplatzhalter 25"/>
          <p:cNvSpPr>
            <a:spLocks noGrp="1"/>
          </p:cNvSpPr>
          <p:nvPr>
            <p:ph type="dt" sz="half" idx="10"/>
          </p:nvPr>
        </p:nvSpPr>
        <p:spPr/>
        <p:txBody>
          <a:bodyPr rtlCol="0"/>
          <a:lstStyle/>
          <a:p>
            <a:fld id="{37C69E42-4B2B-491B-A644-815082356129}" type="datetime1">
              <a:rPr lang="de-DE" smtClean="0"/>
              <a:t>28.04.25</a:t>
            </a:fld>
            <a:endParaRPr lang="en-US"/>
          </a:p>
        </p:txBody>
      </p:sp>
      <p:sp>
        <p:nvSpPr>
          <p:cNvPr id="27" name="Foliennummernplatzhalter 26"/>
          <p:cNvSpPr>
            <a:spLocks noGrp="1"/>
          </p:cNvSpPr>
          <p:nvPr>
            <p:ph type="sldNum" sz="quarter" idx="11"/>
          </p:nvPr>
        </p:nvSpPr>
        <p:spPr/>
        <p:txBody>
          <a:bodyPr rtlCol="0"/>
          <a:lstStyle/>
          <a:p>
            <a:fld id="{08800960-3D65-46F7-85EE-A2D8630D61E5}" type="slidenum">
              <a:rPr lang="en-US" smtClean="0"/>
              <a:t>‹Nr.›</a:t>
            </a:fld>
            <a:endParaRPr lang="en-US"/>
          </a:p>
        </p:txBody>
      </p:sp>
      <p:sp>
        <p:nvSpPr>
          <p:cNvPr id="28" name="Fußzeilenplatzhalter 27"/>
          <p:cNvSpPr>
            <a:spLocks noGrp="1"/>
          </p:cNvSpPr>
          <p:nvPr>
            <p:ph type="ftr" sz="quarter" idx="12"/>
          </p:nvPr>
        </p:nvSpPr>
        <p:spPr/>
        <p:txBody>
          <a:bodyPr rtlCol="0"/>
          <a:lstStyle/>
          <a:p>
            <a:endParaRPr lang="en-US"/>
          </a:p>
        </p:txBody>
      </p:sp>
      <p:sp>
        <p:nvSpPr>
          <p:cNvPr id="10" name="Foliennummernplatzhalter 5">
            <a:extLst>
              <a:ext uri="{FF2B5EF4-FFF2-40B4-BE49-F238E27FC236}">
                <a16:creationId xmlns:a16="http://schemas.microsoft.com/office/drawing/2014/main" id="{FEF4E230-B0C3-CC49-94BB-124CCF0FC893}"/>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a:xfrm>
            <a:off x="609600" y="1143000"/>
            <a:ext cx="10972800" cy="1069848"/>
          </a:xfrm>
        </p:spPr>
        <p:txBody>
          <a:bodyPr anchor="ctr"/>
          <a:lstStyle>
            <a:lvl1pPr>
              <a:defRPr sz="4000">
                <a:solidFill>
                  <a:schemeClr val="tx2"/>
                </a:solidFill>
              </a:defRPr>
            </a:lvl1pPr>
          </a:lstStyle>
          <a:p>
            <a:r>
              <a:rPr kumimoji="0" lang="de-DE"/>
              <a:t>Titelmasterformat durch Klicken bearbeiten</a:t>
            </a:r>
            <a:endParaRPr kumimoji="0" lang="en-US"/>
          </a:p>
        </p:txBody>
      </p:sp>
      <p:sp>
        <p:nvSpPr>
          <p:cNvPr id="3" name="Datumsplatzhalter 2"/>
          <p:cNvSpPr>
            <a:spLocks noGrp="1"/>
          </p:cNvSpPr>
          <p:nvPr>
            <p:ph type="dt" sz="half" idx="10"/>
          </p:nvPr>
        </p:nvSpPr>
        <p:spPr>
          <a:xfrm>
            <a:off x="8778240" y="612648"/>
            <a:ext cx="1276352" cy="457200"/>
          </a:xfrm>
        </p:spPr>
        <p:txBody>
          <a:bodyPr/>
          <a:lstStyle/>
          <a:p>
            <a:fld id="{28581BEF-411F-4C1C-828C-66B57363225F}" type="datetime1">
              <a:rPr lang="de-DE" smtClean="0"/>
              <a:t>28.04.25</a:t>
            </a:fld>
            <a:endParaRPr lang="en-US"/>
          </a:p>
        </p:txBody>
      </p:sp>
      <p:sp>
        <p:nvSpPr>
          <p:cNvPr id="4" name="Fußzeilenplatzhalter 3"/>
          <p:cNvSpPr>
            <a:spLocks noGrp="1"/>
          </p:cNvSpPr>
          <p:nvPr>
            <p:ph type="ftr" sz="quarter" idx="11"/>
          </p:nvPr>
        </p:nvSpPr>
        <p:spPr>
          <a:xfrm>
            <a:off x="7010400" y="612648"/>
            <a:ext cx="1767840" cy="457200"/>
          </a:xfrm>
        </p:spPr>
        <p:txBody>
          <a:bodyPr/>
          <a:lstStyle/>
          <a:p>
            <a:endParaRPr lang="en-US"/>
          </a:p>
        </p:txBody>
      </p:sp>
      <p:sp>
        <p:nvSpPr>
          <p:cNvPr id="5" name="Foliennummernplatzhalter 4"/>
          <p:cNvSpPr>
            <a:spLocks noGrp="1"/>
          </p:cNvSpPr>
          <p:nvPr>
            <p:ph type="sldNum" sz="quarter" idx="12"/>
          </p:nvPr>
        </p:nvSpPr>
        <p:spPr>
          <a:xfrm>
            <a:off x="10899648" y="2272"/>
            <a:ext cx="1016000" cy="365760"/>
          </a:xfrm>
        </p:spPr>
        <p:txBody>
          <a:bodyPr/>
          <a:lstStyle/>
          <a:p>
            <a:fld id="{08800960-3D65-46F7-85EE-A2D8630D61E5}" type="slidenum">
              <a:rPr lang="en-US" smtClean="0"/>
              <a:t>‹Nr.›</a:t>
            </a:fld>
            <a:endParaRPr lang="en-US"/>
          </a:p>
        </p:txBody>
      </p:sp>
      <p:sp>
        <p:nvSpPr>
          <p:cNvPr id="6" name="Foliennummernplatzhalter 5">
            <a:extLst>
              <a:ext uri="{FF2B5EF4-FFF2-40B4-BE49-F238E27FC236}">
                <a16:creationId xmlns:a16="http://schemas.microsoft.com/office/drawing/2014/main" id="{309B9422-82AE-1D4C-B6B0-865A43630775}"/>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427E4652-83CF-48FF-B07A-5D300D4CA3EB}" type="datetime1">
              <a:rPr lang="de-DE" smtClean="0"/>
              <a:t>28.04.25</a:t>
            </a:fld>
            <a:endParaRPr lang="en-US"/>
          </a:p>
        </p:txBody>
      </p:sp>
      <p:sp>
        <p:nvSpPr>
          <p:cNvPr id="3" name="Fußzeilenplatzhalter 2"/>
          <p:cNvSpPr>
            <a:spLocks noGrp="1"/>
          </p:cNvSpPr>
          <p:nvPr>
            <p:ph type="ftr" sz="quarter" idx="11"/>
          </p:nvPr>
        </p:nvSpPr>
        <p:spPr/>
        <p:txBody>
          <a:bodyPr/>
          <a:lstStyle/>
          <a:p>
            <a:endParaRPr lang="en-US"/>
          </a:p>
        </p:txBody>
      </p:sp>
      <p:sp>
        <p:nvSpPr>
          <p:cNvPr id="4" name="Foliennummernplatzhalter 3"/>
          <p:cNvSpPr>
            <a:spLocks noGrp="1"/>
          </p:cNvSpPr>
          <p:nvPr>
            <p:ph type="sldNum" sz="quarter" idx="12"/>
          </p:nvPr>
        </p:nvSpPr>
        <p:spPr/>
        <p:txBody>
          <a:bodyPr/>
          <a:lstStyle/>
          <a:p>
            <a:fld id="{08800960-3D65-46F7-85EE-A2D8630D61E5}" type="slidenum">
              <a:rPr lang="en-US" smtClean="0"/>
              <a:t>‹Nr.›</a:t>
            </a:fld>
            <a:endParaRPr lang="en-US"/>
          </a:p>
        </p:txBody>
      </p:sp>
      <p:sp>
        <p:nvSpPr>
          <p:cNvPr id="5" name="Foliennummernplatzhalter 5">
            <a:extLst>
              <a:ext uri="{FF2B5EF4-FFF2-40B4-BE49-F238E27FC236}">
                <a16:creationId xmlns:a16="http://schemas.microsoft.com/office/drawing/2014/main" id="{87ADE735-D8CE-7144-BFF4-464CC69DD30A}"/>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137995" y="1101970"/>
            <a:ext cx="4511040" cy="877824"/>
          </a:xfrm>
        </p:spPr>
        <p:txBody>
          <a:bodyPr anchor="b"/>
          <a:lstStyle>
            <a:lvl1pPr algn="l">
              <a:buNone/>
              <a:defRPr sz="1800" b="1"/>
            </a:lvl1pPr>
          </a:lstStyle>
          <a:p>
            <a:r>
              <a:rPr kumimoji="0" lang="de-DE"/>
              <a:t>Titelmasterformat durch Klicken bearbeiten</a:t>
            </a:r>
            <a:endParaRPr kumimoji="0" lang="en-US"/>
          </a:p>
        </p:txBody>
      </p:sp>
      <p:sp>
        <p:nvSpPr>
          <p:cNvPr id="3" name="Textplatzhalter 2"/>
          <p:cNvSpPr>
            <a:spLocks noGrp="1"/>
          </p:cNvSpPr>
          <p:nvPr>
            <p:ph type="body" idx="2"/>
          </p:nvPr>
        </p:nvSpPr>
        <p:spPr>
          <a:xfrm>
            <a:off x="7137995" y="2010727"/>
            <a:ext cx="451104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de-DE"/>
              <a:t>Textmasterformat bearbeiten</a:t>
            </a:r>
          </a:p>
        </p:txBody>
      </p:sp>
      <p:sp>
        <p:nvSpPr>
          <p:cNvPr id="4" name="Inhaltsplatzhalter 3"/>
          <p:cNvSpPr>
            <a:spLocks noGrp="1"/>
          </p:cNvSpPr>
          <p:nvPr>
            <p:ph sz="half" idx="1"/>
          </p:nvPr>
        </p:nvSpPr>
        <p:spPr>
          <a:xfrm>
            <a:off x="203200" y="776287"/>
            <a:ext cx="6803136"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5" name="Datumsplatzhalter 4"/>
          <p:cNvSpPr>
            <a:spLocks noGrp="1"/>
          </p:cNvSpPr>
          <p:nvPr>
            <p:ph type="dt" sz="half" idx="10"/>
          </p:nvPr>
        </p:nvSpPr>
        <p:spPr/>
        <p:txBody>
          <a:bodyPr/>
          <a:lstStyle/>
          <a:p>
            <a:fld id="{850A2C4E-E099-4331-8BC5-F5919D33FBB0}" type="datetime1">
              <a:rPr lang="de-DE" smtClean="0"/>
              <a:t>28.04.25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08800960-3D65-46F7-85EE-A2D8630D61E5}" type="slidenum">
              <a:rPr lang="en-US" smtClean="0"/>
              <a:t>‹Nr.›</a:t>
            </a:fld>
            <a:endParaRPr lang="en-US"/>
          </a:p>
        </p:txBody>
      </p:sp>
      <p:sp>
        <p:nvSpPr>
          <p:cNvPr id="8" name="Foliennummernplatzhalter 5">
            <a:extLst>
              <a:ext uri="{FF2B5EF4-FFF2-40B4-BE49-F238E27FC236}">
                <a16:creationId xmlns:a16="http://schemas.microsoft.com/office/drawing/2014/main" id="{E84BC76B-DD63-3D41-8021-753CA6CA5598}"/>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53913" y="1109161"/>
            <a:ext cx="782404" cy="4681637"/>
          </a:xfrm>
        </p:spPr>
        <p:txBody>
          <a:bodyPr vert="vert270" lIns="45720" tIns="0" rIns="45720" anchor="t"/>
          <a:lstStyle>
            <a:lvl1pPr algn="ctr">
              <a:buNone/>
              <a:defRPr sz="2000" b="1"/>
            </a:lvl1pPr>
          </a:lstStyle>
          <a:p>
            <a:r>
              <a:rPr kumimoji="0" lang="de-DE"/>
              <a:t>Titelmasterformat durch Klicken bearbeiten</a:t>
            </a:r>
            <a:endParaRPr kumimoji="0" lang="en-US"/>
          </a:p>
        </p:txBody>
      </p:sp>
      <p:sp>
        <p:nvSpPr>
          <p:cNvPr id="3" name="Bildplatzhalter 2"/>
          <p:cNvSpPr>
            <a:spLocks noGrp="1"/>
          </p:cNvSpPr>
          <p:nvPr>
            <p:ph type="pic" idx="1"/>
          </p:nvPr>
        </p:nvSpPr>
        <p:spPr>
          <a:xfrm>
            <a:off x="538228" y="1143000"/>
            <a:ext cx="6096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de-DE"/>
              <a:t>Bild durch Klicken auf Symbol hinzufügen</a:t>
            </a:r>
            <a:endParaRPr kumimoji="0" lang="en-US"/>
          </a:p>
        </p:txBody>
      </p:sp>
      <p:sp>
        <p:nvSpPr>
          <p:cNvPr id="4" name="Textplatzhalter 3"/>
          <p:cNvSpPr>
            <a:spLocks noGrp="1"/>
          </p:cNvSpPr>
          <p:nvPr>
            <p:ph type="body" sz="half" idx="2"/>
          </p:nvPr>
        </p:nvSpPr>
        <p:spPr>
          <a:xfrm>
            <a:off x="8117924" y="3274309"/>
            <a:ext cx="34544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de-DE"/>
              <a:t>Textmasterformat bearbeiten</a:t>
            </a:r>
          </a:p>
        </p:txBody>
      </p:sp>
      <p:sp>
        <p:nvSpPr>
          <p:cNvPr id="5" name="Datumsplatzhalter 4"/>
          <p:cNvSpPr>
            <a:spLocks noGrp="1"/>
          </p:cNvSpPr>
          <p:nvPr>
            <p:ph type="dt" sz="half" idx="10"/>
          </p:nvPr>
        </p:nvSpPr>
        <p:spPr/>
        <p:txBody>
          <a:bodyPr/>
          <a:lstStyle/>
          <a:p>
            <a:fld id="{5EB0A2B8-1C71-4F87-BF98-FD09C9576A12}" type="datetime1">
              <a:rPr lang="de-DE" smtClean="0"/>
              <a:t>28.04.25</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08800960-3D65-46F7-85EE-A2D8630D61E5}" type="slidenum">
              <a:rPr lang="en-US" smtClean="0"/>
              <a:t>‹Nr.›</a:t>
            </a:fld>
            <a:endParaRPr lang="en-US"/>
          </a:p>
        </p:txBody>
      </p:sp>
      <p:sp>
        <p:nvSpPr>
          <p:cNvPr id="8" name="Foliennummernplatzhalter 5">
            <a:extLst>
              <a:ext uri="{FF2B5EF4-FFF2-40B4-BE49-F238E27FC236}">
                <a16:creationId xmlns:a16="http://schemas.microsoft.com/office/drawing/2014/main" id="{F016CFB8-94C7-8342-AE16-44CC68AE3215}"/>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kumimoji="0" lang="de-DE"/>
              <a:t>Titelmasterformat durch Klicken bearbeiten</a:t>
            </a:r>
            <a:endParaRPr kumimoji="0" lang="en-US"/>
          </a:p>
        </p:txBody>
      </p:sp>
      <p:sp>
        <p:nvSpPr>
          <p:cNvPr id="3" name="Vertikaler Textplatzhalter 2"/>
          <p:cNvSpPr>
            <a:spLocks noGrp="1"/>
          </p:cNvSpPr>
          <p:nvPr>
            <p:ph type="body" orient="vert" idx="1"/>
          </p:nvPr>
        </p:nvSpPr>
        <p:spPr/>
        <p:txBody>
          <a:bodyPr vert="eaVert"/>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fld id="{D4B246B5-51C5-4FE7-B623-37283DCE9607}" type="datetime1">
              <a:rPr lang="de-DE" smtClean="0"/>
              <a:t>28.04.25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08800960-3D65-46F7-85EE-A2D8630D61E5}" type="slidenum">
              <a:rPr lang="en-US" smtClean="0"/>
              <a:t>‹Nr.›</a:t>
            </a:fld>
            <a:endParaRPr lang="en-US"/>
          </a:p>
        </p:txBody>
      </p:sp>
      <p:sp>
        <p:nvSpPr>
          <p:cNvPr id="7" name="Foliennummernplatzhalter 5">
            <a:extLst>
              <a:ext uri="{FF2B5EF4-FFF2-40B4-BE49-F238E27FC236}">
                <a16:creationId xmlns:a16="http://schemas.microsoft.com/office/drawing/2014/main" id="{86873E8B-5625-A34E-AB1D-17DCC1E3BC34}"/>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9042400" y="1143000"/>
            <a:ext cx="2540000" cy="5486400"/>
          </a:xfrm>
        </p:spPr>
        <p:txBody>
          <a:bodyPr vert="eaVert"/>
          <a:lstStyle/>
          <a:p>
            <a:r>
              <a:rPr kumimoji="0" lang="de-DE"/>
              <a:t>Titelmasterformat durch Klicken bearbeiten</a:t>
            </a:r>
            <a:endParaRPr kumimoji="0" lang="en-US"/>
          </a:p>
        </p:txBody>
      </p:sp>
      <p:sp>
        <p:nvSpPr>
          <p:cNvPr id="3" name="Vertikaler Textplatzhalter 2"/>
          <p:cNvSpPr>
            <a:spLocks noGrp="1"/>
          </p:cNvSpPr>
          <p:nvPr>
            <p:ph type="body" orient="vert" idx="1"/>
          </p:nvPr>
        </p:nvSpPr>
        <p:spPr>
          <a:xfrm>
            <a:off x="609600" y="1143000"/>
            <a:ext cx="8331200" cy="5486400"/>
          </a:xfrm>
        </p:spPr>
        <p:txBody>
          <a:bodyPr vert="eaVert"/>
          <a:lstStyle/>
          <a:p>
            <a:pPr lvl="0" eaLnBrk="1" latinLnBrk="0" hangingPunct="1"/>
            <a:r>
              <a:rPr lang="de-DE"/>
              <a:t>Textmasterformat bearbeiten</a:t>
            </a:r>
          </a:p>
          <a:p>
            <a:pPr lvl="1" eaLnBrk="1" latinLnBrk="0" hangingPunct="1"/>
            <a:r>
              <a:rPr lang="de-DE"/>
              <a:t>Zweite Ebene</a:t>
            </a:r>
          </a:p>
          <a:p>
            <a:pPr lvl="2" eaLnBrk="1" latinLnBrk="0" hangingPunct="1"/>
            <a:r>
              <a:rPr lang="de-DE"/>
              <a:t>Dritte Ebene</a:t>
            </a:r>
          </a:p>
          <a:p>
            <a:pPr lvl="3" eaLnBrk="1" latinLnBrk="0" hangingPunct="1"/>
            <a:r>
              <a:rPr lang="de-DE"/>
              <a:t>Vierte Ebene</a:t>
            </a:r>
          </a:p>
          <a:p>
            <a:pPr lvl="4" eaLnBrk="1" latinLnBrk="0" hangingPunct="1"/>
            <a:r>
              <a:rPr lang="de-DE"/>
              <a:t>Fünfte Ebene</a:t>
            </a:r>
            <a:endParaRPr kumimoji="0" lang="en-US"/>
          </a:p>
        </p:txBody>
      </p:sp>
      <p:sp>
        <p:nvSpPr>
          <p:cNvPr id="4" name="Datumsplatzhalter 3"/>
          <p:cNvSpPr>
            <a:spLocks noGrp="1"/>
          </p:cNvSpPr>
          <p:nvPr>
            <p:ph type="dt" sz="half" idx="10"/>
          </p:nvPr>
        </p:nvSpPr>
        <p:spPr/>
        <p:txBody>
          <a:bodyPr/>
          <a:lstStyle/>
          <a:p>
            <a:fld id="{E7E31108-9016-4212-8567-2FCA934A2626}" type="datetime1">
              <a:rPr lang="de-DE" smtClean="0"/>
              <a:t>28.04.25</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08800960-3D65-46F7-85EE-A2D8630D61E5}" type="slidenum">
              <a:rPr lang="en-US" smtClean="0"/>
              <a:t>‹Nr.›</a:t>
            </a:fld>
            <a:endParaRPr lang="en-US"/>
          </a:p>
        </p:txBody>
      </p:sp>
      <p:sp>
        <p:nvSpPr>
          <p:cNvPr id="7" name="Foliennummernplatzhalter 5">
            <a:extLst>
              <a:ext uri="{FF2B5EF4-FFF2-40B4-BE49-F238E27FC236}">
                <a16:creationId xmlns:a16="http://schemas.microsoft.com/office/drawing/2014/main" id="{EF4EF544-D00E-E040-834B-1AB2DC675130}"/>
              </a:ext>
            </a:extLst>
          </p:cNvPr>
          <p:cNvSpPr txBox="1">
            <a:spLocks/>
          </p:cNvSpPr>
          <p:nvPr userDrawn="1"/>
        </p:nvSpPr>
        <p:spPr>
          <a:xfrm>
            <a:off x="9418656" y="6391656"/>
            <a:ext cx="2651296" cy="365760"/>
          </a:xfrm>
          <a:prstGeom prst="rect">
            <a:avLst/>
          </a:prstGeom>
        </p:spPr>
        <p:txBody>
          <a:bodyPr vert="horz" anchor="b"/>
          <a:lstStyle>
            <a:defPPr>
              <a:defRPr lang="en-US"/>
            </a:defPPr>
            <a:lvl1pPr marL="0" algn="r" defTabSz="914400" rtl="0" eaLnBrk="1" latinLnBrk="0" hangingPunct="1">
              <a:defRPr kumimoji="0" sz="1200" kern="1200">
                <a:solidFill>
                  <a:schemeClr val="tx1">
                    <a:lumMod val="75000"/>
                    <a:lumOff val="25000"/>
                  </a:schemeClr>
                </a:solidFill>
                <a:latin typeface="Verdana" panose="020B0604030504040204" pitchFamily="34" charset="0"/>
                <a:ea typeface="Verdana" panose="020B0604030504040204" pitchFamily="34" charset="0"/>
                <a:cs typeface="Verdan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8800960-3D65-46F7-85EE-A2D8630D61E5}" type="slidenum">
              <a:rPr lang="en-US" sz="1200" smtClean="0"/>
              <a:pPr/>
              <a:t>‹Nr.›</a:t>
            </a:fld>
            <a:endParaRPr lang="en-US" sz="120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hteck 27"/>
          <p:cNvSpPr/>
          <p:nvPr/>
        </p:nvSpPr>
        <p:spPr>
          <a:xfrm>
            <a:off x="1" y="366819"/>
            <a:ext cx="12192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9" name="Rechteck 28"/>
          <p:cNvSpPr/>
          <p:nvPr/>
        </p:nvSpPr>
        <p:spPr>
          <a:xfrm>
            <a:off x="0" y="-1"/>
            <a:ext cx="12192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0" name="Rechteck 29"/>
          <p:cNvSpPr/>
          <p:nvPr/>
        </p:nvSpPr>
        <p:spPr>
          <a:xfrm>
            <a:off x="1" y="308277"/>
            <a:ext cx="12192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1" name="Rechteck 30"/>
          <p:cNvSpPr/>
          <p:nvPr/>
        </p:nvSpPr>
        <p:spPr>
          <a:xfrm flipV="1">
            <a:off x="7213577" y="360247"/>
            <a:ext cx="4978425"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2" name="Rechteck 31"/>
          <p:cNvSpPr/>
          <p:nvPr/>
        </p:nvSpPr>
        <p:spPr>
          <a:xfrm flipV="1">
            <a:off x="7213601" y="440113"/>
            <a:ext cx="49784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3" name="Abgerundetes Rechteck 32"/>
          <p:cNvSpPr/>
          <p:nvPr/>
        </p:nvSpPr>
        <p:spPr bwMode="white">
          <a:xfrm>
            <a:off x="7209785" y="497504"/>
            <a:ext cx="408432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useBgFill="1">
        <p:nvSpPr>
          <p:cNvPr id="34" name="Abgerundetes Rechteck 33"/>
          <p:cNvSpPr/>
          <p:nvPr/>
        </p:nvSpPr>
        <p:spPr bwMode="white">
          <a:xfrm>
            <a:off x="9831528" y="588943"/>
            <a:ext cx="21336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5" name="Rechteck 34"/>
          <p:cNvSpPr/>
          <p:nvPr/>
        </p:nvSpPr>
        <p:spPr bwMode="invGray">
          <a:xfrm>
            <a:off x="12113288" y="-2001"/>
            <a:ext cx="76835"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6" name="Rechteck 35"/>
          <p:cNvSpPr/>
          <p:nvPr/>
        </p:nvSpPr>
        <p:spPr bwMode="invGray">
          <a:xfrm>
            <a:off x="12059308" y="-2001"/>
            <a:ext cx="3657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7" name="Rechteck 36"/>
          <p:cNvSpPr/>
          <p:nvPr/>
        </p:nvSpPr>
        <p:spPr bwMode="invGray">
          <a:xfrm>
            <a:off x="12033904" y="-2001"/>
            <a:ext cx="12192"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8" name="Rechteck 37"/>
          <p:cNvSpPr/>
          <p:nvPr/>
        </p:nvSpPr>
        <p:spPr bwMode="invGray">
          <a:xfrm>
            <a:off x="11967231" y="-2001"/>
            <a:ext cx="36576"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9" name="Rechteck 38"/>
          <p:cNvSpPr/>
          <p:nvPr/>
        </p:nvSpPr>
        <p:spPr bwMode="invGray">
          <a:xfrm>
            <a:off x="11887569" y="380"/>
            <a:ext cx="73152"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40" name="Rechteck 39"/>
          <p:cNvSpPr/>
          <p:nvPr/>
        </p:nvSpPr>
        <p:spPr bwMode="invGray">
          <a:xfrm>
            <a:off x="11831300" y="380"/>
            <a:ext cx="12192"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2" name="Titelplatzhalter 21"/>
          <p:cNvSpPr>
            <a:spLocks noGrp="1"/>
          </p:cNvSpPr>
          <p:nvPr>
            <p:ph type="title"/>
          </p:nvPr>
        </p:nvSpPr>
        <p:spPr>
          <a:xfrm>
            <a:off x="609600" y="1143000"/>
            <a:ext cx="10972800" cy="1066800"/>
          </a:xfrm>
          <a:prstGeom prst="rect">
            <a:avLst/>
          </a:prstGeom>
        </p:spPr>
        <p:txBody>
          <a:bodyPr vert="horz" anchor="ctr">
            <a:normAutofit/>
          </a:bodyPr>
          <a:lstStyle/>
          <a:p>
            <a:r>
              <a:rPr kumimoji="0" lang="de-DE"/>
              <a:t>Titelmasterformat durch Klicken bearbeiten</a:t>
            </a:r>
            <a:endParaRPr kumimoji="0" lang="en-US"/>
          </a:p>
        </p:txBody>
      </p:sp>
      <p:sp>
        <p:nvSpPr>
          <p:cNvPr id="13" name="Textplatzhalter 12"/>
          <p:cNvSpPr>
            <a:spLocks noGrp="1"/>
          </p:cNvSpPr>
          <p:nvPr>
            <p:ph type="body" idx="1"/>
          </p:nvPr>
        </p:nvSpPr>
        <p:spPr>
          <a:xfrm>
            <a:off x="609600" y="2249424"/>
            <a:ext cx="10972800" cy="4325112"/>
          </a:xfrm>
          <a:prstGeom prst="rect">
            <a:avLst/>
          </a:prstGeom>
        </p:spPr>
        <p:txBody>
          <a:bodyPr vert="horz">
            <a:normAutofit/>
          </a:bodyPr>
          <a:lstStyle/>
          <a:p>
            <a:pPr lvl="0" eaLnBrk="1" latinLnBrk="0" hangingPunct="1"/>
            <a:r>
              <a:rPr kumimoji="0" lang="de-DE"/>
              <a:t>Textmasterformat bearbeiten</a:t>
            </a:r>
          </a:p>
          <a:p>
            <a:pPr lvl="1" eaLnBrk="1" latinLnBrk="0" hangingPunct="1"/>
            <a:r>
              <a:rPr kumimoji="0" lang="de-DE"/>
              <a:t>Zweite Ebene</a:t>
            </a:r>
          </a:p>
          <a:p>
            <a:pPr lvl="2" eaLnBrk="1" latinLnBrk="0" hangingPunct="1"/>
            <a:r>
              <a:rPr kumimoji="0" lang="de-DE"/>
              <a:t>Dritte Ebene</a:t>
            </a:r>
          </a:p>
          <a:p>
            <a:pPr lvl="3" eaLnBrk="1" latinLnBrk="0" hangingPunct="1"/>
            <a:r>
              <a:rPr kumimoji="0" lang="de-DE"/>
              <a:t>Vierte Ebene</a:t>
            </a:r>
          </a:p>
          <a:p>
            <a:pPr lvl="4" eaLnBrk="1" latinLnBrk="0" hangingPunct="1"/>
            <a:r>
              <a:rPr kumimoji="0" lang="de-DE"/>
              <a:t>Fünfte Ebene</a:t>
            </a:r>
            <a:endParaRPr kumimoji="0" lang="en-US"/>
          </a:p>
        </p:txBody>
      </p:sp>
      <p:sp>
        <p:nvSpPr>
          <p:cNvPr id="14" name="Datumsplatzhalter 13"/>
          <p:cNvSpPr>
            <a:spLocks noGrp="1"/>
          </p:cNvSpPr>
          <p:nvPr>
            <p:ph type="dt" sz="half" idx="2"/>
          </p:nvPr>
        </p:nvSpPr>
        <p:spPr>
          <a:xfrm>
            <a:off x="8782048" y="612648"/>
            <a:ext cx="1276352" cy="457200"/>
          </a:xfrm>
          <a:prstGeom prst="rect">
            <a:avLst/>
          </a:prstGeom>
        </p:spPr>
        <p:txBody>
          <a:bodyPr vert="horz"/>
          <a:lstStyle>
            <a:lvl1pPr algn="l" eaLnBrk="1" latinLnBrk="0" hangingPunct="1">
              <a:defRPr kumimoji="0" sz="800">
                <a:solidFill>
                  <a:schemeClr val="accent2"/>
                </a:solidFill>
              </a:defRPr>
            </a:lvl1pPr>
          </a:lstStyle>
          <a:p>
            <a:fld id="{D83A9F74-EE4C-49D6-9661-C67699B6A199}" type="datetime1">
              <a:rPr lang="de-DE" smtClean="0"/>
              <a:t>28.04.25</a:t>
            </a:fld>
            <a:endParaRPr lang="en-US"/>
          </a:p>
        </p:txBody>
      </p:sp>
      <p:sp>
        <p:nvSpPr>
          <p:cNvPr id="3" name="Fußzeilenplatzhalter 2"/>
          <p:cNvSpPr>
            <a:spLocks noGrp="1"/>
          </p:cNvSpPr>
          <p:nvPr>
            <p:ph type="ftr" sz="quarter" idx="3"/>
          </p:nvPr>
        </p:nvSpPr>
        <p:spPr>
          <a:xfrm>
            <a:off x="7010400" y="612648"/>
            <a:ext cx="176784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Foliennummernplatzhalter 22"/>
          <p:cNvSpPr>
            <a:spLocks noGrp="1"/>
          </p:cNvSpPr>
          <p:nvPr>
            <p:ph type="sldNum" sz="quarter" idx="4"/>
          </p:nvPr>
        </p:nvSpPr>
        <p:spPr>
          <a:xfrm>
            <a:off x="10899648" y="2272"/>
            <a:ext cx="1016000" cy="365760"/>
          </a:xfrm>
          <a:prstGeom prst="rect">
            <a:avLst/>
          </a:prstGeom>
        </p:spPr>
        <p:txBody>
          <a:bodyPr vert="horz" anchor="b"/>
          <a:lstStyle>
            <a:lvl1pPr algn="r" eaLnBrk="1" latinLnBrk="0" hangingPunct="1">
              <a:defRPr kumimoji="0" sz="1800">
                <a:solidFill>
                  <a:srgbClr val="FFFFFF"/>
                </a:solidFill>
              </a:defRPr>
            </a:lvl1pPr>
          </a:lstStyle>
          <a:p>
            <a:fld id="{08800960-3D65-46F7-85EE-A2D8630D61E5}" type="slidenum">
              <a:rPr lang="en-US" smtClean="0"/>
              <a:t>‹Nr.›</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6.png"/><Relationship Id="rId7" Type="http://schemas.openxmlformats.org/officeDocument/2006/relationships/diagramQuickStyle" Target="../diagrams/quickStyle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hyperlink" Target="https://tamaracamerablog.com/creating-an-inclusive-family-atmosphere/" TargetMode="External"/><Relationship Id="rId9" Type="http://schemas.microsoft.com/office/2007/relationships/diagramDrawing" Target="../diagrams/drawing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feld 3"/>
          <p:cNvSpPr txBox="1"/>
          <p:nvPr/>
        </p:nvSpPr>
        <p:spPr>
          <a:xfrm>
            <a:off x="407369" y="404664"/>
            <a:ext cx="5688631" cy="2575449"/>
          </a:xfrm>
          <a:prstGeom prst="rect">
            <a:avLst/>
          </a:prstGeom>
          <a:noFill/>
        </p:spPr>
        <p:txBody>
          <a:bodyPr wrap="square">
            <a:spAutoFit/>
          </a:bodyPr>
          <a:lstStyle/>
          <a:p>
            <a:pPr>
              <a:lnSpc>
                <a:spcPct val="150000"/>
              </a:lnSpc>
              <a:defRPr/>
            </a:pPr>
            <a:r>
              <a:rPr lang="de-DE" sz="2400" dirty="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rPr>
              <a:t>Audiodeskription</a:t>
            </a:r>
          </a:p>
          <a:p>
            <a:pPr marL="285750" indent="-285750">
              <a:lnSpc>
                <a:spcPct val="150000"/>
              </a:lnSpc>
              <a:buFontTx/>
              <a:buChar char="-"/>
              <a:defRPr/>
            </a:pPr>
            <a:r>
              <a:rPr lang="de-DE" sz="1400" dirty="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rPr>
              <a:t>Einführung in die Audiodeskription	 –</a:t>
            </a:r>
          </a:p>
          <a:p>
            <a:pPr>
              <a:lnSpc>
                <a:spcPct val="150000"/>
              </a:lnSpc>
              <a:defRPr/>
            </a:pPr>
            <a:endParaRPr lang="de-DE" dirty="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endParaRPr>
          </a:p>
          <a:p>
            <a:pPr>
              <a:lnSpc>
                <a:spcPct val="150000"/>
              </a:lnSpc>
              <a:defRPr/>
            </a:pPr>
            <a:r>
              <a:rPr lang="de-DE" dirty="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rPr>
              <a:t>06.05. / 07.05.2025</a:t>
            </a:r>
          </a:p>
          <a:p>
            <a:pPr>
              <a:lnSpc>
                <a:spcPct val="150000"/>
              </a:lnSpc>
              <a:defRPr/>
            </a:pPr>
            <a:endParaRPr lang="de-DE" dirty="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endParaRPr>
          </a:p>
          <a:p>
            <a:pPr>
              <a:lnSpc>
                <a:spcPct val="150000"/>
              </a:lnSpc>
              <a:defRPr/>
            </a:pPr>
            <a:r>
              <a:rPr lang="de-DE" dirty="0">
                <a:solidFill>
                  <a:schemeClr val="bg1"/>
                </a:solidFill>
                <a:effectLst>
                  <a:outerShdw blurRad="50800" dist="38100" dir="2700000" algn="tl" rotWithShape="0">
                    <a:prstClr val="black">
                      <a:alpha val="40000"/>
                    </a:prstClr>
                  </a:outerShdw>
                </a:effectLst>
                <a:latin typeface="Verdana" panose="020B0604030504040204" pitchFamily="34" charset="0"/>
                <a:ea typeface="Verdana" panose="020B0604030504040204" pitchFamily="34" charset="0"/>
                <a:cs typeface="Verdana" panose="020B0604030504040204" pitchFamily="34" charset="0"/>
              </a:rPr>
              <a:t>Projektgruppe</a:t>
            </a:r>
          </a:p>
        </p:txBody>
      </p:sp>
      <p:sp>
        <p:nvSpPr>
          <p:cNvPr id="5" name="Rectangle 8"/>
          <p:cNvSpPr>
            <a:spLocks noGrp="1" noChangeArrowheads="1"/>
          </p:cNvSpPr>
          <p:nvPr>
            <p:ph type="subTitle" idx="1"/>
          </p:nvPr>
        </p:nvSpPr>
        <p:spPr>
          <a:xfrm>
            <a:off x="335360" y="4293096"/>
            <a:ext cx="4608512" cy="2160240"/>
          </a:xfrm>
        </p:spPr>
        <p:txBody>
          <a:bodyPr rtlCol="0">
            <a:normAutofit/>
          </a:bodyPr>
          <a:lstStyle/>
          <a:p>
            <a:pPr>
              <a:lnSpc>
                <a:spcPct val="150000"/>
              </a:lnSpc>
              <a:defRPr/>
            </a:pPr>
            <a:r>
              <a:rPr lang="de-DE" sz="1400" u="sng" dirty="0">
                <a:latin typeface="Verdana" panose="020B0604030504040204" pitchFamily="34" charset="0"/>
                <a:ea typeface="Verdana" panose="020B0604030504040204" pitchFamily="34" charset="0"/>
                <a:cs typeface="Verdana" panose="020B0604030504040204" pitchFamily="34" charset="0"/>
              </a:rPr>
              <a:t>Referent*in:</a:t>
            </a:r>
          </a:p>
          <a:p>
            <a:pPr>
              <a:lnSpc>
                <a:spcPct val="150000"/>
              </a:lnSpc>
              <a:defRPr/>
            </a:pPr>
            <a:r>
              <a:rPr lang="de-DE" sz="1400" dirty="0">
                <a:latin typeface="Verdana" panose="020B0604030504040204" pitchFamily="34" charset="0"/>
                <a:ea typeface="Verdana" panose="020B0604030504040204" pitchFamily="34" charset="0"/>
                <a:cs typeface="Verdana" panose="020B0604030504040204" pitchFamily="34" charset="0"/>
              </a:rPr>
              <a:t>Grimm, Hendrik</a:t>
            </a:r>
          </a:p>
          <a:p>
            <a:pPr>
              <a:lnSpc>
                <a:spcPct val="150000"/>
              </a:lnSpc>
              <a:defRPr/>
            </a:pPr>
            <a:r>
              <a:rPr lang="de-DE" sz="1400" dirty="0">
                <a:latin typeface="Verdana" panose="020B0604030504040204" pitchFamily="34" charset="0"/>
                <a:ea typeface="Verdana" panose="020B0604030504040204" pitchFamily="34" charset="0"/>
                <a:cs typeface="Verdana" panose="020B0604030504040204" pitchFamily="34" charset="0"/>
              </a:rPr>
              <a:t>Beer, Luisa</a:t>
            </a:r>
          </a:p>
        </p:txBody>
      </p:sp>
      <p:pic>
        <p:nvPicPr>
          <p:cNvPr id="3" name="Grafik 2">
            <a:extLst>
              <a:ext uri="{FF2B5EF4-FFF2-40B4-BE49-F238E27FC236}">
                <a16:creationId xmlns:a16="http://schemas.microsoft.com/office/drawing/2014/main" id="{B041DD58-48B2-5F4E-9AFE-53178492BD07}"/>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040216" y="5688429"/>
            <a:ext cx="3841846" cy="941380"/>
          </a:xfrm>
          <a:prstGeom prst="rect">
            <a:avLst/>
          </a:prstGeom>
        </p:spPr>
      </p:pic>
      <p:pic>
        <p:nvPicPr>
          <p:cNvPr id="8" name="Grafik 7" descr="Ein Bild, das Screenshot, Raum, Kreis, Licht enthält.">
            <a:extLst>
              <a:ext uri="{FF2B5EF4-FFF2-40B4-BE49-F238E27FC236}">
                <a16:creationId xmlns:a16="http://schemas.microsoft.com/office/drawing/2014/main" id="{103C4555-7478-07A5-16DE-0B2DFD319860}"/>
              </a:ext>
            </a:extLst>
          </p:cNvPr>
          <p:cNvPicPr>
            <a:picLocks noChangeAspect="1"/>
          </p:cNvPicPr>
          <p:nvPr/>
        </p:nvPicPr>
        <p:blipFill>
          <a:blip r:embed="rId3" cstate="print">
            <a:alphaModFix/>
            <a:extLst>
              <a:ext uri="{28A0092B-C50C-407E-A947-70E740481C1C}">
                <a14:useLocalDpi xmlns:a14="http://schemas.microsoft.com/office/drawing/2010/main" val="0"/>
              </a:ext>
            </a:extLst>
          </a:blip>
          <a:stretch>
            <a:fillRect/>
          </a:stretch>
        </p:blipFill>
        <p:spPr>
          <a:xfrm>
            <a:off x="6096000" y="0"/>
            <a:ext cx="6096000" cy="3708000"/>
          </a:xfrm>
          <a:prstGeom prst="rect">
            <a:avLst/>
          </a:prstGeom>
        </p:spPr>
      </p:pic>
      <p:sp>
        <p:nvSpPr>
          <p:cNvPr id="9" name="Rechteck 8">
            <a:extLst>
              <a:ext uri="{FF2B5EF4-FFF2-40B4-BE49-F238E27FC236}">
                <a16:creationId xmlns:a16="http://schemas.microsoft.com/office/drawing/2014/main" id="{B9EBFDA2-089E-4B05-54A9-EA7E4905ABF5}"/>
              </a:ext>
            </a:extLst>
          </p:cNvPr>
          <p:cNvSpPr/>
          <p:nvPr/>
        </p:nvSpPr>
        <p:spPr>
          <a:xfrm>
            <a:off x="6096000" y="0"/>
            <a:ext cx="6096000" cy="3686400"/>
          </a:xfrm>
          <a:prstGeom prst="rect">
            <a:avLst/>
          </a:prstGeom>
          <a:solidFill>
            <a:srgbClr val="424456">
              <a:alpha val="3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428209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AEEA5-AD1F-0E8D-3F3A-45518C444A98}"/>
            </a:ext>
          </a:extLst>
        </p:cNvPr>
        <p:cNvGrpSpPr/>
        <p:nvPr/>
      </p:nvGrpSpPr>
      <p:grpSpPr>
        <a:xfrm>
          <a:off x="0" y="0"/>
          <a:ext cx="0" cy="0"/>
          <a:chOff x="0" y="0"/>
          <a:chExt cx="0" cy="0"/>
        </a:xfrm>
      </p:grpSpPr>
      <p:sp>
        <p:nvSpPr>
          <p:cNvPr id="4" name="Foliennummernplatzhalter 5">
            <a:extLst>
              <a:ext uri="{FF2B5EF4-FFF2-40B4-BE49-F238E27FC236}">
                <a16:creationId xmlns:a16="http://schemas.microsoft.com/office/drawing/2014/main" id="{D99FF903-395B-86B0-FF15-CA707FA86056}"/>
              </a:ext>
            </a:extLst>
          </p:cNvPr>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2</a:t>
            </a:fld>
            <a:endParaRPr lang="de-DE">
              <a:latin typeface="Verdana" panose="020B0604030504040204" pitchFamily="34" charset="0"/>
              <a:ea typeface="Verdana" panose="020B0604030504040204" pitchFamily="34" charset="0"/>
              <a:cs typeface="Verdana" panose="020B0604030504040204" pitchFamily="34" charset="0"/>
            </a:endParaRPr>
          </a:p>
        </p:txBody>
      </p:sp>
      <p:sp>
        <p:nvSpPr>
          <p:cNvPr id="8" name="Rectangle 2">
            <a:extLst>
              <a:ext uri="{FF2B5EF4-FFF2-40B4-BE49-F238E27FC236}">
                <a16:creationId xmlns:a16="http://schemas.microsoft.com/office/drawing/2014/main" id="{28681B37-C29A-B7BC-202F-1CCF873BDD4E}"/>
              </a:ext>
            </a:extLst>
          </p:cNvPr>
          <p:cNvSpPr>
            <a:spLocks noChangeArrowheads="1"/>
          </p:cNvSpPr>
          <p:nvPr/>
        </p:nvSpPr>
        <p:spPr bwMode="auto">
          <a:xfrm>
            <a:off x="407368" y="1957482"/>
            <a:ext cx="38860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b="1" i="0" u="none" strike="noStrike" cap="none" normalizeH="0" baseline="0" dirty="0">
                <a:ln>
                  <a:noFill/>
                </a:ln>
                <a:effectLst/>
                <a:latin typeface="Arial"/>
                <a:cs typeface="Arial"/>
              </a:rPr>
              <a:t>1️⃣ Grundlagen der Audiodeskription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b="1"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b="0" i="0" u="none" strike="noStrike" cap="none" normalizeH="0" baseline="0" dirty="0">
                <a:ln>
                  <a:noFill/>
                </a:ln>
                <a:effectLst/>
                <a:latin typeface="Arial"/>
                <a:cs typeface="Arial"/>
              </a:rPr>
              <a:t>Was ist Audiodeskription?</a:t>
            </a:r>
            <a:endParaRPr lang="de-DE" altLang="de-DE" sz="1200" b="0" i="0" u="none" strike="noStrike" cap="none" normalizeH="0" baseline="0" dirty="0">
              <a:ln>
                <a:noFill/>
              </a:ln>
              <a:effectLst/>
              <a:latin typeface="Arial"/>
              <a:cs typeface="Arial"/>
            </a:endParaRPr>
          </a:p>
          <a:p>
            <a:pPr marL="171450" indent="-171450" eaLnBrk="0" fontAlgn="base" hangingPunct="0">
              <a:spcBef>
                <a:spcPct val="0"/>
              </a:spcBef>
              <a:spcAft>
                <a:spcPct val="0"/>
              </a:spcAft>
              <a:buFont typeface="Wingdings" panose="05000000000000000000" pitchFamily="2" charset="2"/>
              <a:buChar char="§"/>
            </a:pPr>
            <a:r>
              <a:rPr kumimoji="0" lang="de-DE" altLang="de-DE" sz="1200" i="0" u="none" strike="noStrike" cap="none" normalizeH="0" baseline="0" dirty="0">
                <a:ln>
                  <a:noFill/>
                </a:ln>
                <a:effectLst/>
                <a:latin typeface="Arial"/>
                <a:cs typeface="Arial"/>
              </a:rPr>
              <a:t>Geschichte und Entwicklung </a:t>
            </a:r>
            <a:endParaRPr lang="de-DE" altLang="de-DE" sz="1200" i="0" u="none" strike="noStrike" cap="none" normalizeH="0" baseline="0" dirty="0">
              <a:ln>
                <a:noFill/>
              </a:ln>
              <a:effectLst/>
              <a:latin typeface="Arial"/>
              <a:cs typeface="Arial"/>
            </a:endParaRPr>
          </a:p>
          <a:p>
            <a:pPr marL="171450" indent="-171450" eaLnBrk="0" fontAlgn="base" hangingPunct="0">
              <a:spcBef>
                <a:spcPct val="0"/>
              </a:spcBef>
              <a:spcAft>
                <a:spcPct val="0"/>
              </a:spcAft>
              <a:buFont typeface="Wingdings" panose="05000000000000000000" pitchFamily="2" charset="2"/>
              <a:buChar char="§"/>
            </a:pPr>
            <a:r>
              <a:rPr kumimoji="0" lang="de-DE" altLang="de-DE" sz="1200" i="0" u="none" strike="noStrike" cap="none" normalizeH="0" baseline="0" dirty="0">
                <a:ln>
                  <a:noFill/>
                </a:ln>
                <a:effectLst/>
                <a:latin typeface="Arial"/>
                <a:cs typeface="Arial"/>
              </a:rPr>
              <a:t>Relevanz und Bedeutung​ </a:t>
            </a:r>
            <a:endParaRPr lang="de-DE" altLang="de-DE" sz="1200" i="0" u="none" strike="noStrike" cap="none" normalizeH="0" baseline="0" dirty="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tabLst/>
            </a:pPr>
            <a:endParaRPr lang="de-DE" altLang="de-DE"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de-DE" altLang="de-DE"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b="1" i="0" u="none" strike="noStrike" cap="none" normalizeH="0" baseline="0" dirty="0">
                <a:ln>
                  <a:noFill/>
                </a:ln>
                <a:effectLst/>
                <a:latin typeface="Arial"/>
                <a:cs typeface="Arial"/>
              </a:rPr>
              <a:t>2️⃣  Vorgehen zum Erstellen einer Audiodeskription</a:t>
            </a:r>
            <a:endParaRPr lang="de-DE" altLang="de-DE" sz="1200" b="1" i="0" u="none" strike="noStrike" cap="none" normalizeH="0" baseline="0" dirty="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b="1" i="0" u="none" strike="noStrike" cap="none" normalizeH="0" baseline="0" dirty="0">
              <a:ln>
                <a:noFill/>
              </a:ln>
              <a:solidFill>
                <a:schemeClr val="tx1"/>
              </a:solidFill>
              <a:effectLst/>
              <a:latin typeface="Arial" panose="020B0604020202020204" pitchFamily="34" charset="0"/>
            </a:endParaRPr>
          </a:p>
          <a:p>
            <a:pPr marL="171450" indent="-171450" algn="just" eaLnBrk="0" fontAlgn="base" hangingPunct="0">
              <a:spcBef>
                <a:spcPct val="0"/>
              </a:spcBef>
              <a:spcAft>
                <a:spcPct val="0"/>
              </a:spcAft>
              <a:buFont typeface="Wingdings" panose="05000000000000000000" pitchFamily="2" charset="2"/>
              <a:buChar char="§"/>
            </a:pPr>
            <a:r>
              <a:rPr lang="de-DE" altLang="de-DE" sz="1200" dirty="0">
                <a:latin typeface="Arial"/>
                <a:cs typeface="Arial"/>
              </a:rPr>
              <a:t>Ablauf</a:t>
            </a:r>
            <a:endParaRPr lang="de-DE" altLang="de-DE" sz="1200" i="0" u="none" strike="noStrike" cap="none" normalizeH="0" baseline="0" dirty="0">
              <a:ln>
                <a:noFill/>
              </a:ln>
              <a:effectLst/>
              <a:latin typeface="Arial" panose="020B0604020202020204" pitchFamily="34" charset="0"/>
              <a:cs typeface="Arial"/>
            </a:endParaRPr>
          </a:p>
          <a:p>
            <a:pPr marL="171450" indent="-171450" algn="just" eaLnBrk="0" fontAlgn="base" hangingPunct="0">
              <a:spcBef>
                <a:spcPct val="0"/>
              </a:spcBef>
              <a:spcAft>
                <a:spcPct val="0"/>
              </a:spcAft>
              <a:buFont typeface="Wingdings" panose="05000000000000000000" pitchFamily="2" charset="2"/>
              <a:buChar char="§"/>
            </a:pPr>
            <a:r>
              <a:rPr lang="de-DE" altLang="de-DE" sz="1200" dirty="0">
                <a:latin typeface="Arial"/>
                <a:cs typeface="Arial"/>
              </a:rPr>
              <a:t>Was wird beschrieben?</a:t>
            </a:r>
            <a:endParaRPr lang="de-DE" altLang="de-DE" sz="1200" i="0" u="none" strike="noStrike" cap="none" normalizeH="0" baseline="0" dirty="0">
              <a:ln>
                <a:noFill/>
              </a:ln>
              <a:effectLst/>
              <a:latin typeface="Arial" panose="020B0604020202020204" pitchFamily="34" charset="0"/>
              <a:cs typeface="Arial"/>
            </a:endParaRPr>
          </a:p>
          <a:p>
            <a:pPr marL="171450" indent="-171450" algn="just" eaLnBrk="0" fontAlgn="base" hangingPunct="0">
              <a:spcBef>
                <a:spcPct val="0"/>
              </a:spcBef>
              <a:spcAft>
                <a:spcPct val="0"/>
              </a:spcAft>
              <a:buFont typeface="Wingdings" panose="05000000000000000000" pitchFamily="2" charset="2"/>
              <a:buChar char="§"/>
            </a:pPr>
            <a:r>
              <a:rPr lang="de-DE" altLang="de-DE" sz="1200" dirty="0">
                <a:latin typeface="Arial"/>
                <a:cs typeface="Arial"/>
              </a:rPr>
              <a:t>Wie soll es beschrieben werden?</a:t>
            </a:r>
            <a:endParaRPr lang="de-DE" altLang="de-DE" sz="1200" i="0" u="none" strike="noStrike" cap="none" normalizeH="0" baseline="0" dirty="0">
              <a:ln>
                <a:noFill/>
              </a:ln>
              <a:effectLst/>
              <a:latin typeface="Arial" panose="020B0604020202020204" pitchFamily="34" charset="0"/>
              <a:cs typeface="Arial"/>
            </a:endParaRPr>
          </a:p>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de-DE" altLang="de-DE" sz="1200" dirty="0">
              <a:latin typeface="Arial" panose="020B0604020202020204" pitchFamily="34" charset="0"/>
            </a:endParaRPr>
          </a:p>
          <a:p>
            <a:pPr marR="0" lvl="0" algn="just" defTabSz="914400" rtl="0" eaLnBrk="0" fontAlgn="base" latinLnBrk="0" hangingPunct="0">
              <a:lnSpc>
                <a:spcPct val="100000"/>
              </a:lnSpc>
              <a:spcBef>
                <a:spcPct val="0"/>
              </a:spcBef>
              <a:spcAft>
                <a:spcPct val="0"/>
              </a:spcAft>
              <a:buClrTx/>
              <a:buSzTx/>
              <a:tabLst/>
            </a:pPr>
            <a:endParaRPr lang="de-DE" altLang="de-DE" sz="1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i="0" u="none" strike="noStrike" cap="none" normalizeH="0" baseline="0" dirty="0">
                <a:ln>
                  <a:noFill/>
                </a:ln>
                <a:effectLst/>
                <a:latin typeface="Arial"/>
                <a:cs typeface="Arial"/>
              </a:rPr>
              <a:t>3️⃣ </a:t>
            </a:r>
            <a:r>
              <a:rPr kumimoji="0" lang="de-DE" altLang="de-DE" sz="1200" b="1" i="0" u="none" strike="noStrike" cap="none" normalizeH="0" baseline="0" dirty="0">
                <a:ln>
                  <a:noFill/>
                </a:ln>
                <a:effectLst/>
                <a:latin typeface="Arial"/>
                <a:cs typeface="Arial"/>
              </a:rPr>
              <a:t> Rechtliche und ethische Überlegungen</a:t>
            </a:r>
            <a:endParaRPr lang="de-DE" altLang="de-DE" sz="1200" b="1" i="0" u="none" strike="noStrike" cap="none" normalizeH="0" baseline="0" dirty="0">
              <a:ln>
                <a:noFill/>
              </a:ln>
              <a:effectLst/>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dirty="0">
                <a:ln>
                  <a:noFill/>
                </a:ln>
                <a:effectLst/>
                <a:latin typeface="Arial"/>
                <a:cs typeface="Arial"/>
              </a:rPr>
              <a:t>Gesetze und Vorschriften </a:t>
            </a:r>
            <a:endParaRPr lang="de-DE" altLang="de-DE" sz="1200" i="0" u="none" strike="noStrike" cap="none" normalizeH="0" baseline="0" dirty="0">
              <a:ln>
                <a:noFill/>
              </a:ln>
              <a:effectLst/>
              <a:latin typeface="Arial"/>
              <a:cs typeface="Arial"/>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dirty="0">
                <a:ln>
                  <a:noFill/>
                </a:ln>
                <a:effectLst/>
                <a:latin typeface="Arial"/>
                <a:cs typeface="Arial"/>
              </a:rPr>
              <a:t>Ethische Verantwortung</a:t>
            </a:r>
            <a:endParaRPr lang="de-DE" altLang="de-DE" sz="1200" i="0" u="none" strike="noStrike" cap="none" normalizeH="0" baseline="0" dirty="0">
              <a:ln>
                <a:noFill/>
              </a:ln>
              <a:effectLst/>
              <a:latin typeface="Arial"/>
              <a:cs typeface="Arial"/>
            </a:endParaRPr>
          </a:p>
        </p:txBody>
      </p:sp>
      <p:sp>
        <p:nvSpPr>
          <p:cNvPr id="10" name="Rectangle 1">
            <a:extLst>
              <a:ext uri="{FF2B5EF4-FFF2-40B4-BE49-F238E27FC236}">
                <a16:creationId xmlns:a16="http://schemas.microsoft.com/office/drawing/2014/main" id="{190B9A6A-8FDF-C676-74F4-EF61914813DE}"/>
              </a:ext>
            </a:extLst>
          </p:cNvPr>
          <p:cNvSpPr>
            <a:spLocks noChangeArrowheads="1"/>
          </p:cNvSpPr>
          <p:nvPr/>
        </p:nvSpPr>
        <p:spPr bwMode="auto">
          <a:xfrm>
            <a:off x="7104112" y="1865149"/>
            <a:ext cx="274305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200" i="0" u="none" strike="noStrike" cap="none" normalizeH="0" baseline="0" dirty="0">
                <a:ln>
                  <a:noFill/>
                </a:ln>
                <a:solidFill>
                  <a:schemeClr val="tx1"/>
                </a:solidFill>
                <a:effectLst/>
                <a:latin typeface="Arial" panose="020B0604020202020204" pitchFamily="34" charset="0"/>
              </a:rPr>
              <a:t>​4️⃣ </a:t>
            </a:r>
            <a:r>
              <a:rPr kumimoji="0" lang="de-DE" altLang="de-DE" sz="1200" b="1" i="0" u="none" strike="noStrike" cap="none" normalizeH="0" baseline="0" dirty="0">
                <a:ln>
                  <a:noFill/>
                </a:ln>
                <a:solidFill>
                  <a:schemeClr val="tx1"/>
                </a:solidFill>
                <a:effectLst/>
                <a:latin typeface="Arial" panose="020B0604020202020204" pitchFamily="34" charset="0"/>
              </a:rPr>
              <a:t> Anwendung und Praxis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dirty="0">
                <a:ln>
                  <a:noFill/>
                </a:ln>
                <a:solidFill>
                  <a:schemeClr val="tx1"/>
                </a:solidFill>
                <a:effectLst/>
                <a:latin typeface="Arial" panose="020B0604020202020204" pitchFamily="34" charset="0"/>
              </a:rPr>
              <a:t>Beispiele aus Film und Fernsehen</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dirty="0">
                <a:ln>
                  <a:noFill/>
                </a:ln>
                <a:solidFill>
                  <a:schemeClr val="tx1"/>
                </a:solidFill>
                <a:effectLst/>
                <a:latin typeface="Arial" panose="020B0604020202020204" pitchFamily="34" charset="0"/>
              </a:rPr>
              <a:t>Audiodeskription in Live-Events </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de-DE" altLang="de-DE" sz="1200" i="0" u="none" strike="noStrike" cap="none" normalizeH="0" baseline="0" dirty="0">
                <a:ln>
                  <a:noFill/>
                </a:ln>
                <a:solidFill>
                  <a:schemeClr val="tx1"/>
                </a:solidFill>
                <a:effectLst/>
                <a:latin typeface="Arial" panose="020B0604020202020204" pitchFamily="34" charset="0"/>
              </a:rPr>
              <a:t>Integration in verschiedene Medien​</a:t>
            </a: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de-DE" altLang="de-DE" sz="1200" dirty="0">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de-DE" altLang="de-DE" sz="1200" i="0" u="none" strike="noStrike" cap="none" normalizeH="0" baseline="0" dirty="0">
              <a:ln>
                <a:noFill/>
              </a:ln>
              <a:solidFill>
                <a:schemeClr val="tx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de-DE" altLang="de-DE" sz="1200" dirty="0">
              <a:latin typeface="Arial" panose="020B0604020202020204" pitchFamily="34" charset="0"/>
            </a:endParaRPr>
          </a:p>
          <a:p>
            <a:pPr>
              <a:buNone/>
            </a:pPr>
            <a:r>
              <a:rPr lang="de-DE" sz="1200" dirty="0">
                <a:latin typeface="Arial" panose="020B0604020202020204" pitchFamily="34" charset="0"/>
                <a:cs typeface="Arial" panose="020B0604020202020204" pitchFamily="34" charset="0"/>
              </a:rPr>
              <a:t>5️⃣ </a:t>
            </a:r>
            <a:r>
              <a:rPr kumimoji="0" lang="de-DE" altLang="de-DE" sz="1200" b="1" i="0" u="none" strike="noStrike" cap="none" normalizeH="0" baseline="0" dirty="0">
                <a:ln>
                  <a:noFill/>
                </a:ln>
                <a:solidFill>
                  <a:schemeClr val="tx1"/>
                </a:solidFill>
                <a:effectLst/>
                <a:latin typeface="Arial" panose="020B0604020202020204" pitchFamily="34" charset="0"/>
              </a:rPr>
              <a:t> Fragen &amp; Anmerkungen</a:t>
            </a:r>
            <a:endParaRPr lang="de-DE" sz="1200" dirty="0">
              <a:latin typeface="Arial" panose="020B0604020202020204" pitchFamily="34" charset="0"/>
              <a:cs typeface="Arial" panose="020B0604020202020204" pitchFamily="34" charset="0"/>
            </a:endParaRPr>
          </a:p>
          <a:p>
            <a:endParaRPr lang="de-DE" sz="1200" dirty="0">
              <a:latin typeface="Arial" panose="020B0604020202020204" pitchFamily="34" charset="0"/>
              <a:cs typeface="Arial" panose="020B0604020202020204" pitchFamily="34" charset="0"/>
            </a:endParaRPr>
          </a:p>
        </p:txBody>
      </p:sp>
      <p:sp>
        <p:nvSpPr>
          <p:cNvPr id="11" name="Pfeil: Fünfeck 10">
            <a:extLst>
              <a:ext uri="{FF2B5EF4-FFF2-40B4-BE49-F238E27FC236}">
                <a16:creationId xmlns:a16="http://schemas.microsoft.com/office/drawing/2014/main" id="{80C701F5-8F51-7B03-F27D-7409A90DEF57}"/>
              </a:ext>
            </a:extLst>
          </p:cNvPr>
          <p:cNvSpPr/>
          <p:nvPr/>
        </p:nvSpPr>
        <p:spPr>
          <a:xfrm>
            <a:off x="551384" y="980728"/>
            <a:ext cx="1763688" cy="360040"/>
          </a:xfrm>
          <a:prstGeom prst="homePlate">
            <a:avLst/>
          </a:prstGeom>
          <a:solidFill>
            <a:srgbClr val="43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a:latin typeface="Verdana" panose="020B0604030504040204" pitchFamily="34" charset="0"/>
                <a:ea typeface="Verdana" panose="020B0604030504040204" pitchFamily="34" charset="0"/>
                <a:cs typeface="Verdana" panose="020B0604030504040204" pitchFamily="34" charset="0"/>
              </a:rPr>
              <a:t>Agenda</a:t>
            </a:r>
          </a:p>
        </p:txBody>
      </p:sp>
    </p:spTree>
    <p:extLst>
      <p:ext uri="{BB962C8B-B14F-4D97-AF65-F5344CB8AC3E}">
        <p14:creationId xmlns:p14="http://schemas.microsoft.com/office/powerpoint/2010/main" val="392561361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dirty="0">
                <a:ln>
                  <a:noFill/>
                </a:ln>
                <a:solidFill>
                  <a:schemeClr val="tx1"/>
                </a:solidFill>
                <a:effectLst/>
                <a:latin typeface="Arial" panose="020B0604020202020204" pitchFamily="34" charset="0"/>
              </a:rPr>
              <a:t>1️⃣ Grundlagen der Audiodeskription</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sp>
        <p:nvSpPr>
          <p:cNvPr id="4" name="Textfeld 3">
            <a:extLst>
              <a:ext uri="{FF2B5EF4-FFF2-40B4-BE49-F238E27FC236}">
                <a16:creationId xmlns:a16="http://schemas.microsoft.com/office/drawing/2014/main" id="{645B671B-5453-8EA0-AE15-7AA87175B5C7}"/>
              </a:ext>
            </a:extLst>
          </p:cNvPr>
          <p:cNvSpPr txBox="1"/>
          <p:nvPr/>
        </p:nvSpPr>
        <p:spPr>
          <a:xfrm>
            <a:off x="407368" y="1628800"/>
            <a:ext cx="6196012" cy="4838312"/>
          </a:xfrm>
          <a:prstGeom prst="rect">
            <a:avLst/>
          </a:prstGeom>
          <a:noFill/>
        </p:spPr>
        <p:txBody>
          <a:bodyPr wrap="square" lIns="91440" tIns="45720" rIns="91440" bIns="45720" anchor="t">
            <a:spAutoFit/>
          </a:bodyPr>
          <a:lstStyle/>
          <a:p>
            <a:pPr>
              <a:buNone/>
            </a:pPr>
            <a:r>
              <a:rPr lang="de-DE" sz="2400" b="1" dirty="0">
                <a:latin typeface="Arial"/>
                <a:cs typeface="Arial"/>
              </a:rPr>
              <a:t>Was ist Audiodeskription?</a:t>
            </a:r>
          </a:p>
          <a:p>
            <a:pPr>
              <a:lnSpc>
                <a:spcPct val="150000"/>
              </a:lnSpc>
              <a:buNone/>
            </a:pPr>
            <a:endParaRPr lang="de-DE" sz="1400" b="1">
              <a:latin typeface="Arial" panose="020B0604020202020204" pitchFamily="34" charset="0"/>
              <a:cs typeface="Arial" panose="020B0604020202020204" pitchFamily="34" charset="0"/>
            </a:endParaRPr>
          </a:p>
          <a:p>
            <a:pPr marL="285750" indent="-285750">
              <a:lnSpc>
                <a:spcPct val="150000"/>
              </a:lnSpc>
              <a:buFont typeface="Wingdings" panose="05000000000000000000" pitchFamily="2" charset="2"/>
              <a:buChar char="§"/>
            </a:pPr>
            <a:r>
              <a:rPr lang="de-DE" sz="1400" b="1" dirty="0">
                <a:latin typeface="Arial"/>
                <a:cs typeface="Arial"/>
              </a:rPr>
              <a:t>Definition</a:t>
            </a:r>
            <a:endParaRPr lang="de-DE" sz="1400" b="1">
              <a:latin typeface="Arial"/>
              <a:cs typeface="Arial"/>
            </a:endParaRPr>
          </a:p>
          <a:p>
            <a:r>
              <a:rPr lang="de-DE" sz="1400" i="1">
                <a:latin typeface="Arial"/>
                <a:ea typeface="+mn-lt"/>
                <a:cs typeface="+mn-lt"/>
              </a:rPr>
              <a:t>Ziel der Audiodeskription ist es, den blinden und sehbehinderten Menschen</a:t>
            </a:r>
            <a:endParaRPr lang="de-DE" i="1">
              <a:latin typeface="Arial"/>
              <a:ea typeface="+mn-lt"/>
              <a:cs typeface="+mn-lt"/>
            </a:endParaRPr>
          </a:p>
          <a:p>
            <a:r>
              <a:rPr lang="de-DE" sz="1400" i="1">
                <a:latin typeface="Arial"/>
                <a:ea typeface="+mn-lt"/>
                <a:cs typeface="+mn-lt"/>
              </a:rPr>
              <a:t>ein barrierefreies Filmerlebnis zu ermöglichen, das dem Erlebnis der Sehenden entspricht. Dabei soll der Film als Gesamtkunstwerk erhalten bleiben.</a:t>
            </a:r>
            <a:endParaRPr lang="de-DE" i="1">
              <a:latin typeface="Arial"/>
              <a:ea typeface="+mn-lt"/>
              <a:cs typeface="+mn-lt"/>
            </a:endParaRPr>
          </a:p>
          <a:p>
            <a:pPr lvl="1">
              <a:lnSpc>
                <a:spcPct val="150000"/>
              </a:lnSpc>
            </a:pPr>
            <a:endParaRPr lang="de-DE" sz="1400">
              <a:latin typeface="Arial" panose="020B0604020202020204" pitchFamily="34" charset="0"/>
              <a:cs typeface="Arial" panose="020B0604020202020204" pitchFamily="34" charset="0"/>
            </a:endParaRPr>
          </a:p>
          <a:p>
            <a:pPr marL="285750" indent="-285750">
              <a:lnSpc>
                <a:spcPct val="150000"/>
              </a:lnSpc>
              <a:buFont typeface="Wingdings" panose="05000000000000000000" pitchFamily="2" charset="2"/>
              <a:buChar char="§"/>
            </a:pPr>
            <a:r>
              <a:rPr lang="de-DE" sz="1400" b="1" dirty="0">
                <a:latin typeface="Arial"/>
                <a:cs typeface="Arial"/>
              </a:rPr>
              <a:t>Anwendung in Medien</a:t>
            </a:r>
            <a:endParaRPr lang="de-DE" sz="1400" b="1">
              <a:latin typeface="Arial"/>
              <a:cs typeface="Arial"/>
            </a:endParaRPr>
          </a:p>
          <a:p>
            <a:pPr marL="742950" lvl="1" indent="-285750">
              <a:lnSpc>
                <a:spcPct val="150000"/>
              </a:lnSpc>
              <a:buFont typeface="Wingdings" panose="05000000000000000000" pitchFamily="2" charset="2"/>
              <a:buChar char="§"/>
            </a:pPr>
            <a:r>
              <a:rPr lang="de-DE" sz="1400" dirty="0">
                <a:latin typeface="Arial"/>
                <a:cs typeface="Arial"/>
              </a:rPr>
              <a:t>Filme</a:t>
            </a:r>
            <a:endParaRPr lang="de-DE" sz="1400">
              <a:latin typeface="Arial"/>
              <a:cs typeface="Arial"/>
            </a:endParaRPr>
          </a:p>
          <a:p>
            <a:pPr marL="742950" lvl="1" indent="-285750">
              <a:lnSpc>
                <a:spcPct val="150000"/>
              </a:lnSpc>
              <a:buFont typeface="Wingdings" panose="05000000000000000000" pitchFamily="2" charset="2"/>
              <a:buChar char="§"/>
            </a:pPr>
            <a:r>
              <a:rPr lang="de-DE" sz="1400" dirty="0">
                <a:latin typeface="Arial"/>
                <a:cs typeface="Arial"/>
              </a:rPr>
              <a:t>Live-Ereignisse</a:t>
            </a:r>
            <a:endParaRPr lang="de-DE" sz="1400">
              <a:latin typeface="Arial"/>
              <a:cs typeface="Arial"/>
            </a:endParaRPr>
          </a:p>
          <a:p>
            <a:pPr marL="742950" lvl="1" indent="-285750">
              <a:lnSpc>
                <a:spcPct val="150000"/>
              </a:lnSpc>
              <a:buFont typeface="Wingdings" panose="05000000000000000000" pitchFamily="2" charset="2"/>
              <a:buChar char="§"/>
            </a:pPr>
            <a:r>
              <a:rPr lang="de-DE" sz="1400" dirty="0">
                <a:latin typeface="Arial"/>
                <a:cs typeface="Arial"/>
              </a:rPr>
              <a:t>Schauspiel/Musiktheater</a:t>
            </a:r>
            <a:endParaRPr lang="de-DE" sz="1400">
              <a:latin typeface="Arial"/>
              <a:cs typeface="Arial"/>
            </a:endParaRPr>
          </a:p>
          <a:p>
            <a:pPr lvl="1">
              <a:lnSpc>
                <a:spcPct val="150000"/>
              </a:lnSpc>
            </a:pPr>
            <a:endParaRPr lang="de-DE" sz="1400">
              <a:latin typeface="Arial" panose="020B0604020202020204" pitchFamily="34" charset="0"/>
              <a:cs typeface="Arial" panose="020B0604020202020204" pitchFamily="34" charset="0"/>
            </a:endParaRPr>
          </a:p>
          <a:p>
            <a:pPr marL="285750" indent="-285750">
              <a:lnSpc>
                <a:spcPct val="150000"/>
              </a:lnSpc>
              <a:buFont typeface="Wingdings" panose="05000000000000000000" pitchFamily="2" charset="2"/>
              <a:buChar char="§"/>
            </a:pPr>
            <a:r>
              <a:rPr lang="de-DE" sz="1400" b="1" dirty="0">
                <a:latin typeface="Arial"/>
                <a:cs typeface="Arial"/>
              </a:rPr>
              <a:t>Zielgruppe</a:t>
            </a:r>
            <a:endParaRPr lang="de-DE" sz="1400" b="1">
              <a:latin typeface="Arial"/>
              <a:cs typeface="Arial"/>
            </a:endParaRPr>
          </a:p>
          <a:p>
            <a:pPr marL="742950" lvl="1" indent="-285750">
              <a:lnSpc>
                <a:spcPct val="150000"/>
              </a:lnSpc>
              <a:buFont typeface="Wingdings" panose="05000000000000000000" pitchFamily="2" charset="2"/>
              <a:buChar char="§"/>
            </a:pPr>
            <a:r>
              <a:rPr lang="de-DE" sz="1400" dirty="0">
                <a:latin typeface="Arial"/>
                <a:cs typeface="Arial"/>
              </a:rPr>
              <a:t>Menschen mit Sehbehinderung</a:t>
            </a:r>
            <a:endParaRPr lang="de-DE" sz="1400">
              <a:latin typeface="Arial"/>
              <a:cs typeface="Arial"/>
            </a:endParaRPr>
          </a:p>
          <a:p>
            <a:pPr marL="742950" lvl="1" indent="-285750">
              <a:lnSpc>
                <a:spcPct val="150000"/>
              </a:lnSpc>
              <a:buFont typeface="Wingdings" panose="05000000000000000000" pitchFamily="2" charset="2"/>
              <a:buChar char="§"/>
            </a:pPr>
            <a:r>
              <a:rPr lang="de-DE" sz="1400" dirty="0">
                <a:latin typeface="Arial"/>
                <a:cs typeface="Arial"/>
              </a:rPr>
              <a:t>Autistische Menschen</a:t>
            </a:r>
            <a:endParaRPr lang="de-DE" sz="1400">
              <a:latin typeface="Arial"/>
              <a:cs typeface="Arial"/>
            </a:endParaRPr>
          </a:p>
        </p:txBody>
      </p:sp>
      <p:sp>
        <p:nvSpPr>
          <p:cNvPr id="3" name="Rechteck 2">
            <a:extLst>
              <a:ext uri="{FF2B5EF4-FFF2-40B4-BE49-F238E27FC236}">
                <a16:creationId xmlns:a16="http://schemas.microsoft.com/office/drawing/2014/main" id="{0DE80FD9-3F88-35B8-0299-6673557149ED}"/>
              </a:ext>
            </a:extLst>
          </p:cNvPr>
          <p:cNvSpPr/>
          <p:nvPr/>
        </p:nvSpPr>
        <p:spPr>
          <a:xfrm>
            <a:off x="0" y="1059816"/>
            <a:ext cx="1703512" cy="333280"/>
          </a:xfrm>
          <a:prstGeom prst="rect">
            <a:avLst/>
          </a:prstGeom>
          <a:solidFill>
            <a:srgbClr val="FFC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Footer Placeholder 4">
            <a:extLst>
              <a:ext uri="{FF2B5EF4-FFF2-40B4-BE49-F238E27FC236}">
                <a16:creationId xmlns:a16="http://schemas.microsoft.com/office/drawing/2014/main" id="{B9B10078-37A5-E37A-2395-14970402DAD3}"/>
              </a:ext>
            </a:extLst>
          </p:cNvPr>
          <p:cNvSpPr>
            <a:spLocks noGrp="1"/>
          </p:cNvSpPr>
          <p:nvPr>
            <p:ph type="ftr" sz="quarter" idx="11"/>
          </p:nvPr>
        </p:nvSpPr>
        <p:spPr>
          <a:xfrm>
            <a:off x="7052268" y="6624912"/>
            <a:ext cx="5142411" cy="457200"/>
          </a:xfrm>
        </p:spPr>
        <p:txBody>
          <a:bodyPr/>
          <a:lstStyle/>
          <a:p>
            <a:r>
              <a:rPr lang="en-US"/>
              <a:t>https://de.wikipedia.org/wiki/Audiodeskription</a:t>
            </a:r>
          </a:p>
        </p:txBody>
      </p:sp>
      <p:pic>
        <p:nvPicPr>
          <p:cNvPr id="10" name="Picture 9" descr="1,000+ Blind Person At Home Stock Photos, Pictures &amp; Royalty-Free Images -  iStock">
            <a:extLst>
              <a:ext uri="{FF2B5EF4-FFF2-40B4-BE49-F238E27FC236}">
                <a16:creationId xmlns:a16="http://schemas.microsoft.com/office/drawing/2014/main" id="{C52A6750-F57F-51BD-3691-7D5D6BA99B98}"/>
              </a:ext>
            </a:extLst>
          </p:cNvPr>
          <p:cNvPicPr>
            <a:picLocks noChangeAspect="1"/>
          </p:cNvPicPr>
          <p:nvPr/>
        </p:nvPicPr>
        <p:blipFill>
          <a:blip r:embed="rId3"/>
          <a:stretch>
            <a:fillRect/>
          </a:stretch>
        </p:blipFill>
        <p:spPr>
          <a:xfrm>
            <a:off x="6544960" y="1660021"/>
            <a:ext cx="5273442" cy="3529584"/>
          </a:xfrm>
          <a:prstGeom prst="rect">
            <a:avLst/>
          </a:prstGeom>
        </p:spPr>
      </p:pic>
    </p:spTree>
    <p:extLst>
      <p:ext uri="{BB962C8B-B14F-4D97-AF65-F5344CB8AC3E}">
        <p14:creationId xmlns:p14="http://schemas.microsoft.com/office/powerpoint/2010/main" val="4715558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AC47A-B8B2-DFA3-A308-599696617B8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FA69CFE-2A88-3B8F-EF4D-1F13BAA2FEEA}"/>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dirty="0">
                <a:ln>
                  <a:noFill/>
                </a:ln>
                <a:solidFill>
                  <a:schemeClr val="tx1"/>
                </a:solidFill>
                <a:effectLst/>
                <a:latin typeface="Arial" panose="020B0604020202020204" pitchFamily="34" charset="0"/>
              </a:rPr>
              <a:t>1️⃣ Grundlagen der Audiodeskription</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sp>
        <p:nvSpPr>
          <p:cNvPr id="4" name="Textfeld 3">
            <a:extLst>
              <a:ext uri="{FF2B5EF4-FFF2-40B4-BE49-F238E27FC236}">
                <a16:creationId xmlns:a16="http://schemas.microsoft.com/office/drawing/2014/main" id="{7F49267B-367C-C8AA-DD15-9C5F2729D9CA}"/>
              </a:ext>
            </a:extLst>
          </p:cNvPr>
          <p:cNvSpPr txBox="1"/>
          <p:nvPr/>
        </p:nvSpPr>
        <p:spPr>
          <a:xfrm>
            <a:off x="407368" y="1628800"/>
            <a:ext cx="6196012" cy="5201424"/>
          </a:xfrm>
          <a:prstGeom prst="rect">
            <a:avLst/>
          </a:prstGeom>
          <a:noFill/>
        </p:spPr>
        <p:txBody>
          <a:bodyPr wrap="square" lIns="91440" tIns="45720" rIns="91440" bIns="45720" anchor="t">
            <a:spAutoFit/>
          </a:bodyPr>
          <a:lstStyle/>
          <a:p>
            <a:pPr>
              <a:buNone/>
            </a:pPr>
            <a:r>
              <a:rPr lang="de-DE" sz="2400" b="1">
                <a:latin typeface="Arial"/>
                <a:cs typeface="Arial"/>
              </a:rPr>
              <a:t>Geschichte und Entwicklung</a:t>
            </a:r>
          </a:p>
          <a:p>
            <a:pPr>
              <a:lnSpc>
                <a:spcPct val="150000"/>
              </a:lnSpc>
              <a:buNone/>
            </a:pPr>
            <a:endParaRPr lang="de-DE" sz="1400" b="1">
              <a:latin typeface="Arial" panose="020B0604020202020204" pitchFamily="34" charset="0"/>
              <a:cs typeface="Arial" panose="020B0604020202020204" pitchFamily="34" charset="0"/>
            </a:endParaRPr>
          </a:p>
          <a:p>
            <a:pPr marL="285750" indent="-285750">
              <a:lnSpc>
                <a:spcPct val="150000"/>
              </a:lnSpc>
              <a:buFont typeface="Wingdings" panose="05000000000000000000" pitchFamily="2" charset="2"/>
              <a:buChar char="§"/>
            </a:pPr>
            <a:r>
              <a:rPr lang="de-DE" sz="1400" b="1">
                <a:latin typeface="Arial"/>
                <a:cs typeface="Arial"/>
              </a:rPr>
              <a:t>Ursprung </a:t>
            </a:r>
          </a:p>
          <a:p>
            <a:pPr>
              <a:lnSpc>
                <a:spcPct val="150000"/>
              </a:lnSpc>
            </a:pPr>
            <a:r>
              <a:rPr lang="de-DE" sz="1400">
                <a:latin typeface="Arial"/>
                <a:cs typeface="Arial"/>
              </a:rPr>
              <a:t>Die Audiodeskription wurde in den 1970er Jahren in den USA eingeführt. </a:t>
            </a:r>
          </a:p>
          <a:p>
            <a:pPr lvl="1">
              <a:lnSpc>
                <a:spcPct val="150000"/>
              </a:lnSpc>
            </a:pPr>
            <a:endParaRPr lang="de-DE" sz="1400">
              <a:latin typeface="Arial" panose="020B0604020202020204" pitchFamily="34" charset="0"/>
              <a:cs typeface="Arial" panose="020B0604020202020204" pitchFamily="34" charset="0"/>
            </a:endParaRPr>
          </a:p>
          <a:p>
            <a:pPr marL="285750" indent="-285750">
              <a:lnSpc>
                <a:spcPct val="150000"/>
              </a:lnSpc>
              <a:buFont typeface="Wingdings" panose="05000000000000000000" pitchFamily="2" charset="2"/>
              <a:buChar char="§"/>
            </a:pPr>
            <a:r>
              <a:rPr lang="de-DE" sz="1400" b="1">
                <a:latin typeface="Arial"/>
                <a:cs typeface="Arial"/>
              </a:rPr>
              <a:t>Deutsches Fernsehen</a:t>
            </a:r>
          </a:p>
          <a:p>
            <a:pPr marL="742950" lvl="1" indent="-285750">
              <a:lnSpc>
                <a:spcPct val="150000"/>
              </a:lnSpc>
              <a:buFont typeface="Wingdings" panose="05000000000000000000" pitchFamily="2" charset="2"/>
              <a:buChar char="§"/>
            </a:pPr>
            <a:r>
              <a:rPr lang="de-DE" sz="1400">
                <a:latin typeface="Arial"/>
                <a:cs typeface="Arial"/>
              </a:rPr>
              <a:t>Am 11. Oktober 1993 strahlte das ZDF mit "Eine unheilige Liebe" das erste Mal einen </a:t>
            </a:r>
            <a:r>
              <a:rPr lang="de-DE" sz="1400" err="1">
                <a:latin typeface="Arial"/>
                <a:cs typeface="Arial"/>
              </a:rPr>
              <a:t>Hörfilm</a:t>
            </a:r>
            <a:r>
              <a:rPr lang="de-DE" sz="1400">
                <a:latin typeface="Arial"/>
                <a:cs typeface="Arial"/>
              </a:rPr>
              <a:t> aus</a:t>
            </a:r>
          </a:p>
          <a:p>
            <a:pPr marL="742950" lvl="1" indent="-285750">
              <a:lnSpc>
                <a:spcPct val="150000"/>
              </a:lnSpc>
              <a:buFont typeface="Wingdings" panose="05000000000000000000" pitchFamily="2" charset="2"/>
              <a:buChar char="§"/>
            </a:pPr>
            <a:r>
              <a:rPr lang="de-DE" sz="1400">
                <a:latin typeface="Arial"/>
                <a:cs typeface="Arial"/>
              </a:rPr>
              <a:t>Bis zur Digitalisierung wurden </a:t>
            </a:r>
            <a:r>
              <a:rPr lang="de-DE" sz="1400" err="1">
                <a:latin typeface="Arial"/>
                <a:cs typeface="Arial"/>
              </a:rPr>
              <a:t>Hörfilme</a:t>
            </a:r>
            <a:r>
              <a:rPr lang="de-DE" sz="1400">
                <a:latin typeface="Arial"/>
                <a:cs typeface="Arial"/>
              </a:rPr>
              <a:t> mit Zweitonkanal ausgestrahlt</a:t>
            </a:r>
          </a:p>
          <a:p>
            <a:pPr marL="742950" lvl="1" indent="-285750">
              <a:lnSpc>
                <a:spcPct val="150000"/>
              </a:lnSpc>
              <a:buFont typeface="Wingdings" panose="05000000000000000000" pitchFamily="2" charset="2"/>
              <a:buChar char="§"/>
            </a:pPr>
            <a:r>
              <a:rPr lang="de-DE" sz="1400">
                <a:latin typeface="Arial"/>
                <a:cs typeface="Arial"/>
              </a:rPr>
              <a:t>Finanzierung und Technische Limitierungen als Problem</a:t>
            </a:r>
          </a:p>
          <a:p>
            <a:pPr marL="742950" lvl="1" indent="-285750">
              <a:lnSpc>
                <a:spcPct val="150000"/>
              </a:lnSpc>
              <a:buFont typeface="Wingdings" panose="05000000000000000000" pitchFamily="2" charset="2"/>
              <a:buChar char="§"/>
            </a:pPr>
            <a:r>
              <a:rPr lang="de-DE" sz="1400">
                <a:latin typeface="Arial"/>
                <a:cs typeface="Arial"/>
              </a:rPr>
              <a:t>Seit Digitalisierung: Audiodeskription als eigene Tonspur </a:t>
            </a:r>
          </a:p>
          <a:p>
            <a:pPr lvl="1">
              <a:lnSpc>
                <a:spcPct val="150000"/>
              </a:lnSpc>
            </a:pPr>
            <a:endParaRPr lang="de-DE" sz="1400">
              <a:latin typeface="Arial" panose="020B0604020202020204" pitchFamily="34" charset="0"/>
              <a:cs typeface="Arial" panose="020B0604020202020204" pitchFamily="34" charset="0"/>
            </a:endParaRPr>
          </a:p>
          <a:p>
            <a:pPr marL="285750" indent="-285750">
              <a:lnSpc>
                <a:spcPct val="150000"/>
              </a:lnSpc>
              <a:buFont typeface="Wingdings" panose="05000000000000000000" pitchFamily="2" charset="2"/>
              <a:buChar char="§"/>
            </a:pPr>
            <a:r>
              <a:rPr lang="de-DE" sz="1400" b="1">
                <a:latin typeface="Arial"/>
                <a:cs typeface="Arial"/>
              </a:rPr>
              <a:t>Förderung</a:t>
            </a:r>
          </a:p>
          <a:p>
            <a:pPr>
              <a:lnSpc>
                <a:spcPct val="150000"/>
              </a:lnSpc>
            </a:pPr>
            <a:r>
              <a:rPr lang="de-DE" sz="1400">
                <a:latin typeface="Arial"/>
                <a:cs typeface="Arial"/>
              </a:rPr>
              <a:t>Seit 1. Mai 2013 neue Regeln bei Filmförderungsanstalt</a:t>
            </a:r>
          </a:p>
          <a:p>
            <a:pPr marL="742950" lvl="1" indent="-285750">
              <a:buFont typeface="Wingdings" panose="05000000000000000000" pitchFamily="2" charset="2"/>
              <a:buChar char="§"/>
            </a:pPr>
            <a:endParaRPr lang="de-DE" sz="1400" dirty="0">
              <a:latin typeface="Arial" panose="020B0604020202020204" pitchFamily="34" charset="0"/>
              <a:cs typeface="Arial" panose="020B0604020202020204" pitchFamily="34" charset="0"/>
            </a:endParaRPr>
          </a:p>
        </p:txBody>
      </p:sp>
      <p:sp>
        <p:nvSpPr>
          <p:cNvPr id="3" name="Rechteck 2">
            <a:extLst>
              <a:ext uri="{FF2B5EF4-FFF2-40B4-BE49-F238E27FC236}">
                <a16:creationId xmlns:a16="http://schemas.microsoft.com/office/drawing/2014/main" id="{F541B2CE-1372-6A58-A480-E4455AE69E1A}"/>
              </a:ext>
            </a:extLst>
          </p:cNvPr>
          <p:cNvSpPr/>
          <p:nvPr/>
        </p:nvSpPr>
        <p:spPr>
          <a:xfrm>
            <a:off x="0" y="1059816"/>
            <a:ext cx="1703512" cy="333280"/>
          </a:xfrm>
          <a:prstGeom prst="rect">
            <a:avLst/>
          </a:prstGeom>
          <a:solidFill>
            <a:srgbClr val="FFC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Footer Placeholder 5">
            <a:extLst>
              <a:ext uri="{FF2B5EF4-FFF2-40B4-BE49-F238E27FC236}">
                <a16:creationId xmlns:a16="http://schemas.microsoft.com/office/drawing/2014/main" id="{C1529C5B-F91D-4DA7-D8E0-D3F86DB65AB8}"/>
              </a:ext>
            </a:extLst>
          </p:cNvPr>
          <p:cNvSpPr>
            <a:spLocks noGrp="1"/>
          </p:cNvSpPr>
          <p:nvPr>
            <p:ph type="ftr" sz="quarter" idx="11"/>
          </p:nvPr>
        </p:nvSpPr>
        <p:spPr>
          <a:xfrm>
            <a:off x="8057103" y="6624912"/>
            <a:ext cx="4137576" cy="457200"/>
          </a:xfrm>
        </p:spPr>
        <p:txBody>
          <a:bodyPr/>
          <a:lstStyle/>
          <a:p>
            <a:r>
              <a:rPr lang="en-US"/>
              <a:t>https://de.wikipedia.org/wiki/Audiodeskription</a:t>
            </a:r>
          </a:p>
        </p:txBody>
      </p:sp>
      <p:pic>
        <p:nvPicPr>
          <p:cNvPr id="7" name="Picture 6" descr="Progress icon vector. Isolated contour symbol illustration 9756759 ...">
            <a:extLst>
              <a:ext uri="{FF2B5EF4-FFF2-40B4-BE49-F238E27FC236}">
                <a16:creationId xmlns:a16="http://schemas.microsoft.com/office/drawing/2014/main" id="{62158A0F-F458-5AF7-2D01-F452AB03FEEB}"/>
              </a:ext>
            </a:extLst>
          </p:cNvPr>
          <p:cNvPicPr>
            <a:picLocks noChangeAspect="1"/>
          </p:cNvPicPr>
          <p:nvPr/>
        </p:nvPicPr>
        <p:blipFill>
          <a:blip r:embed="rId3"/>
          <a:stretch>
            <a:fillRect/>
          </a:stretch>
        </p:blipFill>
        <p:spPr>
          <a:xfrm>
            <a:off x="7548405" y="1917142"/>
            <a:ext cx="3609871" cy="3693607"/>
          </a:xfrm>
          <a:prstGeom prst="rect">
            <a:avLst/>
          </a:prstGeom>
        </p:spPr>
      </p:pic>
    </p:spTree>
    <p:extLst>
      <p:ext uri="{BB962C8B-B14F-4D97-AF65-F5344CB8AC3E}">
        <p14:creationId xmlns:p14="http://schemas.microsoft.com/office/powerpoint/2010/main" val="13285187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6BD25-0669-C392-B61F-F2BDEE5FCFF2}"/>
            </a:ext>
          </a:extLst>
        </p:cNvPr>
        <p:cNvGrpSpPr/>
        <p:nvPr/>
      </p:nvGrpSpPr>
      <p:grpSpPr>
        <a:xfrm>
          <a:off x="0" y="0"/>
          <a:ext cx="0" cy="0"/>
          <a:chOff x="0" y="0"/>
          <a:chExt cx="0" cy="0"/>
        </a:xfrm>
      </p:grpSpPr>
      <p:sp>
        <p:nvSpPr>
          <p:cNvPr id="3" name="Rechteck 2">
            <a:extLst>
              <a:ext uri="{FF2B5EF4-FFF2-40B4-BE49-F238E27FC236}">
                <a16:creationId xmlns:a16="http://schemas.microsoft.com/office/drawing/2014/main" id="{FBA8D84A-3C21-9D30-C2CD-BD638172FD29}"/>
              </a:ext>
            </a:extLst>
          </p:cNvPr>
          <p:cNvSpPr/>
          <p:nvPr/>
        </p:nvSpPr>
        <p:spPr>
          <a:xfrm>
            <a:off x="0" y="1059816"/>
            <a:ext cx="1703512" cy="333280"/>
          </a:xfrm>
          <a:prstGeom prst="rect">
            <a:avLst/>
          </a:prstGeom>
          <a:solidFill>
            <a:srgbClr val="FFC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07A4D171-2CF0-53CF-B26C-AF6992A73B56}"/>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dirty="0">
                <a:ln>
                  <a:noFill/>
                </a:ln>
                <a:solidFill>
                  <a:schemeClr val="tx1"/>
                </a:solidFill>
                <a:effectLst/>
                <a:latin typeface="Arial" panose="020B0604020202020204" pitchFamily="34" charset="0"/>
              </a:rPr>
              <a:t>1️⃣ Grundlagen der Audiodeskription</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sp>
        <p:nvSpPr>
          <p:cNvPr id="4" name="Textfeld 3">
            <a:extLst>
              <a:ext uri="{FF2B5EF4-FFF2-40B4-BE49-F238E27FC236}">
                <a16:creationId xmlns:a16="http://schemas.microsoft.com/office/drawing/2014/main" id="{723381EE-A448-DA10-BBB8-81416A52A921}"/>
              </a:ext>
            </a:extLst>
          </p:cNvPr>
          <p:cNvSpPr txBox="1"/>
          <p:nvPr/>
        </p:nvSpPr>
        <p:spPr>
          <a:xfrm>
            <a:off x="407368" y="1628800"/>
            <a:ext cx="8215312" cy="461665"/>
          </a:xfrm>
          <a:prstGeom prst="rect">
            <a:avLst/>
          </a:prstGeom>
          <a:noFill/>
        </p:spPr>
        <p:txBody>
          <a:bodyPr wrap="square" lIns="91440" tIns="45720" rIns="91440" bIns="45720" anchor="t">
            <a:spAutoFit/>
          </a:bodyPr>
          <a:lstStyle/>
          <a:p>
            <a:pPr>
              <a:buNone/>
            </a:pPr>
            <a:r>
              <a:rPr lang="de-DE" sz="2400" b="1">
                <a:latin typeface="Arial"/>
                <a:cs typeface="Arial"/>
              </a:rPr>
              <a:t>Relevanz und Bedeutung</a:t>
            </a:r>
          </a:p>
        </p:txBody>
      </p:sp>
      <p:sp>
        <p:nvSpPr>
          <p:cNvPr id="5" name="Rechteck 4">
            <a:extLst>
              <a:ext uri="{FF2B5EF4-FFF2-40B4-BE49-F238E27FC236}">
                <a16:creationId xmlns:a16="http://schemas.microsoft.com/office/drawing/2014/main" id="{DEC915D0-04C6-315B-FF7E-FCF72525EC77}"/>
              </a:ext>
            </a:extLst>
          </p:cNvPr>
          <p:cNvSpPr/>
          <p:nvPr/>
        </p:nvSpPr>
        <p:spPr>
          <a:xfrm>
            <a:off x="0" y="1066960"/>
            <a:ext cx="1703512" cy="333280"/>
          </a:xfrm>
          <a:prstGeom prst="rect">
            <a:avLst/>
          </a:prstGeom>
          <a:solidFill>
            <a:srgbClr val="FFC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3" name="Picture 12" descr="A group of paper people holding hands&#10;&#10;AI-generated content may be incorrect.">
            <a:extLst>
              <a:ext uri="{FF2B5EF4-FFF2-40B4-BE49-F238E27FC236}">
                <a16:creationId xmlns:a16="http://schemas.microsoft.com/office/drawing/2014/main" id="{4F5A03A1-3F84-B96D-3436-FB05C7C7058D}"/>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426110" y="2305887"/>
            <a:ext cx="6389076" cy="3586006"/>
          </a:xfrm>
          <a:prstGeom prst="rect">
            <a:avLst/>
          </a:prstGeom>
        </p:spPr>
      </p:pic>
      <p:graphicFrame>
        <p:nvGraphicFramePr>
          <p:cNvPr id="16" name="Diagram 15">
            <a:extLst>
              <a:ext uri="{FF2B5EF4-FFF2-40B4-BE49-F238E27FC236}">
                <a16:creationId xmlns:a16="http://schemas.microsoft.com/office/drawing/2014/main" id="{EDA7D088-5EAF-7B8E-3111-6A9C63BE1DEB}"/>
              </a:ext>
            </a:extLst>
          </p:cNvPr>
          <p:cNvGraphicFramePr/>
          <p:nvPr>
            <p:extLst>
              <p:ext uri="{D42A27DB-BD31-4B8C-83A1-F6EECF244321}">
                <p14:modId xmlns:p14="http://schemas.microsoft.com/office/powerpoint/2010/main" val="2465777605"/>
              </p:ext>
            </p:extLst>
          </p:nvPr>
        </p:nvGraphicFramePr>
        <p:xfrm>
          <a:off x="410308" y="2303585"/>
          <a:ext cx="4572000" cy="36576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5963544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AB9CA-6CB4-9EF5-8307-9BB8325BA7A6}"/>
            </a:ext>
          </a:extLst>
        </p:cNvPr>
        <p:cNvGrpSpPr/>
        <p:nvPr/>
      </p:nvGrpSpPr>
      <p:grpSpPr>
        <a:xfrm>
          <a:off x="0" y="0"/>
          <a:ext cx="0" cy="0"/>
          <a:chOff x="0" y="0"/>
          <a:chExt cx="0" cy="0"/>
        </a:xfrm>
      </p:grpSpPr>
      <p:sp>
        <p:nvSpPr>
          <p:cNvPr id="19" name="Titel 1">
            <a:extLst>
              <a:ext uri="{FF2B5EF4-FFF2-40B4-BE49-F238E27FC236}">
                <a16:creationId xmlns:a16="http://schemas.microsoft.com/office/drawing/2014/main" id="{0411A0B6-5F2D-62CB-C826-6D7BFA0652CF}"/>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a:ln>
                  <a:noFill/>
                </a:ln>
                <a:solidFill>
                  <a:schemeClr val="tx1"/>
                </a:solidFill>
                <a:effectLst/>
                <a:latin typeface="Arial" panose="020B0604020202020204" pitchFamily="34" charset="0"/>
              </a:rPr>
              <a:t>2️⃣ Vorgehen zum Erstellen einer Audiodeskription</a:t>
            </a:r>
            <a:endParaRPr lang="de-DE" sz="2000" b="1">
              <a:latin typeface="Arial" panose="020B0604020202020204" pitchFamily="34" charset="0"/>
              <a:ea typeface="Verdana" panose="020B0604030504040204" pitchFamily="34" charset="0"/>
              <a:cs typeface="Arial" panose="020B0604020202020204" pitchFamily="34" charset="0"/>
            </a:endParaRPr>
          </a:p>
        </p:txBody>
      </p:sp>
      <p:sp>
        <p:nvSpPr>
          <p:cNvPr id="2" name="Textfeld 1">
            <a:extLst>
              <a:ext uri="{FF2B5EF4-FFF2-40B4-BE49-F238E27FC236}">
                <a16:creationId xmlns:a16="http://schemas.microsoft.com/office/drawing/2014/main" id="{ACE97B92-7903-0227-471D-F06DA33A8FC9}"/>
              </a:ext>
            </a:extLst>
          </p:cNvPr>
          <p:cNvSpPr txBox="1"/>
          <p:nvPr/>
        </p:nvSpPr>
        <p:spPr>
          <a:xfrm>
            <a:off x="407368" y="1628800"/>
            <a:ext cx="6196012" cy="461665"/>
          </a:xfrm>
          <a:prstGeom prst="rect">
            <a:avLst/>
          </a:prstGeom>
          <a:noFill/>
        </p:spPr>
        <p:txBody>
          <a:bodyPr wrap="square" lIns="91440" tIns="45720" rIns="91440" bIns="45720" anchor="t">
            <a:spAutoFit/>
          </a:bodyPr>
          <a:lstStyle/>
          <a:p>
            <a:pPr>
              <a:buNone/>
            </a:pPr>
            <a:r>
              <a:rPr lang="de-DE" altLang="de-DE" sz="2400" b="1">
                <a:latin typeface="Arial"/>
                <a:cs typeface="Arial"/>
              </a:rPr>
              <a:t>Ablauf</a:t>
            </a:r>
            <a:endParaRPr lang="de-DE" sz="2400" b="1">
              <a:latin typeface="Arial" panose="020B0604020202020204" pitchFamily="34" charset="0"/>
              <a:cs typeface="Arial" panose="020B0604020202020204" pitchFamily="34" charset="0"/>
            </a:endParaRPr>
          </a:p>
        </p:txBody>
      </p:sp>
      <p:sp>
        <p:nvSpPr>
          <p:cNvPr id="11" name="Rechteck 10">
            <a:extLst>
              <a:ext uri="{FF2B5EF4-FFF2-40B4-BE49-F238E27FC236}">
                <a16:creationId xmlns:a16="http://schemas.microsoft.com/office/drawing/2014/main" id="{479F402C-23FE-CB3F-CA82-9EE3FC4EC261}"/>
              </a:ext>
            </a:extLst>
          </p:cNvPr>
          <p:cNvSpPr/>
          <p:nvPr/>
        </p:nvSpPr>
        <p:spPr>
          <a:xfrm>
            <a:off x="1703512" y="1059816"/>
            <a:ext cx="1703512" cy="333280"/>
          </a:xfrm>
          <a:prstGeom prst="rect">
            <a:avLst/>
          </a:prstGeom>
          <a:solidFill>
            <a:srgbClr val="FFC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F703B6D8-5045-4980-BE9E-D3F5938C93DA}"/>
              </a:ext>
            </a:extLst>
          </p:cNvPr>
          <p:cNvSpPr/>
          <p:nvPr/>
        </p:nvSpPr>
        <p:spPr>
          <a:xfrm>
            <a:off x="0"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aphicFrame>
        <p:nvGraphicFramePr>
          <p:cNvPr id="15" name="Diagram 14">
            <a:extLst>
              <a:ext uri="{FF2B5EF4-FFF2-40B4-BE49-F238E27FC236}">
                <a16:creationId xmlns:a16="http://schemas.microsoft.com/office/drawing/2014/main" id="{D114B95D-D562-6BE0-9C50-9F22E4199446}"/>
              </a:ext>
            </a:extLst>
          </p:cNvPr>
          <p:cNvGraphicFramePr/>
          <p:nvPr>
            <p:extLst>
              <p:ext uri="{D42A27DB-BD31-4B8C-83A1-F6EECF244321}">
                <p14:modId xmlns:p14="http://schemas.microsoft.com/office/powerpoint/2010/main" val="4160972432"/>
              </p:ext>
            </p:extLst>
          </p:nvPr>
        </p:nvGraphicFramePr>
        <p:xfrm>
          <a:off x="1" y="852253"/>
          <a:ext cx="12204491" cy="62496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42" name="Footer Placeholder 241">
            <a:extLst>
              <a:ext uri="{FF2B5EF4-FFF2-40B4-BE49-F238E27FC236}">
                <a16:creationId xmlns:a16="http://schemas.microsoft.com/office/drawing/2014/main" id="{652FE1D2-D4EB-2A9E-52A1-14CB23B79E11}"/>
              </a:ext>
            </a:extLst>
          </p:cNvPr>
          <p:cNvSpPr>
            <a:spLocks noGrp="1"/>
          </p:cNvSpPr>
          <p:nvPr>
            <p:ph type="ftr" sz="quarter" idx="11"/>
          </p:nvPr>
        </p:nvSpPr>
        <p:spPr>
          <a:xfrm>
            <a:off x="261257" y="6624912"/>
            <a:ext cx="11933422" cy="457200"/>
          </a:xfrm>
        </p:spPr>
        <p:txBody>
          <a:bodyPr/>
          <a:lstStyle/>
          <a:p>
            <a:r>
              <a:rPr lang="en-US"/>
              <a:t>https://www.netz-barrierefrei.de/wordpress/barrierefreies-internet/barrierefreie-redaktion/audiodeskription-erstellen/</a:t>
            </a:r>
          </a:p>
        </p:txBody>
      </p:sp>
    </p:spTree>
    <p:extLst>
      <p:ext uri="{BB962C8B-B14F-4D97-AF65-F5344CB8AC3E}">
        <p14:creationId xmlns:p14="http://schemas.microsoft.com/office/powerpoint/2010/main" val="35287587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50750-EE6D-7AE5-511F-EAE3EC8D2250}"/>
            </a:ext>
          </a:extLst>
        </p:cNvPr>
        <p:cNvGrpSpPr/>
        <p:nvPr/>
      </p:nvGrpSpPr>
      <p:grpSpPr>
        <a:xfrm>
          <a:off x="0" y="0"/>
          <a:ext cx="0" cy="0"/>
          <a:chOff x="0" y="0"/>
          <a:chExt cx="0" cy="0"/>
        </a:xfrm>
      </p:grpSpPr>
      <p:sp>
        <p:nvSpPr>
          <p:cNvPr id="19" name="Titel 1">
            <a:extLst>
              <a:ext uri="{FF2B5EF4-FFF2-40B4-BE49-F238E27FC236}">
                <a16:creationId xmlns:a16="http://schemas.microsoft.com/office/drawing/2014/main" id="{007C9FD8-1E35-F712-8CD1-B2255A54F9DD}"/>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a:ln>
                  <a:noFill/>
                </a:ln>
                <a:solidFill>
                  <a:schemeClr val="tx1"/>
                </a:solidFill>
                <a:effectLst/>
                <a:latin typeface="Arial" panose="020B0604020202020204" pitchFamily="34" charset="0"/>
              </a:rPr>
              <a:t>2️⃣ Vorgehen zum Erstellen einer Audiodeskription</a:t>
            </a:r>
            <a:endParaRPr lang="de-DE" sz="2000" b="1">
              <a:latin typeface="Arial" panose="020B0604020202020204" pitchFamily="34" charset="0"/>
              <a:ea typeface="Verdana" panose="020B0604030504040204" pitchFamily="34" charset="0"/>
              <a:cs typeface="Arial" panose="020B0604020202020204" pitchFamily="34" charset="0"/>
            </a:endParaRPr>
          </a:p>
        </p:txBody>
      </p:sp>
      <p:sp>
        <p:nvSpPr>
          <p:cNvPr id="11" name="Rechteck 10">
            <a:extLst>
              <a:ext uri="{FF2B5EF4-FFF2-40B4-BE49-F238E27FC236}">
                <a16:creationId xmlns:a16="http://schemas.microsoft.com/office/drawing/2014/main" id="{C03EA59A-9792-7D11-F474-D21491802AD7}"/>
              </a:ext>
            </a:extLst>
          </p:cNvPr>
          <p:cNvSpPr/>
          <p:nvPr/>
        </p:nvSpPr>
        <p:spPr>
          <a:xfrm>
            <a:off x="1703512" y="1059816"/>
            <a:ext cx="1703512" cy="333280"/>
          </a:xfrm>
          <a:prstGeom prst="rect">
            <a:avLst/>
          </a:prstGeom>
          <a:solidFill>
            <a:srgbClr val="FFC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ED3056B1-A697-B831-05B3-6EA4E016C585}"/>
              </a:ext>
            </a:extLst>
          </p:cNvPr>
          <p:cNvSpPr/>
          <p:nvPr/>
        </p:nvSpPr>
        <p:spPr>
          <a:xfrm>
            <a:off x="0"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Footer Placeholder 2">
            <a:extLst>
              <a:ext uri="{FF2B5EF4-FFF2-40B4-BE49-F238E27FC236}">
                <a16:creationId xmlns:a16="http://schemas.microsoft.com/office/drawing/2014/main" id="{BC93DA42-55D9-E92D-4951-89CD7F76A970}"/>
              </a:ext>
            </a:extLst>
          </p:cNvPr>
          <p:cNvSpPr>
            <a:spLocks noGrp="1"/>
          </p:cNvSpPr>
          <p:nvPr>
            <p:ph type="ftr" sz="quarter" idx="11"/>
          </p:nvPr>
        </p:nvSpPr>
        <p:spPr>
          <a:xfrm>
            <a:off x="77037" y="6624912"/>
            <a:ext cx="12117642" cy="457200"/>
          </a:xfrm>
        </p:spPr>
        <p:txBody>
          <a:bodyPr/>
          <a:lstStyle/>
          <a:p>
            <a:r>
              <a:rPr lang="en-US"/>
              <a:t>https://www.ndr.de/fernsehen/barrierefreie_angebote/audiodeskription/Vorgaben-fuer-Audiodeskriptionen,audiodeskription140.html</a:t>
            </a:r>
          </a:p>
        </p:txBody>
      </p:sp>
      <p:sp>
        <p:nvSpPr>
          <p:cNvPr id="4" name="Textfeld 1">
            <a:extLst>
              <a:ext uri="{FF2B5EF4-FFF2-40B4-BE49-F238E27FC236}">
                <a16:creationId xmlns:a16="http://schemas.microsoft.com/office/drawing/2014/main" id="{41180F11-B61A-74BC-3B26-D0704C9AF21D}"/>
              </a:ext>
            </a:extLst>
          </p:cNvPr>
          <p:cNvSpPr txBox="1"/>
          <p:nvPr/>
        </p:nvSpPr>
        <p:spPr>
          <a:xfrm>
            <a:off x="315257" y="1813019"/>
            <a:ext cx="6196012" cy="3754874"/>
          </a:xfrm>
          <a:prstGeom prst="rect">
            <a:avLst/>
          </a:prstGeom>
          <a:noFill/>
        </p:spPr>
        <p:txBody>
          <a:bodyPr wrap="square" lIns="91440" tIns="45720" rIns="91440" bIns="45720" anchor="t">
            <a:spAutoFit/>
          </a:bodyPr>
          <a:lstStyle/>
          <a:p>
            <a:r>
              <a:rPr lang="de-DE" altLang="de-DE" sz="2400" b="1">
                <a:latin typeface="Arial"/>
                <a:ea typeface="+mn-lt"/>
                <a:cs typeface="Arial"/>
              </a:rPr>
              <a:t>Was wird beschrieben?</a:t>
            </a:r>
          </a:p>
          <a:p>
            <a:pPr marL="285750" indent="-285750">
              <a:buFont typeface="Wingdings" panose="05000000000000000000" pitchFamily="2" charset="2"/>
              <a:buChar char="§"/>
            </a:pPr>
            <a:r>
              <a:rPr lang="de-DE" sz="1400">
                <a:latin typeface="Arial"/>
                <a:ea typeface="+mn-lt"/>
                <a:cs typeface="+mn-lt"/>
              </a:rPr>
              <a:t>Personen: „Aussehen der Protagonisten, Haar- und Hautfarbe, Alter, Kleidung, Körpersprache, Gesichtsausdrücke </a:t>
            </a:r>
            <a:endParaRPr lang="de-DE" sz="1400">
              <a:latin typeface="Arial"/>
              <a:ea typeface="+mn-lt"/>
              <a:cs typeface="Arial"/>
            </a:endParaRPr>
          </a:p>
          <a:p>
            <a:pPr marL="285750" indent="-285750">
              <a:lnSpc>
                <a:spcPct val="150000"/>
              </a:lnSpc>
              <a:buFont typeface="Wingdings" panose="05000000000000000000" pitchFamily="2" charset="2"/>
              <a:buChar char="§"/>
            </a:pPr>
            <a:r>
              <a:rPr lang="de-DE" sz="1400">
                <a:latin typeface="Arial"/>
                <a:ea typeface="+mn-lt"/>
                <a:cs typeface="+mn-lt"/>
              </a:rPr>
              <a:t>Situation </a:t>
            </a:r>
          </a:p>
          <a:p>
            <a:pPr marL="285750" indent="-285750">
              <a:lnSpc>
                <a:spcPct val="150000"/>
              </a:lnSpc>
              <a:buFont typeface="Wingdings" panose="05000000000000000000" pitchFamily="2" charset="2"/>
              <a:buChar char="§"/>
            </a:pPr>
            <a:r>
              <a:rPr lang="de-DE" sz="1400">
                <a:latin typeface="Arial"/>
                <a:ea typeface="+mn-lt"/>
                <a:cs typeface="+mn-lt"/>
              </a:rPr>
              <a:t>Räumlichkeiten, Orte, Umgebung</a:t>
            </a:r>
          </a:p>
          <a:p>
            <a:pPr marL="285750" indent="-285750">
              <a:lnSpc>
                <a:spcPct val="150000"/>
              </a:lnSpc>
              <a:buFont typeface="Wingdings" panose="05000000000000000000" pitchFamily="2" charset="2"/>
              <a:buChar char="§"/>
            </a:pPr>
            <a:r>
              <a:rPr lang="de-DE" sz="1400">
                <a:latin typeface="Arial"/>
                <a:ea typeface="+mn-lt"/>
                <a:cs typeface="+mn-lt"/>
              </a:rPr>
              <a:t>unklare Geräusche</a:t>
            </a:r>
            <a:endParaRPr lang="de-DE" sz="1400">
              <a:latin typeface="Arial"/>
              <a:cs typeface="Arial"/>
            </a:endParaRPr>
          </a:p>
          <a:p>
            <a:pPr marL="285750" indent="-285750">
              <a:lnSpc>
                <a:spcPct val="150000"/>
              </a:lnSpc>
              <a:buFont typeface="Wingdings" panose="05000000000000000000" pitchFamily="2" charset="2"/>
              <a:buChar char="§"/>
            </a:pPr>
            <a:r>
              <a:rPr lang="de-DE" sz="1400">
                <a:latin typeface="Arial"/>
                <a:ea typeface="+mn-lt"/>
                <a:cs typeface="+mn-lt"/>
              </a:rPr>
              <a:t>Texteinblendungen oder Schrift im Bild</a:t>
            </a:r>
            <a:endParaRPr lang="de-DE" sz="1400">
              <a:latin typeface="Arial"/>
              <a:cs typeface="Arial" panose="020B0604020202020204" pitchFamily="34" charset="0"/>
            </a:endParaRPr>
          </a:p>
          <a:p>
            <a:pPr marL="285750" indent="-285750">
              <a:lnSpc>
                <a:spcPct val="150000"/>
              </a:lnSpc>
              <a:buFont typeface="Wingdings" panose="05000000000000000000" pitchFamily="2" charset="2"/>
              <a:buChar char="§"/>
            </a:pPr>
            <a:r>
              <a:rPr lang="de-DE" sz="1400">
                <a:latin typeface="Arial"/>
                <a:ea typeface="+mn-lt"/>
                <a:cs typeface="+mn-lt"/>
              </a:rPr>
              <a:t>Farben, erwähnen, wenn inhaltlich relevant </a:t>
            </a:r>
            <a:endParaRPr lang="de-DE" sz="1400">
              <a:latin typeface="Arial"/>
              <a:cs typeface="Arial" panose="020B0604020202020204" pitchFamily="34" charset="0"/>
            </a:endParaRPr>
          </a:p>
          <a:p>
            <a:pPr marL="285750" indent="-285750">
              <a:lnSpc>
                <a:spcPct val="150000"/>
              </a:lnSpc>
              <a:buFont typeface="Wingdings" panose="05000000000000000000" pitchFamily="2" charset="2"/>
              <a:buChar char="§"/>
            </a:pPr>
            <a:r>
              <a:rPr lang="de-DE" sz="1400">
                <a:latin typeface="Arial"/>
                <a:ea typeface="+mn-lt"/>
                <a:cs typeface="+mn-lt"/>
              </a:rPr>
              <a:t>Ortsnamen und Markennamen wenn handlungsrelevant</a:t>
            </a:r>
            <a:endParaRPr lang="de-DE" sz="1400">
              <a:latin typeface="Arial"/>
              <a:cs typeface="Arial" panose="020B0604020202020204" pitchFamily="34" charset="0"/>
            </a:endParaRPr>
          </a:p>
          <a:p>
            <a:pPr>
              <a:buFont typeface="Arial" panose="05000000000000000000" pitchFamily="2" charset="2"/>
              <a:buChar char="•"/>
            </a:pPr>
            <a:endParaRPr lang="de-DE" sz="1400">
              <a:latin typeface="Arial"/>
              <a:cs typeface="Arial" panose="020B0604020202020204" pitchFamily="34" charset="0"/>
            </a:endParaRPr>
          </a:p>
          <a:p>
            <a:pPr>
              <a:buFont typeface="Arial" panose="05000000000000000000" pitchFamily="2" charset="2"/>
              <a:buChar char="•"/>
            </a:pPr>
            <a:endParaRPr lang="de-DE">
              <a:latin typeface="Arial"/>
              <a:cs typeface="Arial" panose="020B0604020202020204" pitchFamily="34" charset="0"/>
            </a:endParaRPr>
          </a:p>
          <a:p>
            <a:endParaRPr lang="de-DE" sz="1400">
              <a:latin typeface="Arial"/>
              <a:cs typeface="Arial" panose="020B0604020202020204" pitchFamily="34" charset="0"/>
            </a:endParaRPr>
          </a:p>
          <a:p>
            <a:pPr marL="742950" lvl="1" indent="-285750">
              <a:buFont typeface="Wingdings" panose="05000000000000000000" pitchFamily="2" charset="2"/>
              <a:buChar char="§"/>
            </a:pPr>
            <a:endParaRPr lang="de-DE" sz="1400">
              <a:latin typeface="Arial" panose="020B0604020202020204" pitchFamily="34" charset="0"/>
              <a:cs typeface="Arial" panose="020B0604020202020204" pitchFamily="34" charset="0"/>
            </a:endParaRPr>
          </a:p>
        </p:txBody>
      </p:sp>
      <p:graphicFrame>
        <p:nvGraphicFramePr>
          <p:cNvPr id="5" name="Diagram 4">
            <a:extLst>
              <a:ext uri="{FF2B5EF4-FFF2-40B4-BE49-F238E27FC236}">
                <a16:creationId xmlns:a16="http://schemas.microsoft.com/office/drawing/2014/main" id="{99FDC14F-B895-6956-16F1-066EEC54750B}"/>
              </a:ext>
            </a:extLst>
          </p:cNvPr>
          <p:cNvGraphicFramePr/>
          <p:nvPr>
            <p:extLst>
              <p:ext uri="{D42A27DB-BD31-4B8C-83A1-F6EECF244321}">
                <p14:modId xmlns:p14="http://schemas.microsoft.com/office/powerpoint/2010/main" val="3040255254"/>
              </p:ext>
            </p:extLst>
          </p:nvPr>
        </p:nvGraphicFramePr>
        <p:xfrm>
          <a:off x="8733692" y="1382486"/>
          <a:ext cx="1540748" cy="4645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069336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5693C-1E18-E7A3-4F3A-C48596E19957}"/>
            </a:ext>
          </a:extLst>
        </p:cNvPr>
        <p:cNvGrpSpPr/>
        <p:nvPr/>
      </p:nvGrpSpPr>
      <p:grpSpPr>
        <a:xfrm>
          <a:off x="0" y="0"/>
          <a:ext cx="0" cy="0"/>
          <a:chOff x="0" y="0"/>
          <a:chExt cx="0" cy="0"/>
        </a:xfrm>
      </p:grpSpPr>
      <p:sp>
        <p:nvSpPr>
          <p:cNvPr id="19" name="Titel 1">
            <a:extLst>
              <a:ext uri="{FF2B5EF4-FFF2-40B4-BE49-F238E27FC236}">
                <a16:creationId xmlns:a16="http://schemas.microsoft.com/office/drawing/2014/main" id="{5C9F4534-70A2-0778-4B99-5C5555BE6E6B}"/>
              </a:ext>
            </a:extLst>
          </p:cNvPr>
          <p:cNvSpPr>
            <a:spLocks noGrp="1"/>
          </p:cNvSpPr>
          <p:nvPr>
            <p:ph type="title"/>
          </p:nvPr>
        </p:nvSpPr>
        <p:spPr>
          <a:xfrm>
            <a:off x="0" y="476672"/>
            <a:ext cx="12192000" cy="576000"/>
          </a:xfrm>
        </p:spPr>
        <p:txBody>
          <a:bodyPr>
            <a:noAutofit/>
          </a:bodyPr>
          <a:lstStyle/>
          <a:p>
            <a:r>
              <a:rPr kumimoji="0" lang="de-DE" altLang="de-DE" sz="2000" b="1" i="0" u="none" strike="noStrike" cap="none" normalizeH="0" baseline="0">
                <a:ln>
                  <a:noFill/>
                </a:ln>
                <a:solidFill>
                  <a:schemeClr val="tx1"/>
                </a:solidFill>
                <a:effectLst/>
                <a:latin typeface="Arial" panose="020B0604020202020204" pitchFamily="34" charset="0"/>
              </a:rPr>
              <a:t>2️⃣ Vorgehen zum Erstellen einer Audiodeskription</a:t>
            </a:r>
            <a:endParaRPr lang="de-DE" sz="2000" b="1">
              <a:latin typeface="Arial" panose="020B0604020202020204" pitchFamily="34" charset="0"/>
              <a:ea typeface="Verdana" panose="020B0604030504040204" pitchFamily="34" charset="0"/>
              <a:cs typeface="Arial" panose="020B0604020202020204" pitchFamily="34" charset="0"/>
            </a:endParaRPr>
          </a:p>
        </p:txBody>
      </p:sp>
      <p:sp>
        <p:nvSpPr>
          <p:cNvPr id="2" name="Textfeld 1">
            <a:extLst>
              <a:ext uri="{FF2B5EF4-FFF2-40B4-BE49-F238E27FC236}">
                <a16:creationId xmlns:a16="http://schemas.microsoft.com/office/drawing/2014/main" id="{714E76A9-99EC-C608-322A-3123D0A48767}"/>
              </a:ext>
            </a:extLst>
          </p:cNvPr>
          <p:cNvSpPr txBox="1"/>
          <p:nvPr/>
        </p:nvSpPr>
        <p:spPr>
          <a:xfrm>
            <a:off x="407368" y="1628800"/>
            <a:ext cx="6196012" cy="3754874"/>
          </a:xfrm>
          <a:prstGeom prst="rect">
            <a:avLst/>
          </a:prstGeom>
          <a:noFill/>
        </p:spPr>
        <p:txBody>
          <a:bodyPr wrap="square" lIns="91440" tIns="45720" rIns="91440" bIns="45720" anchor="t">
            <a:spAutoFit/>
          </a:bodyPr>
          <a:lstStyle/>
          <a:p>
            <a:r>
              <a:rPr lang="de-DE" altLang="de-DE" sz="2400" b="1">
                <a:latin typeface="Arial"/>
                <a:ea typeface="+mn-lt"/>
                <a:cs typeface="Arial"/>
              </a:rPr>
              <a:t>Wie soll es beschrieben werden?</a:t>
            </a:r>
            <a:endParaRPr lang="de-DE" sz="2400" b="1">
              <a:latin typeface="Arial"/>
              <a:ea typeface="+mn-lt"/>
              <a:cs typeface="Arial"/>
            </a:endParaRPr>
          </a:p>
          <a:p>
            <a:pPr marL="285750" indent="-285750">
              <a:lnSpc>
                <a:spcPct val="150000"/>
              </a:lnSpc>
              <a:buFont typeface="Wingdings" panose="05000000000000000000" pitchFamily="2" charset="2"/>
              <a:buChar char="§"/>
            </a:pPr>
            <a:r>
              <a:rPr lang="de-DE" sz="1400">
                <a:latin typeface="Arial"/>
                <a:ea typeface="+mn-lt"/>
                <a:cs typeface="+mn-lt"/>
              </a:rPr>
              <a:t>Präsens </a:t>
            </a:r>
          </a:p>
          <a:p>
            <a:pPr marL="285750" indent="-285750">
              <a:lnSpc>
                <a:spcPct val="150000"/>
              </a:lnSpc>
              <a:buFont typeface="Wingdings" panose="05000000000000000000" pitchFamily="2" charset="2"/>
              <a:buChar char="§"/>
            </a:pPr>
            <a:r>
              <a:rPr lang="de-DE" sz="1400">
                <a:latin typeface="Arial"/>
                <a:ea typeface="+mn-lt"/>
                <a:cs typeface="+mn-lt"/>
              </a:rPr>
              <a:t>Einfache Satzstruktur bzw. nicht unbedingt vollständige Sätze</a:t>
            </a:r>
          </a:p>
          <a:p>
            <a:pPr marL="285750" indent="-285750">
              <a:lnSpc>
                <a:spcPct val="150000"/>
              </a:lnSpc>
              <a:buFont typeface="Wingdings" panose="05000000000000000000" pitchFamily="2" charset="2"/>
              <a:buChar char="§"/>
            </a:pPr>
            <a:r>
              <a:rPr lang="de-DE" sz="1400">
                <a:latin typeface="Arial"/>
                <a:ea typeface="+mn-lt"/>
                <a:cs typeface="+mn-lt"/>
              </a:rPr>
              <a:t>handlungssynchron, nach Möglichkeit in Sprechpausen</a:t>
            </a:r>
            <a:endParaRPr lang="de-DE" sz="1400">
              <a:latin typeface="Arial"/>
              <a:cs typeface="Arial"/>
            </a:endParaRPr>
          </a:p>
          <a:p>
            <a:pPr marL="285750" indent="-285750">
              <a:lnSpc>
                <a:spcPct val="150000"/>
              </a:lnSpc>
              <a:buFont typeface="Wingdings" panose="05000000000000000000" pitchFamily="2" charset="2"/>
              <a:buChar char="§"/>
            </a:pPr>
            <a:r>
              <a:rPr lang="de-DE" sz="1400">
                <a:latin typeface="Arial"/>
                <a:ea typeface="+mn-lt"/>
                <a:cs typeface="+mn-lt"/>
              </a:rPr>
              <a:t>keine handlungsrelevanten Geräusche mit AD überdecken </a:t>
            </a:r>
            <a:endParaRPr lang="de-DE" sz="1400">
              <a:latin typeface="Arial"/>
              <a:cs typeface="Arial"/>
            </a:endParaRPr>
          </a:p>
          <a:p>
            <a:pPr marL="285750" indent="-285750">
              <a:lnSpc>
                <a:spcPct val="150000"/>
              </a:lnSpc>
              <a:buFont typeface="Wingdings" panose="05000000000000000000" pitchFamily="2" charset="2"/>
              <a:buChar char="§"/>
            </a:pPr>
            <a:r>
              <a:rPr lang="de-DE" sz="1400">
                <a:latin typeface="Arial"/>
                <a:ea typeface="+mn-lt"/>
                <a:cs typeface="+mn-lt"/>
              </a:rPr>
              <a:t>keine Erklärungen, Interpretationen oder Bewertungen</a:t>
            </a:r>
            <a:endParaRPr lang="de-DE" sz="1400">
              <a:latin typeface="Arial"/>
              <a:cs typeface="Arial" panose="020B0604020202020204" pitchFamily="34" charset="0"/>
            </a:endParaRPr>
          </a:p>
          <a:p>
            <a:pPr marL="285750" indent="-285750">
              <a:lnSpc>
                <a:spcPct val="150000"/>
              </a:lnSpc>
              <a:buFont typeface="Wingdings" panose="05000000000000000000" pitchFamily="2" charset="2"/>
              <a:buChar char="§"/>
            </a:pPr>
            <a:r>
              <a:rPr lang="de-DE" sz="1400">
                <a:latin typeface="Arial"/>
                <a:ea typeface="+mn-lt"/>
                <a:cs typeface="+mn-lt"/>
              </a:rPr>
              <a:t>keine Formulierungen wie „Wir sehen“</a:t>
            </a:r>
            <a:endParaRPr lang="de-DE" sz="1400">
              <a:latin typeface="Arial"/>
              <a:cs typeface="Arial" panose="020B0604020202020204" pitchFamily="34" charset="0"/>
            </a:endParaRPr>
          </a:p>
          <a:p>
            <a:pPr marL="285750" indent="-285750">
              <a:buFont typeface="Wingdings" panose="05000000000000000000" pitchFamily="2" charset="2"/>
              <a:buChar char="§"/>
            </a:pPr>
            <a:r>
              <a:rPr lang="de-DE" sz="1400">
                <a:latin typeface="Arial"/>
                <a:ea typeface="+mn-lt"/>
                <a:cs typeface="+mn-lt"/>
              </a:rPr>
              <a:t>Bei Richtungsangaben hat die Perspektive der Betrachter*innen Vorrang.</a:t>
            </a:r>
            <a:endParaRPr lang="de-DE" sz="1400">
              <a:latin typeface="Arial"/>
              <a:cs typeface="Arial" panose="020B0604020202020204" pitchFamily="34" charset="0"/>
            </a:endParaRPr>
          </a:p>
          <a:p>
            <a:pPr>
              <a:buFont typeface="Arial" panose="05000000000000000000" pitchFamily="2" charset="2"/>
              <a:buChar char="•"/>
            </a:pPr>
            <a:endParaRPr lang="de-DE" sz="1400">
              <a:latin typeface="Arial"/>
              <a:cs typeface="Arial" panose="020B0604020202020204" pitchFamily="34" charset="0"/>
            </a:endParaRPr>
          </a:p>
          <a:p>
            <a:pPr>
              <a:buFont typeface="Arial" panose="05000000000000000000" pitchFamily="2" charset="2"/>
              <a:buChar char="•"/>
            </a:pPr>
            <a:endParaRPr lang="de-DE">
              <a:latin typeface="Arial"/>
              <a:cs typeface="Arial" panose="020B0604020202020204" pitchFamily="34" charset="0"/>
            </a:endParaRPr>
          </a:p>
          <a:p>
            <a:endParaRPr lang="de-DE" sz="1400">
              <a:latin typeface="Arial"/>
              <a:cs typeface="Arial" panose="020B0604020202020204" pitchFamily="34" charset="0"/>
            </a:endParaRPr>
          </a:p>
          <a:p>
            <a:pPr marL="742950" lvl="1" indent="-285750">
              <a:buFont typeface="Wingdings" panose="05000000000000000000" pitchFamily="2" charset="2"/>
              <a:buChar char="§"/>
            </a:pPr>
            <a:endParaRPr lang="de-DE" sz="1400">
              <a:latin typeface="Arial" panose="020B0604020202020204" pitchFamily="34" charset="0"/>
              <a:cs typeface="Arial" panose="020B0604020202020204" pitchFamily="34" charset="0"/>
            </a:endParaRPr>
          </a:p>
        </p:txBody>
      </p:sp>
      <p:sp>
        <p:nvSpPr>
          <p:cNvPr id="11" name="Rechteck 10">
            <a:extLst>
              <a:ext uri="{FF2B5EF4-FFF2-40B4-BE49-F238E27FC236}">
                <a16:creationId xmlns:a16="http://schemas.microsoft.com/office/drawing/2014/main" id="{54011AE5-1B52-6258-EE8F-613D213B5081}"/>
              </a:ext>
            </a:extLst>
          </p:cNvPr>
          <p:cNvSpPr/>
          <p:nvPr/>
        </p:nvSpPr>
        <p:spPr>
          <a:xfrm>
            <a:off x="1703512" y="1059816"/>
            <a:ext cx="1703512" cy="333280"/>
          </a:xfrm>
          <a:prstGeom prst="rect">
            <a:avLst/>
          </a:prstGeom>
          <a:solidFill>
            <a:srgbClr val="FFC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a:extLst>
              <a:ext uri="{FF2B5EF4-FFF2-40B4-BE49-F238E27FC236}">
                <a16:creationId xmlns:a16="http://schemas.microsoft.com/office/drawing/2014/main" id="{197C5AB8-DAEA-EE45-20FA-BA5CFA67ECC1}"/>
              </a:ext>
            </a:extLst>
          </p:cNvPr>
          <p:cNvSpPr/>
          <p:nvPr/>
        </p:nvSpPr>
        <p:spPr>
          <a:xfrm>
            <a:off x="0"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Footer Placeholder 2">
            <a:extLst>
              <a:ext uri="{FF2B5EF4-FFF2-40B4-BE49-F238E27FC236}">
                <a16:creationId xmlns:a16="http://schemas.microsoft.com/office/drawing/2014/main" id="{4A651BEE-34D3-4A7F-7348-1625CE6FC705}"/>
              </a:ext>
            </a:extLst>
          </p:cNvPr>
          <p:cNvSpPr>
            <a:spLocks noGrp="1"/>
          </p:cNvSpPr>
          <p:nvPr>
            <p:ph type="ftr" sz="quarter" idx="11"/>
          </p:nvPr>
        </p:nvSpPr>
        <p:spPr>
          <a:xfrm>
            <a:off x="1675" y="6624912"/>
            <a:ext cx="12193004" cy="457200"/>
          </a:xfrm>
        </p:spPr>
        <p:txBody>
          <a:bodyPr/>
          <a:lstStyle/>
          <a:p>
            <a:r>
              <a:rPr lang="en-US"/>
              <a:t> https://www.ndr.de/fernsehen/barrierefreie_angebote/audiodeskription/Vorgaben-fuer-Audiodeskriptionen,audiodeskription140.html</a:t>
            </a:r>
          </a:p>
        </p:txBody>
      </p:sp>
      <p:pic>
        <p:nvPicPr>
          <p:cNvPr id="4" name="Picture 3" descr="Checklist PNG Picture | PNG Mart">
            <a:extLst>
              <a:ext uri="{FF2B5EF4-FFF2-40B4-BE49-F238E27FC236}">
                <a16:creationId xmlns:a16="http://schemas.microsoft.com/office/drawing/2014/main" id="{B15D06F4-C32D-331A-342F-9D4494A4AB6D}"/>
              </a:ext>
            </a:extLst>
          </p:cNvPr>
          <p:cNvPicPr>
            <a:picLocks noChangeAspect="1"/>
          </p:cNvPicPr>
          <p:nvPr/>
        </p:nvPicPr>
        <p:blipFill>
          <a:blip r:embed="rId3"/>
          <a:stretch>
            <a:fillRect/>
          </a:stretch>
        </p:blipFill>
        <p:spPr>
          <a:xfrm>
            <a:off x="7634575" y="2134856"/>
            <a:ext cx="3161202" cy="2605036"/>
          </a:xfrm>
          <a:prstGeom prst="rect">
            <a:avLst/>
          </a:prstGeom>
        </p:spPr>
      </p:pic>
    </p:spTree>
    <p:extLst>
      <p:ext uri="{BB962C8B-B14F-4D97-AF65-F5344CB8AC3E}">
        <p14:creationId xmlns:p14="http://schemas.microsoft.com/office/powerpoint/2010/main" val="3059956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liennummernplatzhalter 5"/>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9</a:t>
            </a:fld>
            <a:r>
              <a:rPr lang="de-DE">
                <a:latin typeface="Verdana" panose="020B0604030504040204" pitchFamily="34" charset="0"/>
                <a:ea typeface="Verdana" panose="020B0604030504040204" pitchFamily="34" charset="0"/>
                <a:cs typeface="Verdana" panose="020B0604030504040204" pitchFamily="34" charset="0"/>
              </a:rPr>
              <a:t> </a:t>
            </a:r>
          </a:p>
        </p:txBody>
      </p:sp>
      <p:sp>
        <p:nvSpPr>
          <p:cNvPr id="9" name="Titel 1">
            <a:extLst>
              <a:ext uri="{FF2B5EF4-FFF2-40B4-BE49-F238E27FC236}">
                <a16:creationId xmlns:a16="http://schemas.microsoft.com/office/drawing/2014/main" id="{91CBE2C3-755A-EAB2-FF90-759C22CF37C6}"/>
              </a:ext>
            </a:extLst>
          </p:cNvPr>
          <p:cNvSpPr>
            <a:spLocks noGrp="1"/>
          </p:cNvSpPr>
          <p:nvPr>
            <p:ph type="title"/>
          </p:nvPr>
        </p:nvSpPr>
        <p:spPr>
          <a:xfrm>
            <a:off x="0" y="476672"/>
            <a:ext cx="12192000" cy="576000"/>
          </a:xfrm>
        </p:spPr>
        <p:txBody>
          <a:bodyPr>
            <a:noAutofit/>
          </a:bodyPr>
          <a:lstStyle/>
          <a:p>
            <a:r>
              <a:rPr lang="de-DE" altLang="de-DE" sz="2000" dirty="0">
                <a:latin typeface="Arial" panose="020B0604020202020204" pitchFamily="34" charset="0"/>
                <a:cs typeface="Arial" panose="020B0604020202020204" pitchFamily="34" charset="0"/>
              </a:rPr>
              <a:t>3️⃣ </a:t>
            </a:r>
            <a:r>
              <a:rPr kumimoji="0" lang="de-DE" altLang="de-DE" sz="2000" b="1" i="0" u="none" strike="noStrike" cap="none" normalizeH="0" baseline="0" dirty="0">
                <a:ln>
                  <a:noFill/>
                </a:ln>
                <a:solidFill>
                  <a:schemeClr val="tx1"/>
                </a:solidFill>
                <a:effectLst/>
                <a:latin typeface="Arial" panose="020B0604020202020204" pitchFamily="34" charset="0"/>
              </a:rPr>
              <a:t>Rechtliche und ethische Überlegungen</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sp>
        <p:nvSpPr>
          <p:cNvPr id="2" name="Textfeld 1">
            <a:extLst>
              <a:ext uri="{FF2B5EF4-FFF2-40B4-BE49-F238E27FC236}">
                <a16:creationId xmlns:a16="http://schemas.microsoft.com/office/drawing/2014/main" id="{F648057C-98BB-A2AF-FE16-8D06F2216C13}"/>
              </a:ext>
            </a:extLst>
          </p:cNvPr>
          <p:cNvSpPr txBox="1"/>
          <p:nvPr/>
        </p:nvSpPr>
        <p:spPr>
          <a:xfrm>
            <a:off x="407368" y="1628800"/>
            <a:ext cx="6196012" cy="4339650"/>
          </a:xfrm>
          <a:prstGeom prst="rect">
            <a:avLst/>
          </a:prstGeom>
          <a:noFill/>
        </p:spPr>
        <p:txBody>
          <a:bodyPr wrap="square">
            <a:spAutoFit/>
          </a:bodyPr>
          <a:lstStyle/>
          <a:p>
            <a:pPr>
              <a:buNone/>
            </a:pPr>
            <a:r>
              <a:rPr lang="de-DE" sz="2400" b="1" dirty="0">
                <a:latin typeface="Arial" panose="020B0604020202020204" pitchFamily="34" charset="0"/>
                <a:cs typeface="Arial" panose="020B0604020202020204" pitchFamily="34" charset="0"/>
              </a:rPr>
              <a:t>Gesetze und Vorschriften</a:t>
            </a:r>
          </a:p>
          <a:p>
            <a:pPr>
              <a:buNone/>
            </a:pPr>
            <a:endParaRPr lang="de-DE" sz="1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b="1" dirty="0">
                <a:latin typeface="Arial" panose="020B0604020202020204" pitchFamily="34" charset="0"/>
                <a:cs typeface="Arial" panose="020B0604020202020204" pitchFamily="34" charset="0"/>
              </a:rPr>
              <a:t>Medienstaatsvertrag (</a:t>
            </a:r>
            <a:r>
              <a:rPr lang="de-DE" sz="1400" b="1" dirty="0" err="1">
                <a:latin typeface="Arial" panose="020B0604020202020204" pitchFamily="34" charset="0"/>
                <a:cs typeface="Arial" panose="020B0604020202020204" pitchFamily="34" charset="0"/>
              </a:rPr>
              <a:t>MStV</a:t>
            </a:r>
            <a:r>
              <a:rPr lang="de-DE" sz="1400" b="1"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de-DE" sz="1400" dirty="0">
                <a:latin typeface="Arial" panose="020B0604020202020204" pitchFamily="34" charset="0"/>
                <a:cs typeface="Arial" panose="020B0604020202020204" pitchFamily="34" charset="0"/>
              </a:rPr>
              <a:t>früher Rundfunkstaatsvertrag</a:t>
            </a:r>
          </a:p>
          <a:p>
            <a:pPr marL="742950" lvl="1" indent="-285750">
              <a:buFont typeface="Arial" panose="020B0604020202020204" pitchFamily="34" charset="0"/>
              <a:buChar char="•"/>
            </a:pPr>
            <a:r>
              <a:rPr lang="de-DE" sz="1400" dirty="0">
                <a:latin typeface="Arial" panose="020B0604020202020204" pitchFamily="34" charset="0"/>
                <a:cs typeface="Arial" panose="020B0604020202020204" pitchFamily="34" charset="0"/>
              </a:rPr>
              <a:t>Grundsatzregelungen</a:t>
            </a:r>
          </a:p>
          <a:p>
            <a:pPr marL="742950" lvl="1" indent="-285750">
              <a:buFont typeface="Arial" panose="020B0604020202020204" pitchFamily="34" charset="0"/>
              <a:buChar char="•"/>
            </a:pPr>
            <a:r>
              <a:rPr lang="de-DE" sz="1400" dirty="0">
                <a:latin typeface="Arial" panose="020B0604020202020204" pitchFamily="34" charset="0"/>
                <a:cs typeface="Arial" panose="020B0604020202020204" pitchFamily="34" charset="0"/>
              </a:rPr>
              <a:t>Teilhabe an neuen technischen Möglichkeiten</a:t>
            </a:r>
          </a:p>
          <a:p>
            <a:pPr marL="742950" lvl="1" indent="-285750">
              <a:buFont typeface="Arial" panose="020B0604020202020204" pitchFamily="34" charset="0"/>
              <a:buChar char="•"/>
            </a:pPr>
            <a:endParaRPr lang="de-DE" sz="1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b="1" dirty="0">
                <a:latin typeface="Arial" panose="020B0604020202020204" pitchFamily="34" charset="0"/>
                <a:cs typeface="Arial" panose="020B0604020202020204" pitchFamily="34" charset="0"/>
              </a:rPr>
              <a:t>Audiovisuelle Mediendienste-Richtlinie (AVMD)</a:t>
            </a:r>
          </a:p>
          <a:p>
            <a:pPr marL="742950" lvl="1" indent="-285750">
              <a:buFont typeface="Arial" panose="020B0604020202020204" pitchFamily="34" charset="0"/>
              <a:buChar char="•"/>
            </a:pPr>
            <a:r>
              <a:rPr lang="de-DE" sz="1400" dirty="0">
                <a:latin typeface="Arial" panose="020B0604020202020204" pitchFamily="34" charset="0"/>
                <a:cs typeface="Arial" panose="020B0604020202020204" pitchFamily="34" charset="0"/>
              </a:rPr>
              <a:t>Richtlinie der EU</a:t>
            </a:r>
          </a:p>
          <a:p>
            <a:pPr marL="742950" lvl="1" indent="-285750">
              <a:buFont typeface="Arial" panose="020B0604020202020204" pitchFamily="34" charset="0"/>
              <a:buChar char="•"/>
            </a:pPr>
            <a:r>
              <a:rPr lang="de-DE" sz="1400" dirty="0">
                <a:latin typeface="Arial" panose="020B0604020202020204" pitchFamily="34" charset="0"/>
                <a:cs typeface="Arial" panose="020B0604020202020204" pitchFamily="34" charset="0"/>
              </a:rPr>
              <a:t>§ 7 Barrierefreiheit</a:t>
            </a:r>
          </a:p>
          <a:p>
            <a:pPr marL="742950" lvl="1" indent="-285750">
              <a:buFont typeface="Arial" panose="020B0604020202020204" pitchFamily="34" charset="0"/>
              <a:buChar char="•"/>
            </a:pPr>
            <a:endParaRPr lang="de-DE" sz="1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b="1" dirty="0">
                <a:latin typeface="Arial" panose="020B0604020202020204" pitchFamily="34" charset="0"/>
                <a:cs typeface="Arial" panose="020B0604020202020204" pitchFamily="34" charset="0"/>
              </a:rPr>
              <a:t>Barrierefreiheit</a:t>
            </a:r>
          </a:p>
          <a:p>
            <a:pPr algn="ctr"/>
            <a:r>
              <a:rPr lang="de-DE" sz="1400" i="1" dirty="0">
                <a:latin typeface="Arial" panose="020B0604020202020204" pitchFamily="34" charset="0"/>
                <a:cs typeface="Arial" panose="020B0604020202020204" pitchFamily="34" charset="0"/>
              </a:rPr>
              <a:t>„Im Sinne des Medienstaatsvertrag wird unter einem barrierefreien Angebot ein Angebot verstanden, welches für Menschen mit Behinderungen in der allgemein üblichen Weise, bei Nutzung behinderungsbedingt notwendiger Hilfsmittel, nach dem jeweiligen Stand der Technik ohne besondere Erschwernis und möglichst ohne fremde Hilfe auffindbar, zugänglich und nutzbar ist.“</a:t>
            </a:r>
          </a:p>
          <a:p>
            <a:pPr marL="742950" lvl="1" indent="-285750">
              <a:buFont typeface="Wingdings" panose="05000000000000000000" pitchFamily="2" charset="2"/>
              <a:buChar char="§"/>
            </a:pPr>
            <a:endParaRPr lang="de-DE" sz="1400" dirty="0">
              <a:latin typeface="Arial" panose="020B0604020202020204" pitchFamily="34" charset="0"/>
              <a:cs typeface="Arial" panose="020B0604020202020204" pitchFamily="34" charset="0"/>
            </a:endParaRPr>
          </a:p>
        </p:txBody>
      </p:sp>
      <p:sp>
        <p:nvSpPr>
          <p:cNvPr id="7" name="Rechteck 6">
            <a:extLst>
              <a:ext uri="{FF2B5EF4-FFF2-40B4-BE49-F238E27FC236}">
                <a16:creationId xmlns:a16="http://schemas.microsoft.com/office/drawing/2014/main" id="{559C67F3-E15D-10A2-7788-001662696D20}"/>
              </a:ext>
            </a:extLst>
          </p:cNvPr>
          <p:cNvSpPr/>
          <p:nvPr/>
        </p:nvSpPr>
        <p:spPr>
          <a:xfrm>
            <a:off x="1703512"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a:extLst>
              <a:ext uri="{FF2B5EF4-FFF2-40B4-BE49-F238E27FC236}">
                <a16:creationId xmlns:a16="http://schemas.microsoft.com/office/drawing/2014/main" id="{83EEC23C-384F-E213-88CD-06C840F6DB34}"/>
              </a:ext>
            </a:extLst>
          </p:cNvPr>
          <p:cNvSpPr/>
          <p:nvPr/>
        </p:nvSpPr>
        <p:spPr>
          <a:xfrm>
            <a:off x="0"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a:extLst>
              <a:ext uri="{FF2B5EF4-FFF2-40B4-BE49-F238E27FC236}">
                <a16:creationId xmlns:a16="http://schemas.microsoft.com/office/drawing/2014/main" id="{8543416A-2B38-292E-E197-A748502D1C5D}"/>
              </a:ext>
            </a:extLst>
          </p:cNvPr>
          <p:cNvSpPr/>
          <p:nvPr/>
        </p:nvSpPr>
        <p:spPr>
          <a:xfrm>
            <a:off x="3407024" y="1059816"/>
            <a:ext cx="1703512" cy="333280"/>
          </a:xfrm>
          <a:prstGeom prst="rect">
            <a:avLst/>
          </a:prstGeom>
          <a:solidFill>
            <a:srgbClr val="FFC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1" name="Grafik 10" descr="Holzhammer ruht auf einem Block">
            <a:extLst>
              <a:ext uri="{FF2B5EF4-FFF2-40B4-BE49-F238E27FC236}">
                <a16:creationId xmlns:a16="http://schemas.microsoft.com/office/drawing/2014/main" id="{E4782E2C-A414-7EA1-AAF2-1B0DCA9575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8128" y="2108853"/>
            <a:ext cx="3960440" cy="2640293"/>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0680597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B13BE-BFC4-349E-D813-24B9BF14B06C}"/>
            </a:ext>
          </a:extLst>
        </p:cNvPr>
        <p:cNvGrpSpPr/>
        <p:nvPr/>
      </p:nvGrpSpPr>
      <p:grpSpPr>
        <a:xfrm>
          <a:off x="0" y="0"/>
          <a:ext cx="0" cy="0"/>
          <a:chOff x="0" y="0"/>
          <a:chExt cx="0" cy="0"/>
        </a:xfrm>
      </p:grpSpPr>
      <p:sp>
        <p:nvSpPr>
          <p:cNvPr id="43" name="Foliennummernplatzhalter 5">
            <a:extLst>
              <a:ext uri="{FF2B5EF4-FFF2-40B4-BE49-F238E27FC236}">
                <a16:creationId xmlns:a16="http://schemas.microsoft.com/office/drawing/2014/main" id="{5D2B9F95-2059-2359-06CC-1248C83E00F8}"/>
              </a:ext>
            </a:extLst>
          </p:cNvPr>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10</a:t>
            </a:fld>
            <a:r>
              <a:rPr lang="de-DE">
                <a:latin typeface="Verdana" panose="020B0604030504040204" pitchFamily="34" charset="0"/>
                <a:ea typeface="Verdana" panose="020B0604030504040204" pitchFamily="34" charset="0"/>
                <a:cs typeface="Verdana" panose="020B0604030504040204" pitchFamily="34" charset="0"/>
              </a:rPr>
              <a:t> </a:t>
            </a:r>
          </a:p>
        </p:txBody>
      </p:sp>
      <p:sp>
        <p:nvSpPr>
          <p:cNvPr id="9" name="Titel 1">
            <a:extLst>
              <a:ext uri="{FF2B5EF4-FFF2-40B4-BE49-F238E27FC236}">
                <a16:creationId xmlns:a16="http://schemas.microsoft.com/office/drawing/2014/main" id="{54B64A49-84B6-6F67-4625-3471A56A5A6F}"/>
              </a:ext>
            </a:extLst>
          </p:cNvPr>
          <p:cNvSpPr>
            <a:spLocks noGrp="1"/>
          </p:cNvSpPr>
          <p:nvPr>
            <p:ph type="title"/>
          </p:nvPr>
        </p:nvSpPr>
        <p:spPr>
          <a:xfrm>
            <a:off x="0" y="476672"/>
            <a:ext cx="12192000" cy="576000"/>
          </a:xfrm>
        </p:spPr>
        <p:txBody>
          <a:bodyPr>
            <a:noAutofit/>
          </a:bodyPr>
          <a:lstStyle/>
          <a:p>
            <a:r>
              <a:rPr lang="de-DE" altLang="de-DE" sz="2000" dirty="0">
                <a:latin typeface="Arial" panose="020B0604020202020204" pitchFamily="34" charset="0"/>
                <a:cs typeface="Arial" panose="020B0604020202020204" pitchFamily="34" charset="0"/>
              </a:rPr>
              <a:t>3️⃣ </a:t>
            </a:r>
            <a:r>
              <a:rPr kumimoji="0" lang="de-DE" altLang="de-DE" sz="2000" b="1" i="0" u="none" strike="noStrike" cap="none" normalizeH="0" baseline="0" dirty="0">
                <a:ln>
                  <a:noFill/>
                </a:ln>
                <a:solidFill>
                  <a:schemeClr val="tx1"/>
                </a:solidFill>
                <a:effectLst/>
                <a:latin typeface="Arial" panose="020B0604020202020204" pitchFamily="34" charset="0"/>
              </a:rPr>
              <a:t>Rechtliche und ethische Überlegungen</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sp>
        <p:nvSpPr>
          <p:cNvPr id="2" name="Textfeld 1">
            <a:extLst>
              <a:ext uri="{FF2B5EF4-FFF2-40B4-BE49-F238E27FC236}">
                <a16:creationId xmlns:a16="http://schemas.microsoft.com/office/drawing/2014/main" id="{D8CE14DE-4857-7FA3-B423-721228B1204B}"/>
              </a:ext>
            </a:extLst>
          </p:cNvPr>
          <p:cNvSpPr txBox="1"/>
          <p:nvPr/>
        </p:nvSpPr>
        <p:spPr>
          <a:xfrm>
            <a:off x="407368" y="1628800"/>
            <a:ext cx="6196012" cy="3262432"/>
          </a:xfrm>
          <a:prstGeom prst="rect">
            <a:avLst/>
          </a:prstGeom>
          <a:noFill/>
        </p:spPr>
        <p:txBody>
          <a:bodyPr wrap="square">
            <a:spAutoFit/>
          </a:bodyPr>
          <a:lstStyle/>
          <a:p>
            <a:pPr>
              <a:buNone/>
            </a:pPr>
            <a:r>
              <a:rPr lang="de-DE" sz="2400" b="1" dirty="0">
                <a:latin typeface="Arial" panose="020B0604020202020204" pitchFamily="34" charset="0"/>
                <a:cs typeface="Arial" panose="020B0604020202020204" pitchFamily="34" charset="0"/>
              </a:rPr>
              <a:t>Ethische Verantwortung</a:t>
            </a:r>
          </a:p>
          <a:p>
            <a:pPr>
              <a:buNone/>
            </a:pPr>
            <a:endParaRPr lang="de-DE" sz="1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b="1" dirty="0">
                <a:latin typeface="Arial" panose="020B0604020202020204" pitchFamily="34" charset="0"/>
                <a:cs typeface="Arial" panose="020B0604020202020204" pitchFamily="34" charset="0"/>
              </a:rPr>
              <a:t>Teilhabe &amp; Inklusion</a:t>
            </a:r>
          </a:p>
          <a:p>
            <a:pPr marL="285750" indent="-285750">
              <a:buFont typeface="Wingdings" panose="05000000000000000000" pitchFamily="2" charset="2"/>
              <a:buChar char="§"/>
            </a:pPr>
            <a:endParaRPr lang="de-DE" sz="1400"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b="1" dirty="0">
                <a:latin typeface="Arial" panose="020B0604020202020204" pitchFamily="34" charset="0"/>
                <a:cs typeface="Arial" panose="020B0604020202020204" pitchFamily="34" charset="0"/>
              </a:rPr>
              <a:t>Menschenrechte</a:t>
            </a:r>
          </a:p>
          <a:p>
            <a:pPr marL="285750" indent="-285750">
              <a:buFont typeface="Wingdings" panose="05000000000000000000" pitchFamily="2" charset="2"/>
              <a:buChar char="§"/>
            </a:pPr>
            <a:endParaRPr lang="de-DE" sz="1400"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b="1" dirty="0">
                <a:latin typeface="Arial" panose="020B0604020202020204" pitchFamily="34" charset="0"/>
                <a:cs typeface="Arial" panose="020B0604020202020204" pitchFamily="34" charset="0"/>
              </a:rPr>
              <a:t>Sichtbarkeit</a:t>
            </a:r>
          </a:p>
          <a:p>
            <a:pPr marL="285750" indent="-285750">
              <a:buFont typeface="Wingdings" panose="05000000000000000000" pitchFamily="2" charset="2"/>
              <a:buChar char="§"/>
            </a:pPr>
            <a:endParaRPr lang="de-DE" sz="1400"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b="1" dirty="0">
                <a:latin typeface="Arial" panose="020B0604020202020204" pitchFamily="34" charset="0"/>
                <a:cs typeface="Arial" panose="020B0604020202020204" pitchFamily="34" charset="0"/>
              </a:rPr>
              <a:t>Demokratische Partizipation</a:t>
            </a:r>
          </a:p>
          <a:p>
            <a:pPr marL="285750" indent="-285750">
              <a:buFont typeface="Wingdings" panose="05000000000000000000" pitchFamily="2" charset="2"/>
              <a:buChar char="§"/>
            </a:pPr>
            <a:endParaRPr lang="de-DE" sz="1400"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b="1" dirty="0">
                <a:latin typeface="Arial" panose="020B0604020202020204" pitchFamily="34" charset="0"/>
                <a:cs typeface="Arial" panose="020B0604020202020204" pitchFamily="34" charset="0"/>
              </a:rPr>
              <a:t>Gerechtigkeit</a:t>
            </a:r>
          </a:p>
          <a:p>
            <a:pPr marL="285750" indent="-285750">
              <a:buFont typeface="Wingdings" panose="05000000000000000000" pitchFamily="2" charset="2"/>
              <a:buChar char="§"/>
            </a:pPr>
            <a:endParaRPr lang="de-DE" sz="1400"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b="1" dirty="0">
                <a:latin typeface="Arial" panose="020B0604020202020204" pitchFamily="34" charset="0"/>
                <a:cs typeface="Arial" panose="020B0604020202020204" pitchFamily="34" charset="0"/>
              </a:rPr>
              <a:t>Verantwortung bei KI-Einsatz</a:t>
            </a:r>
          </a:p>
          <a:p>
            <a:endParaRPr lang="de-DE" sz="1400" dirty="0">
              <a:latin typeface="Arial" panose="020B0604020202020204" pitchFamily="34" charset="0"/>
              <a:cs typeface="Arial" panose="020B0604020202020204" pitchFamily="34" charset="0"/>
            </a:endParaRPr>
          </a:p>
        </p:txBody>
      </p:sp>
      <p:sp>
        <p:nvSpPr>
          <p:cNvPr id="3" name="Rechteck 2">
            <a:extLst>
              <a:ext uri="{FF2B5EF4-FFF2-40B4-BE49-F238E27FC236}">
                <a16:creationId xmlns:a16="http://schemas.microsoft.com/office/drawing/2014/main" id="{DAC22D06-2F44-1D3F-5FF0-1E9A01D139DB}"/>
              </a:ext>
            </a:extLst>
          </p:cNvPr>
          <p:cNvSpPr/>
          <p:nvPr/>
        </p:nvSpPr>
        <p:spPr>
          <a:xfrm>
            <a:off x="1703512"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hteck 3">
            <a:extLst>
              <a:ext uri="{FF2B5EF4-FFF2-40B4-BE49-F238E27FC236}">
                <a16:creationId xmlns:a16="http://schemas.microsoft.com/office/drawing/2014/main" id="{5D56E7AC-9532-89F4-C418-6C59F73B49A0}"/>
              </a:ext>
            </a:extLst>
          </p:cNvPr>
          <p:cNvSpPr/>
          <p:nvPr/>
        </p:nvSpPr>
        <p:spPr>
          <a:xfrm>
            <a:off x="0"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a:extLst>
              <a:ext uri="{FF2B5EF4-FFF2-40B4-BE49-F238E27FC236}">
                <a16:creationId xmlns:a16="http://schemas.microsoft.com/office/drawing/2014/main" id="{10A3E5D7-9AF6-18FC-7844-0038FC6B611B}"/>
              </a:ext>
            </a:extLst>
          </p:cNvPr>
          <p:cNvSpPr/>
          <p:nvPr/>
        </p:nvSpPr>
        <p:spPr>
          <a:xfrm>
            <a:off x="3407024" y="1059816"/>
            <a:ext cx="1703512" cy="333280"/>
          </a:xfrm>
          <a:prstGeom prst="rect">
            <a:avLst/>
          </a:prstGeom>
          <a:solidFill>
            <a:srgbClr val="FFC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Grafik 5">
            <a:extLst>
              <a:ext uri="{FF2B5EF4-FFF2-40B4-BE49-F238E27FC236}">
                <a16:creationId xmlns:a16="http://schemas.microsoft.com/office/drawing/2014/main" id="{B7C9E530-A8F8-C883-A8FC-22442591C09F}"/>
              </a:ext>
            </a:extLst>
          </p:cNvPr>
          <p:cNvPicPr>
            <a:picLocks noChangeAspect="1"/>
          </p:cNvPicPr>
          <p:nvPr/>
        </p:nvPicPr>
        <p:blipFill>
          <a:blip r:embed="rId3"/>
          <a:srcRect b="44444"/>
          <a:stretch/>
        </p:blipFill>
        <p:spPr>
          <a:xfrm>
            <a:off x="6603380" y="2528900"/>
            <a:ext cx="4152221" cy="1800200"/>
          </a:xfrm>
          <a:prstGeom prst="snip2DiagRect">
            <a:avLst>
              <a:gd name="adj1" fmla="val 0"/>
              <a:gd name="adj2" fmla="val 16667"/>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0958761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AFB55E2-8301-E29B-4C06-2EFE723927F4}"/>
            </a:ext>
          </a:extLst>
        </p:cNvPr>
        <p:cNvGrpSpPr/>
        <p:nvPr/>
      </p:nvGrpSpPr>
      <p:grpSpPr>
        <a:xfrm>
          <a:off x="0" y="0"/>
          <a:ext cx="0" cy="0"/>
          <a:chOff x="0" y="0"/>
          <a:chExt cx="0" cy="0"/>
        </a:xfrm>
      </p:grpSpPr>
      <p:sp>
        <p:nvSpPr>
          <p:cNvPr id="43" name="Foliennummernplatzhalter 5">
            <a:extLst>
              <a:ext uri="{FF2B5EF4-FFF2-40B4-BE49-F238E27FC236}">
                <a16:creationId xmlns:a16="http://schemas.microsoft.com/office/drawing/2014/main" id="{2D3272C6-A361-620D-2035-BC3DC9299376}"/>
              </a:ext>
            </a:extLst>
          </p:cNvPr>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11</a:t>
            </a:fld>
            <a:r>
              <a:rPr lang="de-DE">
                <a:latin typeface="Verdana" panose="020B0604030504040204" pitchFamily="34" charset="0"/>
                <a:ea typeface="Verdana" panose="020B0604030504040204" pitchFamily="34" charset="0"/>
                <a:cs typeface="Verdana" panose="020B0604030504040204" pitchFamily="34" charset="0"/>
              </a:rPr>
              <a:t> </a:t>
            </a:r>
          </a:p>
        </p:txBody>
      </p:sp>
      <p:sp>
        <p:nvSpPr>
          <p:cNvPr id="9" name="Titel 1">
            <a:extLst>
              <a:ext uri="{FF2B5EF4-FFF2-40B4-BE49-F238E27FC236}">
                <a16:creationId xmlns:a16="http://schemas.microsoft.com/office/drawing/2014/main" id="{A47C864F-4885-FFE9-ABB8-57D791535F9B}"/>
              </a:ext>
            </a:extLst>
          </p:cNvPr>
          <p:cNvSpPr>
            <a:spLocks noGrp="1"/>
          </p:cNvSpPr>
          <p:nvPr>
            <p:ph type="title"/>
          </p:nvPr>
        </p:nvSpPr>
        <p:spPr>
          <a:xfrm>
            <a:off x="0" y="476672"/>
            <a:ext cx="12192000" cy="576000"/>
          </a:xfrm>
        </p:spPr>
        <p:txBody>
          <a:bodyPr>
            <a:noAutofit/>
          </a:bodyPr>
          <a:lstStyle/>
          <a:p>
            <a:r>
              <a:rPr lang="de-DE" altLang="de-DE" sz="2000" dirty="0">
                <a:latin typeface="Arial" panose="020B0604020202020204" pitchFamily="34" charset="0"/>
                <a:cs typeface="Arial" panose="020B0604020202020204" pitchFamily="34" charset="0"/>
              </a:rPr>
              <a:t>3️⃣ </a:t>
            </a:r>
            <a:r>
              <a:rPr kumimoji="0" lang="de-DE" altLang="de-DE" sz="2000" b="1" i="0" u="none" strike="noStrike" cap="none" normalizeH="0" baseline="0" dirty="0">
                <a:ln>
                  <a:noFill/>
                </a:ln>
                <a:solidFill>
                  <a:schemeClr val="tx1"/>
                </a:solidFill>
                <a:effectLst/>
                <a:latin typeface="Arial" panose="020B0604020202020204" pitchFamily="34" charset="0"/>
              </a:rPr>
              <a:t>Rechtliche und ethische Überlegungen</a:t>
            </a:r>
            <a:endParaRPr lang="de-DE" sz="2400" b="1" dirty="0">
              <a:latin typeface="Arial" panose="020B0604020202020204" pitchFamily="34" charset="0"/>
              <a:ea typeface="Verdana" panose="020B0604030504040204" pitchFamily="34" charset="0"/>
              <a:cs typeface="Arial" panose="020B0604020202020204" pitchFamily="34" charset="0"/>
            </a:endParaRPr>
          </a:p>
        </p:txBody>
      </p:sp>
      <p:sp>
        <p:nvSpPr>
          <p:cNvPr id="2" name="Textfeld 1">
            <a:extLst>
              <a:ext uri="{FF2B5EF4-FFF2-40B4-BE49-F238E27FC236}">
                <a16:creationId xmlns:a16="http://schemas.microsoft.com/office/drawing/2014/main" id="{1FB3DC67-30F5-2C23-D675-8D9B194874AB}"/>
              </a:ext>
            </a:extLst>
          </p:cNvPr>
          <p:cNvSpPr txBox="1"/>
          <p:nvPr/>
        </p:nvSpPr>
        <p:spPr>
          <a:xfrm>
            <a:off x="407368" y="1628800"/>
            <a:ext cx="6196012" cy="3477875"/>
          </a:xfrm>
          <a:prstGeom prst="rect">
            <a:avLst/>
          </a:prstGeom>
          <a:noFill/>
        </p:spPr>
        <p:txBody>
          <a:bodyPr wrap="square">
            <a:spAutoFit/>
          </a:bodyPr>
          <a:lstStyle/>
          <a:p>
            <a:pPr>
              <a:buNone/>
            </a:pPr>
            <a:r>
              <a:rPr lang="de-DE" sz="2400" b="1" dirty="0">
                <a:latin typeface="Arial" panose="020B0604020202020204" pitchFamily="34" charset="0"/>
                <a:cs typeface="Arial" panose="020B0604020202020204" pitchFamily="34" charset="0"/>
              </a:rPr>
              <a:t>Barrierefreiheit und Inklusion</a:t>
            </a:r>
          </a:p>
          <a:p>
            <a:pPr>
              <a:buNone/>
            </a:pPr>
            <a:endParaRPr lang="de-DE" sz="1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b="1" dirty="0">
                <a:latin typeface="Arial" panose="020B0604020202020204" pitchFamily="34" charset="0"/>
                <a:cs typeface="Arial" panose="020B0604020202020204" pitchFamily="34" charset="0"/>
              </a:rPr>
              <a:t>Bedeutung der Audiodeskription</a:t>
            </a:r>
          </a:p>
          <a:p>
            <a:r>
              <a:rPr lang="de-DE" sz="1400" dirty="0">
                <a:latin typeface="Arial" panose="020B0604020202020204" pitchFamily="34" charset="0"/>
                <a:cs typeface="Arial" panose="020B0604020202020204" pitchFamily="34" charset="0"/>
              </a:rPr>
              <a:t>Audiodeskription ermöglicht Menschen mit Sehbehinderungen den Zugang zu visuellen Inhalten, was ihre Teilhabe an verschiedenen Aktivitäten fördert.</a:t>
            </a:r>
          </a:p>
          <a:p>
            <a:pPr lvl="1"/>
            <a:endParaRPr lang="de-DE" sz="1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b="1" dirty="0">
                <a:latin typeface="Arial" panose="020B0604020202020204" pitchFamily="34" charset="0"/>
                <a:cs typeface="Arial" panose="020B0604020202020204" pitchFamily="34" charset="0"/>
              </a:rPr>
              <a:t>Inklusion in Bildung</a:t>
            </a:r>
          </a:p>
          <a:p>
            <a:r>
              <a:rPr lang="de-DE" sz="1400" dirty="0">
                <a:latin typeface="Arial" panose="020B0604020202020204" pitchFamily="34" charset="0"/>
                <a:cs typeface="Arial" panose="020B0604020202020204" pitchFamily="34" charset="0"/>
              </a:rPr>
              <a:t>Durch Audiodeskription wird der Zugang zu Bildungsressourcen für sehbehinderte Personen verbessert, was ihre Integration in das Bildungssystem unterstützt.</a:t>
            </a:r>
          </a:p>
          <a:p>
            <a:pPr lvl="1"/>
            <a:endParaRPr lang="de-DE" sz="1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b="1" dirty="0">
                <a:latin typeface="Arial" panose="020B0604020202020204" pitchFamily="34" charset="0"/>
                <a:cs typeface="Arial" panose="020B0604020202020204" pitchFamily="34" charset="0"/>
              </a:rPr>
              <a:t>Vielfalt und Integration</a:t>
            </a:r>
          </a:p>
          <a:p>
            <a:r>
              <a:rPr lang="de-DE" sz="1400" dirty="0">
                <a:latin typeface="Arial" panose="020B0604020202020204" pitchFamily="34" charset="0"/>
                <a:cs typeface="Arial" panose="020B0604020202020204" pitchFamily="34" charset="0"/>
              </a:rPr>
              <a:t>Eine Gesellschaft, die Barrierefreiheit fördert, ist vielfältiger und inklusiver, was zu einem besseren Zusammenleben führt.</a:t>
            </a:r>
          </a:p>
          <a:p>
            <a:endParaRPr lang="de-DE" sz="1400" dirty="0">
              <a:latin typeface="Arial" panose="020B0604020202020204" pitchFamily="34" charset="0"/>
              <a:cs typeface="Arial" panose="020B0604020202020204" pitchFamily="34" charset="0"/>
            </a:endParaRPr>
          </a:p>
        </p:txBody>
      </p:sp>
      <p:sp>
        <p:nvSpPr>
          <p:cNvPr id="3" name="Rechteck 2">
            <a:extLst>
              <a:ext uri="{FF2B5EF4-FFF2-40B4-BE49-F238E27FC236}">
                <a16:creationId xmlns:a16="http://schemas.microsoft.com/office/drawing/2014/main" id="{31254AA9-07C6-27F8-2DD0-ECE6325D505D}"/>
              </a:ext>
            </a:extLst>
          </p:cNvPr>
          <p:cNvSpPr/>
          <p:nvPr/>
        </p:nvSpPr>
        <p:spPr>
          <a:xfrm>
            <a:off x="1703512"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hteck 3">
            <a:extLst>
              <a:ext uri="{FF2B5EF4-FFF2-40B4-BE49-F238E27FC236}">
                <a16:creationId xmlns:a16="http://schemas.microsoft.com/office/drawing/2014/main" id="{116B9A10-14C6-532E-B0DF-72BDBA3A91E3}"/>
              </a:ext>
            </a:extLst>
          </p:cNvPr>
          <p:cNvSpPr/>
          <p:nvPr/>
        </p:nvSpPr>
        <p:spPr>
          <a:xfrm>
            <a:off x="0"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a:extLst>
              <a:ext uri="{FF2B5EF4-FFF2-40B4-BE49-F238E27FC236}">
                <a16:creationId xmlns:a16="http://schemas.microsoft.com/office/drawing/2014/main" id="{CAF176DD-1C24-A568-A46D-0C69C0F2661D}"/>
              </a:ext>
            </a:extLst>
          </p:cNvPr>
          <p:cNvSpPr/>
          <p:nvPr/>
        </p:nvSpPr>
        <p:spPr>
          <a:xfrm>
            <a:off x="3407024" y="1059816"/>
            <a:ext cx="1703512" cy="333280"/>
          </a:xfrm>
          <a:prstGeom prst="rect">
            <a:avLst/>
          </a:prstGeom>
          <a:solidFill>
            <a:srgbClr val="FFC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a:extLst>
              <a:ext uri="{FF2B5EF4-FFF2-40B4-BE49-F238E27FC236}">
                <a16:creationId xmlns:a16="http://schemas.microsoft.com/office/drawing/2014/main" id="{FA09A1B0-784E-27E5-7180-7EAA147B4F26}"/>
              </a:ext>
            </a:extLst>
          </p:cNvPr>
          <p:cNvSpPr/>
          <p:nvPr/>
        </p:nvSpPr>
        <p:spPr>
          <a:xfrm>
            <a:off x="1703512"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6671760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liennummernplatzhalter 5"/>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12</a:t>
            </a:fld>
            <a:r>
              <a:rPr lang="de-DE">
                <a:latin typeface="Verdana" panose="020B0604030504040204" pitchFamily="34" charset="0"/>
                <a:ea typeface="Verdana" panose="020B0604030504040204" pitchFamily="34" charset="0"/>
                <a:cs typeface="Verdana" panose="020B0604030504040204" pitchFamily="34" charset="0"/>
              </a:rPr>
              <a:t> </a:t>
            </a:r>
          </a:p>
        </p:txBody>
      </p:sp>
      <p:sp>
        <p:nvSpPr>
          <p:cNvPr id="10" name="Titel 1">
            <a:extLst>
              <a:ext uri="{FF2B5EF4-FFF2-40B4-BE49-F238E27FC236}">
                <a16:creationId xmlns:a16="http://schemas.microsoft.com/office/drawing/2014/main" id="{CC429978-3636-4B4A-B4C7-6C0315F97873}"/>
              </a:ext>
            </a:extLst>
          </p:cNvPr>
          <p:cNvSpPr txBox="1">
            <a:spLocks/>
          </p:cNvSpPr>
          <p:nvPr/>
        </p:nvSpPr>
        <p:spPr>
          <a:xfrm>
            <a:off x="0" y="476672"/>
            <a:ext cx="12191998" cy="576000"/>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kumimoji="0" lang="de-DE" altLang="de-DE" sz="2000" i="0" u="none" strike="noStrike" cap="none" normalizeH="0" baseline="0" dirty="0">
                <a:ln>
                  <a:noFill/>
                </a:ln>
                <a:solidFill>
                  <a:schemeClr val="tx1"/>
                </a:solidFill>
                <a:effectLst/>
                <a:latin typeface="Arial" panose="020B0604020202020204" pitchFamily="34" charset="0"/>
              </a:rPr>
              <a:t>4️⃣ </a:t>
            </a:r>
            <a:r>
              <a:rPr kumimoji="0" lang="de-DE" altLang="de-DE" sz="2000" b="1" i="0" u="none" strike="noStrike" cap="none" normalizeH="0" baseline="0" dirty="0">
                <a:ln>
                  <a:noFill/>
                </a:ln>
                <a:solidFill>
                  <a:schemeClr val="tx1"/>
                </a:solidFill>
                <a:effectLst/>
                <a:latin typeface="Arial" panose="020B0604020202020204" pitchFamily="34" charset="0"/>
              </a:rPr>
              <a:t>Anwendung und Praxis</a:t>
            </a:r>
            <a:endParaRPr lang="de-DE" sz="2000" dirty="0">
              <a:latin typeface="Verdana" panose="020B0604030504040204" pitchFamily="34" charset="0"/>
              <a:ea typeface="Verdana" panose="020B0604030504040204" pitchFamily="34" charset="0"/>
              <a:cs typeface="Verdana" panose="020B0604030504040204" pitchFamily="34" charset="0"/>
            </a:endParaRPr>
          </a:p>
        </p:txBody>
      </p:sp>
      <p:sp>
        <p:nvSpPr>
          <p:cNvPr id="2" name="Textfeld 1">
            <a:extLst>
              <a:ext uri="{FF2B5EF4-FFF2-40B4-BE49-F238E27FC236}">
                <a16:creationId xmlns:a16="http://schemas.microsoft.com/office/drawing/2014/main" id="{9E431BF7-E73B-C3F4-DD72-1668BB7C37AA}"/>
              </a:ext>
            </a:extLst>
          </p:cNvPr>
          <p:cNvSpPr txBox="1"/>
          <p:nvPr/>
        </p:nvSpPr>
        <p:spPr>
          <a:xfrm>
            <a:off x="407368" y="1628800"/>
            <a:ext cx="6196012" cy="3262432"/>
          </a:xfrm>
          <a:prstGeom prst="rect">
            <a:avLst/>
          </a:prstGeom>
          <a:noFill/>
        </p:spPr>
        <p:txBody>
          <a:bodyPr wrap="square">
            <a:spAutoFit/>
          </a:bodyPr>
          <a:lstStyle/>
          <a:p>
            <a:r>
              <a:rPr lang="de-DE" sz="2400" b="1" dirty="0">
                <a:latin typeface="Arial" panose="020B0604020202020204" pitchFamily="34" charset="0"/>
                <a:cs typeface="Arial" panose="020B0604020202020204" pitchFamily="34" charset="0"/>
              </a:rPr>
              <a:t>Beispiele aus Film und Fernsehen</a:t>
            </a:r>
          </a:p>
          <a:p>
            <a:pPr>
              <a:buNone/>
            </a:pPr>
            <a:endParaRPr lang="de-DE" sz="1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b="1" dirty="0">
                <a:latin typeface="Arial" panose="020B0604020202020204" pitchFamily="34" charset="0"/>
                <a:cs typeface="Arial" panose="020B0604020202020204" pitchFamily="34" charset="0"/>
              </a:rPr>
              <a:t>ARD</a:t>
            </a:r>
          </a:p>
          <a:p>
            <a:pPr marL="742950" lvl="1" indent="-285750">
              <a:buFont typeface="Arial" panose="020B0604020202020204" pitchFamily="34" charset="0"/>
              <a:buChar char="•"/>
            </a:pPr>
            <a:r>
              <a:rPr lang="de-DE" sz="1400" dirty="0">
                <a:latin typeface="Arial" panose="020B0604020202020204" pitchFamily="34" charset="0"/>
                <a:cs typeface="Arial" panose="020B0604020202020204" pitchFamily="34" charset="0"/>
              </a:rPr>
              <a:t>mehr als 20 Jahre</a:t>
            </a:r>
          </a:p>
          <a:p>
            <a:pPr marL="742950" lvl="1" indent="-285750">
              <a:buFont typeface="Arial" panose="020B0604020202020204" pitchFamily="34" charset="0"/>
              <a:buChar char="•"/>
            </a:pPr>
            <a:r>
              <a:rPr lang="de-DE" sz="1400" dirty="0">
                <a:latin typeface="Arial" panose="020B0604020202020204" pitchFamily="34" charset="0"/>
                <a:cs typeface="Arial" panose="020B0604020202020204" pitchFamily="34" charset="0"/>
              </a:rPr>
              <a:t>mehr als 50% des Hauptprogramms </a:t>
            </a:r>
          </a:p>
          <a:p>
            <a:pPr marL="742950" lvl="1" indent="-285750">
              <a:buFont typeface="Arial" panose="020B0604020202020204" pitchFamily="34" charset="0"/>
              <a:buChar char="•"/>
            </a:pPr>
            <a:endParaRPr lang="de-DE" sz="1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b="1" dirty="0">
                <a:latin typeface="Arial" panose="020B0604020202020204" pitchFamily="34" charset="0"/>
                <a:cs typeface="Arial" panose="020B0604020202020204" pitchFamily="34" charset="0"/>
              </a:rPr>
              <a:t>MDR</a:t>
            </a:r>
          </a:p>
          <a:p>
            <a:pPr marL="742950" lvl="1" indent="-285750">
              <a:buFont typeface="Arial" panose="020B0604020202020204" pitchFamily="34" charset="0"/>
              <a:buChar char="•"/>
            </a:pPr>
            <a:r>
              <a:rPr lang="de-DE" sz="1400" dirty="0">
                <a:latin typeface="Arial" panose="020B0604020202020204" pitchFamily="34" charset="0"/>
                <a:cs typeface="Arial" panose="020B0604020202020204" pitchFamily="34" charset="0"/>
              </a:rPr>
              <a:t>täglich mehr als 5 Stunden </a:t>
            </a:r>
          </a:p>
          <a:p>
            <a:pPr marL="742950" lvl="1" indent="-285750">
              <a:buFont typeface="Arial" panose="020B0604020202020204" pitchFamily="34" charset="0"/>
              <a:buChar char="•"/>
            </a:pPr>
            <a:r>
              <a:rPr lang="de-DE" sz="1400" dirty="0">
                <a:latin typeface="Arial" panose="020B0604020202020204" pitchFamily="34" charset="0"/>
                <a:cs typeface="Arial" panose="020B0604020202020204" pitchFamily="34" charset="0"/>
              </a:rPr>
              <a:t>Kurzfilme zur Entstehung von Hörfilmen</a:t>
            </a:r>
          </a:p>
          <a:p>
            <a:pPr marL="742950" lvl="1" indent="-285750">
              <a:buFont typeface="Arial" panose="020B0604020202020204" pitchFamily="34" charset="0"/>
              <a:buChar char="•"/>
            </a:pPr>
            <a:endParaRPr lang="de-DE" sz="14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endParaRPr lang="de-DE" sz="1400" dirty="0">
              <a:latin typeface="Arial" panose="020B0604020202020204" pitchFamily="34" charset="0"/>
              <a:cs typeface="Arial" panose="020B0604020202020204" pitchFamily="34" charset="0"/>
            </a:endParaRPr>
          </a:p>
          <a:p>
            <a:pPr lvl="1"/>
            <a:r>
              <a:rPr lang="de-DE" sz="1400" u="sng" dirty="0">
                <a:latin typeface="Arial" panose="020B0604020202020204" pitchFamily="34" charset="0"/>
                <a:cs typeface="Arial" panose="020B0604020202020204" pitchFamily="34" charset="0"/>
              </a:rPr>
              <a:t>https://</a:t>
            </a:r>
            <a:r>
              <a:rPr lang="de-DE" sz="1400" u="sng" dirty="0" err="1">
                <a:latin typeface="Arial" panose="020B0604020202020204" pitchFamily="34" charset="0"/>
                <a:cs typeface="Arial" panose="020B0604020202020204" pitchFamily="34" charset="0"/>
              </a:rPr>
              <a:t>www.mdr.de</a:t>
            </a:r>
            <a:r>
              <a:rPr lang="de-DE" sz="1400" u="sng" dirty="0">
                <a:latin typeface="Arial" panose="020B0604020202020204" pitchFamily="34" charset="0"/>
                <a:cs typeface="Arial" panose="020B0604020202020204" pitchFamily="34" charset="0"/>
              </a:rPr>
              <a:t>/</a:t>
            </a:r>
            <a:r>
              <a:rPr lang="de-DE" sz="1400" u="sng" dirty="0" err="1">
                <a:latin typeface="Arial" panose="020B0604020202020204" pitchFamily="34" charset="0"/>
                <a:cs typeface="Arial" panose="020B0604020202020204" pitchFamily="34" charset="0"/>
              </a:rPr>
              <a:t>barrierefreiheit</a:t>
            </a:r>
            <a:r>
              <a:rPr lang="de-DE" sz="1400" u="sng" dirty="0">
                <a:latin typeface="Arial" panose="020B0604020202020204" pitchFamily="34" charset="0"/>
                <a:cs typeface="Arial" panose="020B0604020202020204" pitchFamily="34" charset="0"/>
              </a:rPr>
              <a:t>/</a:t>
            </a:r>
            <a:r>
              <a:rPr lang="de-DE" sz="1400" u="sng" dirty="0" err="1">
                <a:latin typeface="Arial" panose="020B0604020202020204" pitchFamily="34" charset="0"/>
                <a:cs typeface="Arial" panose="020B0604020202020204" pitchFamily="34" charset="0"/>
              </a:rPr>
              <a:t>audiodeskription</a:t>
            </a:r>
            <a:r>
              <a:rPr lang="de-DE" sz="1400" u="sng" dirty="0">
                <a:latin typeface="Arial" panose="020B0604020202020204" pitchFamily="34" charset="0"/>
                <a:cs typeface="Arial" panose="020B0604020202020204" pitchFamily="34" charset="0"/>
              </a:rPr>
              <a:t>/</a:t>
            </a:r>
            <a:r>
              <a:rPr lang="de-DE" sz="1400" u="sng" dirty="0" err="1">
                <a:latin typeface="Arial" panose="020B0604020202020204" pitchFamily="34" charset="0"/>
                <a:cs typeface="Arial" panose="020B0604020202020204" pitchFamily="34" charset="0"/>
              </a:rPr>
              <a:t>index.html</a:t>
            </a:r>
            <a:endParaRPr lang="de-DE" sz="1400" u="sng"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endParaRPr lang="de-DE" sz="1400" dirty="0">
              <a:latin typeface="Arial" panose="020B0604020202020204" pitchFamily="34" charset="0"/>
              <a:cs typeface="Arial" panose="020B0604020202020204" pitchFamily="34" charset="0"/>
            </a:endParaRPr>
          </a:p>
          <a:p>
            <a:pPr marL="742950" lvl="1" indent="-285750">
              <a:buFont typeface="Wingdings" panose="05000000000000000000" pitchFamily="2" charset="2"/>
              <a:buChar char="§"/>
            </a:pPr>
            <a:endParaRPr lang="de-DE" sz="1400" dirty="0">
              <a:latin typeface="Arial" panose="020B0604020202020204" pitchFamily="34" charset="0"/>
              <a:cs typeface="Arial" panose="020B0604020202020204" pitchFamily="34" charset="0"/>
            </a:endParaRPr>
          </a:p>
        </p:txBody>
      </p:sp>
      <p:sp>
        <p:nvSpPr>
          <p:cNvPr id="4" name="Rechteck 3">
            <a:extLst>
              <a:ext uri="{FF2B5EF4-FFF2-40B4-BE49-F238E27FC236}">
                <a16:creationId xmlns:a16="http://schemas.microsoft.com/office/drawing/2014/main" id="{09DE55B0-8B95-1545-F46E-9D6B42DC4F42}"/>
              </a:ext>
            </a:extLst>
          </p:cNvPr>
          <p:cNvSpPr/>
          <p:nvPr/>
        </p:nvSpPr>
        <p:spPr>
          <a:xfrm>
            <a:off x="1703512"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a:extLst>
              <a:ext uri="{FF2B5EF4-FFF2-40B4-BE49-F238E27FC236}">
                <a16:creationId xmlns:a16="http://schemas.microsoft.com/office/drawing/2014/main" id="{D2915039-2F42-76F8-A3C7-3BAAE2CFE89F}"/>
              </a:ext>
            </a:extLst>
          </p:cNvPr>
          <p:cNvSpPr/>
          <p:nvPr/>
        </p:nvSpPr>
        <p:spPr>
          <a:xfrm>
            <a:off x="0"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a:extLst>
              <a:ext uri="{FF2B5EF4-FFF2-40B4-BE49-F238E27FC236}">
                <a16:creationId xmlns:a16="http://schemas.microsoft.com/office/drawing/2014/main" id="{D0B7765D-E50F-D596-AF46-F6CBEDFCD334}"/>
              </a:ext>
            </a:extLst>
          </p:cNvPr>
          <p:cNvSpPr/>
          <p:nvPr/>
        </p:nvSpPr>
        <p:spPr>
          <a:xfrm>
            <a:off x="5110536" y="1059816"/>
            <a:ext cx="1703512" cy="333280"/>
          </a:xfrm>
          <a:prstGeom prst="rect">
            <a:avLst/>
          </a:prstGeom>
          <a:solidFill>
            <a:srgbClr val="FFC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a:extLst>
              <a:ext uri="{FF2B5EF4-FFF2-40B4-BE49-F238E27FC236}">
                <a16:creationId xmlns:a16="http://schemas.microsoft.com/office/drawing/2014/main" id="{1D92E37D-B067-7401-8474-E8810088B49A}"/>
              </a:ext>
            </a:extLst>
          </p:cNvPr>
          <p:cNvSpPr/>
          <p:nvPr/>
        </p:nvSpPr>
        <p:spPr>
          <a:xfrm>
            <a:off x="3407024"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F5374DE-7E74-4A35-5AAF-C55F699A7FD4}"/>
              </a:ext>
            </a:extLst>
          </p:cNvPr>
          <p:cNvPicPr>
            <a:picLocks noChangeAspect="1"/>
          </p:cNvPicPr>
          <p:nvPr/>
        </p:nvPicPr>
        <p:blipFill>
          <a:blip r:embed="rId3"/>
          <a:stretch>
            <a:fillRect/>
          </a:stretch>
        </p:blipFill>
        <p:spPr>
          <a:xfrm>
            <a:off x="7248128" y="1628800"/>
            <a:ext cx="4164527" cy="3232300"/>
          </a:xfrm>
          <a:prstGeom prst="rect">
            <a:avLst/>
          </a:prstGeom>
        </p:spPr>
      </p:pic>
      <p:sp>
        <p:nvSpPr>
          <p:cNvPr id="9" name="Rechteck 8">
            <a:extLst>
              <a:ext uri="{FF2B5EF4-FFF2-40B4-BE49-F238E27FC236}">
                <a16:creationId xmlns:a16="http://schemas.microsoft.com/office/drawing/2014/main" id="{3F3AD76D-CD81-7EA8-CA6F-C9B4DDEF6D8D}"/>
              </a:ext>
            </a:extLst>
          </p:cNvPr>
          <p:cNvSpPr/>
          <p:nvPr/>
        </p:nvSpPr>
        <p:spPr>
          <a:xfrm>
            <a:off x="7680176" y="3573016"/>
            <a:ext cx="1152128" cy="21602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a:extLst>
              <a:ext uri="{FF2B5EF4-FFF2-40B4-BE49-F238E27FC236}">
                <a16:creationId xmlns:a16="http://schemas.microsoft.com/office/drawing/2014/main" id="{33936900-BDAC-5939-97A1-6798B4DDEE59}"/>
              </a:ext>
            </a:extLst>
          </p:cNvPr>
          <p:cNvSpPr/>
          <p:nvPr/>
        </p:nvSpPr>
        <p:spPr>
          <a:xfrm>
            <a:off x="8802166" y="4509120"/>
            <a:ext cx="144016" cy="16666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0426592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00D09-1907-F18C-BAAE-AC70C283E480}"/>
            </a:ext>
          </a:extLst>
        </p:cNvPr>
        <p:cNvGrpSpPr/>
        <p:nvPr/>
      </p:nvGrpSpPr>
      <p:grpSpPr>
        <a:xfrm>
          <a:off x="0" y="0"/>
          <a:ext cx="0" cy="0"/>
          <a:chOff x="0" y="0"/>
          <a:chExt cx="0" cy="0"/>
        </a:xfrm>
      </p:grpSpPr>
      <p:sp>
        <p:nvSpPr>
          <p:cNvPr id="43" name="Foliennummernplatzhalter 5">
            <a:extLst>
              <a:ext uri="{FF2B5EF4-FFF2-40B4-BE49-F238E27FC236}">
                <a16:creationId xmlns:a16="http://schemas.microsoft.com/office/drawing/2014/main" id="{F7255722-9550-B2C9-9155-18B5A200E0C3}"/>
              </a:ext>
            </a:extLst>
          </p:cNvPr>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13</a:t>
            </a:fld>
            <a:r>
              <a:rPr lang="de-DE">
                <a:latin typeface="Verdana" panose="020B0604030504040204" pitchFamily="34" charset="0"/>
                <a:ea typeface="Verdana" panose="020B0604030504040204" pitchFamily="34" charset="0"/>
                <a:cs typeface="Verdana" panose="020B0604030504040204" pitchFamily="34" charset="0"/>
              </a:rPr>
              <a:t> </a:t>
            </a:r>
          </a:p>
        </p:txBody>
      </p:sp>
      <p:sp>
        <p:nvSpPr>
          <p:cNvPr id="10" name="Titel 1">
            <a:extLst>
              <a:ext uri="{FF2B5EF4-FFF2-40B4-BE49-F238E27FC236}">
                <a16:creationId xmlns:a16="http://schemas.microsoft.com/office/drawing/2014/main" id="{F844E3AC-E313-D51B-0927-37947E8EE113}"/>
              </a:ext>
            </a:extLst>
          </p:cNvPr>
          <p:cNvSpPr txBox="1">
            <a:spLocks/>
          </p:cNvSpPr>
          <p:nvPr/>
        </p:nvSpPr>
        <p:spPr>
          <a:xfrm>
            <a:off x="0" y="476672"/>
            <a:ext cx="12191998" cy="576000"/>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kumimoji="0" lang="de-DE" altLang="de-DE" sz="2000" i="0" u="none" strike="noStrike" cap="none" normalizeH="0" baseline="0" dirty="0">
                <a:ln>
                  <a:noFill/>
                </a:ln>
                <a:solidFill>
                  <a:schemeClr val="tx1"/>
                </a:solidFill>
                <a:effectLst/>
                <a:latin typeface="Arial" panose="020B0604020202020204" pitchFamily="34" charset="0"/>
              </a:rPr>
              <a:t>4️⃣ </a:t>
            </a:r>
            <a:r>
              <a:rPr kumimoji="0" lang="de-DE" altLang="de-DE" sz="2000" b="1" i="0" u="none" strike="noStrike" cap="none" normalizeH="0" baseline="0" dirty="0">
                <a:ln>
                  <a:noFill/>
                </a:ln>
                <a:solidFill>
                  <a:schemeClr val="tx1"/>
                </a:solidFill>
                <a:effectLst/>
                <a:latin typeface="Arial" panose="020B0604020202020204" pitchFamily="34" charset="0"/>
              </a:rPr>
              <a:t>Anwendung und Praxis</a:t>
            </a:r>
            <a:endParaRPr lang="de-DE" sz="2000" dirty="0">
              <a:latin typeface="Verdana" panose="020B0604030504040204" pitchFamily="34" charset="0"/>
              <a:ea typeface="Verdana" panose="020B0604030504040204" pitchFamily="34" charset="0"/>
              <a:cs typeface="Verdana" panose="020B0604030504040204" pitchFamily="34" charset="0"/>
            </a:endParaRPr>
          </a:p>
        </p:txBody>
      </p:sp>
      <p:sp>
        <p:nvSpPr>
          <p:cNvPr id="2" name="Textfeld 1">
            <a:extLst>
              <a:ext uri="{FF2B5EF4-FFF2-40B4-BE49-F238E27FC236}">
                <a16:creationId xmlns:a16="http://schemas.microsoft.com/office/drawing/2014/main" id="{76D1A558-3DC7-3409-39F2-6407078DE1CA}"/>
              </a:ext>
            </a:extLst>
          </p:cNvPr>
          <p:cNvSpPr txBox="1"/>
          <p:nvPr/>
        </p:nvSpPr>
        <p:spPr>
          <a:xfrm>
            <a:off x="407368" y="1628800"/>
            <a:ext cx="6196012" cy="2616101"/>
          </a:xfrm>
          <a:prstGeom prst="rect">
            <a:avLst/>
          </a:prstGeom>
          <a:noFill/>
        </p:spPr>
        <p:txBody>
          <a:bodyPr wrap="square">
            <a:spAutoFit/>
          </a:bodyPr>
          <a:lstStyle/>
          <a:p>
            <a:r>
              <a:rPr lang="de-DE" sz="2400" b="1" dirty="0">
                <a:latin typeface="Arial" panose="020B0604020202020204" pitchFamily="34" charset="0"/>
                <a:cs typeface="Arial" panose="020B0604020202020204" pitchFamily="34" charset="0"/>
              </a:rPr>
              <a:t>Audiodeskription in Live-Events</a:t>
            </a:r>
          </a:p>
          <a:p>
            <a:endParaRPr lang="de-DE"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de-DE" sz="1400" b="1" dirty="0">
                <a:latin typeface="Arial" panose="020B0604020202020204" pitchFamily="34" charset="0"/>
                <a:cs typeface="Arial" panose="020B0604020202020204" pitchFamily="34" charset="0"/>
              </a:rPr>
              <a:t>Live-Audiodeskription</a:t>
            </a:r>
          </a:p>
          <a:p>
            <a:pPr marL="285750" indent="-285750">
              <a:buFont typeface="Arial" panose="020B0604020202020204" pitchFamily="34" charset="0"/>
              <a:buChar char="•"/>
            </a:pPr>
            <a:endParaRPr lang="de-DE" sz="14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de-DE" sz="1400" b="1" dirty="0">
                <a:latin typeface="Arial" panose="020B0604020202020204" pitchFamily="34" charset="0"/>
                <a:cs typeface="Arial" panose="020B0604020202020204" pitchFamily="34" charset="0"/>
              </a:rPr>
              <a:t>Taktile Bühnenführungen</a:t>
            </a:r>
          </a:p>
          <a:p>
            <a:pPr marL="285750" indent="-285750">
              <a:buFont typeface="Arial" panose="020B0604020202020204" pitchFamily="34" charset="0"/>
              <a:buChar char="•"/>
            </a:pPr>
            <a:endParaRPr lang="de-DE" sz="14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de-DE" sz="1400" b="1" dirty="0">
                <a:latin typeface="Arial" panose="020B0604020202020204" pitchFamily="34" charset="0"/>
                <a:cs typeface="Arial" panose="020B0604020202020204" pitchFamily="34" charset="0"/>
              </a:rPr>
              <a:t>Technik &amp; Platzierung</a:t>
            </a:r>
          </a:p>
          <a:p>
            <a:pPr marL="285750" indent="-285750">
              <a:buFont typeface="Arial" panose="020B0604020202020204" pitchFamily="34" charset="0"/>
              <a:buChar char="•"/>
            </a:pPr>
            <a:endParaRPr lang="de-DE" sz="14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de-DE" sz="1400" b="1" dirty="0">
                <a:latin typeface="Arial" panose="020B0604020202020204" pitchFamily="34" charset="0"/>
                <a:cs typeface="Arial" panose="020B0604020202020204" pitchFamily="34" charset="0"/>
              </a:rPr>
              <a:t>Vorproduktion möglich</a:t>
            </a:r>
          </a:p>
          <a:p>
            <a:pPr marL="285750" indent="-285750">
              <a:buFont typeface="Arial" panose="020B0604020202020204" pitchFamily="34" charset="0"/>
              <a:buChar char="•"/>
            </a:pPr>
            <a:endParaRPr lang="de-DE" sz="14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de-DE" sz="1400" b="1" dirty="0">
                <a:latin typeface="Arial" panose="020B0604020202020204" pitchFamily="34" charset="0"/>
                <a:cs typeface="Arial" panose="020B0604020202020204" pitchFamily="34" charset="0"/>
              </a:rPr>
              <a:t>Inklusion &amp; Information</a:t>
            </a:r>
          </a:p>
        </p:txBody>
      </p:sp>
      <p:sp>
        <p:nvSpPr>
          <p:cNvPr id="3" name="Rechteck 2">
            <a:extLst>
              <a:ext uri="{FF2B5EF4-FFF2-40B4-BE49-F238E27FC236}">
                <a16:creationId xmlns:a16="http://schemas.microsoft.com/office/drawing/2014/main" id="{EA9ABDE4-50DB-968B-AD98-29DD33176DCB}"/>
              </a:ext>
            </a:extLst>
          </p:cNvPr>
          <p:cNvSpPr/>
          <p:nvPr/>
        </p:nvSpPr>
        <p:spPr>
          <a:xfrm>
            <a:off x="1703512"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hteck 3">
            <a:extLst>
              <a:ext uri="{FF2B5EF4-FFF2-40B4-BE49-F238E27FC236}">
                <a16:creationId xmlns:a16="http://schemas.microsoft.com/office/drawing/2014/main" id="{5BA6387A-5E21-4B5E-E546-8AC8114CA8F7}"/>
              </a:ext>
            </a:extLst>
          </p:cNvPr>
          <p:cNvSpPr/>
          <p:nvPr/>
        </p:nvSpPr>
        <p:spPr>
          <a:xfrm>
            <a:off x="0"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a:extLst>
              <a:ext uri="{FF2B5EF4-FFF2-40B4-BE49-F238E27FC236}">
                <a16:creationId xmlns:a16="http://schemas.microsoft.com/office/drawing/2014/main" id="{2FEABCBA-AA80-92E7-4E49-36636B434D23}"/>
              </a:ext>
            </a:extLst>
          </p:cNvPr>
          <p:cNvSpPr/>
          <p:nvPr/>
        </p:nvSpPr>
        <p:spPr>
          <a:xfrm>
            <a:off x="5110536" y="1059816"/>
            <a:ext cx="1703512" cy="333280"/>
          </a:xfrm>
          <a:prstGeom prst="rect">
            <a:avLst/>
          </a:prstGeom>
          <a:solidFill>
            <a:srgbClr val="FFC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a:extLst>
              <a:ext uri="{FF2B5EF4-FFF2-40B4-BE49-F238E27FC236}">
                <a16:creationId xmlns:a16="http://schemas.microsoft.com/office/drawing/2014/main" id="{93B66032-F66A-8D0E-B3BE-F74B213EC07A}"/>
              </a:ext>
            </a:extLst>
          </p:cNvPr>
          <p:cNvSpPr/>
          <p:nvPr/>
        </p:nvSpPr>
        <p:spPr>
          <a:xfrm>
            <a:off x="3407024"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2847125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04470-E07D-6125-F48C-7F724B01A206}"/>
            </a:ext>
          </a:extLst>
        </p:cNvPr>
        <p:cNvGrpSpPr/>
        <p:nvPr/>
      </p:nvGrpSpPr>
      <p:grpSpPr>
        <a:xfrm>
          <a:off x="0" y="0"/>
          <a:ext cx="0" cy="0"/>
          <a:chOff x="0" y="0"/>
          <a:chExt cx="0" cy="0"/>
        </a:xfrm>
      </p:grpSpPr>
      <p:sp>
        <p:nvSpPr>
          <p:cNvPr id="43" name="Foliennummernplatzhalter 5">
            <a:extLst>
              <a:ext uri="{FF2B5EF4-FFF2-40B4-BE49-F238E27FC236}">
                <a16:creationId xmlns:a16="http://schemas.microsoft.com/office/drawing/2014/main" id="{4E46FE5B-D016-8729-3915-DFFB9D5EF0CE}"/>
              </a:ext>
            </a:extLst>
          </p:cNvPr>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14</a:t>
            </a:fld>
            <a:r>
              <a:rPr lang="de-DE">
                <a:latin typeface="Verdana" panose="020B0604030504040204" pitchFamily="34" charset="0"/>
                <a:ea typeface="Verdana" panose="020B0604030504040204" pitchFamily="34" charset="0"/>
                <a:cs typeface="Verdana" panose="020B0604030504040204" pitchFamily="34" charset="0"/>
              </a:rPr>
              <a:t> </a:t>
            </a:r>
          </a:p>
        </p:txBody>
      </p:sp>
      <p:sp>
        <p:nvSpPr>
          <p:cNvPr id="10" name="Titel 1">
            <a:extLst>
              <a:ext uri="{FF2B5EF4-FFF2-40B4-BE49-F238E27FC236}">
                <a16:creationId xmlns:a16="http://schemas.microsoft.com/office/drawing/2014/main" id="{6280E472-E8C1-F59B-C57C-C3E83CEB9786}"/>
              </a:ext>
            </a:extLst>
          </p:cNvPr>
          <p:cNvSpPr txBox="1">
            <a:spLocks/>
          </p:cNvSpPr>
          <p:nvPr/>
        </p:nvSpPr>
        <p:spPr>
          <a:xfrm>
            <a:off x="0" y="476672"/>
            <a:ext cx="12191998" cy="576000"/>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r>
              <a:rPr kumimoji="0" lang="de-DE" altLang="de-DE" sz="2000" i="0" u="none" strike="noStrike" cap="none" normalizeH="0" baseline="0" dirty="0">
                <a:ln>
                  <a:noFill/>
                </a:ln>
                <a:solidFill>
                  <a:schemeClr val="tx1"/>
                </a:solidFill>
                <a:effectLst/>
                <a:latin typeface="Arial" panose="020B0604020202020204" pitchFamily="34" charset="0"/>
              </a:rPr>
              <a:t>4️⃣ </a:t>
            </a:r>
            <a:r>
              <a:rPr kumimoji="0" lang="de-DE" altLang="de-DE" sz="2000" b="1" i="0" u="none" strike="noStrike" cap="none" normalizeH="0" baseline="0" dirty="0">
                <a:ln>
                  <a:noFill/>
                </a:ln>
                <a:solidFill>
                  <a:schemeClr val="tx1"/>
                </a:solidFill>
                <a:effectLst/>
                <a:latin typeface="Arial" panose="020B0604020202020204" pitchFamily="34" charset="0"/>
              </a:rPr>
              <a:t>Anwendung und Praxis</a:t>
            </a:r>
            <a:endParaRPr lang="de-DE" sz="2000" dirty="0">
              <a:latin typeface="Verdana" panose="020B0604030504040204" pitchFamily="34" charset="0"/>
              <a:ea typeface="Verdana" panose="020B0604030504040204" pitchFamily="34" charset="0"/>
              <a:cs typeface="Verdana" panose="020B0604030504040204" pitchFamily="34" charset="0"/>
            </a:endParaRPr>
          </a:p>
        </p:txBody>
      </p:sp>
      <p:sp>
        <p:nvSpPr>
          <p:cNvPr id="2" name="Textfeld 1">
            <a:extLst>
              <a:ext uri="{FF2B5EF4-FFF2-40B4-BE49-F238E27FC236}">
                <a16:creationId xmlns:a16="http://schemas.microsoft.com/office/drawing/2014/main" id="{F2C9D92B-8D58-412F-8EBB-D373F04FBCC9}"/>
              </a:ext>
            </a:extLst>
          </p:cNvPr>
          <p:cNvSpPr txBox="1"/>
          <p:nvPr/>
        </p:nvSpPr>
        <p:spPr>
          <a:xfrm>
            <a:off x="407368" y="1628800"/>
            <a:ext cx="6196012" cy="2400657"/>
          </a:xfrm>
          <a:prstGeom prst="rect">
            <a:avLst/>
          </a:prstGeom>
          <a:noFill/>
        </p:spPr>
        <p:txBody>
          <a:bodyPr wrap="square">
            <a:spAutoFit/>
          </a:bodyPr>
          <a:lstStyle/>
          <a:p>
            <a:r>
              <a:rPr lang="de-DE" sz="2400" b="1" dirty="0">
                <a:latin typeface="Arial" panose="020B0604020202020204" pitchFamily="34" charset="0"/>
                <a:cs typeface="Arial" panose="020B0604020202020204" pitchFamily="34" charset="0"/>
              </a:rPr>
              <a:t>Audiodeskription ansonsten</a:t>
            </a:r>
          </a:p>
          <a:p>
            <a:endParaRPr lang="de-DE" sz="1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b="1" dirty="0">
                <a:latin typeface="Arial" panose="020B0604020202020204" pitchFamily="34" charset="0"/>
                <a:cs typeface="Arial" panose="020B0604020202020204" pitchFamily="34" charset="0"/>
              </a:rPr>
              <a:t>Streaming-Plattformen (Netflix, Disney+, Amazon Prime etc.)</a:t>
            </a:r>
          </a:p>
          <a:p>
            <a:pPr marL="742950" lvl="1" indent="-285750">
              <a:buFont typeface="Arial" panose="020B0604020202020204" pitchFamily="34" charset="0"/>
              <a:buChar char="•"/>
            </a:pPr>
            <a:r>
              <a:rPr lang="de-DE" sz="1400" dirty="0">
                <a:latin typeface="Arial" panose="020B0604020202020204" pitchFamily="34" charset="0"/>
                <a:cs typeface="Arial" panose="020B0604020202020204" pitchFamily="34" charset="0"/>
              </a:rPr>
              <a:t>bei den meisten Originalen</a:t>
            </a:r>
          </a:p>
          <a:p>
            <a:pPr marL="742950" lvl="1" indent="-285750">
              <a:buFont typeface="Arial" panose="020B0604020202020204" pitchFamily="34" charset="0"/>
              <a:buChar char="•"/>
            </a:pPr>
            <a:r>
              <a:rPr lang="de-DE" sz="1400" dirty="0">
                <a:latin typeface="Arial" panose="020B0604020202020204" pitchFamily="34" charset="0"/>
                <a:cs typeface="Arial" panose="020B0604020202020204" pitchFamily="34" charset="0"/>
              </a:rPr>
              <a:t>in Originalsprache</a:t>
            </a:r>
          </a:p>
          <a:p>
            <a:pPr lvl="1"/>
            <a:endParaRPr lang="de-DE" sz="1400"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
            </a:pPr>
            <a:r>
              <a:rPr lang="de-DE" sz="1400" b="1" dirty="0">
                <a:latin typeface="Arial" panose="020B0604020202020204" pitchFamily="34" charset="0"/>
                <a:cs typeface="Arial" panose="020B0604020202020204" pitchFamily="34" charset="0"/>
              </a:rPr>
              <a:t>Soziale Medien (Instagram, TikTok etc.)</a:t>
            </a:r>
          </a:p>
          <a:p>
            <a:pPr marL="742950" lvl="1" indent="-285750">
              <a:buFont typeface="Arial" panose="020B0604020202020204" pitchFamily="34" charset="0"/>
              <a:buChar char="•"/>
            </a:pPr>
            <a:r>
              <a:rPr lang="de-DE" sz="1400" dirty="0">
                <a:latin typeface="Arial" panose="020B0604020202020204" pitchFamily="34" charset="0"/>
                <a:cs typeface="Arial" panose="020B0604020202020204" pitchFamily="34" charset="0"/>
              </a:rPr>
              <a:t>eigentlich nicht vorhanden</a:t>
            </a:r>
          </a:p>
          <a:p>
            <a:pPr marL="742950" lvl="1" indent="-285750">
              <a:buFont typeface="Arial" panose="020B0604020202020204" pitchFamily="34" charset="0"/>
              <a:buChar char="•"/>
            </a:pPr>
            <a:r>
              <a:rPr lang="de-DE" sz="1400" dirty="0">
                <a:latin typeface="Arial" panose="020B0604020202020204" pitchFamily="34" charset="0"/>
                <a:cs typeface="Arial" panose="020B0604020202020204" pitchFamily="34" charset="0"/>
              </a:rPr>
              <a:t>große Chance für KI-Tool</a:t>
            </a:r>
          </a:p>
          <a:p>
            <a:pPr lvl="1"/>
            <a:endParaRPr lang="de-DE" sz="1400" dirty="0">
              <a:latin typeface="Arial" panose="020B0604020202020204" pitchFamily="34" charset="0"/>
              <a:cs typeface="Arial" panose="020B0604020202020204" pitchFamily="34" charset="0"/>
            </a:endParaRPr>
          </a:p>
        </p:txBody>
      </p:sp>
      <p:sp>
        <p:nvSpPr>
          <p:cNvPr id="3" name="Rechteck 2">
            <a:extLst>
              <a:ext uri="{FF2B5EF4-FFF2-40B4-BE49-F238E27FC236}">
                <a16:creationId xmlns:a16="http://schemas.microsoft.com/office/drawing/2014/main" id="{EB15E243-F4E1-7315-03CA-67AA0F86EB12}"/>
              </a:ext>
            </a:extLst>
          </p:cNvPr>
          <p:cNvSpPr/>
          <p:nvPr/>
        </p:nvSpPr>
        <p:spPr>
          <a:xfrm>
            <a:off x="1703512"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hteck 3">
            <a:extLst>
              <a:ext uri="{FF2B5EF4-FFF2-40B4-BE49-F238E27FC236}">
                <a16:creationId xmlns:a16="http://schemas.microsoft.com/office/drawing/2014/main" id="{15042AD7-525D-8060-A881-3993E6AA2D2B}"/>
              </a:ext>
            </a:extLst>
          </p:cNvPr>
          <p:cNvSpPr/>
          <p:nvPr/>
        </p:nvSpPr>
        <p:spPr>
          <a:xfrm>
            <a:off x="0"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a:extLst>
              <a:ext uri="{FF2B5EF4-FFF2-40B4-BE49-F238E27FC236}">
                <a16:creationId xmlns:a16="http://schemas.microsoft.com/office/drawing/2014/main" id="{A10C15C8-83B4-0469-9171-2FBA7923A60A}"/>
              </a:ext>
            </a:extLst>
          </p:cNvPr>
          <p:cNvSpPr/>
          <p:nvPr/>
        </p:nvSpPr>
        <p:spPr>
          <a:xfrm>
            <a:off x="5110536" y="1059816"/>
            <a:ext cx="1703512" cy="333280"/>
          </a:xfrm>
          <a:prstGeom prst="rect">
            <a:avLst/>
          </a:prstGeom>
          <a:solidFill>
            <a:srgbClr val="FFC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a:extLst>
              <a:ext uri="{FF2B5EF4-FFF2-40B4-BE49-F238E27FC236}">
                <a16:creationId xmlns:a16="http://schemas.microsoft.com/office/drawing/2014/main" id="{A7E80D92-5A27-D854-929C-D9A02B2346C5}"/>
              </a:ext>
            </a:extLst>
          </p:cNvPr>
          <p:cNvSpPr/>
          <p:nvPr/>
        </p:nvSpPr>
        <p:spPr>
          <a:xfrm>
            <a:off x="3407024"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a:extLst>
              <a:ext uri="{FF2B5EF4-FFF2-40B4-BE49-F238E27FC236}">
                <a16:creationId xmlns:a16="http://schemas.microsoft.com/office/drawing/2014/main" id="{0990C714-B1AE-0816-3927-1CA12A03A465}"/>
              </a:ext>
            </a:extLst>
          </p:cNvPr>
          <p:cNvSpPr/>
          <p:nvPr/>
        </p:nvSpPr>
        <p:spPr>
          <a:xfrm>
            <a:off x="3407024"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26" name="Picture 2" descr="Die wichtigsten Streaming-Anbieter im Vergleich | Streaming Guide">
            <a:extLst>
              <a:ext uri="{FF2B5EF4-FFF2-40B4-BE49-F238E27FC236}">
                <a16:creationId xmlns:a16="http://schemas.microsoft.com/office/drawing/2014/main" id="{E5A006EE-B688-2D02-85BF-D73F111EDD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6160" y="1762328"/>
            <a:ext cx="3350751" cy="188269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pic>
        <p:nvPicPr>
          <p:cNvPr id="1028" name="Picture 4" descr="Soziale Netzwerke | bpb.de">
            <a:extLst>
              <a:ext uri="{FF2B5EF4-FFF2-40B4-BE49-F238E27FC236}">
                <a16:creationId xmlns:a16="http://schemas.microsoft.com/office/drawing/2014/main" id="{8730F1BE-0922-A987-8F28-6354FF14CA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2216" y="4341293"/>
            <a:ext cx="2138638" cy="1224136"/>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15888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liennummernplatzhalter 5"/>
          <p:cNvSpPr>
            <a:spLocks noGrp="1"/>
          </p:cNvSpPr>
          <p:nvPr>
            <p:ph type="sldNum" sz="quarter" idx="12"/>
          </p:nvPr>
        </p:nvSpPr>
        <p:spPr>
          <a:xfrm>
            <a:off x="8832304" y="0"/>
            <a:ext cx="1628432" cy="368032"/>
          </a:xfrm>
        </p:spPr>
        <p:txBody>
          <a:bodyPr/>
          <a:lstStyle/>
          <a:p>
            <a:r>
              <a:rPr lang="de-DE">
                <a:latin typeface="Verdana" panose="020B0604030504040204" pitchFamily="34" charset="0"/>
                <a:ea typeface="Verdana" panose="020B0604030504040204" pitchFamily="34" charset="0"/>
                <a:cs typeface="Verdana" panose="020B0604030504040204" pitchFamily="34" charset="0"/>
              </a:rPr>
              <a:t>Seite </a:t>
            </a:r>
            <a:fld id="{538D1101-B71C-42C1-B823-1158DE9643FE}" type="slidenum">
              <a:rPr lang="de-DE" smtClean="0">
                <a:latin typeface="Verdana" panose="020B0604030504040204" pitchFamily="34" charset="0"/>
                <a:ea typeface="Verdana" panose="020B0604030504040204" pitchFamily="34" charset="0"/>
                <a:cs typeface="Verdana" panose="020B0604030504040204" pitchFamily="34" charset="0"/>
              </a:rPr>
              <a:t>15</a:t>
            </a:fld>
            <a:r>
              <a:rPr lang="de-DE">
                <a:latin typeface="Verdana" panose="020B0604030504040204" pitchFamily="34" charset="0"/>
                <a:ea typeface="Verdana" panose="020B0604030504040204" pitchFamily="34" charset="0"/>
                <a:cs typeface="Verdana" panose="020B0604030504040204" pitchFamily="34" charset="0"/>
              </a:rPr>
              <a:t> </a:t>
            </a:r>
          </a:p>
        </p:txBody>
      </p:sp>
      <p:sp>
        <p:nvSpPr>
          <p:cNvPr id="10" name="Titel 1">
            <a:extLst>
              <a:ext uri="{FF2B5EF4-FFF2-40B4-BE49-F238E27FC236}">
                <a16:creationId xmlns:a16="http://schemas.microsoft.com/office/drawing/2014/main" id="{CC429978-3636-4B4A-B4C7-6C0315F97873}"/>
              </a:ext>
            </a:extLst>
          </p:cNvPr>
          <p:cNvSpPr txBox="1">
            <a:spLocks/>
          </p:cNvSpPr>
          <p:nvPr/>
        </p:nvSpPr>
        <p:spPr>
          <a:xfrm>
            <a:off x="4403812" y="3419548"/>
            <a:ext cx="3384376" cy="504056"/>
          </a:xfrm>
          <a:prstGeom prst="rect">
            <a:avLst/>
          </a:prstGeom>
        </p:spPr>
        <p:txBody>
          <a:bodyPr vert="horz" anchor="ctr">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a:buNone/>
            </a:pPr>
            <a:r>
              <a:rPr lang="de-DE" sz="2000" dirty="0">
                <a:latin typeface="Arial" panose="020B0604020202020204" pitchFamily="34" charset="0"/>
                <a:cs typeface="Arial" panose="020B0604020202020204" pitchFamily="34" charset="0"/>
              </a:rPr>
              <a:t>5️⃣ </a:t>
            </a:r>
            <a:r>
              <a:rPr kumimoji="0" lang="de-DE" altLang="de-DE" sz="2000" b="1" i="0" u="none" strike="noStrike" cap="none" normalizeH="0" baseline="0" dirty="0">
                <a:ln>
                  <a:noFill/>
                </a:ln>
                <a:solidFill>
                  <a:schemeClr val="tx1"/>
                </a:solidFill>
                <a:effectLst/>
                <a:latin typeface="Arial" panose="020B0604020202020204" pitchFamily="34" charset="0"/>
              </a:rPr>
              <a:t>Fragen &amp; Anmerkungen</a:t>
            </a:r>
            <a:endParaRPr lang="de-DE" sz="2000" b="1" dirty="0">
              <a:latin typeface="Arial" panose="020B0604020202020204" pitchFamily="34" charset="0"/>
              <a:cs typeface="Arial" panose="020B0604020202020204" pitchFamily="34" charset="0"/>
            </a:endParaRPr>
          </a:p>
        </p:txBody>
      </p:sp>
      <p:sp>
        <p:nvSpPr>
          <p:cNvPr id="3" name="Rechteck 2">
            <a:extLst>
              <a:ext uri="{FF2B5EF4-FFF2-40B4-BE49-F238E27FC236}">
                <a16:creationId xmlns:a16="http://schemas.microsoft.com/office/drawing/2014/main" id="{6808D41E-A78E-E684-9C0C-14777A6C4FF9}"/>
              </a:ext>
            </a:extLst>
          </p:cNvPr>
          <p:cNvSpPr/>
          <p:nvPr/>
        </p:nvSpPr>
        <p:spPr>
          <a:xfrm>
            <a:off x="1703512"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hteck 3">
            <a:extLst>
              <a:ext uri="{FF2B5EF4-FFF2-40B4-BE49-F238E27FC236}">
                <a16:creationId xmlns:a16="http://schemas.microsoft.com/office/drawing/2014/main" id="{3D5DEDBD-CAA2-3C2C-A043-7257AD005932}"/>
              </a:ext>
            </a:extLst>
          </p:cNvPr>
          <p:cNvSpPr/>
          <p:nvPr/>
        </p:nvSpPr>
        <p:spPr>
          <a:xfrm>
            <a:off x="0"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a:extLst>
              <a:ext uri="{FF2B5EF4-FFF2-40B4-BE49-F238E27FC236}">
                <a16:creationId xmlns:a16="http://schemas.microsoft.com/office/drawing/2014/main" id="{08DF381A-E62B-03BC-62A9-9C059FD794FD}"/>
              </a:ext>
            </a:extLst>
          </p:cNvPr>
          <p:cNvSpPr/>
          <p:nvPr/>
        </p:nvSpPr>
        <p:spPr>
          <a:xfrm>
            <a:off x="5110536"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a:extLst>
              <a:ext uri="{FF2B5EF4-FFF2-40B4-BE49-F238E27FC236}">
                <a16:creationId xmlns:a16="http://schemas.microsoft.com/office/drawing/2014/main" id="{6914CD49-22ED-47F6-4A75-4CC591DF9A97}"/>
              </a:ext>
            </a:extLst>
          </p:cNvPr>
          <p:cNvSpPr/>
          <p:nvPr/>
        </p:nvSpPr>
        <p:spPr>
          <a:xfrm>
            <a:off x="6814048" y="1059816"/>
            <a:ext cx="1703512" cy="333280"/>
          </a:xfrm>
          <a:prstGeom prst="rect">
            <a:avLst/>
          </a:prstGeom>
          <a:solidFill>
            <a:srgbClr val="FFC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a:extLst>
              <a:ext uri="{FF2B5EF4-FFF2-40B4-BE49-F238E27FC236}">
                <a16:creationId xmlns:a16="http://schemas.microsoft.com/office/drawing/2014/main" id="{39B93ABF-2A06-5B14-8918-BD849EB2D25A}"/>
              </a:ext>
            </a:extLst>
          </p:cNvPr>
          <p:cNvSpPr/>
          <p:nvPr/>
        </p:nvSpPr>
        <p:spPr>
          <a:xfrm>
            <a:off x="3407024" y="1059816"/>
            <a:ext cx="1703512" cy="333280"/>
          </a:xfrm>
          <a:prstGeom prst="rect">
            <a:avLst/>
          </a:prstGeom>
          <a:solidFill>
            <a:srgbClr val="42808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7774355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Rhea">
  <a:themeElements>
    <a:clrScheme name="Rhea">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Rhea">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Rhea">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0</TotalTime>
  <Words>2655</Words>
  <Application>Microsoft Macintosh PowerPoint</Application>
  <PresentationFormat>Breitbild</PresentationFormat>
  <Paragraphs>311</Paragraphs>
  <Slides>15</Slides>
  <Notes>13</Notes>
  <HiddenSlides>1</HiddenSlides>
  <MMClips>0</MMClips>
  <ScaleCrop>false</ScaleCrop>
  <HeadingPairs>
    <vt:vector size="6" baseType="variant">
      <vt:variant>
        <vt:lpstr>Verwendete Schriftarten</vt:lpstr>
      </vt:variant>
      <vt:variant>
        <vt:i4>9</vt:i4>
      </vt:variant>
      <vt:variant>
        <vt:lpstr>Design</vt:lpstr>
      </vt:variant>
      <vt:variant>
        <vt:i4>1</vt:i4>
      </vt:variant>
      <vt:variant>
        <vt:lpstr>Folientitel</vt:lpstr>
      </vt:variant>
      <vt:variant>
        <vt:i4>15</vt:i4>
      </vt:variant>
    </vt:vector>
  </HeadingPairs>
  <TitlesOfParts>
    <vt:vector size="25" baseType="lpstr">
      <vt:lpstr>Arial</vt:lpstr>
      <vt:lpstr>Calibri</vt:lpstr>
      <vt:lpstr>Courier New</vt:lpstr>
      <vt:lpstr>Georgia</vt:lpstr>
      <vt:lpstr>Trebuchet MS</vt:lpstr>
      <vt:lpstr>Verdana</vt:lpstr>
      <vt:lpstr>Wingdings</vt:lpstr>
      <vt:lpstr>Wingdings 2</vt:lpstr>
      <vt:lpstr>Wingdings,Sans-Serif</vt:lpstr>
      <vt:lpstr>Rhea</vt:lpstr>
      <vt:lpstr>PowerPoint-Präsentation</vt:lpstr>
      <vt:lpstr>PowerPoint-Präsentation</vt:lpstr>
      <vt:lpstr>1️⃣ Grundlagen der Audiodeskription</vt:lpstr>
      <vt:lpstr>1️⃣ Grundlagen der Audiodeskription</vt:lpstr>
      <vt:lpstr>1️⃣ Grundlagen der Audiodeskription</vt:lpstr>
      <vt:lpstr>2️⃣ Vorgehen zum Erstellen einer Audiodeskription</vt:lpstr>
      <vt:lpstr>2️⃣ Vorgehen zum Erstellen einer Audiodeskription</vt:lpstr>
      <vt:lpstr>2️⃣ Vorgehen zum Erstellen einer Audiodeskription</vt:lpstr>
      <vt:lpstr>3️⃣ Rechtliche und ethische Überlegungen</vt:lpstr>
      <vt:lpstr>3️⃣ Rechtliche und ethische Überlegungen</vt:lpstr>
      <vt:lpstr>3️⃣ Rechtliche und ethische Überlegungen</vt:lpstr>
      <vt:lpstr>PowerPoint-Präsentation</vt:lpstr>
      <vt:lpstr>PowerPoint-Präsentation</vt:lpstr>
      <vt:lpstr>PowerPoint-Präsentation</vt:lpstr>
      <vt:lpstr>PowerPoint-Präsentation</vt:lpstr>
    </vt:vector>
  </TitlesOfParts>
  <Company>Elster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Balczukat, Phil</dc:creator>
  <cp:lastModifiedBy>Luisa Beer</cp:lastModifiedBy>
  <cp:revision>437</cp:revision>
  <dcterms:created xsi:type="dcterms:W3CDTF">2012-01-31T07:49:28Z</dcterms:created>
  <dcterms:modified xsi:type="dcterms:W3CDTF">2025-05-03T13:20:11Z</dcterms:modified>
</cp:coreProperties>
</file>