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7">
          <p15:clr>
            <a:srgbClr val="747775"/>
          </p15:clr>
        </p15:guide>
        <p15:guide id="2" orient="horz" pos="13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9287C5E-F899-4508-8DEB-B1986BAB9A59}">
  <a:tblStyle styleId="{A9287C5E-F899-4508-8DEB-B1986BAB9A59}" styleName="Table_0">
    <a:wholeTbl>
      <a:tcTxStyle b="off" i="off">
        <a:font>
          <a:latin typeface="Georgia"/>
          <a:ea typeface="Georgia"/>
          <a:cs typeface="Georgi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9ED"/>
          </a:solidFill>
        </a:fill>
      </a:tcStyle>
    </a:wholeTbl>
    <a:band1H>
      <a:tcTxStyle/>
      <a:tcStyle>
        <a:fill>
          <a:solidFill>
            <a:srgbClr val="CFCFD9"/>
          </a:solidFill>
        </a:fill>
      </a:tcStyle>
    </a:band1H>
    <a:band2H>
      <a:tcTxStyle/>
    </a:band2H>
    <a:band1V>
      <a:tcTxStyle/>
      <a:tcStyle>
        <a:fill>
          <a:solidFill>
            <a:srgbClr val="CFCFD9"/>
          </a:solidFill>
        </a:fill>
      </a:tcStyle>
    </a:band1V>
    <a:band2V>
      <a:tcTxStyle/>
    </a:band2V>
    <a:lastCol>
      <a:tcTxStyle b="on" i="off">
        <a:font>
          <a:latin typeface="Georgia"/>
          <a:ea typeface="Georgia"/>
          <a:cs typeface="Georgia"/>
        </a:font>
        <a:schemeClr val="lt1"/>
      </a:tcTxStyle>
      <a:tcStyle>
        <a:fill>
          <a:solidFill>
            <a:schemeClr val="accent1"/>
          </a:solidFill>
        </a:fill>
      </a:tcStyle>
    </a:lastCol>
    <a:firstCol>
      <a:tcTxStyle b="on" i="off">
        <a:font>
          <a:latin typeface="Georgia"/>
          <a:ea typeface="Georgia"/>
          <a:cs typeface="Georgia"/>
        </a:font>
        <a:schemeClr val="lt1"/>
      </a:tcTxStyle>
      <a:tcStyle>
        <a:fill>
          <a:solidFill>
            <a:schemeClr val="accent1"/>
          </a:solidFill>
        </a:fill>
      </a:tcStyle>
    </a:firstCol>
    <a:lastRow>
      <a:tcTxStyle b="on" i="off">
        <a:font>
          <a:latin typeface="Georgia"/>
          <a:ea typeface="Georgia"/>
          <a:cs typeface="Georgi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Georgia"/>
          <a:ea typeface="Georgia"/>
          <a:cs typeface="Georgi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BA45F573-9B29-47CA-AB3D-ED83CEF522B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7" orient="horz"/>
        <p:guide pos="131"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520920ad40_2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520920ad40_2_1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520920ad40_2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g3520920ad40_2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520920ad40_2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g3520920ad40_2_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de" sz="1200">
                <a:solidFill>
                  <a:schemeClr val="dk1"/>
                </a:solidFill>
                <a:latin typeface="Calibri"/>
                <a:ea typeface="Calibri"/>
                <a:cs typeface="Calibri"/>
                <a:sym typeface="Calibri"/>
              </a:rPr>
              <a:t>Dietmar</a:t>
            </a:r>
            <a:endParaRPr/>
          </a:p>
        </p:txBody>
      </p:sp>
      <p:sp>
        <p:nvSpPr>
          <p:cNvPr id="178" name="Google Shape;178;g3520920ad40_2_1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520920ad40_2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g3520920ad40_2_1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de" sz="1200">
                <a:solidFill>
                  <a:schemeClr val="dk1"/>
                </a:solidFill>
                <a:latin typeface="Calibri"/>
                <a:ea typeface="Calibri"/>
                <a:cs typeface="Calibri"/>
                <a:sym typeface="Calibri"/>
              </a:rPr>
              <a:t>Dietmar</a:t>
            </a:r>
            <a:endParaRPr/>
          </a:p>
        </p:txBody>
      </p:sp>
      <p:sp>
        <p:nvSpPr>
          <p:cNvPr id="192" name="Google Shape;192;g3520920ad40_2_1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520920ad40_2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g3520920ad40_2_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520920ad40_2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520920ad40_2_1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520920ad40_2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520920ad40_2_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520920ad40_2_2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520920ad40_2_2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de" sz="1200">
                <a:solidFill>
                  <a:schemeClr val="dk1"/>
                </a:solidFill>
                <a:latin typeface="Calibri"/>
                <a:ea typeface="Calibri"/>
                <a:cs typeface="Calibri"/>
                <a:sym typeface="Calibri"/>
              </a:rPr>
              <a:t>Larissa</a:t>
            </a:r>
            <a:endParaRPr/>
          </a:p>
        </p:txBody>
      </p:sp>
      <p:sp>
        <p:nvSpPr>
          <p:cNvPr id="269" name="Google Shape;269;g3520920ad40_2_2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520920ad40_2_2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3520920ad40_2_2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de" sz="1200">
                <a:solidFill>
                  <a:schemeClr val="dk1"/>
                </a:solidFill>
                <a:latin typeface="Calibri"/>
                <a:ea typeface="Calibri"/>
                <a:cs typeface="Calibri"/>
                <a:sym typeface="Calibri"/>
              </a:rPr>
              <a:t>Larissa</a:t>
            </a:r>
            <a:endParaRPr/>
          </a:p>
        </p:txBody>
      </p:sp>
      <p:sp>
        <p:nvSpPr>
          <p:cNvPr id="280" name="Google Shape;280;g3520920ad40_2_2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520920ad40_2_2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3520920ad40_2_2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de" sz="1200">
                <a:solidFill>
                  <a:schemeClr val="dk1"/>
                </a:solidFill>
                <a:latin typeface="Calibri"/>
                <a:ea typeface="Calibri"/>
                <a:cs typeface="Calibri"/>
                <a:sym typeface="Calibri"/>
              </a:rPr>
              <a:t>Claus-Peter</a:t>
            </a:r>
            <a:endParaRPr/>
          </a:p>
          <a:p>
            <a:pPr indent="0" lvl="0" marL="0" rtl="0" algn="l">
              <a:spcBef>
                <a:spcPts val="0"/>
              </a:spcBef>
              <a:spcAft>
                <a:spcPts val="0"/>
              </a:spcAft>
              <a:buNone/>
            </a:pPr>
            <a:r>
              <a:t/>
            </a:r>
            <a:endParaRPr/>
          </a:p>
        </p:txBody>
      </p:sp>
      <p:sp>
        <p:nvSpPr>
          <p:cNvPr id="294" name="Google Shape;294;g3520920ad40_2_2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520920ad40_2_2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3520920ad40_2_2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g3520920ad40_2_2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5390c1dbcb_0_8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g35390c1dbcb_0_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de" sz="1200">
                <a:solidFill>
                  <a:schemeClr val="dk1"/>
                </a:solidFill>
                <a:latin typeface="Calibri"/>
                <a:ea typeface="Calibri"/>
                <a:cs typeface="Calibri"/>
                <a:sym typeface="Calibri"/>
              </a:rPr>
              <a:t>Claus-Peter</a:t>
            </a:r>
            <a:endParaRPr/>
          </a:p>
          <a:p>
            <a:pPr indent="0" lvl="0" marL="0" rtl="0" algn="l">
              <a:spcBef>
                <a:spcPts val="0"/>
              </a:spcBef>
              <a:spcAft>
                <a:spcPts val="0"/>
              </a:spcAft>
              <a:buNone/>
            </a:pPr>
            <a:r>
              <a:t/>
            </a:r>
            <a:endParaRPr/>
          </a:p>
        </p:txBody>
      </p:sp>
      <p:sp>
        <p:nvSpPr>
          <p:cNvPr id="347" name="Google Shape;347;g35390c1dbcb_0_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520920ad40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3" name="Google Shape;353;g3520920ad40_0_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de" sz="1200">
                <a:solidFill>
                  <a:schemeClr val="dk1"/>
                </a:solidFill>
                <a:latin typeface="Calibri"/>
                <a:ea typeface="Calibri"/>
                <a:cs typeface="Calibri"/>
                <a:sym typeface="Calibri"/>
              </a:rPr>
              <a:t>Claus-Peter</a:t>
            </a:r>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1" lang="de" sz="1200">
                <a:solidFill>
                  <a:schemeClr val="dk1"/>
                </a:solidFill>
                <a:latin typeface="Calibri"/>
                <a:ea typeface="Calibri"/>
                <a:cs typeface="Calibri"/>
                <a:sym typeface="Calibri"/>
              </a:rPr>
              <a:t>Zero-Shot-Prompts:</a:t>
            </a:r>
            <a:r>
              <a:rPr b="0" lang="de" sz="1200">
                <a:solidFill>
                  <a:schemeClr val="dk1"/>
                </a:solidFill>
                <a:latin typeface="Calibri"/>
                <a:ea typeface="Calibri"/>
                <a:cs typeface="Calibri"/>
                <a:sym typeface="Calibri"/>
              </a:rPr>
              <a:t> Bei dieser Methode werden in das LLM nur ein Prompt eingegeben, der die Aufgabe beschreibt, und keine zusätzlichen Daten. Wenn das LLM z. B. eine Frage beantworten soll, geben Sie einfach „Was ist Prompt-Design?“ ein.</a:t>
            </a:r>
            <a:endParaRPr/>
          </a:p>
          <a:p>
            <a:pPr indent="0" lvl="0" marL="0" rtl="0" algn="l">
              <a:spcBef>
                <a:spcPts val="0"/>
              </a:spcBef>
              <a:spcAft>
                <a:spcPts val="0"/>
              </a:spcAft>
              <a:buNone/>
            </a:pPr>
            <a:r>
              <a:rPr b="1" lang="de" sz="1200">
                <a:solidFill>
                  <a:schemeClr val="dk1"/>
                </a:solidFill>
                <a:latin typeface="Calibri"/>
                <a:ea typeface="Calibri"/>
                <a:cs typeface="Calibri"/>
                <a:sym typeface="Calibri"/>
              </a:rPr>
              <a:t>One-Shot-Prompts:</a:t>
            </a:r>
            <a:r>
              <a:rPr b="0" lang="de" sz="1200">
                <a:solidFill>
                  <a:schemeClr val="dk1"/>
                </a:solidFill>
                <a:latin typeface="Calibri"/>
                <a:ea typeface="Calibri"/>
                <a:cs typeface="Calibri"/>
                <a:sym typeface="Calibri"/>
              </a:rPr>
              <a:t> Bei dieser Methode wird ein einzelnes Beispiel der Aufgabe, die das LLM ausführen soll, eingegeben. Wenn das LLM z. B. ein Gedicht schreiben soll, geben Sie ein einzelnes Beispielgedicht ein.</a:t>
            </a:r>
            <a:endParaRPr/>
          </a:p>
          <a:p>
            <a:pPr indent="0" lvl="0" marL="0" rtl="0" algn="l">
              <a:spcBef>
                <a:spcPts val="0"/>
              </a:spcBef>
              <a:spcAft>
                <a:spcPts val="0"/>
              </a:spcAft>
              <a:buNone/>
            </a:pPr>
            <a:r>
              <a:rPr b="1" lang="de" sz="1200">
                <a:solidFill>
                  <a:schemeClr val="dk1"/>
                </a:solidFill>
                <a:latin typeface="Calibri"/>
                <a:ea typeface="Calibri"/>
                <a:cs typeface="Calibri"/>
                <a:sym typeface="Calibri"/>
              </a:rPr>
              <a:t>Few-Shot-Prompts:</a:t>
            </a:r>
            <a:r>
              <a:rPr b="0" lang="de" sz="1200">
                <a:solidFill>
                  <a:schemeClr val="dk1"/>
                </a:solidFill>
                <a:latin typeface="Calibri"/>
                <a:ea typeface="Calibri"/>
                <a:cs typeface="Calibri"/>
                <a:sym typeface="Calibri"/>
              </a:rPr>
              <a:t> Bei dieser Methode werden einige wenige Beispiele der Aufgabe, die das LLM ausführen soll, eingegeben. Wenn das LLM z. B. einen Nachrichtenartikel schreiben soll, können Sie beispielsweise einige Nachrichtenartikel einspeisen.</a:t>
            </a:r>
            <a:endParaRPr/>
          </a:p>
        </p:txBody>
      </p:sp>
      <p:sp>
        <p:nvSpPr>
          <p:cNvPr id="354" name="Google Shape;354;g3520920ad40_0_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520920ad40_2_2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g3520920ad40_2_2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de" sz="1200">
                <a:solidFill>
                  <a:schemeClr val="dk1"/>
                </a:solidFill>
                <a:latin typeface="Calibri"/>
                <a:ea typeface="Calibri"/>
                <a:cs typeface="Calibri"/>
                <a:sym typeface="Calibri"/>
              </a:rPr>
              <a:t>Claus-Peter</a:t>
            </a:r>
            <a:endParaRPr/>
          </a:p>
          <a:p>
            <a:pPr indent="0" lvl="0" marL="0" rtl="0" algn="l">
              <a:spcBef>
                <a:spcPts val="0"/>
              </a:spcBef>
              <a:spcAft>
                <a:spcPts val="0"/>
              </a:spcAft>
              <a:buNone/>
            </a:pPr>
            <a:r>
              <a:rPr b="1" lang="de" sz="1200">
                <a:solidFill>
                  <a:schemeClr val="dk1"/>
                </a:solidFill>
                <a:latin typeface="Calibri"/>
                <a:ea typeface="Calibri"/>
                <a:cs typeface="Calibri"/>
                <a:sym typeface="Calibri"/>
              </a:rPr>
              <a:t>Preise: https://cloud.google.com/vision?hl=de#high-precision-visual-inspection</a:t>
            </a:r>
            <a:endParaRPr/>
          </a:p>
        </p:txBody>
      </p:sp>
      <p:sp>
        <p:nvSpPr>
          <p:cNvPr id="383" name="Google Shape;383;g3520920ad40_2_2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52d143600b_1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g352d143600b_1_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de" sz="1200">
                <a:solidFill>
                  <a:schemeClr val="dk1"/>
                </a:solidFill>
                <a:latin typeface="Calibri"/>
                <a:ea typeface="Calibri"/>
                <a:cs typeface="Calibri"/>
                <a:sym typeface="Calibri"/>
              </a:rPr>
              <a:t>Claus-Peter</a:t>
            </a:r>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1" lang="de" sz="1200">
                <a:solidFill>
                  <a:schemeClr val="dk1"/>
                </a:solidFill>
                <a:latin typeface="Calibri"/>
                <a:ea typeface="Calibri"/>
                <a:cs typeface="Calibri"/>
                <a:sym typeface="Calibri"/>
              </a:rPr>
              <a:t>Zero-Shot-Prompts:</a:t>
            </a:r>
            <a:r>
              <a:rPr b="0" lang="de" sz="1200">
                <a:solidFill>
                  <a:schemeClr val="dk1"/>
                </a:solidFill>
                <a:latin typeface="Calibri"/>
                <a:ea typeface="Calibri"/>
                <a:cs typeface="Calibri"/>
                <a:sym typeface="Calibri"/>
              </a:rPr>
              <a:t> Bei dieser Methode werden in das LLM nur ein Prompt eingegeben, der die Aufgabe beschreibt, und keine zusätzlichen Daten. Wenn das LLM z. B. eine Frage beantworten soll, geben Sie einfach „Was ist Prompt-Design?“ ein.</a:t>
            </a:r>
            <a:endParaRPr/>
          </a:p>
          <a:p>
            <a:pPr indent="0" lvl="0" marL="0" rtl="0" algn="l">
              <a:spcBef>
                <a:spcPts val="0"/>
              </a:spcBef>
              <a:spcAft>
                <a:spcPts val="0"/>
              </a:spcAft>
              <a:buNone/>
            </a:pPr>
            <a:r>
              <a:rPr b="1" lang="de" sz="1200">
                <a:solidFill>
                  <a:schemeClr val="dk1"/>
                </a:solidFill>
                <a:latin typeface="Calibri"/>
                <a:ea typeface="Calibri"/>
                <a:cs typeface="Calibri"/>
                <a:sym typeface="Calibri"/>
              </a:rPr>
              <a:t>One-Shot-Prompts:</a:t>
            </a:r>
            <a:r>
              <a:rPr b="0" lang="de" sz="1200">
                <a:solidFill>
                  <a:schemeClr val="dk1"/>
                </a:solidFill>
                <a:latin typeface="Calibri"/>
                <a:ea typeface="Calibri"/>
                <a:cs typeface="Calibri"/>
                <a:sym typeface="Calibri"/>
              </a:rPr>
              <a:t> Bei dieser Methode wird ein einzelnes Beispiel der Aufgabe, die das LLM ausführen soll, eingegeben. Wenn das LLM z. B. ein Gedicht schreiben soll, geben Sie ein einzelnes Beispielgedicht ein.</a:t>
            </a:r>
            <a:endParaRPr/>
          </a:p>
          <a:p>
            <a:pPr indent="0" lvl="0" marL="0" rtl="0" algn="l">
              <a:spcBef>
                <a:spcPts val="0"/>
              </a:spcBef>
              <a:spcAft>
                <a:spcPts val="0"/>
              </a:spcAft>
              <a:buNone/>
            </a:pPr>
            <a:r>
              <a:rPr b="1" lang="de" sz="1200">
                <a:solidFill>
                  <a:schemeClr val="dk1"/>
                </a:solidFill>
                <a:latin typeface="Calibri"/>
                <a:ea typeface="Calibri"/>
                <a:cs typeface="Calibri"/>
                <a:sym typeface="Calibri"/>
              </a:rPr>
              <a:t>Few-Shot-Prompts:</a:t>
            </a:r>
            <a:r>
              <a:rPr b="0" lang="de" sz="1200">
                <a:solidFill>
                  <a:schemeClr val="dk1"/>
                </a:solidFill>
                <a:latin typeface="Calibri"/>
                <a:ea typeface="Calibri"/>
                <a:cs typeface="Calibri"/>
                <a:sym typeface="Calibri"/>
              </a:rPr>
              <a:t> Bei dieser Methode werden einige wenige Beispiele der Aufgabe, die das LLM ausführen soll, eingegeben. Wenn das LLM z. B. einen Nachrichtenartikel schreiben soll, können Sie beispielsweise einige Nachrichtenartikel einspeisen.</a:t>
            </a:r>
            <a:endParaRPr/>
          </a:p>
        </p:txBody>
      </p:sp>
      <p:sp>
        <p:nvSpPr>
          <p:cNvPr id="394" name="Google Shape;394;g352d143600b_1_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520920ad40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g3520920ad40_0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de" sz="1200">
                <a:solidFill>
                  <a:schemeClr val="dk1"/>
                </a:solidFill>
                <a:latin typeface="Calibri"/>
                <a:ea typeface="Calibri"/>
                <a:cs typeface="Calibri"/>
                <a:sym typeface="Calibri"/>
              </a:rPr>
              <a:t>Claus-Peter</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1" lang="de" sz="1200">
                <a:solidFill>
                  <a:schemeClr val="dk1"/>
                </a:solidFill>
                <a:latin typeface="Calibri"/>
                <a:ea typeface="Calibri"/>
                <a:cs typeface="Calibri"/>
                <a:sym typeface="Calibri"/>
              </a:rPr>
              <a:t>Auswertung: 1fps</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t/>
            </a:r>
            <a:endParaRPr b="1" sz="1200">
              <a:solidFill>
                <a:schemeClr val="dk1"/>
              </a:solidFill>
              <a:latin typeface="Calibri"/>
              <a:ea typeface="Calibri"/>
              <a:cs typeface="Calibri"/>
              <a:sym typeface="Calibri"/>
            </a:endParaRPr>
          </a:p>
          <a:p>
            <a:pPr indent="0" lvl="0" marL="0" rtl="0" algn="l">
              <a:spcBef>
                <a:spcPts val="0"/>
              </a:spcBef>
              <a:spcAft>
                <a:spcPts val="0"/>
              </a:spcAft>
              <a:buNone/>
            </a:pPr>
            <a:r>
              <a:rPr b="1" lang="de" sz="1200">
                <a:solidFill>
                  <a:schemeClr val="dk1"/>
                </a:solidFill>
                <a:latin typeface="Calibri"/>
                <a:ea typeface="Calibri"/>
                <a:cs typeface="Calibri"/>
                <a:sym typeface="Calibri"/>
              </a:rPr>
              <a:t>Zero-Shot-Prompts:</a:t>
            </a:r>
            <a:r>
              <a:rPr b="0" lang="de" sz="1200">
                <a:solidFill>
                  <a:schemeClr val="dk1"/>
                </a:solidFill>
                <a:latin typeface="Calibri"/>
                <a:ea typeface="Calibri"/>
                <a:cs typeface="Calibri"/>
                <a:sym typeface="Calibri"/>
              </a:rPr>
              <a:t> Bei dieser Methode werden in das LLM nur ein Prompt eingegeben, der die Aufgabe beschreibt, und keine zusätzlichen Daten. Wenn das LLM z. B. eine Frage beantworten soll, geben Sie einfach „Was ist Prompt-Design?“ ein.</a:t>
            </a:r>
            <a:endParaRPr/>
          </a:p>
          <a:p>
            <a:pPr indent="0" lvl="0" marL="0" rtl="0" algn="l">
              <a:spcBef>
                <a:spcPts val="0"/>
              </a:spcBef>
              <a:spcAft>
                <a:spcPts val="0"/>
              </a:spcAft>
              <a:buNone/>
            </a:pPr>
            <a:r>
              <a:rPr b="1" lang="de" sz="1200">
                <a:solidFill>
                  <a:schemeClr val="dk1"/>
                </a:solidFill>
                <a:latin typeface="Calibri"/>
                <a:ea typeface="Calibri"/>
                <a:cs typeface="Calibri"/>
                <a:sym typeface="Calibri"/>
              </a:rPr>
              <a:t>One-Shot-Prompts:</a:t>
            </a:r>
            <a:r>
              <a:rPr b="0" lang="de" sz="1200">
                <a:solidFill>
                  <a:schemeClr val="dk1"/>
                </a:solidFill>
                <a:latin typeface="Calibri"/>
                <a:ea typeface="Calibri"/>
                <a:cs typeface="Calibri"/>
                <a:sym typeface="Calibri"/>
              </a:rPr>
              <a:t> Bei dieser Methode wird ein einzelnes Beispiel der Aufgabe, die das LLM ausführen soll, eingegeben. Wenn das LLM z. B. ein Gedicht schreiben soll, geben Sie ein einzelnes Beispielgedicht ein.</a:t>
            </a:r>
            <a:endParaRPr/>
          </a:p>
          <a:p>
            <a:pPr indent="0" lvl="0" marL="0" rtl="0" algn="l">
              <a:spcBef>
                <a:spcPts val="0"/>
              </a:spcBef>
              <a:spcAft>
                <a:spcPts val="0"/>
              </a:spcAft>
              <a:buNone/>
            </a:pPr>
            <a:r>
              <a:rPr b="1" lang="de" sz="1200">
                <a:solidFill>
                  <a:schemeClr val="dk1"/>
                </a:solidFill>
                <a:latin typeface="Calibri"/>
                <a:ea typeface="Calibri"/>
                <a:cs typeface="Calibri"/>
                <a:sym typeface="Calibri"/>
              </a:rPr>
              <a:t>Few-Shot-Prompts:</a:t>
            </a:r>
            <a:r>
              <a:rPr b="0" lang="de" sz="1200">
                <a:solidFill>
                  <a:schemeClr val="dk1"/>
                </a:solidFill>
                <a:latin typeface="Calibri"/>
                <a:ea typeface="Calibri"/>
                <a:cs typeface="Calibri"/>
                <a:sym typeface="Calibri"/>
              </a:rPr>
              <a:t> Bei dieser Methode werden einige wenige Beispiele der Aufgabe, die das LLM ausführen soll, eingegeben. Wenn das LLM z. B. einen Nachrichtenartikel schreiben soll, können Sie beispielsweise einige Nachrichtenartikel einspeisen.</a:t>
            </a:r>
            <a:endParaRPr/>
          </a:p>
        </p:txBody>
      </p:sp>
      <p:sp>
        <p:nvSpPr>
          <p:cNvPr id="415" name="Google Shape;415;g3520920ad40_0_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520920ad40_2_3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3520920ad40_2_3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de" sz="1200">
                <a:solidFill>
                  <a:schemeClr val="dk1"/>
                </a:solidFill>
                <a:latin typeface="Calibri"/>
                <a:ea typeface="Calibri"/>
                <a:cs typeface="Calibri"/>
                <a:sym typeface="Calibri"/>
              </a:rPr>
              <a:t>Claus-Peter</a:t>
            </a:r>
            <a:endParaRPr/>
          </a:p>
          <a:p>
            <a:pPr indent="0" lvl="0" marL="0" rtl="0" algn="l">
              <a:spcBef>
                <a:spcPts val="0"/>
              </a:spcBef>
              <a:spcAft>
                <a:spcPts val="0"/>
              </a:spcAft>
              <a:buNone/>
            </a:pPr>
            <a:r>
              <a:t/>
            </a:r>
            <a:endParaRPr/>
          </a:p>
        </p:txBody>
      </p:sp>
      <p:sp>
        <p:nvSpPr>
          <p:cNvPr id="430" name="Google Shape;430;g3520920ad40_2_30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52d143600b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52d143600b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520920ad40_2_3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g3520920ad40_2_3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de" sz="1200">
                <a:solidFill>
                  <a:schemeClr val="dk1"/>
                </a:solidFill>
                <a:latin typeface="Calibri"/>
                <a:ea typeface="Calibri"/>
                <a:cs typeface="Calibri"/>
                <a:sym typeface="Calibri"/>
              </a:rPr>
              <a:t>Claus-Peter</a:t>
            </a:r>
            <a:endParaRPr/>
          </a:p>
          <a:p>
            <a:pPr indent="0" lvl="0" marL="0" rtl="0" algn="l">
              <a:spcBef>
                <a:spcPts val="0"/>
              </a:spcBef>
              <a:spcAft>
                <a:spcPts val="0"/>
              </a:spcAft>
              <a:buNone/>
            </a:pPr>
            <a:r>
              <a:t/>
            </a:r>
            <a:endParaRPr/>
          </a:p>
        </p:txBody>
      </p:sp>
      <p:sp>
        <p:nvSpPr>
          <p:cNvPr id="453" name="Google Shape;453;g3520920ad40_2_3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5390c1dbcb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8" name="Google Shape;468;g35390c1dbcb_0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b="1" lang="de" sz="1200">
                <a:solidFill>
                  <a:schemeClr val="dk1"/>
                </a:solidFill>
                <a:latin typeface="Calibri"/>
                <a:ea typeface="Calibri"/>
                <a:cs typeface="Calibri"/>
                <a:sym typeface="Calibri"/>
              </a:rPr>
              <a:t>Claus-Peter</a:t>
            </a:r>
            <a:endParaRPr/>
          </a:p>
          <a:p>
            <a:pPr indent="0" lvl="0" marL="0" rtl="0" algn="l">
              <a:spcBef>
                <a:spcPts val="0"/>
              </a:spcBef>
              <a:spcAft>
                <a:spcPts val="0"/>
              </a:spcAft>
              <a:buNone/>
            </a:pPr>
            <a:r>
              <a:t/>
            </a:r>
            <a:endParaRPr/>
          </a:p>
        </p:txBody>
      </p:sp>
      <p:sp>
        <p:nvSpPr>
          <p:cNvPr id="469" name="Google Shape;469;g35390c1dbcb_0_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520920ad40_2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g3520920ad40_2_3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520920ad40_2_3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g3520920ad40_2_3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de" sz="1200">
                <a:solidFill>
                  <a:schemeClr val="dk1"/>
                </a:solidFill>
                <a:latin typeface="Calibri"/>
                <a:ea typeface="Calibri"/>
                <a:cs typeface="Calibri"/>
                <a:sym typeface="Calibri"/>
              </a:rPr>
              <a:t>Phil</a:t>
            </a:r>
            <a:endParaRPr/>
          </a:p>
        </p:txBody>
      </p:sp>
      <p:sp>
        <p:nvSpPr>
          <p:cNvPr id="551" name="Google Shape;551;g3520920ad40_2_3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520920ad40_2_3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g3520920ad40_2_3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de" sz="1200">
                <a:solidFill>
                  <a:schemeClr val="dk1"/>
                </a:solidFill>
                <a:latin typeface="Calibri"/>
                <a:ea typeface="Calibri"/>
                <a:cs typeface="Calibri"/>
                <a:sym typeface="Calibri"/>
              </a:rPr>
              <a:t>Phil</a:t>
            </a:r>
            <a:endParaRPr/>
          </a:p>
        </p:txBody>
      </p:sp>
      <p:sp>
        <p:nvSpPr>
          <p:cNvPr id="560" name="Google Shape;560;g3520920ad40_2_3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de"/>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3520920ad40_2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g3520920ad40_2_3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520920ad40_2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g3520920ad40_2_3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3520920ad40_2_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g3520920ad40_2_3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69" name="Shape 69"/>
        <p:cNvGrpSpPr/>
        <p:nvPr/>
      </p:nvGrpSpPr>
      <p:grpSpPr>
        <a:xfrm>
          <a:off x="0" y="0"/>
          <a:ext cx="0" cy="0"/>
          <a:chOff x="0" y="0"/>
          <a:chExt cx="0" cy="0"/>
        </a:xfrm>
      </p:grpSpPr>
      <p:sp>
        <p:nvSpPr>
          <p:cNvPr id="70" name="Google Shape;70;p14"/>
          <p:cNvSpPr/>
          <p:nvPr/>
        </p:nvSpPr>
        <p:spPr>
          <a:xfrm flipH="1" rot="10800000">
            <a:off x="5410183" y="2857501"/>
            <a:ext cx="3733819" cy="68315"/>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1" name="Google Shape;71;p14"/>
          <p:cNvSpPr/>
          <p:nvPr/>
        </p:nvSpPr>
        <p:spPr>
          <a:xfrm flipH="1" rot="10800000">
            <a:off x="5410201" y="2922757"/>
            <a:ext cx="3733801" cy="144018"/>
          </a:xfrm>
          <a:prstGeom prst="rect">
            <a:avLst/>
          </a:prstGeom>
          <a:solidFill>
            <a:schemeClr val="accent2">
              <a:alpha val="49803"/>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2" name="Google Shape;72;p14"/>
          <p:cNvSpPr/>
          <p:nvPr/>
        </p:nvSpPr>
        <p:spPr>
          <a:xfrm flipH="1" rot="10800000">
            <a:off x="5410201" y="3086375"/>
            <a:ext cx="3733801" cy="6858"/>
          </a:xfrm>
          <a:prstGeom prst="rect">
            <a:avLst/>
          </a:prstGeom>
          <a:solidFill>
            <a:schemeClr val="accent2">
              <a:alpha val="64705"/>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3" name="Google Shape;73;p14"/>
          <p:cNvSpPr/>
          <p:nvPr/>
        </p:nvSpPr>
        <p:spPr>
          <a:xfrm flipH="1" rot="10800000">
            <a:off x="5410200" y="3123302"/>
            <a:ext cx="1965960" cy="13716"/>
          </a:xfrm>
          <a:prstGeom prst="rect">
            <a:avLst/>
          </a:prstGeom>
          <a:solidFill>
            <a:schemeClr val="accent2">
              <a:alpha val="6000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4" name="Google Shape;74;p14"/>
          <p:cNvSpPr/>
          <p:nvPr/>
        </p:nvSpPr>
        <p:spPr>
          <a:xfrm flipH="1" rot="10800000">
            <a:off x="5410200" y="3149679"/>
            <a:ext cx="1965960" cy="6858"/>
          </a:xfrm>
          <a:prstGeom prst="rect">
            <a:avLst/>
          </a:prstGeom>
          <a:solidFill>
            <a:schemeClr val="accent2">
              <a:alpha val="64705"/>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5" name="Google Shape;75;p14"/>
          <p:cNvSpPr/>
          <p:nvPr/>
        </p:nvSpPr>
        <p:spPr>
          <a:xfrm>
            <a:off x="5410200" y="2971800"/>
            <a:ext cx="3063240" cy="20574"/>
          </a:xfrm>
          <a:prstGeom prst="roundRect">
            <a:avLst>
              <a:gd fmla="val 16667"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6" name="Google Shape;76;p14"/>
          <p:cNvSpPr/>
          <p:nvPr/>
        </p:nvSpPr>
        <p:spPr>
          <a:xfrm>
            <a:off x="7376507" y="3045737"/>
            <a:ext cx="1600200" cy="27432"/>
          </a:xfrm>
          <a:prstGeom prst="roundRect">
            <a:avLst>
              <a:gd fmla="val 16667"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7" name="Google Shape;77;p14"/>
          <p:cNvSpPr/>
          <p:nvPr/>
        </p:nvSpPr>
        <p:spPr>
          <a:xfrm>
            <a:off x="1" y="2737247"/>
            <a:ext cx="9144000" cy="183128"/>
          </a:xfrm>
          <a:prstGeom prst="rect">
            <a:avLst/>
          </a:prstGeom>
          <a:solidFill>
            <a:schemeClr val="accent2">
              <a:alpha val="49803"/>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8" name="Google Shape;78;p14"/>
          <p:cNvSpPr/>
          <p:nvPr/>
        </p:nvSpPr>
        <p:spPr>
          <a:xfrm>
            <a:off x="1" y="2756646"/>
            <a:ext cx="9144001" cy="105508"/>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79" name="Google Shape;79;p14"/>
          <p:cNvSpPr/>
          <p:nvPr/>
        </p:nvSpPr>
        <p:spPr>
          <a:xfrm flipH="1" rot="10800000">
            <a:off x="6414051" y="2732318"/>
            <a:ext cx="2729950" cy="186324"/>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80" name="Google Shape;80;p14"/>
          <p:cNvSpPr/>
          <p:nvPr/>
        </p:nvSpPr>
        <p:spPr>
          <a:xfrm>
            <a:off x="0" y="0"/>
            <a:ext cx="9144000" cy="2776275"/>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81" name="Google Shape;81;p14"/>
          <p:cNvSpPr txBox="1"/>
          <p:nvPr>
            <p:ph type="ctrTitle"/>
          </p:nvPr>
        </p:nvSpPr>
        <p:spPr>
          <a:xfrm>
            <a:off x="457200" y="1801416"/>
            <a:ext cx="8458200" cy="1102519"/>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lt1"/>
              </a:buClr>
              <a:buSzPts val="3300"/>
              <a:buFont typeface="Trebuchet MS"/>
              <a:buNone/>
              <a:defRPr sz="33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4"/>
          <p:cNvSpPr txBox="1"/>
          <p:nvPr>
            <p:ph idx="1" type="subTitle"/>
          </p:nvPr>
        </p:nvSpPr>
        <p:spPr>
          <a:xfrm>
            <a:off x="457200" y="2924953"/>
            <a:ext cx="4953000" cy="1314450"/>
          </a:xfrm>
          <a:prstGeom prst="rect">
            <a:avLst/>
          </a:prstGeom>
          <a:noFill/>
          <a:ln>
            <a:noFill/>
          </a:ln>
        </p:spPr>
        <p:txBody>
          <a:bodyPr anchorCtr="0" anchor="t" bIns="34275" lIns="68575" spcFirstLastPara="1" rIns="68575" wrap="square" tIns="34275">
            <a:normAutofit/>
          </a:bodyPr>
          <a:lstStyle>
            <a:lvl1pPr lvl="0" algn="l">
              <a:spcBef>
                <a:spcPts val="200"/>
              </a:spcBef>
              <a:spcAft>
                <a:spcPts val="0"/>
              </a:spcAft>
              <a:buSzPts val="1800"/>
              <a:buNone/>
              <a:defRPr sz="1800">
                <a:solidFill>
                  <a:schemeClr val="dk2"/>
                </a:solidFill>
              </a:defRPr>
            </a:lvl1pPr>
            <a:lvl2pPr lvl="1" algn="ctr">
              <a:spcBef>
                <a:spcPts val="200"/>
              </a:spcBef>
              <a:spcAft>
                <a:spcPts val="0"/>
              </a:spcAft>
              <a:buSzPts val="1400"/>
              <a:buNone/>
              <a:defRPr/>
            </a:lvl2pPr>
            <a:lvl3pPr lvl="2" algn="ctr">
              <a:spcBef>
                <a:spcPts val="200"/>
              </a:spcBef>
              <a:spcAft>
                <a:spcPts val="0"/>
              </a:spcAft>
              <a:buSzPts val="1400"/>
              <a:buNone/>
              <a:defRPr/>
            </a:lvl3pPr>
            <a:lvl4pPr lvl="3" algn="ctr">
              <a:spcBef>
                <a:spcPts val="200"/>
              </a:spcBef>
              <a:spcAft>
                <a:spcPts val="0"/>
              </a:spcAft>
              <a:buSzPts val="1400"/>
              <a:buNone/>
              <a:defRPr/>
            </a:lvl4pPr>
            <a:lvl5pPr lvl="4" algn="ctr">
              <a:spcBef>
                <a:spcPts val="200"/>
              </a:spcBef>
              <a:spcAft>
                <a:spcPts val="0"/>
              </a:spcAft>
              <a:buSzPts val="1400"/>
              <a:buNone/>
              <a:defRPr/>
            </a:lvl5pPr>
            <a:lvl6pPr lvl="5" algn="ctr">
              <a:spcBef>
                <a:spcPts val="200"/>
              </a:spcBef>
              <a:spcAft>
                <a:spcPts val="0"/>
              </a:spcAft>
              <a:buSzPts val="1400"/>
              <a:buNone/>
              <a:defRPr/>
            </a:lvl6pPr>
            <a:lvl7pPr lvl="6" algn="ctr">
              <a:spcBef>
                <a:spcPts val="200"/>
              </a:spcBef>
              <a:spcAft>
                <a:spcPts val="0"/>
              </a:spcAft>
              <a:buSzPts val="1400"/>
              <a:buNone/>
              <a:defRPr/>
            </a:lvl7pPr>
            <a:lvl8pPr lvl="7" algn="ctr">
              <a:spcBef>
                <a:spcPts val="200"/>
              </a:spcBef>
              <a:spcAft>
                <a:spcPts val="0"/>
              </a:spcAft>
              <a:buSzPts val="1400"/>
              <a:buNone/>
              <a:defRPr/>
            </a:lvl8pPr>
            <a:lvl9pPr lvl="8" algn="ctr">
              <a:spcBef>
                <a:spcPts val="200"/>
              </a:spcBef>
              <a:spcAft>
                <a:spcPts val="0"/>
              </a:spcAft>
              <a:buSzPts val="1400"/>
              <a:buNone/>
              <a:defRPr/>
            </a:lvl9pPr>
          </a:lstStyle>
          <a:p/>
        </p:txBody>
      </p:sp>
      <p:sp>
        <p:nvSpPr>
          <p:cNvPr id="83" name="Google Shape;83;p14"/>
          <p:cNvSpPr txBox="1"/>
          <p:nvPr>
            <p:ph idx="10" type="dt"/>
          </p:nvPr>
        </p:nvSpPr>
        <p:spPr>
          <a:xfrm>
            <a:off x="6705600" y="3154680"/>
            <a:ext cx="960120" cy="342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4"/>
          <p:cNvSpPr txBox="1"/>
          <p:nvPr>
            <p:ph idx="11" type="ftr"/>
          </p:nvPr>
        </p:nvSpPr>
        <p:spPr>
          <a:xfrm>
            <a:off x="5410200" y="3153966"/>
            <a:ext cx="1295400" cy="342900"/>
          </a:xfrm>
          <a:prstGeom prst="rect">
            <a:avLst/>
          </a:prstGeom>
          <a:noFill/>
          <a:ln>
            <a:noFill/>
          </a:ln>
        </p:spPr>
        <p:txBody>
          <a:bodyPr anchorCtr="0" anchor="t"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4"/>
          <p:cNvSpPr txBox="1"/>
          <p:nvPr>
            <p:ph idx="12" type="sldNum"/>
          </p:nvPr>
        </p:nvSpPr>
        <p:spPr>
          <a:xfrm>
            <a:off x="8320088" y="852"/>
            <a:ext cx="747712" cy="274320"/>
          </a:xfrm>
          <a:prstGeom prst="rect">
            <a:avLst/>
          </a:prstGeom>
          <a:noFill/>
          <a:ln>
            <a:noFill/>
          </a:ln>
        </p:spPr>
        <p:txBody>
          <a:bodyPr anchorCtr="0" anchor="b" bIns="34275" lIns="68575" spcFirstLastPara="1" rIns="68575" wrap="square" tIns="34275">
            <a:noAutofit/>
          </a:bodyPr>
          <a:lstStyle>
            <a:lvl1pPr indent="0" lvl="0" marL="0" algn="r">
              <a:spcBef>
                <a:spcPts val="0"/>
              </a:spcBef>
              <a:buNone/>
              <a:defRPr b="0" i="0" sz="1400" u="none" cap="none" strike="noStrike">
                <a:solidFill>
                  <a:schemeClr val="lt1"/>
                </a:solidFill>
                <a:latin typeface="Georgia"/>
                <a:ea typeface="Georgia"/>
                <a:cs typeface="Georgia"/>
                <a:sym typeface="Georgia"/>
              </a:defRPr>
            </a:lvl1pPr>
            <a:lvl2pPr indent="0" lvl="1" marL="0" algn="r">
              <a:spcBef>
                <a:spcPts val="0"/>
              </a:spcBef>
              <a:buNone/>
              <a:defRPr b="0" i="0" sz="1400" u="none" cap="none" strike="noStrike">
                <a:solidFill>
                  <a:schemeClr val="lt1"/>
                </a:solidFill>
                <a:latin typeface="Georgia"/>
                <a:ea typeface="Georgia"/>
                <a:cs typeface="Georgia"/>
                <a:sym typeface="Georgia"/>
              </a:defRPr>
            </a:lvl2pPr>
            <a:lvl3pPr indent="0" lvl="2" marL="0" algn="r">
              <a:spcBef>
                <a:spcPts val="0"/>
              </a:spcBef>
              <a:buNone/>
              <a:defRPr b="0" i="0" sz="1400" u="none" cap="none" strike="noStrike">
                <a:solidFill>
                  <a:schemeClr val="lt1"/>
                </a:solidFill>
                <a:latin typeface="Georgia"/>
                <a:ea typeface="Georgia"/>
                <a:cs typeface="Georgia"/>
                <a:sym typeface="Georgia"/>
              </a:defRPr>
            </a:lvl3pPr>
            <a:lvl4pPr indent="0" lvl="3" marL="0" algn="r">
              <a:spcBef>
                <a:spcPts val="0"/>
              </a:spcBef>
              <a:buNone/>
              <a:defRPr b="0" i="0" sz="1400" u="none" cap="none" strike="noStrike">
                <a:solidFill>
                  <a:schemeClr val="lt1"/>
                </a:solidFill>
                <a:latin typeface="Georgia"/>
                <a:ea typeface="Georgia"/>
                <a:cs typeface="Georgia"/>
                <a:sym typeface="Georgia"/>
              </a:defRPr>
            </a:lvl4pPr>
            <a:lvl5pPr indent="0" lvl="4" marL="0" algn="r">
              <a:spcBef>
                <a:spcPts val="0"/>
              </a:spcBef>
              <a:buNone/>
              <a:defRPr b="0" i="0" sz="1400" u="none" cap="none" strike="noStrike">
                <a:solidFill>
                  <a:schemeClr val="lt1"/>
                </a:solidFill>
                <a:latin typeface="Georgia"/>
                <a:ea typeface="Georgia"/>
                <a:cs typeface="Georgia"/>
                <a:sym typeface="Georgia"/>
              </a:defRPr>
            </a:lvl5pPr>
            <a:lvl6pPr indent="0" lvl="5" marL="0" algn="r">
              <a:spcBef>
                <a:spcPts val="0"/>
              </a:spcBef>
              <a:buNone/>
              <a:defRPr b="0" i="0" sz="1400" u="none" cap="none" strike="noStrike">
                <a:solidFill>
                  <a:schemeClr val="lt1"/>
                </a:solidFill>
                <a:latin typeface="Georgia"/>
                <a:ea typeface="Georgia"/>
                <a:cs typeface="Georgia"/>
                <a:sym typeface="Georgia"/>
              </a:defRPr>
            </a:lvl6pPr>
            <a:lvl7pPr indent="0" lvl="6" marL="0" algn="r">
              <a:spcBef>
                <a:spcPts val="0"/>
              </a:spcBef>
              <a:buNone/>
              <a:defRPr b="0" i="0" sz="1400" u="none" cap="none" strike="noStrike">
                <a:solidFill>
                  <a:schemeClr val="lt1"/>
                </a:solidFill>
                <a:latin typeface="Georgia"/>
                <a:ea typeface="Georgia"/>
                <a:cs typeface="Georgia"/>
                <a:sym typeface="Georgia"/>
              </a:defRPr>
            </a:lvl7pPr>
            <a:lvl8pPr indent="0" lvl="7" marL="0" algn="r">
              <a:spcBef>
                <a:spcPts val="0"/>
              </a:spcBef>
              <a:buNone/>
              <a:defRPr b="0" i="0" sz="1400" u="none" cap="none" strike="noStrike">
                <a:solidFill>
                  <a:schemeClr val="lt1"/>
                </a:solidFill>
                <a:latin typeface="Georgia"/>
                <a:ea typeface="Georgia"/>
                <a:cs typeface="Georgia"/>
                <a:sym typeface="Georgia"/>
              </a:defRPr>
            </a:lvl8pPr>
            <a:lvl9pPr indent="0" lvl="8" marL="0" algn="r">
              <a:spcBef>
                <a:spcPts val="0"/>
              </a:spcBef>
              <a:buNone/>
              <a:defRPr b="0" i="0" sz="1400" u="none" cap="none" strike="noStrike">
                <a:solidFill>
                  <a:schemeClr val="lt1"/>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86" name="Shape 86"/>
        <p:cNvGrpSpPr/>
        <p:nvPr/>
      </p:nvGrpSpPr>
      <p:grpSpPr>
        <a:xfrm>
          <a:off x="0" y="0"/>
          <a:ext cx="0" cy="0"/>
          <a:chOff x="0" y="0"/>
          <a:chExt cx="0" cy="0"/>
        </a:xfrm>
      </p:grpSpPr>
      <p:sp>
        <p:nvSpPr>
          <p:cNvPr id="87" name="Google Shape;87;p15"/>
          <p:cNvSpPr txBox="1"/>
          <p:nvPr>
            <p:ph type="title"/>
          </p:nvPr>
        </p:nvSpPr>
        <p:spPr>
          <a:xfrm>
            <a:off x="457200" y="857250"/>
            <a:ext cx="8229600" cy="8001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15"/>
          <p:cNvSpPr txBox="1"/>
          <p:nvPr>
            <p:ph idx="1" type="body"/>
          </p:nvPr>
        </p:nvSpPr>
        <p:spPr>
          <a:xfrm>
            <a:off x="457200" y="1687068"/>
            <a:ext cx="8229600" cy="3243834"/>
          </a:xfrm>
          <a:prstGeom prst="rect">
            <a:avLst/>
          </a:prstGeom>
          <a:noFill/>
          <a:ln>
            <a:noFill/>
          </a:ln>
        </p:spPr>
        <p:txBody>
          <a:bodyPr anchorCtr="0" anchor="t" bIns="34275" lIns="68575" spcFirstLastPara="1" rIns="68575" wrap="square" tIns="34275">
            <a:normAutofit/>
          </a:bodyPr>
          <a:lstStyle>
            <a:lvl1pPr indent="-317500" lvl="0" marL="457200" algn="l">
              <a:spcBef>
                <a:spcPts val="200"/>
              </a:spcBef>
              <a:spcAft>
                <a:spcPts val="0"/>
              </a:spcAft>
              <a:buSzPts val="1400"/>
              <a:buChar char="•"/>
              <a:defRPr/>
            </a:lvl1pPr>
            <a:lvl2pPr indent="-317500" lvl="1" marL="914400" algn="l">
              <a:spcBef>
                <a:spcPts val="200"/>
              </a:spcBef>
              <a:spcAft>
                <a:spcPts val="0"/>
              </a:spcAft>
              <a:buSzPts val="1400"/>
              <a:buChar char="▫"/>
              <a:defRPr/>
            </a:lvl2pPr>
            <a:lvl3pPr indent="-317500" lvl="2" marL="1371600" algn="l">
              <a:spcBef>
                <a:spcPts val="200"/>
              </a:spcBef>
              <a:spcAft>
                <a:spcPts val="0"/>
              </a:spcAft>
              <a:buSzPts val="1400"/>
              <a:buChar char="●"/>
              <a:defRPr/>
            </a:lvl3pPr>
            <a:lvl4pPr indent="-317500" lvl="3" marL="1828800" algn="l">
              <a:spcBef>
                <a:spcPts val="200"/>
              </a:spcBef>
              <a:spcAft>
                <a:spcPts val="0"/>
              </a:spcAft>
              <a:buSzPts val="1400"/>
              <a:buChar char="●"/>
              <a:defRPr/>
            </a:lvl4pPr>
            <a:lvl5pPr indent="-317500" lvl="4" marL="2286000" algn="l">
              <a:spcBef>
                <a:spcPts val="200"/>
              </a:spcBef>
              <a:spcAft>
                <a:spcPts val="0"/>
              </a:spcAft>
              <a:buSzPts val="1400"/>
              <a:buChar char="▫"/>
              <a:defRPr/>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89" name="Google Shape;89;p15"/>
          <p:cNvSpPr txBox="1"/>
          <p:nvPr>
            <p:ph idx="10" type="dt"/>
          </p:nvPr>
        </p:nvSpPr>
        <p:spPr>
          <a:xfrm>
            <a:off x="6586536" y="459486"/>
            <a:ext cx="957264" cy="342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15"/>
          <p:cNvSpPr txBox="1"/>
          <p:nvPr>
            <p:ph idx="11" type="ftr"/>
          </p:nvPr>
        </p:nvSpPr>
        <p:spPr>
          <a:xfrm>
            <a:off x="5257800" y="459486"/>
            <a:ext cx="1325880" cy="342900"/>
          </a:xfrm>
          <a:prstGeom prst="rect">
            <a:avLst/>
          </a:prstGeom>
          <a:noFill/>
          <a:ln>
            <a:noFill/>
          </a:ln>
        </p:spPr>
        <p:txBody>
          <a:bodyPr anchorCtr="0" anchor="t"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15"/>
          <p:cNvSpPr txBox="1"/>
          <p:nvPr>
            <p:ph idx="12" type="sldNum"/>
          </p:nvPr>
        </p:nvSpPr>
        <p:spPr>
          <a:xfrm>
            <a:off x="7063992" y="4793742"/>
            <a:ext cx="1988472" cy="274320"/>
          </a:xfrm>
          <a:prstGeom prst="rect">
            <a:avLst/>
          </a:prstGeom>
          <a:noFill/>
          <a:ln>
            <a:noFill/>
          </a:ln>
        </p:spPr>
        <p:txBody>
          <a:bodyPr anchorCtr="0" anchor="b" bIns="34275" lIns="68575" spcFirstLastPara="1" rIns="68575" wrap="square" tIns="34275">
            <a:noAutofit/>
          </a:bodyPr>
          <a:lstStyle>
            <a:lvl1pPr indent="0" lvl="0" marL="0" algn="r">
              <a:spcBef>
                <a:spcPts val="0"/>
              </a:spcBef>
              <a:buNone/>
              <a:defRPr b="0" i="0" sz="900" u="none" cap="none" strike="noStrike">
                <a:solidFill>
                  <a:srgbClr val="3F3F3F"/>
                </a:solidFill>
                <a:latin typeface="Verdana"/>
                <a:ea typeface="Verdana"/>
                <a:cs typeface="Verdana"/>
                <a:sym typeface="Verdana"/>
              </a:defRPr>
            </a:lvl1pPr>
            <a:lvl2pPr indent="0" lvl="1" marL="0" algn="r">
              <a:spcBef>
                <a:spcPts val="0"/>
              </a:spcBef>
              <a:buNone/>
              <a:defRPr b="0" i="0" sz="900" u="none" cap="none" strike="noStrike">
                <a:solidFill>
                  <a:srgbClr val="3F3F3F"/>
                </a:solidFill>
                <a:latin typeface="Verdana"/>
                <a:ea typeface="Verdana"/>
                <a:cs typeface="Verdana"/>
                <a:sym typeface="Verdana"/>
              </a:defRPr>
            </a:lvl2pPr>
            <a:lvl3pPr indent="0" lvl="2" marL="0" algn="r">
              <a:spcBef>
                <a:spcPts val="0"/>
              </a:spcBef>
              <a:buNone/>
              <a:defRPr b="0" i="0" sz="900" u="none" cap="none" strike="noStrike">
                <a:solidFill>
                  <a:srgbClr val="3F3F3F"/>
                </a:solidFill>
                <a:latin typeface="Verdana"/>
                <a:ea typeface="Verdana"/>
                <a:cs typeface="Verdana"/>
                <a:sym typeface="Verdana"/>
              </a:defRPr>
            </a:lvl3pPr>
            <a:lvl4pPr indent="0" lvl="3" marL="0" algn="r">
              <a:spcBef>
                <a:spcPts val="0"/>
              </a:spcBef>
              <a:buNone/>
              <a:defRPr b="0" i="0" sz="900" u="none" cap="none" strike="noStrike">
                <a:solidFill>
                  <a:srgbClr val="3F3F3F"/>
                </a:solidFill>
                <a:latin typeface="Verdana"/>
                <a:ea typeface="Verdana"/>
                <a:cs typeface="Verdana"/>
                <a:sym typeface="Verdana"/>
              </a:defRPr>
            </a:lvl4pPr>
            <a:lvl5pPr indent="0" lvl="4" marL="0" algn="r">
              <a:spcBef>
                <a:spcPts val="0"/>
              </a:spcBef>
              <a:buNone/>
              <a:defRPr b="0" i="0" sz="900" u="none" cap="none" strike="noStrike">
                <a:solidFill>
                  <a:srgbClr val="3F3F3F"/>
                </a:solidFill>
                <a:latin typeface="Verdana"/>
                <a:ea typeface="Verdana"/>
                <a:cs typeface="Verdana"/>
                <a:sym typeface="Verdana"/>
              </a:defRPr>
            </a:lvl5pPr>
            <a:lvl6pPr indent="0" lvl="5" marL="0" algn="r">
              <a:spcBef>
                <a:spcPts val="0"/>
              </a:spcBef>
              <a:buNone/>
              <a:defRPr b="0" i="0" sz="900" u="none" cap="none" strike="noStrike">
                <a:solidFill>
                  <a:srgbClr val="3F3F3F"/>
                </a:solidFill>
                <a:latin typeface="Verdana"/>
                <a:ea typeface="Verdana"/>
                <a:cs typeface="Verdana"/>
                <a:sym typeface="Verdana"/>
              </a:defRPr>
            </a:lvl6pPr>
            <a:lvl7pPr indent="0" lvl="6" marL="0" algn="r">
              <a:spcBef>
                <a:spcPts val="0"/>
              </a:spcBef>
              <a:buNone/>
              <a:defRPr b="0" i="0" sz="900" u="none" cap="none" strike="noStrike">
                <a:solidFill>
                  <a:srgbClr val="3F3F3F"/>
                </a:solidFill>
                <a:latin typeface="Verdana"/>
                <a:ea typeface="Verdana"/>
                <a:cs typeface="Verdana"/>
                <a:sym typeface="Verdana"/>
              </a:defRPr>
            </a:lvl7pPr>
            <a:lvl8pPr indent="0" lvl="7" marL="0" algn="r">
              <a:spcBef>
                <a:spcPts val="0"/>
              </a:spcBef>
              <a:buNone/>
              <a:defRPr b="0" i="0" sz="900" u="none" cap="none" strike="noStrike">
                <a:solidFill>
                  <a:srgbClr val="3F3F3F"/>
                </a:solidFill>
                <a:latin typeface="Verdana"/>
                <a:ea typeface="Verdana"/>
                <a:cs typeface="Verdana"/>
                <a:sym typeface="Verdana"/>
              </a:defRPr>
            </a:lvl8pPr>
            <a:lvl9pPr indent="0" lvl="8" marL="0" algn="r">
              <a:spcBef>
                <a:spcPts val="0"/>
              </a:spcBef>
              <a:buNone/>
              <a:defRPr b="0" i="0" sz="900" u="none" cap="none" strike="noStrike">
                <a:solidFill>
                  <a:srgbClr val="3F3F3F"/>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de"/>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10;überschrift" type="secHead">
  <p:cSld name="SECTION_HEADER">
    <p:spTree>
      <p:nvGrpSpPr>
        <p:cNvPr id="92" name="Shape 92"/>
        <p:cNvGrpSpPr/>
        <p:nvPr/>
      </p:nvGrpSpPr>
      <p:grpSpPr>
        <a:xfrm>
          <a:off x="0" y="0"/>
          <a:ext cx="0" cy="0"/>
          <a:chOff x="0" y="0"/>
          <a:chExt cx="0" cy="0"/>
        </a:xfrm>
      </p:grpSpPr>
      <p:sp>
        <p:nvSpPr>
          <p:cNvPr id="93" name="Google Shape;93;p16"/>
          <p:cNvSpPr txBox="1"/>
          <p:nvPr>
            <p:ph type="title"/>
          </p:nvPr>
        </p:nvSpPr>
        <p:spPr>
          <a:xfrm>
            <a:off x="722313" y="1485901"/>
            <a:ext cx="7772400" cy="1021556"/>
          </a:xfrm>
          <a:prstGeom prst="rect">
            <a:avLst/>
          </a:prstGeom>
          <a:noFill/>
          <a:ln>
            <a:noFill/>
          </a:ln>
        </p:spPr>
        <p:txBody>
          <a:bodyPr anchorCtr="0" anchor="b" bIns="34275" lIns="68575" spcFirstLastPara="1" rIns="68575" wrap="square" tIns="34275">
            <a:noAutofit/>
          </a:bodyPr>
          <a:lstStyle>
            <a:lvl1pPr lvl="0" algn="l">
              <a:spcBef>
                <a:spcPts val="0"/>
              </a:spcBef>
              <a:spcAft>
                <a:spcPts val="0"/>
              </a:spcAft>
              <a:buClr>
                <a:srgbClr val="FFFFFF"/>
              </a:buClr>
              <a:buSzPts val="3200"/>
              <a:buFont typeface="Trebuchet MS"/>
              <a:buNone/>
              <a:defRPr b="1" sz="3200" cap="none">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4" name="Google Shape;94;p16"/>
          <p:cNvSpPr txBox="1"/>
          <p:nvPr>
            <p:ph idx="1" type="body"/>
          </p:nvPr>
        </p:nvSpPr>
        <p:spPr>
          <a:xfrm>
            <a:off x="722313" y="2525316"/>
            <a:ext cx="7772400" cy="1132284"/>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SzPts val="1600"/>
              <a:buNone/>
              <a:defRPr b="0" sz="1600">
                <a:solidFill>
                  <a:schemeClr val="dk2"/>
                </a:solidFill>
              </a:defRPr>
            </a:lvl1pPr>
            <a:lvl2pPr indent="-228600" lvl="1" marL="914400" algn="l">
              <a:spcBef>
                <a:spcPts val="200"/>
              </a:spcBef>
              <a:spcAft>
                <a:spcPts val="0"/>
              </a:spcAft>
              <a:buSzPts val="1400"/>
              <a:buNone/>
              <a:defRPr sz="1400">
                <a:solidFill>
                  <a:srgbClr val="888888"/>
                </a:solidFill>
              </a:defRPr>
            </a:lvl2pPr>
            <a:lvl3pPr indent="-228600" lvl="2" marL="1371600" algn="l">
              <a:spcBef>
                <a:spcPts val="200"/>
              </a:spcBef>
              <a:spcAft>
                <a:spcPts val="0"/>
              </a:spcAft>
              <a:buSzPts val="1200"/>
              <a:buNone/>
              <a:defRPr sz="1200">
                <a:solidFill>
                  <a:srgbClr val="888888"/>
                </a:solidFill>
              </a:defRPr>
            </a:lvl3pPr>
            <a:lvl4pPr indent="-228600" lvl="3" marL="1828800" algn="l">
              <a:spcBef>
                <a:spcPts val="200"/>
              </a:spcBef>
              <a:spcAft>
                <a:spcPts val="0"/>
              </a:spcAft>
              <a:buSzPts val="1100"/>
              <a:buNone/>
              <a:defRPr sz="1100">
                <a:solidFill>
                  <a:srgbClr val="888888"/>
                </a:solidFill>
              </a:defRPr>
            </a:lvl4pPr>
            <a:lvl5pPr indent="-228600" lvl="4" marL="2286000" algn="l">
              <a:spcBef>
                <a:spcPts val="200"/>
              </a:spcBef>
              <a:spcAft>
                <a:spcPts val="0"/>
              </a:spcAft>
              <a:buSzPts val="1100"/>
              <a:buNone/>
              <a:defRPr sz="1100">
                <a:solidFill>
                  <a:srgbClr val="888888"/>
                </a:solidFill>
              </a:defRPr>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95" name="Google Shape;95;p16"/>
          <p:cNvSpPr txBox="1"/>
          <p:nvPr>
            <p:ph idx="10" type="dt"/>
          </p:nvPr>
        </p:nvSpPr>
        <p:spPr>
          <a:xfrm>
            <a:off x="6586536" y="459486"/>
            <a:ext cx="957264" cy="342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6" name="Google Shape;96;p16"/>
          <p:cNvSpPr txBox="1"/>
          <p:nvPr>
            <p:ph idx="11" type="ftr"/>
          </p:nvPr>
        </p:nvSpPr>
        <p:spPr>
          <a:xfrm>
            <a:off x="5257800" y="459486"/>
            <a:ext cx="1325880" cy="342900"/>
          </a:xfrm>
          <a:prstGeom prst="rect">
            <a:avLst/>
          </a:prstGeom>
          <a:noFill/>
          <a:ln>
            <a:noFill/>
          </a:ln>
        </p:spPr>
        <p:txBody>
          <a:bodyPr anchorCtr="0" anchor="t"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16"/>
          <p:cNvSpPr txBox="1"/>
          <p:nvPr>
            <p:ph idx="12" type="sldNum"/>
          </p:nvPr>
        </p:nvSpPr>
        <p:spPr>
          <a:xfrm>
            <a:off x="8174736" y="1704"/>
            <a:ext cx="762000" cy="274320"/>
          </a:xfrm>
          <a:prstGeom prst="rect">
            <a:avLst/>
          </a:prstGeom>
          <a:noFill/>
          <a:ln>
            <a:noFill/>
          </a:ln>
        </p:spPr>
        <p:txBody>
          <a:bodyPr anchorCtr="0" anchor="b"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
        <p:nvSpPr>
          <p:cNvPr id="98" name="Google Shape;98;p16"/>
          <p:cNvSpPr txBox="1"/>
          <p:nvPr/>
        </p:nvSpPr>
        <p:spPr>
          <a:xfrm>
            <a:off x="7063992" y="4793742"/>
            <a:ext cx="1988472" cy="274320"/>
          </a:xfrm>
          <a:prstGeom prst="rect">
            <a:avLst/>
          </a:prstGeom>
          <a:noFill/>
          <a:ln>
            <a:noFill/>
          </a:ln>
        </p:spPr>
        <p:txBody>
          <a:bodyPr anchorCtr="0" anchor="b" bIns="34275" lIns="68575" spcFirstLastPara="1" rIns="68575" wrap="square" tIns="34275">
            <a:noAutofit/>
          </a:bodyPr>
          <a:lstStyle/>
          <a:p>
            <a:pPr indent="0" lvl="0" marL="0" marR="0" rtl="0" algn="r">
              <a:spcBef>
                <a:spcPts val="0"/>
              </a:spcBef>
              <a:spcAft>
                <a:spcPts val="0"/>
              </a:spcAft>
              <a:buNone/>
            </a:pPr>
            <a:fld id="{00000000-1234-1234-1234-123412341234}" type="slidenum">
              <a:rPr lang="de" sz="900">
                <a:solidFill>
                  <a:srgbClr val="3F3F3F"/>
                </a:solidFill>
                <a:latin typeface="Verdana"/>
                <a:ea typeface="Verdana"/>
                <a:cs typeface="Verdana"/>
                <a:sym typeface="Verdana"/>
              </a:rPr>
              <a:t>‹#›</a:t>
            </a:fld>
            <a:endParaRPr sz="900">
              <a:solidFill>
                <a:srgbClr val="3F3F3F"/>
              </a:solidFill>
              <a:latin typeface="Verdana"/>
              <a:ea typeface="Verdana"/>
              <a:cs typeface="Verdana"/>
              <a:sym typeface="Verdana"/>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99" name="Shape 99"/>
        <p:cNvGrpSpPr/>
        <p:nvPr/>
      </p:nvGrpSpPr>
      <p:grpSpPr>
        <a:xfrm>
          <a:off x="0" y="0"/>
          <a:ext cx="0" cy="0"/>
          <a:chOff x="0" y="0"/>
          <a:chExt cx="0" cy="0"/>
        </a:xfrm>
      </p:grpSpPr>
      <p:sp>
        <p:nvSpPr>
          <p:cNvPr id="100" name="Google Shape;100;p17"/>
          <p:cNvSpPr txBox="1"/>
          <p:nvPr>
            <p:ph type="title"/>
          </p:nvPr>
        </p:nvSpPr>
        <p:spPr>
          <a:xfrm>
            <a:off x="457200" y="857250"/>
            <a:ext cx="8229600" cy="8001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17"/>
          <p:cNvSpPr txBox="1"/>
          <p:nvPr>
            <p:ph idx="1" type="body"/>
          </p:nvPr>
        </p:nvSpPr>
        <p:spPr>
          <a:xfrm>
            <a:off x="457200" y="1687069"/>
            <a:ext cx="4038600" cy="3394472"/>
          </a:xfrm>
          <a:prstGeom prst="rect">
            <a:avLst/>
          </a:prstGeom>
          <a:noFill/>
          <a:ln>
            <a:noFill/>
          </a:ln>
        </p:spPr>
        <p:txBody>
          <a:bodyPr anchorCtr="0" anchor="t" bIns="34275" lIns="68575" spcFirstLastPara="1" rIns="68575" wrap="square" tIns="34275">
            <a:normAutofit/>
          </a:bodyPr>
          <a:lstStyle>
            <a:lvl1pPr indent="-323850" lvl="0" marL="457200" algn="l">
              <a:spcBef>
                <a:spcPts val="200"/>
              </a:spcBef>
              <a:spcAft>
                <a:spcPts val="0"/>
              </a:spcAft>
              <a:buSzPts val="1500"/>
              <a:buChar char="•"/>
              <a:defRPr sz="1500"/>
            </a:lvl1pPr>
            <a:lvl2pPr indent="-317500" lvl="1" marL="914400" algn="l">
              <a:spcBef>
                <a:spcPts val="200"/>
              </a:spcBef>
              <a:spcAft>
                <a:spcPts val="0"/>
              </a:spcAft>
              <a:buSzPts val="1400"/>
              <a:buChar char="▫"/>
              <a:defRPr sz="1400"/>
            </a:lvl2pPr>
            <a:lvl3pPr indent="-317500" lvl="2" marL="1371600" algn="l">
              <a:spcBef>
                <a:spcPts val="200"/>
              </a:spcBef>
              <a:spcAft>
                <a:spcPts val="0"/>
              </a:spcAft>
              <a:buSzPts val="1400"/>
              <a:buChar char="●"/>
              <a:defRPr sz="1400"/>
            </a:lvl3pPr>
            <a:lvl4pPr indent="-317500" lvl="3" marL="1828800" algn="l">
              <a:spcBef>
                <a:spcPts val="200"/>
              </a:spcBef>
              <a:spcAft>
                <a:spcPts val="0"/>
              </a:spcAft>
              <a:buSzPts val="1400"/>
              <a:buChar char="●"/>
              <a:defRPr sz="1400"/>
            </a:lvl4pPr>
            <a:lvl5pPr indent="-317500" lvl="4" marL="2286000" algn="l">
              <a:spcBef>
                <a:spcPts val="200"/>
              </a:spcBef>
              <a:spcAft>
                <a:spcPts val="0"/>
              </a:spcAft>
              <a:buSzPts val="1400"/>
              <a:buChar char="▫"/>
              <a:defRPr sz="1400"/>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102" name="Google Shape;102;p17"/>
          <p:cNvSpPr txBox="1"/>
          <p:nvPr>
            <p:ph idx="2" type="body"/>
          </p:nvPr>
        </p:nvSpPr>
        <p:spPr>
          <a:xfrm>
            <a:off x="4648200" y="1687069"/>
            <a:ext cx="4038600" cy="3394472"/>
          </a:xfrm>
          <a:prstGeom prst="rect">
            <a:avLst/>
          </a:prstGeom>
          <a:noFill/>
          <a:ln>
            <a:noFill/>
          </a:ln>
        </p:spPr>
        <p:txBody>
          <a:bodyPr anchorCtr="0" anchor="t" bIns="34275" lIns="68575" spcFirstLastPara="1" rIns="68575" wrap="square" tIns="34275">
            <a:normAutofit/>
          </a:bodyPr>
          <a:lstStyle>
            <a:lvl1pPr indent="-323850" lvl="0" marL="457200" algn="l">
              <a:spcBef>
                <a:spcPts val="200"/>
              </a:spcBef>
              <a:spcAft>
                <a:spcPts val="0"/>
              </a:spcAft>
              <a:buSzPts val="1500"/>
              <a:buChar char="•"/>
              <a:defRPr sz="1500"/>
            </a:lvl1pPr>
            <a:lvl2pPr indent="-317500" lvl="1" marL="914400" algn="l">
              <a:spcBef>
                <a:spcPts val="200"/>
              </a:spcBef>
              <a:spcAft>
                <a:spcPts val="0"/>
              </a:spcAft>
              <a:buSzPts val="1400"/>
              <a:buChar char="▫"/>
              <a:defRPr sz="1400"/>
            </a:lvl2pPr>
            <a:lvl3pPr indent="-317500" lvl="2" marL="1371600" algn="l">
              <a:spcBef>
                <a:spcPts val="200"/>
              </a:spcBef>
              <a:spcAft>
                <a:spcPts val="0"/>
              </a:spcAft>
              <a:buSzPts val="1400"/>
              <a:buChar char="●"/>
              <a:defRPr sz="1400"/>
            </a:lvl3pPr>
            <a:lvl4pPr indent="-317500" lvl="3" marL="1828800" algn="l">
              <a:spcBef>
                <a:spcPts val="200"/>
              </a:spcBef>
              <a:spcAft>
                <a:spcPts val="0"/>
              </a:spcAft>
              <a:buSzPts val="1400"/>
              <a:buChar char="●"/>
              <a:defRPr sz="1400"/>
            </a:lvl4pPr>
            <a:lvl5pPr indent="-317500" lvl="4" marL="2286000" algn="l">
              <a:spcBef>
                <a:spcPts val="200"/>
              </a:spcBef>
              <a:spcAft>
                <a:spcPts val="0"/>
              </a:spcAft>
              <a:buSzPts val="1400"/>
              <a:buChar char="▫"/>
              <a:defRPr sz="1400"/>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103" name="Google Shape;103;p17"/>
          <p:cNvSpPr txBox="1"/>
          <p:nvPr>
            <p:ph idx="10" type="dt"/>
          </p:nvPr>
        </p:nvSpPr>
        <p:spPr>
          <a:xfrm>
            <a:off x="6586536" y="459486"/>
            <a:ext cx="957264" cy="342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17"/>
          <p:cNvSpPr txBox="1"/>
          <p:nvPr>
            <p:ph idx="11" type="ftr"/>
          </p:nvPr>
        </p:nvSpPr>
        <p:spPr>
          <a:xfrm>
            <a:off x="5257800" y="459486"/>
            <a:ext cx="1325880" cy="342900"/>
          </a:xfrm>
          <a:prstGeom prst="rect">
            <a:avLst/>
          </a:prstGeom>
          <a:noFill/>
          <a:ln>
            <a:noFill/>
          </a:ln>
        </p:spPr>
        <p:txBody>
          <a:bodyPr anchorCtr="0" anchor="t"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17"/>
          <p:cNvSpPr txBox="1"/>
          <p:nvPr>
            <p:ph idx="12" type="sldNum"/>
          </p:nvPr>
        </p:nvSpPr>
        <p:spPr>
          <a:xfrm>
            <a:off x="8174736" y="1704"/>
            <a:ext cx="762000" cy="274320"/>
          </a:xfrm>
          <a:prstGeom prst="rect">
            <a:avLst/>
          </a:prstGeom>
          <a:noFill/>
          <a:ln>
            <a:noFill/>
          </a:ln>
        </p:spPr>
        <p:txBody>
          <a:bodyPr anchorCtr="0" anchor="b"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
        <p:nvSpPr>
          <p:cNvPr id="106" name="Google Shape;106;p17"/>
          <p:cNvSpPr txBox="1"/>
          <p:nvPr/>
        </p:nvSpPr>
        <p:spPr>
          <a:xfrm>
            <a:off x="7063992" y="4793742"/>
            <a:ext cx="1988472" cy="274320"/>
          </a:xfrm>
          <a:prstGeom prst="rect">
            <a:avLst/>
          </a:prstGeom>
          <a:noFill/>
          <a:ln>
            <a:noFill/>
          </a:ln>
        </p:spPr>
        <p:txBody>
          <a:bodyPr anchorCtr="0" anchor="b" bIns="34275" lIns="68575" spcFirstLastPara="1" rIns="68575" wrap="square" tIns="34275">
            <a:noAutofit/>
          </a:bodyPr>
          <a:lstStyle/>
          <a:p>
            <a:pPr indent="0" lvl="0" marL="0" marR="0" rtl="0" algn="r">
              <a:spcBef>
                <a:spcPts val="0"/>
              </a:spcBef>
              <a:spcAft>
                <a:spcPts val="0"/>
              </a:spcAft>
              <a:buNone/>
            </a:pPr>
            <a:fld id="{00000000-1234-1234-1234-123412341234}" type="slidenum">
              <a:rPr lang="de" sz="900">
                <a:solidFill>
                  <a:srgbClr val="3F3F3F"/>
                </a:solidFill>
                <a:latin typeface="Verdana"/>
                <a:ea typeface="Verdana"/>
                <a:cs typeface="Verdana"/>
                <a:sym typeface="Verdana"/>
              </a:rPr>
              <a:t>‹#›</a:t>
            </a:fld>
            <a:endParaRPr sz="900">
              <a:solidFill>
                <a:srgbClr val="3F3F3F"/>
              </a:solidFill>
              <a:latin typeface="Verdana"/>
              <a:ea typeface="Verdana"/>
              <a:cs typeface="Verdana"/>
              <a:sym typeface="Verdana"/>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107" name="Shape 107"/>
        <p:cNvGrpSpPr/>
        <p:nvPr/>
      </p:nvGrpSpPr>
      <p:grpSpPr>
        <a:xfrm>
          <a:off x="0" y="0"/>
          <a:ext cx="0" cy="0"/>
          <a:chOff x="0" y="0"/>
          <a:chExt cx="0" cy="0"/>
        </a:xfrm>
      </p:grpSpPr>
      <p:sp>
        <p:nvSpPr>
          <p:cNvPr id="108" name="Google Shape;108;p18"/>
          <p:cNvSpPr txBox="1"/>
          <p:nvPr>
            <p:ph type="title"/>
          </p:nvPr>
        </p:nvSpPr>
        <p:spPr>
          <a:xfrm>
            <a:off x="381000" y="857250"/>
            <a:ext cx="8382000" cy="802386"/>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2"/>
              </a:buClr>
              <a:buSzPts val="3000"/>
              <a:buFont typeface="Trebuchet MS"/>
              <a:buNone/>
              <a:defRPr b="0" i="0"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18"/>
          <p:cNvSpPr txBox="1"/>
          <p:nvPr>
            <p:ph idx="1" type="body"/>
          </p:nvPr>
        </p:nvSpPr>
        <p:spPr>
          <a:xfrm>
            <a:off x="381000" y="1683728"/>
            <a:ext cx="4041648" cy="342900"/>
          </a:xfrm>
          <a:prstGeom prst="rect">
            <a:avLst/>
          </a:prstGeom>
          <a:solidFill>
            <a:srgbClr val="328D96">
              <a:alpha val="24705"/>
            </a:srgbClr>
          </a:solidFill>
          <a:ln cap="flat" cmpd="sng" w="12700">
            <a:solidFill>
              <a:schemeClr val="accent2"/>
            </a:solidFill>
            <a:prstDash val="solid"/>
            <a:round/>
            <a:headEnd len="sm" w="sm" type="none"/>
            <a:tailEnd len="sm" w="sm" type="none"/>
          </a:ln>
        </p:spPr>
        <p:txBody>
          <a:bodyPr anchorCtr="0" anchor="ctr" bIns="34275" lIns="68575" spcFirstLastPara="1" rIns="68575" wrap="square" tIns="34275">
            <a:noAutofit/>
          </a:bodyPr>
          <a:lstStyle>
            <a:lvl1pPr indent="-228600" lvl="0" marL="457200" algn="l">
              <a:spcBef>
                <a:spcPts val="200"/>
              </a:spcBef>
              <a:spcAft>
                <a:spcPts val="0"/>
              </a:spcAft>
              <a:buSzPts val="1400"/>
              <a:buNone/>
              <a:defRPr b="1" sz="1400">
                <a:solidFill>
                  <a:srgbClr val="414141"/>
                </a:solidFill>
              </a:defRPr>
            </a:lvl1pPr>
            <a:lvl2pPr indent="-228600" lvl="1" marL="914400" algn="l">
              <a:spcBef>
                <a:spcPts val="200"/>
              </a:spcBef>
              <a:spcAft>
                <a:spcPts val="0"/>
              </a:spcAft>
              <a:buSzPts val="1500"/>
              <a:buNone/>
              <a:defRPr b="1" sz="1500"/>
            </a:lvl2pPr>
            <a:lvl3pPr indent="-228600" lvl="2" marL="1371600" algn="l">
              <a:spcBef>
                <a:spcPts val="200"/>
              </a:spcBef>
              <a:spcAft>
                <a:spcPts val="0"/>
              </a:spcAft>
              <a:buSzPts val="1400"/>
              <a:buNone/>
              <a:defRPr b="1" sz="1400"/>
            </a:lvl3pPr>
            <a:lvl4pPr indent="-228600" lvl="3" marL="1828800" algn="l">
              <a:spcBef>
                <a:spcPts val="200"/>
              </a:spcBef>
              <a:spcAft>
                <a:spcPts val="0"/>
              </a:spcAft>
              <a:buSzPts val="1200"/>
              <a:buNone/>
              <a:defRPr b="1" sz="1200"/>
            </a:lvl4pPr>
            <a:lvl5pPr indent="-228600" lvl="4" marL="2286000" algn="l">
              <a:spcBef>
                <a:spcPts val="200"/>
              </a:spcBef>
              <a:spcAft>
                <a:spcPts val="0"/>
              </a:spcAft>
              <a:buSzPts val="1200"/>
              <a:buNone/>
              <a:defRPr b="1" sz="1200"/>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110" name="Google Shape;110;p18"/>
          <p:cNvSpPr txBox="1"/>
          <p:nvPr>
            <p:ph idx="2" type="body"/>
          </p:nvPr>
        </p:nvSpPr>
        <p:spPr>
          <a:xfrm>
            <a:off x="4721226" y="1683728"/>
            <a:ext cx="4041775" cy="342900"/>
          </a:xfrm>
          <a:prstGeom prst="rect">
            <a:avLst/>
          </a:prstGeom>
          <a:solidFill>
            <a:srgbClr val="328D96">
              <a:alpha val="24705"/>
            </a:srgbClr>
          </a:solidFill>
          <a:ln cap="flat" cmpd="sng" w="12700">
            <a:solidFill>
              <a:schemeClr val="accent2"/>
            </a:solidFill>
            <a:prstDash val="solid"/>
            <a:round/>
            <a:headEnd len="sm" w="sm" type="none"/>
            <a:tailEnd len="sm" w="sm" type="none"/>
          </a:ln>
        </p:spPr>
        <p:txBody>
          <a:bodyPr anchorCtr="0" anchor="ctr" bIns="34275" lIns="68575" spcFirstLastPara="1" rIns="68575" wrap="square" tIns="34275">
            <a:noAutofit/>
          </a:bodyPr>
          <a:lstStyle>
            <a:lvl1pPr indent="-228600" lvl="0" marL="457200" algn="l">
              <a:spcBef>
                <a:spcPts val="200"/>
              </a:spcBef>
              <a:spcAft>
                <a:spcPts val="0"/>
              </a:spcAft>
              <a:buSzPts val="1400"/>
              <a:buNone/>
              <a:defRPr b="1" sz="1400">
                <a:solidFill>
                  <a:srgbClr val="414141"/>
                </a:solidFill>
              </a:defRPr>
            </a:lvl1pPr>
            <a:lvl2pPr indent="-228600" lvl="1" marL="914400" algn="l">
              <a:spcBef>
                <a:spcPts val="200"/>
              </a:spcBef>
              <a:spcAft>
                <a:spcPts val="0"/>
              </a:spcAft>
              <a:buSzPts val="1500"/>
              <a:buNone/>
              <a:defRPr b="1" sz="1500"/>
            </a:lvl2pPr>
            <a:lvl3pPr indent="-228600" lvl="2" marL="1371600" algn="l">
              <a:spcBef>
                <a:spcPts val="200"/>
              </a:spcBef>
              <a:spcAft>
                <a:spcPts val="0"/>
              </a:spcAft>
              <a:buSzPts val="1400"/>
              <a:buNone/>
              <a:defRPr b="1" sz="1400"/>
            </a:lvl3pPr>
            <a:lvl4pPr indent="-228600" lvl="3" marL="1828800" algn="l">
              <a:spcBef>
                <a:spcPts val="200"/>
              </a:spcBef>
              <a:spcAft>
                <a:spcPts val="0"/>
              </a:spcAft>
              <a:buSzPts val="1200"/>
              <a:buNone/>
              <a:defRPr b="1" sz="1200"/>
            </a:lvl4pPr>
            <a:lvl5pPr indent="-228600" lvl="4" marL="2286000" algn="l">
              <a:spcBef>
                <a:spcPts val="200"/>
              </a:spcBef>
              <a:spcAft>
                <a:spcPts val="0"/>
              </a:spcAft>
              <a:buSzPts val="1200"/>
              <a:buNone/>
              <a:defRPr b="1" sz="1200"/>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111" name="Google Shape;111;p18"/>
          <p:cNvSpPr txBox="1"/>
          <p:nvPr>
            <p:ph idx="3" type="body"/>
          </p:nvPr>
        </p:nvSpPr>
        <p:spPr>
          <a:xfrm>
            <a:off x="381000" y="2031389"/>
            <a:ext cx="4041648" cy="2914650"/>
          </a:xfrm>
          <a:prstGeom prst="rect">
            <a:avLst/>
          </a:prstGeom>
          <a:noFill/>
          <a:ln>
            <a:noFill/>
          </a:ln>
        </p:spPr>
        <p:txBody>
          <a:bodyPr anchorCtr="0" anchor="t" bIns="34275" lIns="68575" spcFirstLastPara="1" rIns="68575" wrap="square" tIns="34275">
            <a:normAutofit/>
          </a:bodyPr>
          <a:lstStyle>
            <a:lvl1pPr indent="-323850" lvl="0" marL="457200" algn="l">
              <a:spcBef>
                <a:spcPts val="200"/>
              </a:spcBef>
              <a:spcAft>
                <a:spcPts val="0"/>
              </a:spcAft>
              <a:buSzPts val="1500"/>
              <a:buChar char="•"/>
              <a:defRPr sz="1500"/>
            </a:lvl1pPr>
            <a:lvl2pPr indent="-323850" lvl="1" marL="914400" algn="l">
              <a:spcBef>
                <a:spcPts val="200"/>
              </a:spcBef>
              <a:spcAft>
                <a:spcPts val="0"/>
              </a:spcAft>
              <a:buSzPts val="1500"/>
              <a:buChar char="▫"/>
              <a:defRPr sz="1500"/>
            </a:lvl2pPr>
            <a:lvl3pPr indent="-317500" lvl="2" marL="1371600" algn="l">
              <a:spcBef>
                <a:spcPts val="200"/>
              </a:spcBef>
              <a:spcAft>
                <a:spcPts val="0"/>
              </a:spcAft>
              <a:buSzPts val="1400"/>
              <a:buChar char="●"/>
              <a:defRPr sz="1400"/>
            </a:lvl3pPr>
            <a:lvl4pPr indent="-304800" lvl="3" marL="1828800" algn="l">
              <a:spcBef>
                <a:spcPts val="200"/>
              </a:spcBef>
              <a:spcAft>
                <a:spcPts val="0"/>
              </a:spcAft>
              <a:buSzPts val="1200"/>
              <a:buChar char="●"/>
              <a:defRPr sz="1200"/>
            </a:lvl4pPr>
            <a:lvl5pPr indent="-304800" lvl="4" marL="2286000" algn="l">
              <a:spcBef>
                <a:spcPts val="200"/>
              </a:spcBef>
              <a:spcAft>
                <a:spcPts val="0"/>
              </a:spcAft>
              <a:buSzPts val="1200"/>
              <a:buChar char="▫"/>
              <a:defRPr sz="1200"/>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112" name="Google Shape;112;p18"/>
          <p:cNvSpPr txBox="1"/>
          <p:nvPr>
            <p:ph idx="4" type="body"/>
          </p:nvPr>
        </p:nvSpPr>
        <p:spPr>
          <a:xfrm>
            <a:off x="4718305" y="2031389"/>
            <a:ext cx="4041775" cy="2914650"/>
          </a:xfrm>
          <a:prstGeom prst="rect">
            <a:avLst/>
          </a:prstGeom>
          <a:noFill/>
          <a:ln>
            <a:noFill/>
          </a:ln>
        </p:spPr>
        <p:txBody>
          <a:bodyPr anchorCtr="0" anchor="t" bIns="34275" lIns="68575" spcFirstLastPara="1" rIns="68575" wrap="square" tIns="34275">
            <a:normAutofit/>
          </a:bodyPr>
          <a:lstStyle>
            <a:lvl1pPr indent="-323850" lvl="0" marL="457200" algn="l">
              <a:spcBef>
                <a:spcPts val="200"/>
              </a:spcBef>
              <a:spcAft>
                <a:spcPts val="0"/>
              </a:spcAft>
              <a:buSzPts val="1500"/>
              <a:buChar char="•"/>
              <a:defRPr sz="1500"/>
            </a:lvl1pPr>
            <a:lvl2pPr indent="-323850" lvl="1" marL="914400" algn="l">
              <a:spcBef>
                <a:spcPts val="200"/>
              </a:spcBef>
              <a:spcAft>
                <a:spcPts val="0"/>
              </a:spcAft>
              <a:buSzPts val="1500"/>
              <a:buChar char="▫"/>
              <a:defRPr sz="1500"/>
            </a:lvl2pPr>
            <a:lvl3pPr indent="-317500" lvl="2" marL="1371600" algn="l">
              <a:spcBef>
                <a:spcPts val="200"/>
              </a:spcBef>
              <a:spcAft>
                <a:spcPts val="0"/>
              </a:spcAft>
              <a:buSzPts val="1400"/>
              <a:buChar char="●"/>
              <a:defRPr sz="1400"/>
            </a:lvl3pPr>
            <a:lvl4pPr indent="-304800" lvl="3" marL="1828800" algn="l">
              <a:spcBef>
                <a:spcPts val="200"/>
              </a:spcBef>
              <a:spcAft>
                <a:spcPts val="0"/>
              </a:spcAft>
              <a:buSzPts val="1200"/>
              <a:buChar char="●"/>
              <a:defRPr sz="1200"/>
            </a:lvl4pPr>
            <a:lvl5pPr indent="-304800" lvl="4" marL="2286000" algn="l">
              <a:spcBef>
                <a:spcPts val="200"/>
              </a:spcBef>
              <a:spcAft>
                <a:spcPts val="0"/>
              </a:spcAft>
              <a:buSzPts val="1200"/>
              <a:buChar char="▫"/>
              <a:defRPr sz="1200"/>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113" name="Google Shape;113;p18"/>
          <p:cNvSpPr txBox="1"/>
          <p:nvPr>
            <p:ph idx="10" type="dt"/>
          </p:nvPr>
        </p:nvSpPr>
        <p:spPr>
          <a:xfrm>
            <a:off x="6586536" y="459486"/>
            <a:ext cx="957264" cy="342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4" name="Google Shape;114;p18"/>
          <p:cNvSpPr txBox="1"/>
          <p:nvPr>
            <p:ph idx="12" type="sldNum"/>
          </p:nvPr>
        </p:nvSpPr>
        <p:spPr>
          <a:xfrm>
            <a:off x="8174736" y="1704"/>
            <a:ext cx="762000" cy="274320"/>
          </a:xfrm>
          <a:prstGeom prst="rect">
            <a:avLst/>
          </a:prstGeom>
          <a:noFill/>
          <a:ln>
            <a:noFill/>
          </a:ln>
        </p:spPr>
        <p:txBody>
          <a:bodyPr anchorCtr="0" anchor="b"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
        <p:nvSpPr>
          <p:cNvPr id="115" name="Google Shape;115;p18"/>
          <p:cNvSpPr txBox="1"/>
          <p:nvPr>
            <p:ph idx="11" type="ftr"/>
          </p:nvPr>
        </p:nvSpPr>
        <p:spPr>
          <a:xfrm>
            <a:off x="5257800" y="459486"/>
            <a:ext cx="1325880" cy="342900"/>
          </a:xfrm>
          <a:prstGeom prst="rect">
            <a:avLst/>
          </a:prstGeom>
          <a:noFill/>
          <a:ln>
            <a:noFill/>
          </a:ln>
        </p:spPr>
        <p:txBody>
          <a:bodyPr anchorCtr="0" anchor="t"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6" name="Google Shape;116;p18"/>
          <p:cNvSpPr txBox="1"/>
          <p:nvPr/>
        </p:nvSpPr>
        <p:spPr>
          <a:xfrm>
            <a:off x="7063992" y="4793742"/>
            <a:ext cx="1988472" cy="274320"/>
          </a:xfrm>
          <a:prstGeom prst="rect">
            <a:avLst/>
          </a:prstGeom>
          <a:noFill/>
          <a:ln>
            <a:noFill/>
          </a:ln>
        </p:spPr>
        <p:txBody>
          <a:bodyPr anchorCtr="0" anchor="b" bIns="34275" lIns="68575" spcFirstLastPara="1" rIns="68575" wrap="square" tIns="34275">
            <a:noAutofit/>
          </a:bodyPr>
          <a:lstStyle/>
          <a:p>
            <a:pPr indent="0" lvl="0" marL="0" marR="0" rtl="0" algn="r">
              <a:spcBef>
                <a:spcPts val="0"/>
              </a:spcBef>
              <a:spcAft>
                <a:spcPts val="0"/>
              </a:spcAft>
              <a:buNone/>
            </a:pPr>
            <a:fld id="{00000000-1234-1234-1234-123412341234}" type="slidenum">
              <a:rPr lang="de" sz="900">
                <a:solidFill>
                  <a:srgbClr val="3F3F3F"/>
                </a:solidFill>
                <a:latin typeface="Verdana"/>
                <a:ea typeface="Verdana"/>
                <a:cs typeface="Verdana"/>
                <a:sym typeface="Verdana"/>
              </a:rPr>
              <a:t>‹#›</a:t>
            </a:fld>
            <a:endParaRPr sz="900">
              <a:solidFill>
                <a:srgbClr val="3F3F3F"/>
              </a:solidFill>
              <a:latin typeface="Verdana"/>
              <a:ea typeface="Verdana"/>
              <a:cs typeface="Verdana"/>
              <a:sym typeface="Verdana"/>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117" name="Shape 117"/>
        <p:cNvGrpSpPr/>
        <p:nvPr/>
      </p:nvGrpSpPr>
      <p:grpSpPr>
        <a:xfrm>
          <a:off x="0" y="0"/>
          <a:ext cx="0" cy="0"/>
          <a:chOff x="0" y="0"/>
          <a:chExt cx="0" cy="0"/>
        </a:xfrm>
      </p:grpSpPr>
      <p:sp>
        <p:nvSpPr>
          <p:cNvPr id="118" name="Google Shape;118;p19"/>
          <p:cNvSpPr txBox="1"/>
          <p:nvPr>
            <p:ph type="title"/>
          </p:nvPr>
        </p:nvSpPr>
        <p:spPr>
          <a:xfrm>
            <a:off x="457200" y="857250"/>
            <a:ext cx="8229600" cy="802386"/>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2"/>
              </a:buClr>
              <a:buSzPts val="3000"/>
              <a:buFont typeface="Trebuchet MS"/>
              <a:buNone/>
              <a:defRPr sz="3000">
                <a:solidFill>
                  <a:schemeClr val="dk2"/>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9" name="Google Shape;119;p19"/>
          <p:cNvSpPr txBox="1"/>
          <p:nvPr>
            <p:ph idx="10" type="dt"/>
          </p:nvPr>
        </p:nvSpPr>
        <p:spPr>
          <a:xfrm>
            <a:off x="6583680" y="459486"/>
            <a:ext cx="957264" cy="342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0" name="Google Shape;120;p19"/>
          <p:cNvSpPr txBox="1"/>
          <p:nvPr>
            <p:ph idx="11" type="ftr"/>
          </p:nvPr>
        </p:nvSpPr>
        <p:spPr>
          <a:xfrm>
            <a:off x="5257800" y="459486"/>
            <a:ext cx="1325880" cy="342900"/>
          </a:xfrm>
          <a:prstGeom prst="rect">
            <a:avLst/>
          </a:prstGeom>
          <a:noFill/>
          <a:ln>
            <a:noFill/>
          </a:ln>
        </p:spPr>
        <p:txBody>
          <a:bodyPr anchorCtr="0" anchor="t"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19"/>
          <p:cNvSpPr txBox="1"/>
          <p:nvPr>
            <p:ph idx="12" type="sldNum"/>
          </p:nvPr>
        </p:nvSpPr>
        <p:spPr>
          <a:xfrm>
            <a:off x="8174736" y="1704"/>
            <a:ext cx="762000" cy="274320"/>
          </a:xfrm>
          <a:prstGeom prst="rect">
            <a:avLst/>
          </a:prstGeom>
          <a:noFill/>
          <a:ln>
            <a:noFill/>
          </a:ln>
        </p:spPr>
        <p:txBody>
          <a:bodyPr anchorCtr="0" anchor="b"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
        <p:nvSpPr>
          <p:cNvPr id="122" name="Google Shape;122;p19"/>
          <p:cNvSpPr txBox="1"/>
          <p:nvPr/>
        </p:nvSpPr>
        <p:spPr>
          <a:xfrm>
            <a:off x="7063992" y="4793742"/>
            <a:ext cx="1988472" cy="274320"/>
          </a:xfrm>
          <a:prstGeom prst="rect">
            <a:avLst/>
          </a:prstGeom>
          <a:noFill/>
          <a:ln>
            <a:noFill/>
          </a:ln>
        </p:spPr>
        <p:txBody>
          <a:bodyPr anchorCtr="0" anchor="b" bIns="34275" lIns="68575" spcFirstLastPara="1" rIns="68575" wrap="square" tIns="34275">
            <a:noAutofit/>
          </a:bodyPr>
          <a:lstStyle/>
          <a:p>
            <a:pPr indent="0" lvl="0" marL="0" marR="0" rtl="0" algn="r">
              <a:spcBef>
                <a:spcPts val="0"/>
              </a:spcBef>
              <a:spcAft>
                <a:spcPts val="0"/>
              </a:spcAft>
              <a:buNone/>
            </a:pPr>
            <a:fld id="{00000000-1234-1234-1234-123412341234}" type="slidenum">
              <a:rPr lang="de" sz="900">
                <a:solidFill>
                  <a:srgbClr val="3F3F3F"/>
                </a:solidFill>
                <a:latin typeface="Verdana"/>
                <a:ea typeface="Verdana"/>
                <a:cs typeface="Verdana"/>
                <a:sym typeface="Verdana"/>
              </a:rPr>
              <a:t>‹#›</a:t>
            </a:fld>
            <a:endParaRPr sz="900">
              <a:solidFill>
                <a:srgbClr val="3F3F3F"/>
              </a:solidFill>
              <a:latin typeface="Verdana"/>
              <a:ea typeface="Verdana"/>
              <a:cs typeface="Verdana"/>
              <a:sym typeface="Verdana"/>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123" name="Shape 123"/>
        <p:cNvGrpSpPr/>
        <p:nvPr/>
      </p:nvGrpSpPr>
      <p:grpSpPr>
        <a:xfrm>
          <a:off x="0" y="0"/>
          <a:ext cx="0" cy="0"/>
          <a:chOff x="0" y="0"/>
          <a:chExt cx="0" cy="0"/>
        </a:xfrm>
      </p:grpSpPr>
      <p:sp>
        <p:nvSpPr>
          <p:cNvPr id="124" name="Google Shape;124;p20"/>
          <p:cNvSpPr txBox="1"/>
          <p:nvPr>
            <p:ph idx="10" type="dt"/>
          </p:nvPr>
        </p:nvSpPr>
        <p:spPr>
          <a:xfrm>
            <a:off x="6586536" y="459486"/>
            <a:ext cx="957264" cy="342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0"/>
          <p:cNvSpPr txBox="1"/>
          <p:nvPr>
            <p:ph idx="11" type="ftr"/>
          </p:nvPr>
        </p:nvSpPr>
        <p:spPr>
          <a:xfrm>
            <a:off x="5257800" y="459486"/>
            <a:ext cx="1325880" cy="342900"/>
          </a:xfrm>
          <a:prstGeom prst="rect">
            <a:avLst/>
          </a:prstGeom>
          <a:noFill/>
          <a:ln>
            <a:noFill/>
          </a:ln>
        </p:spPr>
        <p:txBody>
          <a:bodyPr anchorCtr="0" anchor="t"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6" name="Google Shape;126;p20"/>
          <p:cNvSpPr txBox="1"/>
          <p:nvPr>
            <p:ph idx="12" type="sldNum"/>
          </p:nvPr>
        </p:nvSpPr>
        <p:spPr>
          <a:xfrm>
            <a:off x="8174736" y="1704"/>
            <a:ext cx="762000" cy="274320"/>
          </a:xfrm>
          <a:prstGeom prst="rect">
            <a:avLst/>
          </a:prstGeom>
          <a:noFill/>
          <a:ln>
            <a:noFill/>
          </a:ln>
        </p:spPr>
        <p:txBody>
          <a:bodyPr anchorCtr="0" anchor="b"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
        <p:nvSpPr>
          <p:cNvPr id="127" name="Google Shape;127;p20"/>
          <p:cNvSpPr txBox="1"/>
          <p:nvPr/>
        </p:nvSpPr>
        <p:spPr>
          <a:xfrm>
            <a:off x="7063992" y="4793742"/>
            <a:ext cx="1988472" cy="274320"/>
          </a:xfrm>
          <a:prstGeom prst="rect">
            <a:avLst/>
          </a:prstGeom>
          <a:noFill/>
          <a:ln>
            <a:noFill/>
          </a:ln>
        </p:spPr>
        <p:txBody>
          <a:bodyPr anchorCtr="0" anchor="b" bIns="34275" lIns="68575" spcFirstLastPara="1" rIns="68575" wrap="square" tIns="34275">
            <a:noAutofit/>
          </a:bodyPr>
          <a:lstStyle/>
          <a:p>
            <a:pPr indent="0" lvl="0" marL="0" marR="0" rtl="0" algn="r">
              <a:spcBef>
                <a:spcPts val="0"/>
              </a:spcBef>
              <a:spcAft>
                <a:spcPts val="0"/>
              </a:spcAft>
              <a:buNone/>
            </a:pPr>
            <a:fld id="{00000000-1234-1234-1234-123412341234}" type="slidenum">
              <a:rPr lang="de" sz="900">
                <a:solidFill>
                  <a:srgbClr val="3F3F3F"/>
                </a:solidFill>
                <a:latin typeface="Verdana"/>
                <a:ea typeface="Verdana"/>
                <a:cs typeface="Verdana"/>
                <a:sym typeface="Verdana"/>
              </a:rPr>
              <a:t>‹#›</a:t>
            </a:fld>
            <a:endParaRPr sz="900">
              <a:solidFill>
                <a:srgbClr val="3F3F3F"/>
              </a:solidFill>
              <a:latin typeface="Verdana"/>
              <a:ea typeface="Verdana"/>
              <a:cs typeface="Verdana"/>
              <a:sym typeface="Verdana"/>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Überschrift" type="objTx">
  <p:cSld name="OBJECT_WITH_CAPTION_TEXT">
    <p:spTree>
      <p:nvGrpSpPr>
        <p:cNvPr id="128" name="Shape 128"/>
        <p:cNvGrpSpPr/>
        <p:nvPr/>
      </p:nvGrpSpPr>
      <p:grpSpPr>
        <a:xfrm>
          <a:off x="0" y="0"/>
          <a:ext cx="0" cy="0"/>
          <a:chOff x="0" y="0"/>
          <a:chExt cx="0" cy="0"/>
        </a:xfrm>
      </p:grpSpPr>
      <p:sp>
        <p:nvSpPr>
          <p:cNvPr id="129" name="Google Shape;129;p21"/>
          <p:cNvSpPr txBox="1"/>
          <p:nvPr>
            <p:ph type="title"/>
          </p:nvPr>
        </p:nvSpPr>
        <p:spPr>
          <a:xfrm>
            <a:off x="5353496" y="826478"/>
            <a:ext cx="3383280" cy="65836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2"/>
              </a:buClr>
              <a:buSzPts val="1400"/>
              <a:buFont typeface="Trebuchet MS"/>
              <a:buNone/>
              <a:defRPr b="1" sz="1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0" name="Google Shape;130;p21"/>
          <p:cNvSpPr txBox="1"/>
          <p:nvPr>
            <p:ph idx="1" type="body"/>
          </p:nvPr>
        </p:nvSpPr>
        <p:spPr>
          <a:xfrm>
            <a:off x="5353496" y="1508045"/>
            <a:ext cx="3383280" cy="3463290"/>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SzPts val="1100"/>
              <a:buNone/>
              <a:defRPr sz="1100"/>
            </a:lvl1pPr>
            <a:lvl2pPr indent="-228600" lvl="1" marL="914400" algn="l">
              <a:spcBef>
                <a:spcPts val="200"/>
              </a:spcBef>
              <a:spcAft>
                <a:spcPts val="0"/>
              </a:spcAft>
              <a:buSzPts val="900"/>
              <a:buNone/>
              <a:defRPr sz="900"/>
            </a:lvl2pPr>
            <a:lvl3pPr indent="-228600" lvl="2" marL="1371600" algn="l">
              <a:spcBef>
                <a:spcPts val="200"/>
              </a:spcBef>
              <a:spcAft>
                <a:spcPts val="0"/>
              </a:spcAft>
              <a:buSzPts val="800"/>
              <a:buNone/>
              <a:defRPr sz="800"/>
            </a:lvl3pPr>
            <a:lvl4pPr indent="-228600" lvl="3" marL="1828800" algn="l">
              <a:spcBef>
                <a:spcPts val="200"/>
              </a:spcBef>
              <a:spcAft>
                <a:spcPts val="0"/>
              </a:spcAft>
              <a:buSzPts val="700"/>
              <a:buNone/>
              <a:defRPr sz="700"/>
            </a:lvl4pPr>
            <a:lvl5pPr indent="-228600" lvl="4" marL="2286000" algn="l">
              <a:spcBef>
                <a:spcPts val="200"/>
              </a:spcBef>
              <a:spcAft>
                <a:spcPts val="0"/>
              </a:spcAft>
              <a:buSzPts val="700"/>
              <a:buNone/>
              <a:defRPr sz="700"/>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131" name="Google Shape;131;p21"/>
          <p:cNvSpPr txBox="1"/>
          <p:nvPr>
            <p:ph idx="2" type="body"/>
          </p:nvPr>
        </p:nvSpPr>
        <p:spPr>
          <a:xfrm>
            <a:off x="152400" y="582215"/>
            <a:ext cx="5102352" cy="4389120"/>
          </a:xfrm>
          <a:prstGeom prst="rect">
            <a:avLst/>
          </a:prstGeom>
          <a:noFill/>
          <a:ln>
            <a:noFill/>
          </a:ln>
        </p:spPr>
        <p:txBody>
          <a:bodyPr anchorCtr="0" anchor="t" bIns="34275" lIns="68575" spcFirstLastPara="1" rIns="68575" wrap="square" tIns="34275">
            <a:normAutofit/>
          </a:bodyPr>
          <a:lstStyle>
            <a:lvl1pPr indent="-381000" lvl="0" marL="457200" algn="l">
              <a:spcBef>
                <a:spcPts val="200"/>
              </a:spcBef>
              <a:spcAft>
                <a:spcPts val="0"/>
              </a:spcAft>
              <a:buSzPts val="2400"/>
              <a:buChar char="•"/>
              <a:defRPr sz="2400"/>
            </a:lvl1pPr>
            <a:lvl2pPr indent="-361950" lvl="1" marL="914400" algn="l">
              <a:spcBef>
                <a:spcPts val="200"/>
              </a:spcBef>
              <a:spcAft>
                <a:spcPts val="0"/>
              </a:spcAft>
              <a:buSzPts val="2100"/>
              <a:buChar char="▫"/>
              <a:defRPr sz="2100"/>
            </a:lvl2pPr>
            <a:lvl3pPr indent="-342900" lvl="2" marL="1371600" algn="l">
              <a:spcBef>
                <a:spcPts val="200"/>
              </a:spcBef>
              <a:spcAft>
                <a:spcPts val="0"/>
              </a:spcAft>
              <a:buSzPts val="1800"/>
              <a:buChar char="●"/>
              <a:defRPr sz="1800"/>
            </a:lvl3pPr>
            <a:lvl4pPr indent="-323850" lvl="3" marL="1828800" algn="l">
              <a:spcBef>
                <a:spcPts val="200"/>
              </a:spcBef>
              <a:spcAft>
                <a:spcPts val="0"/>
              </a:spcAft>
              <a:buSzPts val="1500"/>
              <a:buChar char="●"/>
              <a:defRPr sz="1500"/>
            </a:lvl4pPr>
            <a:lvl5pPr indent="-323850" lvl="4" marL="2286000" algn="l">
              <a:spcBef>
                <a:spcPts val="200"/>
              </a:spcBef>
              <a:spcAft>
                <a:spcPts val="0"/>
              </a:spcAft>
              <a:buSzPts val="1500"/>
              <a:buChar char="▫"/>
              <a:defRPr sz="1500"/>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132" name="Google Shape;132;p21"/>
          <p:cNvSpPr txBox="1"/>
          <p:nvPr>
            <p:ph idx="10" type="dt"/>
          </p:nvPr>
        </p:nvSpPr>
        <p:spPr>
          <a:xfrm>
            <a:off x="6586536" y="459486"/>
            <a:ext cx="957264" cy="342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3" name="Google Shape;133;p21"/>
          <p:cNvSpPr txBox="1"/>
          <p:nvPr>
            <p:ph idx="11" type="ftr"/>
          </p:nvPr>
        </p:nvSpPr>
        <p:spPr>
          <a:xfrm>
            <a:off x="5257800" y="459486"/>
            <a:ext cx="1325880" cy="342900"/>
          </a:xfrm>
          <a:prstGeom prst="rect">
            <a:avLst/>
          </a:prstGeom>
          <a:noFill/>
          <a:ln>
            <a:noFill/>
          </a:ln>
        </p:spPr>
        <p:txBody>
          <a:bodyPr anchorCtr="0" anchor="t"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4" name="Google Shape;134;p21"/>
          <p:cNvSpPr txBox="1"/>
          <p:nvPr>
            <p:ph idx="12" type="sldNum"/>
          </p:nvPr>
        </p:nvSpPr>
        <p:spPr>
          <a:xfrm>
            <a:off x="8174736" y="1704"/>
            <a:ext cx="762000" cy="274320"/>
          </a:xfrm>
          <a:prstGeom prst="rect">
            <a:avLst/>
          </a:prstGeom>
          <a:noFill/>
          <a:ln>
            <a:noFill/>
          </a:ln>
        </p:spPr>
        <p:txBody>
          <a:bodyPr anchorCtr="0" anchor="b"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
        <p:nvSpPr>
          <p:cNvPr id="135" name="Google Shape;135;p21"/>
          <p:cNvSpPr txBox="1"/>
          <p:nvPr/>
        </p:nvSpPr>
        <p:spPr>
          <a:xfrm>
            <a:off x="7063992" y="4793742"/>
            <a:ext cx="1988472" cy="274320"/>
          </a:xfrm>
          <a:prstGeom prst="rect">
            <a:avLst/>
          </a:prstGeom>
          <a:noFill/>
          <a:ln>
            <a:noFill/>
          </a:ln>
        </p:spPr>
        <p:txBody>
          <a:bodyPr anchorCtr="0" anchor="b" bIns="34275" lIns="68575" spcFirstLastPara="1" rIns="68575" wrap="square" tIns="34275">
            <a:noAutofit/>
          </a:bodyPr>
          <a:lstStyle/>
          <a:p>
            <a:pPr indent="0" lvl="0" marL="0" marR="0" rtl="0" algn="r">
              <a:spcBef>
                <a:spcPts val="0"/>
              </a:spcBef>
              <a:spcAft>
                <a:spcPts val="0"/>
              </a:spcAft>
              <a:buNone/>
            </a:pPr>
            <a:fld id="{00000000-1234-1234-1234-123412341234}" type="slidenum">
              <a:rPr lang="de" sz="900">
                <a:solidFill>
                  <a:srgbClr val="3F3F3F"/>
                </a:solidFill>
                <a:latin typeface="Verdana"/>
                <a:ea typeface="Verdana"/>
                <a:cs typeface="Verdana"/>
                <a:sym typeface="Verdana"/>
              </a:rPr>
              <a:t>‹#›</a:t>
            </a:fld>
            <a:endParaRPr sz="900">
              <a:solidFill>
                <a:srgbClr val="3F3F3F"/>
              </a:solidFill>
              <a:latin typeface="Verdana"/>
              <a:ea typeface="Verdana"/>
              <a:cs typeface="Verdana"/>
              <a:sym typeface="Verdan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Überschrift" type="picTx">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rot="-5400000">
            <a:off x="3978222" y="2294083"/>
            <a:ext cx="3511228" cy="586803"/>
          </a:xfrm>
          <a:prstGeom prst="rect">
            <a:avLst/>
          </a:prstGeom>
          <a:noFill/>
          <a:ln>
            <a:noFill/>
          </a:ln>
        </p:spPr>
        <p:txBody>
          <a:bodyPr anchorCtr="0" anchor="t" bIns="34275" lIns="34275" spcFirstLastPara="1" rIns="34275" wrap="square" tIns="0">
            <a:normAutofit/>
          </a:bodyPr>
          <a:lstStyle>
            <a:lvl1pPr lvl="0" algn="ctr">
              <a:spcBef>
                <a:spcPts val="0"/>
              </a:spcBef>
              <a:spcAft>
                <a:spcPts val="0"/>
              </a:spcAft>
              <a:buClr>
                <a:schemeClr val="dk2"/>
              </a:buClr>
              <a:buSzPts val="1500"/>
              <a:buFont typeface="Trebuchet MS"/>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8" name="Google Shape;138;p22"/>
          <p:cNvSpPr/>
          <p:nvPr>
            <p:ph idx="2" type="pic"/>
          </p:nvPr>
        </p:nvSpPr>
        <p:spPr>
          <a:xfrm>
            <a:off x="403671" y="857250"/>
            <a:ext cx="4572000" cy="3429000"/>
          </a:xfrm>
          <a:prstGeom prst="rect">
            <a:avLst/>
          </a:prstGeom>
          <a:solidFill>
            <a:srgbClr val="EAEAEA"/>
          </a:solidFill>
          <a:ln cap="flat" cmpd="sng" w="50800">
            <a:solidFill>
              <a:srgbClr val="FFFFFF"/>
            </a:solidFill>
            <a:prstDash val="solid"/>
            <a:miter lim="800000"/>
            <a:headEnd len="sm" w="sm" type="none"/>
            <a:tailEnd len="sm" w="sm" type="none"/>
          </a:ln>
          <a:effectLst>
            <a:outerShdw blurRad="57150" rotWithShape="0" algn="tl" dir="4800000" dist="31750">
              <a:srgbClr val="000000">
                <a:alpha val="24705"/>
              </a:srgbClr>
            </a:outerShdw>
          </a:effectLst>
        </p:spPr>
      </p:sp>
      <p:sp>
        <p:nvSpPr>
          <p:cNvPr id="139" name="Google Shape;139;p22"/>
          <p:cNvSpPr txBox="1"/>
          <p:nvPr>
            <p:ph idx="1" type="body"/>
          </p:nvPr>
        </p:nvSpPr>
        <p:spPr>
          <a:xfrm>
            <a:off x="6088443" y="2455732"/>
            <a:ext cx="2590800" cy="1887367"/>
          </a:xfrm>
          <a:prstGeom prst="rect">
            <a:avLst/>
          </a:prstGeom>
          <a:noFill/>
          <a:ln>
            <a:noFill/>
          </a:ln>
        </p:spPr>
        <p:txBody>
          <a:bodyPr anchorCtr="0" anchor="t" bIns="34275" lIns="0" spcFirstLastPara="1" rIns="34275" wrap="square" tIns="0">
            <a:normAutofit/>
          </a:bodyPr>
          <a:lstStyle>
            <a:lvl1pPr indent="-228600" lvl="0" marL="457200" algn="l">
              <a:lnSpc>
                <a:spcPct val="100000"/>
              </a:lnSpc>
              <a:spcBef>
                <a:spcPts val="0"/>
              </a:spcBef>
              <a:spcAft>
                <a:spcPts val="0"/>
              </a:spcAft>
              <a:buSzPts val="1000"/>
              <a:buFont typeface="Georgia"/>
              <a:buNone/>
              <a:defRPr sz="1000"/>
            </a:lvl1pPr>
            <a:lvl2pPr indent="-228600" lvl="1" marL="914400" algn="l">
              <a:spcBef>
                <a:spcPts val="200"/>
              </a:spcBef>
              <a:spcAft>
                <a:spcPts val="0"/>
              </a:spcAft>
              <a:buSzPts val="900"/>
              <a:buFont typeface="Georgia"/>
              <a:buNone/>
              <a:defRPr sz="900"/>
            </a:lvl2pPr>
            <a:lvl3pPr indent="-228600" lvl="2" marL="1371600" algn="l">
              <a:spcBef>
                <a:spcPts val="200"/>
              </a:spcBef>
              <a:spcAft>
                <a:spcPts val="0"/>
              </a:spcAft>
              <a:buSzPts val="800"/>
              <a:buFont typeface="Georgia"/>
              <a:buNone/>
              <a:defRPr sz="800"/>
            </a:lvl3pPr>
            <a:lvl4pPr indent="-228600" lvl="3" marL="1828800" algn="l">
              <a:spcBef>
                <a:spcPts val="200"/>
              </a:spcBef>
              <a:spcAft>
                <a:spcPts val="0"/>
              </a:spcAft>
              <a:buSzPts val="700"/>
              <a:buFont typeface="Georgia"/>
              <a:buNone/>
              <a:defRPr sz="700"/>
            </a:lvl4pPr>
            <a:lvl5pPr indent="-228600" lvl="4" marL="2286000" algn="l">
              <a:spcBef>
                <a:spcPts val="200"/>
              </a:spcBef>
              <a:spcAft>
                <a:spcPts val="0"/>
              </a:spcAft>
              <a:buSzPts val="700"/>
              <a:buFont typeface="Georgia"/>
              <a:buNone/>
              <a:defRPr sz="700"/>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140" name="Google Shape;140;p22"/>
          <p:cNvSpPr txBox="1"/>
          <p:nvPr>
            <p:ph idx="10" type="dt"/>
          </p:nvPr>
        </p:nvSpPr>
        <p:spPr>
          <a:xfrm>
            <a:off x="6586536" y="459486"/>
            <a:ext cx="957264" cy="342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 name="Google Shape;141;p22"/>
          <p:cNvSpPr txBox="1"/>
          <p:nvPr>
            <p:ph idx="11" type="ftr"/>
          </p:nvPr>
        </p:nvSpPr>
        <p:spPr>
          <a:xfrm>
            <a:off x="5257800" y="459486"/>
            <a:ext cx="1325880" cy="342900"/>
          </a:xfrm>
          <a:prstGeom prst="rect">
            <a:avLst/>
          </a:prstGeom>
          <a:noFill/>
          <a:ln>
            <a:noFill/>
          </a:ln>
        </p:spPr>
        <p:txBody>
          <a:bodyPr anchorCtr="0" anchor="t"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2" name="Google Shape;142;p22"/>
          <p:cNvSpPr txBox="1"/>
          <p:nvPr>
            <p:ph idx="12" type="sldNum"/>
          </p:nvPr>
        </p:nvSpPr>
        <p:spPr>
          <a:xfrm>
            <a:off x="8174736" y="1704"/>
            <a:ext cx="762000" cy="274320"/>
          </a:xfrm>
          <a:prstGeom prst="rect">
            <a:avLst/>
          </a:prstGeom>
          <a:noFill/>
          <a:ln>
            <a:noFill/>
          </a:ln>
        </p:spPr>
        <p:txBody>
          <a:bodyPr anchorCtr="0" anchor="b"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
        <p:nvSpPr>
          <p:cNvPr id="143" name="Google Shape;143;p22"/>
          <p:cNvSpPr txBox="1"/>
          <p:nvPr/>
        </p:nvSpPr>
        <p:spPr>
          <a:xfrm>
            <a:off x="7063992" y="4793742"/>
            <a:ext cx="1988472" cy="274320"/>
          </a:xfrm>
          <a:prstGeom prst="rect">
            <a:avLst/>
          </a:prstGeom>
          <a:noFill/>
          <a:ln>
            <a:noFill/>
          </a:ln>
        </p:spPr>
        <p:txBody>
          <a:bodyPr anchorCtr="0" anchor="b" bIns="34275" lIns="68575" spcFirstLastPara="1" rIns="68575" wrap="square" tIns="34275">
            <a:noAutofit/>
          </a:bodyPr>
          <a:lstStyle/>
          <a:p>
            <a:pPr indent="0" lvl="0" marL="0" marR="0" rtl="0" algn="r">
              <a:spcBef>
                <a:spcPts val="0"/>
              </a:spcBef>
              <a:spcAft>
                <a:spcPts val="0"/>
              </a:spcAft>
              <a:buNone/>
            </a:pPr>
            <a:fld id="{00000000-1234-1234-1234-123412341234}" type="slidenum">
              <a:rPr lang="de" sz="900">
                <a:solidFill>
                  <a:srgbClr val="3F3F3F"/>
                </a:solidFill>
                <a:latin typeface="Verdana"/>
                <a:ea typeface="Verdana"/>
                <a:cs typeface="Verdana"/>
                <a:sym typeface="Verdana"/>
              </a:rPr>
              <a:t>‹#›</a:t>
            </a:fld>
            <a:endParaRPr sz="900">
              <a:solidFill>
                <a:srgbClr val="3F3F3F"/>
              </a:solidFill>
              <a:latin typeface="Verdana"/>
              <a:ea typeface="Verdana"/>
              <a:cs typeface="Verdana"/>
              <a:sym typeface="Verdana"/>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vertikaler Text" type="vertTx">
  <p:cSld name="VERTICAL_TEXT">
    <p:spTree>
      <p:nvGrpSpPr>
        <p:cNvPr id="144" name="Shape 144"/>
        <p:cNvGrpSpPr/>
        <p:nvPr/>
      </p:nvGrpSpPr>
      <p:grpSpPr>
        <a:xfrm>
          <a:off x="0" y="0"/>
          <a:ext cx="0" cy="0"/>
          <a:chOff x="0" y="0"/>
          <a:chExt cx="0" cy="0"/>
        </a:xfrm>
      </p:grpSpPr>
      <p:sp>
        <p:nvSpPr>
          <p:cNvPr id="145" name="Google Shape;145;p23"/>
          <p:cNvSpPr txBox="1"/>
          <p:nvPr>
            <p:ph type="title"/>
          </p:nvPr>
        </p:nvSpPr>
        <p:spPr>
          <a:xfrm>
            <a:off x="457200" y="857250"/>
            <a:ext cx="8229600" cy="8001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46" name="Google Shape;146;p23"/>
          <p:cNvSpPr txBox="1"/>
          <p:nvPr>
            <p:ph idx="1" type="body"/>
          </p:nvPr>
        </p:nvSpPr>
        <p:spPr>
          <a:xfrm rot="5400000">
            <a:off x="2950083" y="-805815"/>
            <a:ext cx="3243834" cy="8229600"/>
          </a:xfrm>
          <a:prstGeom prst="rect">
            <a:avLst/>
          </a:prstGeom>
          <a:noFill/>
          <a:ln>
            <a:noFill/>
          </a:ln>
        </p:spPr>
        <p:txBody>
          <a:bodyPr anchorCtr="0" anchor="t" bIns="34275" lIns="68575" spcFirstLastPara="1" rIns="68575" wrap="square" tIns="34275">
            <a:normAutofit/>
          </a:bodyPr>
          <a:lstStyle>
            <a:lvl1pPr indent="-317500" lvl="0" marL="457200" algn="l">
              <a:spcBef>
                <a:spcPts val="200"/>
              </a:spcBef>
              <a:spcAft>
                <a:spcPts val="0"/>
              </a:spcAft>
              <a:buSzPts val="1400"/>
              <a:buChar char="•"/>
              <a:defRPr/>
            </a:lvl1pPr>
            <a:lvl2pPr indent="-317500" lvl="1" marL="914400" algn="l">
              <a:spcBef>
                <a:spcPts val="200"/>
              </a:spcBef>
              <a:spcAft>
                <a:spcPts val="0"/>
              </a:spcAft>
              <a:buSzPts val="1400"/>
              <a:buChar char="▫"/>
              <a:defRPr/>
            </a:lvl2pPr>
            <a:lvl3pPr indent="-317500" lvl="2" marL="1371600" algn="l">
              <a:spcBef>
                <a:spcPts val="200"/>
              </a:spcBef>
              <a:spcAft>
                <a:spcPts val="0"/>
              </a:spcAft>
              <a:buSzPts val="1400"/>
              <a:buChar char="●"/>
              <a:defRPr/>
            </a:lvl3pPr>
            <a:lvl4pPr indent="-317500" lvl="3" marL="1828800" algn="l">
              <a:spcBef>
                <a:spcPts val="200"/>
              </a:spcBef>
              <a:spcAft>
                <a:spcPts val="0"/>
              </a:spcAft>
              <a:buSzPts val="1400"/>
              <a:buChar char="●"/>
              <a:defRPr/>
            </a:lvl4pPr>
            <a:lvl5pPr indent="-317500" lvl="4" marL="2286000" algn="l">
              <a:spcBef>
                <a:spcPts val="200"/>
              </a:spcBef>
              <a:spcAft>
                <a:spcPts val="0"/>
              </a:spcAft>
              <a:buSzPts val="1400"/>
              <a:buChar char="▫"/>
              <a:defRPr/>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147" name="Google Shape;147;p23"/>
          <p:cNvSpPr txBox="1"/>
          <p:nvPr>
            <p:ph idx="10" type="dt"/>
          </p:nvPr>
        </p:nvSpPr>
        <p:spPr>
          <a:xfrm>
            <a:off x="6586536" y="459486"/>
            <a:ext cx="957264" cy="342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8" name="Google Shape;148;p23"/>
          <p:cNvSpPr txBox="1"/>
          <p:nvPr>
            <p:ph idx="11" type="ftr"/>
          </p:nvPr>
        </p:nvSpPr>
        <p:spPr>
          <a:xfrm>
            <a:off x="5257800" y="459486"/>
            <a:ext cx="1325880" cy="342900"/>
          </a:xfrm>
          <a:prstGeom prst="rect">
            <a:avLst/>
          </a:prstGeom>
          <a:noFill/>
          <a:ln>
            <a:noFill/>
          </a:ln>
        </p:spPr>
        <p:txBody>
          <a:bodyPr anchorCtr="0" anchor="t"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9" name="Google Shape;149;p23"/>
          <p:cNvSpPr txBox="1"/>
          <p:nvPr>
            <p:ph idx="12" type="sldNum"/>
          </p:nvPr>
        </p:nvSpPr>
        <p:spPr>
          <a:xfrm>
            <a:off x="8174736" y="1704"/>
            <a:ext cx="762000" cy="274320"/>
          </a:xfrm>
          <a:prstGeom prst="rect">
            <a:avLst/>
          </a:prstGeom>
          <a:noFill/>
          <a:ln>
            <a:noFill/>
          </a:ln>
        </p:spPr>
        <p:txBody>
          <a:bodyPr anchorCtr="0" anchor="b"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
        <p:nvSpPr>
          <p:cNvPr id="150" name="Google Shape;150;p23"/>
          <p:cNvSpPr txBox="1"/>
          <p:nvPr/>
        </p:nvSpPr>
        <p:spPr>
          <a:xfrm>
            <a:off x="7063992" y="4793742"/>
            <a:ext cx="1988472" cy="274320"/>
          </a:xfrm>
          <a:prstGeom prst="rect">
            <a:avLst/>
          </a:prstGeom>
          <a:noFill/>
          <a:ln>
            <a:noFill/>
          </a:ln>
        </p:spPr>
        <p:txBody>
          <a:bodyPr anchorCtr="0" anchor="b" bIns="34275" lIns="68575" spcFirstLastPara="1" rIns="68575" wrap="square" tIns="34275">
            <a:noAutofit/>
          </a:bodyPr>
          <a:lstStyle/>
          <a:p>
            <a:pPr indent="0" lvl="0" marL="0" marR="0" rtl="0" algn="r">
              <a:spcBef>
                <a:spcPts val="0"/>
              </a:spcBef>
              <a:spcAft>
                <a:spcPts val="0"/>
              </a:spcAft>
              <a:buNone/>
            </a:pPr>
            <a:fld id="{00000000-1234-1234-1234-123412341234}" type="slidenum">
              <a:rPr lang="de" sz="900">
                <a:solidFill>
                  <a:srgbClr val="3F3F3F"/>
                </a:solidFill>
                <a:latin typeface="Verdana"/>
                <a:ea typeface="Verdana"/>
                <a:cs typeface="Verdana"/>
                <a:sym typeface="Verdana"/>
              </a:rPr>
              <a:t>‹#›</a:t>
            </a:fld>
            <a:endParaRPr sz="900">
              <a:solidFill>
                <a:srgbClr val="3F3F3F"/>
              </a:solidFill>
              <a:latin typeface="Verdana"/>
              <a:ea typeface="Verdana"/>
              <a:cs typeface="Verdana"/>
              <a:sym typeface="Verdana"/>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kaler Titel und Text" type="vertTitleAndTx">
  <p:cSld name="VERTICAL_TITLE_AND_VERTICAL_TEXT">
    <p:spTree>
      <p:nvGrpSpPr>
        <p:cNvPr id="151" name="Shape 151"/>
        <p:cNvGrpSpPr/>
        <p:nvPr/>
      </p:nvGrpSpPr>
      <p:grpSpPr>
        <a:xfrm>
          <a:off x="0" y="0"/>
          <a:ext cx="0" cy="0"/>
          <a:chOff x="0" y="0"/>
          <a:chExt cx="0" cy="0"/>
        </a:xfrm>
      </p:grpSpPr>
      <p:sp>
        <p:nvSpPr>
          <p:cNvPr id="152" name="Google Shape;152;p24"/>
          <p:cNvSpPr txBox="1"/>
          <p:nvPr>
            <p:ph type="title"/>
          </p:nvPr>
        </p:nvSpPr>
        <p:spPr>
          <a:xfrm rot="5400000">
            <a:off x="5676900" y="1962150"/>
            <a:ext cx="4114800" cy="19050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dk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53" name="Google Shape;153;p24"/>
          <p:cNvSpPr txBox="1"/>
          <p:nvPr>
            <p:ph idx="1" type="body"/>
          </p:nvPr>
        </p:nvSpPr>
        <p:spPr>
          <a:xfrm rot="5400000">
            <a:off x="1524000" y="-209550"/>
            <a:ext cx="4114800" cy="6248400"/>
          </a:xfrm>
          <a:prstGeom prst="rect">
            <a:avLst/>
          </a:prstGeom>
          <a:noFill/>
          <a:ln>
            <a:noFill/>
          </a:ln>
        </p:spPr>
        <p:txBody>
          <a:bodyPr anchorCtr="0" anchor="t" bIns="34275" lIns="68575" spcFirstLastPara="1" rIns="68575" wrap="square" tIns="34275">
            <a:normAutofit/>
          </a:bodyPr>
          <a:lstStyle>
            <a:lvl1pPr indent="-317500" lvl="0" marL="457200" algn="l">
              <a:spcBef>
                <a:spcPts val="200"/>
              </a:spcBef>
              <a:spcAft>
                <a:spcPts val="0"/>
              </a:spcAft>
              <a:buSzPts val="1400"/>
              <a:buChar char="•"/>
              <a:defRPr/>
            </a:lvl1pPr>
            <a:lvl2pPr indent="-317500" lvl="1" marL="914400" algn="l">
              <a:spcBef>
                <a:spcPts val="200"/>
              </a:spcBef>
              <a:spcAft>
                <a:spcPts val="0"/>
              </a:spcAft>
              <a:buSzPts val="1400"/>
              <a:buChar char="▫"/>
              <a:defRPr/>
            </a:lvl2pPr>
            <a:lvl3pPr indent="-317500" lvl="2" marL="1371600" algn="l">
              <a:spcBef>
                <a:spcPts val="200"/>
              </a:spcBef>
              <a:spcAft>
                <a:spcPts val="0"/>
              </a:spcAft>
              <a:buSzPts val="1400"/>
              <a:buChar char="●"/>
              <a:defRPr/>
            </a:lvl3pPr>
            <a:lvl4pPr indent="-317500" lvl="3" marL="1828800" algn="l">
              <a:spcBef>
                <a:spcPts val="200"/>
              </a:spcBef>
              <a:spcAft>
                <a:spcPts val="0"/>
              </a:spcAft>
              <a:buSzPts val="1400"/>
              <a:buChar char="●"/>
              <a:defRPr/>
            </a:lvl4pPr>
            <a:lvl5pPr indent="-317500" lvl="4" marL="2286000" algn="l">
              <a:spcBef>
                <a:spcPts val="200"/>
              </a:spcBef>
              <a:spcAft>
                <a:spcPts val="0"/>
              </a:spcAft>
              <a:buSzPts val="1400"/>
              <a:buChar char="▫"/>
              <a:defRPr/>
            </a:lvl5pPr>
            <a:lvl6pPr indent="-317500" lvl="5" marL="2743200" algn="l">
              <a:spcBef>
                <a:spcPts val="200"/>
              </a:spcBef>
              <a:spcAft>
                <a:spcPts val="0"/>
              </a:spcAft>
              <a:buSzPts val="1400"/>
              <a:buChar char="▫"/>
              <a:defRPr/>
            </a:lvl6pPr>
            <a:lvl7pPr indent="-317500" lvl="6" marL="3200400" algn="l">
              <a:spcBef>
                <a:spcPts val="200"/>
              </a:spcBef>
              <a:spcAft>
                <a:spcPts val="0"/>
              </a:spcAft>
              <a:buSzPts val="1400"/>
              <a:buChar char="▫"/>
              <a:defRPr/>
            </a:lvl7pPr>
            <a:lvl8pPr indent="-317500" lvl="7" marL="3657600" algn="l">
              <a:spcBef>
                <a:spcPts val="200"/>
              </a:spcBef>
              <a:spcAft>
                <a:spcPts val="0"/>
              </a:spcAft>
              <a:buSzPts val="1400"/>
              <a:buChar char="◦"/>
              <a:defRPr/>
            </a:lvl8pPr>
            <a:lvl9pPr indent="-317500" lvl="8" marL="4114800" algn="l">
              <a:spcBef>
                <a:spcPts val="200"/>
              </a:spcBef>
              <a:spcAft>
                <a:spcPts val="0"/>
              </a:spcAft>
              <a:buSzPts val="1400"/>
              <a:buChar char="◦"/>
              <a:defRPr/>
            </a:lvl9pPr>
          </a:lstStyle>
          <a:p/>
        </p:txBody>
      </p:sp>
      <p:sp>
        <p:nvSpPr>
          <p:cNvPr id="154" name="Google Shape;154;p24"/>
          <p:cNvSpPr txBox="1"/>
          <p:nvPr>
            <p:ph idx="10" type="dt"/>
          </p:nvPr>
        </p:nvSpPr>
        <p:spPr>
          <a:xfrm>
            <a:off x="6586536" y="459486"/>
            <a:ext cx="957264" cy="342900"/>
          </a:xfrm>
          <a:prstGeom prst="rect">
            <a:avLst/>
          </a:prstGeom>
          <a:noFill/>
          <a:ln>
            <a:noFill/>
          </a:ln>
        </p:spPr>
        <p:txBody>
          <a:bodyPr anchorCtr="0" anchor="t"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5" name="Google Shape;155;p24"/>
          <p:cNvSpPr txBox="1"/>
          <p:nvPr>
            <p:ph idx="11" type="ftr"/>
          </p:nvPr>
        </p:nvSpPr>
        <p:spPr>
          <a:xfrm>
            <a:off x="5257800" y="459486"/>
            <a:ext cx="1325880" cy="342900"/>
          </a:xfrm>
          <a:prstGeom prst="rect">
            <a:avLst/>
          </a:prstGeom>
          <a:noFill/>
          <a:ln>
            <a:noFill/>
          </a:ln>
        </p:spPr>
        <p:txBody>
          <a:bodyPr anchorCtr="0" anchor="t"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6" name="Google Shape;156;p24"/>
          <p:cNvSpPr txBox="1"/>
          <p:nvPr>
            <p:ph idx="12" type="sldNum"/>
          </p:nvPr>
        </p:nvSpPr>
        <p:spPr>
          <a:xfrm>
            <a:off x="8174736" y="1704"/>
            <a:ext cx="762000" cy="274320"/>
          </a:xfrm>
          <a:prstGeom prst="rect">
            <a:avLst/>
          </a:prstGeom>
          <a:noFill/>
          <a:ln>
            <a:noFill/>
          </a:ln>
        </p:spPr>
        <p:txBody>
          <a:bodyPr anchorCtr="0" anchor="b"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de"/>
              <a:t>‹#›</a:t>
            </a:fld>
            <a:endParaRPr/>
          </a:p>
        </p:txBody>
      </p:sp>
      <p:sp>
        <p:nvSpPr>
          <p:cNvPr id="157" name="Google Shape;157;p24"/>
          <p:cNvSpPr txBox="1"/>
          <p:nvPr/>
        </p:nvSpPr>
        <p:spPr>
          <a:xfrm>
            <a:off x="7063992" y="4793742"/>
            <a:ext cx="1988472" cy="274320"/>
          </a:xfrm>
          <a:prstGeom prst="rect">
            <a:avLst/>
          </a:prstGeom>
          <a:noFill/>
          <a:ln>
            <a:noFill/>
          </a:ln>
        </p:spPr>
        <p:txBody>
          <a:bodyPr anchorCtr="0" anchor="b" bIns="34275" lIns="68575" spcFirstLastPara="1" rIns="68575" wrap="square" tIns="34275">
            <a:noAutofit/>
          </a:bodyPr>
          <a:lstStyle/>
          <a:p>
            <a:pPr indent="0" lvl="0" marL="0" marR="0" rtl="0" algn="r">
              <a:spcBef>
                <a:spcPts val="0"/>
              </a:spcBef>
              <a:spcAft>
                <a:spcPts val="0"/>
              </a:spcAft>
              <a:buNone/>
            </a:pPr>
            <a:fld id="{00000000-1234-1234-1234-123412341234}" type="slidenum">
              <a:rPr lang="de" sz="900">
                <a:solidFill>
                  <a:srgbClr val="3F3F3F"/>
                </a:solidFill>
                <a:latin typeface="Verdana"/>
                <a:ea typeface="Verdana"/>
                <a:cs typeface="Verdana"/>
                <a:sym typeface="Verdana"/>
              </a:rPr>
              <a:t>‹#›</a:t>
            </a:fld>
            <a:endParaRPr sz="900">
              <a:solidFill>
                <a:srgbClr val="3F3F3F"/>
              </a:solidFill>
              <a:latin typeface="Verdana"/>
              <a:ea typeface="Verdana"/>
              <a:cs typeface="Verdana"/>
              <a:sym typeface="Verdana"/>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1" y="275114"/>
            <a:ext cx="9144000" cy="63305"/>
          </a:xfrm>
          <a:prstGeom prst="rect">
            <a:avLst/>
          </a:prstGeom>
          <a:solidFill>
            <a:schemeClr val="accent2">
              <a:alpha val="49803"/>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52" name="Google Shape;52;p13"/>
          <p:cNvSpPr/>
          <p:nvPr/>
        </p:nvSpPr>
        <p:spPr>
          <a:xfrm>
            <a:off x="0" y="-1"/>
            <a:ext cx="9144000" cy="232997"/>
          </a:xfrm>
          <a:prstGeom prst="rect">
            <a:avLst/>
          </a:prstGeom>
          <a:solidFill>
            <a:schemeClr val="dk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53" name="Google Shape;53;p13"/>
          <p:cNvSpPr/>
          <p:nvPr/>
        </p:nvSpPr>
        <p:spPr>
          <a:xfrm>
            <a:off x="1" y="231208"/>
            <a:ext cx="9144001" cy="68581"/>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54" name="Google Shape;54;p13"/>
          <p:cNvSpPr/>
          <p:nvPr/>
        </p:nvSpPr>
        <p:spPr>
          <a:xfrm flipH="1" rot="10800000">
            <a:off x="5410183" y="270185"/>
            <a:ext cx="3733819" cy="68315"/>
          </a:xfrm>
          <a:prstGeom prst="rect">
            <a:avLst/>
          </a:prstGeom>
          <a:solidFill>
            <a:schemeClr val="accent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55" name="Google Shape;55;p13"/>
          <p:cNvSpPr/>
          <p:nvPr/>
        </p:nvSpPr>
        <p:spPr>
          <a:xfrm flipH="1" rot="10800000">
            <a:off x="5410201" y="330085"/>
            <a:ext cx="3733801" cy="135026"/>
          </a:xfrm>
          <a:prstGeom prst="rect">
            <a:avLst/>
          </a:prstGeom>
          <a:solidFill>
            <a:schemeClr val="accent2">
              <a:alpha val="49803"/>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56" name="Google Shape;56;p13"/>
          <p:cNvSpPr/>
          <p:nvPr/>
        </p:nvSpPr>
        <p:spPr>
          <a:xfrm>
            <a:off x="5407339" y="373128"/>
            <a:ext cx="3063240" cy="20574"/>
          </a:xfrm>
          <a:prstGeom prst="roundRect">
            <a:avLst>
              <a:gd fmla="val 16667"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57" name="Google Shape;57;p13"/>
          <p:cNvSpPr/>
          <p:nvPr/>
        </p:nvSpPr>
        <p:spPr>
          <a:xfrm>
            <a:off x="7373646" y="441707"/>
            <a:ext cx="1600200" cy="27432"/>
          </a:xfrm>
          <a:prstGeom prst="roundRect">
            <a:avLst>
              <a:gd fmla="val 16667" name="adj"/>
            </a:avLst>
          </a:prstGeom>
          <a:solidFill>
            <a:schemeClr val="lt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58" name="Google Shape;58;p13"/>
          <p:cNvSpPr/>
          <p:nvPr/>
        </p:nvSpPr>
        <p:spPr>
          <a:xfrm>
            <a:off x="9084966" y="-1501"/>
            <a:ext cx="57626" cy="466344"/>
          </a:xfrm>
          <a:prstGeom prst="rect">
            <a:avLst/>
          </a:prstGeom>
          <a:solidFill>
            <a:srgbClr val="FFFFFF">
              <a:alpha val="64705"/>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59" name="Google Shape;59;p13"/>
          <p:cNvSpPr/>
          <p:nvPr/>
        </p:nvSpPr>
        <p:spPr>
          <a:xfrm>
            <a:off x="9044481" y="-1501"/>
            <a:ext cx="27432" cy="466344"/>
          </a:xfrm>
          <a:prstGeom prst="rect">
            <a:avLst/>
          </a:prstGeom>
          <a:solidFill>
            <a:srgbClr val="FFFFFF">
              <a:alpha val="64705"/>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60" name="Google Shape;60;p13"/>
          <p:cNvSpPr/>
          <p:nvPr/>
        </p:nvSpPr>
        <p:spPr>
          <a:xfrm>
            <a:off x="9025428" y="-1501"/>
            <a:ext cx="9144" cy="466344"/>
          </a:xfrm>
          <a:prstGeom prst="rect">
            <a:avLst/>
          </a:prstGeom>
          <a:solidFill>
            <a:srgbClr val="FFFFFF">
              <a:alpha val="6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61" name="Google Shape;61;p13"/>
          <p:cNvSpPr/>
          <p:nvPr/>
        </p:nvSpPr>
        <p:spPr>
          <a:xfrm>
            <a:off x="8975423" y="-1501"/>
            <a:ext cx="27432" cy="466344"/>
          </a:xfrm>
          <a:prstGeom prst="rect">
            <a:avLst/>
          </a:prstGeom>
          <a:solidFill>
            <a:srgbClr val="FFFFFF">
              <a:alpha val="4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62" name="Google Shape;62;p13"/>
          <p:cNvSpPr/>
          <p:nvPr/>
        </p:nvSpPr>
        <p:spPr>
          <a:xfrm>
            <a:off x="8915677" y="285"/>
            <a:ext cx="54864" cy="438912"/>
          </a:xfrm>
          <a:prstGeom prst="rect">
            <a:avLst/>
          </a:prstGeom>
          <a:solidFill>
            <a:srgbClr val="FFFFFF">
              <a:alpha val="2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63" name="Google Shape;63;p13"/>
          <p:cNvSpPr/>
          <p:nvPr/>
        </p:nvSpPr>
        <p:spPr>
          <a:xfrm>
            <a:off x="8873475" y="285"/>
            <a:ext cx="9144" cy="438912"/>
          </a:xfrm>
          <a:prstGeom prst="rect">
            <a:avLst/>
          </a:prstGeom>
          <a:solidFill>
            <a:srgbClr val="FFFFFF">
              <a:alpha val="29803"/>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
        <p:nvSpPr>
          <p:cNvPr id="64" name="Google Shape;64;p13"/>
          <p:cNvSpPr txBox="1"/>
          <p:nvPr>
            <p:ph type="title"/>
          </p:nvPr>
        </p:nvSpPr>
        <p:spPr>
          <a:xfrm>
            <a:off x="457200" y="857250"/>
            <a:ext cx="8229600" cy="800100"/>
          </a:xfrm>
          <a:prstGeom prst="rect">
            <a:avLst/>
          </a:prstGeom>
          <a:noFill/>
          <a:ln>
            <a:noFill/>
          </a:ln>
        </p:spPr>
        <p:txBody>
          <a:bodyPr anchorCtr="0" anchor="ctr" bIns="34275" lIns="68575" spcFirstLastPara="1" rIns="68575" wrap="square" tIns="34275">
            <a:normAutofit/>
          </a:bodyPr>
          <a:lstStyle>
            <a:lvl1pPr lvl="0" marR="0" rtl="0" algn="l">
              <a:spcBef>
                <a:spcPts val="0"/>
              </a:spcBef>
              <a:spcAft>
                <a:spcPts val="0"/>
              </a:spcAft>
              <a:buClr>
                <a:schemeClr val="dk2"/>
              </a:buClr>
              <a:buSzPts val="3000"/>
              <a:buFont typeface="Trebuchet MS"/>
              <a:buNone/>
              <a:defRPr b="0" i="0" sz="3000" u="none" cap="none" strike="noStrike">
                <a:solidFill>
                  <a:schemeClr val="dk2"/>
                </a:solidFill>
                <a:latin typeface="Trebuchet MS"/>
                <a:ea typeface="Trebuchet MS"/>
                <a:cs typeface="Trebuchet MS"/>
                <a:sym typeface="Trebuchet MS"/>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65" name="Google Shape;65;p13"/>
          <p:cNvSpPr txBox="1"/>
          <p:nvPr>
            <p:ph idx="1" type="body"/>
          </p:nvPr>
        </p:nvSpPr>
        <p:spPr>
          <a:xfrm>
            <a:off x="457200" y="1687068"/>
            <a:ext cx="8229600" cy="3243834"/>
          </a:xfrm>
          <a:prstGeom prst="rect">
            <a:avLst/>
          </a:prstGeom>
          <a:noFill/>
          <a:ln>
            <a:noFill/>
          </a:ln>
        </p:spPr>
        <p:txBody>
          <a:bodyPr anchorCtr="0" anchor="t" bIns="34275" lIns="68575" spcFirstLastPara="1" rIns="68575" wrap="square" tIns="34275">
            <a:normAutofit/>
          </a:bodyPr>
          <a:lstStyle>
            <a:lvl1pPr indent="-361950" lvl="0" marL="457200" marR="0" rtl="0" algn="l">
              <a:spcBef>
                <a:spcPts val="200"/>
              </a:spcBef>
              <a:spcAft>
                <a:spcPts val="0"/>
              </a:spcAft>
              <a:buClr>
                <a:schemeClr val="accent3"/>
              </a:buClr>
              <a:buSzPts val="2100"/>
              <a:buFont typeface="Georgia"/>
              <a:buChar char="•"/>
              <a:defRPr b="0" i="0" sz="2100" u="none" cap="none" strike="noStrike">
                <a:solidFill>
                  <a:schemeClr val="dk1"/>
                </a:solidFill>
                <a:latin typeface="Georgia"/>
                <a:ea typeface="Georgia"/>
                <a:cs typeface="Georgia"/>
                <a:sym typeface="Georgia"/>
              </a:defRPr>
            </a:lvl1pPr>
            <a:lvl2pPr indent="-355600" lvl="1" marL="914400" marR="0" rtl="0" algn="l">
              <a:spcBef>
                <a:spcPts val="200"/>
              </a:spcBef>
              <a:spcAft>
                <a:spcPts val="0"/>
              </a:spcAft>
              <a:buClr>
                <a:schemeClr val="accent2"/>
              </a:buClr>
              <a:buSzPts val="2000"/>
              <a:buFont typeface="Georgia"/>
              <a:buChar char="▫"/>
              <a:defRPr b="0" i="0" sz="2000" u="none" cap="none" strike="noStrike">
                <a:solidFill>
                  <a:schemeClr val="accent2"/>
                </a:solidFill>
                <a:latin typeface="Georgia"/>
                <a:ea typeface="Georgia"/>
                <a:cs typeface="Georgia"/>
                <a:sym typeface="Georgia"/>
              </a:defRPr>
            </a:lvl2pPr>
            <a:lvl3pPr indent="-342900" lvl="2" marL="1371600" marR="0" rtl="0" algn="l">
              <a:spcBef>
                <a:spcPts val="200"/>
              </a:spcBef>
              <a:spcAft>
                <a:spcPts val="0"/>
              </a:spcAft>
              <a:buClr>
                <a:schemeClr val="accent1"/>
              </a:buClr>
              <a:buSzPts val="1800"/>
              <a:buFont typeface="Noto Sans Symbols"/>
              <a:buChar char="●"/>
              <a:defRPr b="0" i="0" sz="1800" u="none" cap="none" strike="noStrike">
                <a:solidFill>
                  <a:schemeClr val="accent1"/>
                </a:solidFill>
                <a:latin typeface="Georgia"/>
                <a:ea typeface="Georgia"/>
                <a:cs typeface="Georgia"/>
                <a:sym typeface="Georgia"/>
              </a:defRPr>
            </a:lvl3pPr>
            <a:lvl4pPr indent="-336550" lvl="3" marL="1828800" marR="0" rtl="0" algn="l">
              <a:spcBef>
                <a:spcPts val="200"/>
              </a:spcBef>
              <a:spcAft>
                <a:spcPts val="0"/>
              </a:spcAft>
              <a:buClr>
                <a:schemeClr val="accent1"/>
              </a:buClr>
              <a:buSzPts val="1700"/>
              <a:buFont typeface="Noto Sans Symbols"/>
              <a:buChar char="●"/>
              <a:defRPr b="0" i="0" sz="1700" u="none" cap="none" strike="noStrike">
                <a:solidFill>
                  <a:schemeClr val="accent1"/>
                </a:solidFill>
                <a:latin typeface="Georgia"/>
                <a:ea typeface="Georgia"/>
                <a:cs typeface="Georgia"/>
                <a:sym typeface="Georgia"/>
              </a:defRPr>
            </a:lvl4pPr>
            <a:lvl5pPr indent="-323850" lvl="4" marL="2286000" marR="0" rtl="0" algn="l">
              <a:spcBef>
                <a:spcPts val="2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5pPr>
            <a:lvl6pPr indent="-317500" lvl="5" marL="2743200" marR="0" rtl="0" algn="l">
              <a:spcBef>
                <a:spcPts val="2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6pPr>
            <a:lvl7pPr indent="-304800" lvl="6" marL="3200400" marR="0" rtl="0" algn="l">
              <a:spcBef>
                <a:spcPts val="200"/>
              </a:spcBef>
              <a:spcAft>
                <a:spcPts val="0"/>
              </a:spcAft>
              <a:buClr>
                <a:schemeClr val="accent3"/>
              </a:buClr>
              <a:buSzPts val="1200"/>
              <a:buFont typeface="Georgia"/>
              <a:buChar char="▫"/>
              <a:defRPr b="0" i="0" sz="1200" u="none" cap="none" strike="noStrike">
                <a:solidFill>
                  <a:schemeClr val="accent3"/>
                </a:solidFill>
                <a:latin typeface="Georgia"/>
                <a:ea typeface="Georgia"/>
                <a:cs typeface="Georgia"/>
                <a:sym typeface="Georgia"/>
              </a:defRPr>
            </a:lvl7pPr>
            <a:lvl8pPr indent="-298450" lvl="7" marL="3657600" marR="0" rtl="0" algn="l">
              <a:spcBef>
                <a:spcPts val="200"/>
              </a:spcBef>
              <a:spcAft>
                <a:spcPts val="0"/>
              </a:spcAft>
              <a:buClr>
                <a:schemeClr val="accent3"/>
              </a:buClr>
              <a:buSzPts val="1100"/>
              <a:buFont typeface="Georgia"/>
              <a:buChar char="◦"/>
              <a:defRPr b="0" i="0" sz="1100" u="none" cap="none" strike="noStrike">
                <a:solidFill>
                  <a:schemeClr val="accent3"/>
                </a:solidFill>
                <a:latin typeface="Georgia"/>
                <a:ea typeface="Georgia"/>
                <a:cs typeface="Georgia"/>
                <a:sym typeface="Georgia"/>
              </a:defRPr>
            </a:lvl8pPr>
            <a:lvl9pPr indent="-298450" lvl="8" marL="4114800" marR="0" rtl="0" algn="l">
              <a:spcBef>
                <a:spcPts val="200"/>
              </a:spcBef>
              <a:spcAft>
                <a:spcPts val="0"/>
              </a:spcAft>
              <a:buClr>
                <a:schemeClr val="accent3"/>
              </a:buClr>
              <a:buSzPts val="1100"/>
              <a:buFont typeface="Georgia"/>
              <a:buChar char="◦"/>
              <a:defRPr b="0" i="0" sz="1100" u="none" cap="none" strike="noStrike">
                <a:solidFill>
                  <a:schemeClr val="accent3"/>
                </a:solidFill>
                <a:latin typeface="Georgia"/>
                <a:ea typeface="Georgia"/>
                <a:cs typeface="Georgia"/>
                <a:sym typeface="Georgia"/>
              </a:defRPr>
            </a:lvl9pPr>
          </a:lstStyle>
          <a:p/>
        </p:txBody>
      </p:sp>
      <p:sp>
        <p:nvSpPr>
          <p:cNvPr id="66" name="Google Shape;66;p13"/>
          <p:cNvSpPr txBox="1"/>
          <p:nvPr>
            <p:ph idx="10" type="dt"/>
          </p:nvPr>
        </p:nvSpPr>
        <p:spPr>
          <a:xfrm>
            <a:off x="6586536" y="459486"/>
            <a:ext cx="957264" cy="342900"/>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b="0" i="0" sz="600" u="none" cap="none" strike="noStrike">
                <a:solidFill>
                  <a:schemeClr val="accent2"/>
                </a:solidFill>
                <a:latin typeface="Georgia"/>
                <a:ea typeface="Georgia"/>
                <a:cs typeface="Georgia"/>
                <a:sym typeface="Georgia"/>
              </a:defRPr>
            </a:lvl1pPr>
            <a:lvl2pPr lvl="1"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2pPr>
            <a:lvl3pPr lvl="2"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3pPr>
            <a:lvl4pPr lvl="3"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4pPr>
            <a:lvl5pPr lvl="4"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5pPr>
            <a:lvl6pPr lvl="5"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6pPr>
            <a:lvl7pPr lvl="6"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7pPr>
            <a:lvl8pPr lvl="7"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8pPr>
            <a:lvl9pPr lvl="8"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9pPr>
          </a:lstStyle>
          <a:p/>
        </p:txBody>
      </p:sp>
      <p:sp>
        <p:nvSpPr>
          <p:cNvPr id="67" name="Google Shape;67;p13"/>
          <p:cNvSpPr txBox="1"/>
          <p:nvPr>
            <p:ph idx="11" type="ftr"/>
          </p:nvPr>
        </p:nvSpPr>
        <p:spPr>
          <a:xfrm>
            <a:off x="5257800" y="459486"/>
            <a:ext cx="1325880" cy="342900"/>
          </a:xfrm>
          <a:prstGeom prst="rect">
            <a:avLst/>
          </a:prstGeom>
          <a:noFill/>
          <a:ln>
            <a:noFill/>
          </a:ln>
        </p:spPr>
        <p:txBody>
          <a:bodyPr anchorCtr="0" anchor="t" bIns="34275" lIns="68575" spcFirstLastPara="1" rIns="68575" wrap="square" tIns="34275">
            <a:noAutofit/>
          </a:bodyPr>
          <a:lstStyle>
            <a:lvl1pPr lvl="0" marR="0" rtl="0" algn="r">
              <a:spcBef>
                <a:spcPts val="0"/>
              </a:spcBef>
              <a:spcAft>
                <a:spcPts val="0"/>
              </a:spcAft>
              <a:buSzPts val="1100"/>
              <a:buNone/>
              <a:defRPr b="0" i="0" sz="600" u="none" cap="none" strike="noStrike">
                <a:solidFill>
                  <a:schemeClr val="accent2"/>
                </a:solidFill>
                <a:latin typeface="Georgia"/>
                <a:ea typeface="Georgia"/>
                <a:cs typeface="Georgia"/>
                <a:sym typeface="Georgia"/>
              </a:defRPr>
            </a:lvl1pPr>
            <a:lvl2pPr lvl="1"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2pPr>
            <a:lvl3pPr lvl="2"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3pPr>
            <a:lvl4pPr lvl="3"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4pPr>
            <a:lvl5pPr lvl="4"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5pPr>
            <a:lvl6pPr lvl="5"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6pPr>
            <a:lvl7pPr lvl="6"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7pPr>
            <a:lvl8pPr lvl="7"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8pPr>
            <a:lvl9pPr lvl="8" marR="0" rtl="0" algn="l">
              <a:spcBef>
                <a:spcPts val="0"/>
              </a:spcBef>
              <a:spcAft>
                <a:spcPts val="0"/>
              </a:spcAft>
              <a:buSzPts val="1100"/>
              <a:buNone/>
              <a:defRPr b="0" i="0" sz="1400" u="none" cap="none" strike="noStrike">
                <a:solidFill>
                  <a:schemeClr val="dk1"/>
                </a:solidFill>
                <a:latin typeface="Georgia"/>
                <a:ea typeface="Georgia"/>
                <a:cs typeface="Georgia"/>
                <a:sym typeface="Georgia"/>
              </a:defRPr>
            </a:lvl9pPr>
          </a:lstStyle>
          <a:p/>
        </p:txBody>
      </p:sp>
      <p:sp>
        <p:nvSpPr>
          <p:cNvPr id="68" name="Google Shape;68;p13"/>
          <p:cNvSpPr txBox="1"/>
          <p:nvPr>
            <p:ph idx="12" type="sldNum"/>
          </p:nvPr>
        </p:nvSpPr>
        <p:spPr>
          <a:xfrm>
            <a:off x="8174736" y="1704"/>
            <a:ext cx="762000" cy="274320"/>
          </a:xfrm>
          <a:prstGeom prst="rect">
            <a:avLst/>
          </a:prstGeom>
          <a:noFill/>
          <a:ln>
            <a:noFill/>
          </a:ln>
        </p:spPr>
        <p:txBody>
          <a:bodyPr anchorCtr="0" anchor="b" bIns="34275" lIns="68575" spcFirstLastPara="1" rIns="68575" wrap="square" tIns="34275">
            <a:noAutofit/>
          </a:bodyPr>
          <a:lstStyle>
            <a:lvl1pPr indent="0" lvl="0" marL="0" marR="0" rtl="0" algn="r">
              <a:spcBef>
                <a:spcPts val="0"/>
              </a:spcBef>
              <a:buNone/>
              <a:defRPr b="0" i="0" sz="1400" u="none" cap="none" strike="noStrike">
                <a:solidFill>
                  <a:srgbClr val="FFFFFF"/>
                </a:solidFill>
                <a:latin typeface="Georgia"/>
                <a:ea typeface="Georgia"/>
                <a:cs typeface="Georgia"/>
                <a:sym typeface="Georgia"/>
              </a:defRPr>
            </a:lvl1pPr>
            <a:lvl2pPr indent="0" lvl="1" marL="0" marR="0" rtl="0" algn="r">
              <a:spcBef>
                <a:spcPts val="0"/>
              </a:spcBef>
              <a:buNone/>
              <a:defRPr b="0" i="0" sz="1400" u="none" cap="none" strike="noStrike">
                <a:solidFill>
                  <a:srgbClr val="FFFFFF"/>
                </a:solidFill>
                <a:latin typeface="Georgia"/>
                <a:ea typeface="Georgia"/>
                <a:cs typeface="Georgia"/>
                <a:sym typeface="Georgia"/>
              </a:defRPr>
            </a:lvl2pPr>
            <a:lvl3pPr indent="0" lvl="2" marL="0" marR="0" rtl="0" algn="r">
              <a:spcBef>
                <a:spcPts val="0"/>
              </a:spcBef>
              <a:buNone/>
              <a:defRPr b="0" i="0" sz="1400" u="none" cap="none" strike="noStrike">
                <a:solidFill>
                  <a:srgbClr val="FFFFFF"/>
                </a:solidFill>
                <a:latin typeface="Georgia"/>
                <a:ea typeface="Georgia"/>
                <a:cs typeface="Georgia"/>
                <a:sym typeface="Georgia"/>
              </a:defRPr>
            </a:lvl3pPr>
            <a:lvl4pPr indent="0" lvl="3" marL="0" marR="0" rtl="0" algn="r">
              <a:spcBef>
                <a:spcPts val="0"/>
              </a:spcBef>
              <a:buNone/>
              <a:defRPr b="0" i="0" sz="1400" u="none" cap="none" strike="noStrike">
                <a:solidFill>
                  <a:srgbClr val="FFFFFF"/>
                </a:solidFill>
                <a:latin typeface="Georgia"/>
                <a:ea typeface="Georgia"/>
                <a:cs typeface="Georgia"/>
                <a:sym typeface="Georgia"/>
              </a:defRPr>
            </a:lvl4pPr>
            <a:lvl5pPr indent="0" lvl="4" marL="0" marR="0" rtl="0" algn="r">
              <a:spcBef>
                <a:spcPts val="0"/>
              </a:spcBef>
              <a:buNone/>
              <a:defRPr b="0" i="0" sz="1400" u="none" cap="none" strike="noStrike">
                <a:solidFill>
                  <a:srgbClr val="FFFFFF"/>
                </a:solidFill>
                <a:latin typeface="Georgia"/>
                <a:ea typeface="Georgia"/>
                <a:cs typeface="Georgia"/>
                <a:sym typeface="Georgia"/>
              </a:defRPr>
            </a:lvl5pPr>
            <a:lvl6pPr indent="0" lvl="5" marL="0" marR="0" rtl="0" algn="r">
              <a:spcBef>
                <a:spcPts val="0"/>
              </a:spcBef>
              <a:buNone/>
              <a:defRPr b="0" i="0" sz="1400" u="none" cap="none" strike="noStrike">
                <a:solidFill>
                  <a:srgbClr val="FFFFFF"/>
                </a:solidFill>
                <a:latin typeface="Georgia"/>
                <a:ea typeface="Georgia"/>
                <a:cs typeface="Georgia"/>
                <a:sym typeface="Georgia"/>
              </a:defRPr>
            </a:lvl6pPr>
            <a:lvl7pPr indent="0" lvl="6" marL="0" marR="0" rtl="0" algn="r">
              <a:spcBef>
                <a:spcPts val="0"/>
              </a:spcBef>
              <a:buNone/>
              <a:defRPr b="0" i="0" sz="1400" u="none" cap="none" strike="noStrike">
                <a:solidFill>
                  <a:srgbClr val="FFFFFF"/>
                </a:solidFill>
                <a:latin typeface="Georgia"/>
                <a:ea typeface="Georgia"/>
                <a:cs typeface="Georgia"/>
                <a:sym typeface="Georgia"/>
              </a:defRPr>
            </a:lvl7pPr>
            <a:lvl8pPr indent="0" lvl="7" marL="0" marR="0" rtl="0" algn="r">
              <a:spcBef>
                <a:spcPts val="0"/>
              </a:spcBef>
              <a:buNone/>
              <a:defRPr b="0" i="0" sz="1400" u="none" cap="none" strike="noStrike">
                <a:solidFill>
                  <a:srgbClr val="FFFFFF"/>
                </a:solidFill>
                <a:latin typeface="Georgia"/>
                <a:ea typeface="Georgia"/>
                <a:cs typeface="Georgia"/>
                <a:sym typeface="Georgia"/>
              </a:defRPr>
            </a:lvl8pPr>
            <a:lvl9pPr indent="0" lvl="8" marL="0" marR="0" rtl="0" algn="r">
              <a:spcBef>
                <a:spcPts val="0"/>
              </a:spcBef>
              <a:buNone/>
              <a:defRPr b="0" i="0" sz="1400" u="none" cap="none" strike="noStrike">
                <a:solidFill>
                  <a:srgbClr val="FFFFFF"/>
                </a:solidFill>
                <a:latin typeface="Georgia"/>
                <a:ea typeface="Georgia"/>
                <a:cs typeface="Georgia"/>
                <a:sym typeface="Georgia"/>
              </a:defRPr>
            </a:lvl9pPr>
          </a:lstStyle>
          <a:p>
            <a:pPr indent="0" lvl="0" marL="0" rtl="0" algn="r">
              <a:spcBef>
                <a:spcPts val="0"/>
              </a:spcBef>
              <a:spcAft>
                <a:spcPts val="0"/>
              </a:spcAft>
              <a:buNone/>
            </a:pPr>
            <a:fld id="{00000000-1234-1234-1234-123412341234}" type="slidenum">
              <a:rPr lang="de"/>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3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hyperlink" Target="https://cloud.google.com/vertex-ai/generative-ai/docs/video/video-descriptions?hl=de" TargetMode="External"/><Relationship Id="rId11" Type="http://schemas.openxmlformats.org/officeDocument/2006/relationships/image" Target="../media/image18.png"/><Relationship Id="rId10" Type="http://schemas.openxmlformats.org/officeDocument/2006/relationships/image" Target="../media/image31.png"/><Relationship Id="rId9"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16.png"/><Relationship Id="rId7" Type="http://schemas.openxmlformats.org/officeDocument/2006/relationships/image" Target="../media/image13.png"/><Relationship Id="rId8"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0.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2.png"/><Relationship Id="rId5" Type="http://schemas.openxmlformats.org/officeDocument/2006/relationships/image" Target="../media/image24.png"/><Relationship Id="rId6" Type="http://schemas.openxmlformats.org/officeDocument/2006/relationships/image" Target="../media/image14.png"/><Relationship Id="rId7"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hyperlink" Target="https://cloud.google.com/vertex-ai/generative-ai/docs/learn/models?hl=de#gemini-models" TargetMode="External"/><Relationship Id="rId4" Type="http://schemas.openxmlformats.org/officeDocument/2006/relationships/hyperlink" Target="https://console.cloud.google.com/vertex-ai/publishers/google/model-garden/gemini-1.5-pro-002?hl=de&amp;inv=1&amp;invt=AbwOaw" TargetMode="External"/><Relationship Id="rId5" Type="http://schemas.openxmlformats.org/officeDocument/2006/relationships/image" Target="../media/image26.png"/><Relationship Id="rId6" Type="http://schemas.openxmlformats.org/officeDocument/2006/relationships/image" Target="../media/image22.png"/></Relationships>
</file>

<file path=ppt/slides/_rels/slide17.xml.rels><?xml version="1.0" encoding="UTF-8" standalone="yes"?><Relationships xmlns="http://schemas.openxmlformats.org/package/2006/relationships"><Relationship Id="rId11" Type="http://schemas.openxmlformats.org/officeDocument/2006/relationships/hyperlink" Target="https://www.cloudskillsboost.google/focuses/109489?parent=catalog" TargetMode="External"/><Relationship Id="rId10" Type="http://schemas.openxmlformats.org/officeDocument/2006/relationships/hyperlink" Target="https://www.cloudskillsboost.google/focuses/109489?parent=catalog" TargetMode="External"/><Relationship Id="rId13" Type="http://schemas.openxmlformats.org/officeDocument/2006/relationships/hyperlink" Target="https://console.cloud.google.com/vertex-ai/publishers/google/model-garden/gemini-1.5-pro-002?hl=de&amp;inv=1&amp;invt=AbwOaw" TargetMode="External"/><Relationship Id="rId12" Type="http://schemas.openxmlformats.org/officeDocument/2006/relationships/hyperlink" Target="https://console.cloud.google.com/vertex-ai/publishers/google/model-garden/gemini-1.5-pro-002?hl=de&amp;inv=1&amp;invt=AbwOaw" TargetMode="External"/><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hyperlink" Target="https://www.cloudskillsboost.google/focuses/86502?parent=catalog" TargetMode="External"/><Relationship Id="rId4" Type="http://schemas.openxmlformats.org/officeDocument/2006/relationships/hyperlink" Target="https://www.cloudskillsboost.google/focuses/86503?parent=catalog" TargetMode="External"/><Relationship Id="rId9" Type="http://schemas.openxmlformats.org/officeDocument/2006/relationships/hyperlink" Target="https://www.cloudskillsboost.google/focuses/109489?parent=catalog" TargetMode="External"/><Relationship Id="rId14" Type="http://schemas.openxmlformats.org/officeDocument/2006/relationships/image" Target="../media/image35.png"/><Relationship Id="rId5" Type="http://schemas.openxmlformats.org/officeDocument/2006/relationships/hyperlink" Target="https://www.cloudskillsboost.google/focuses/21234?parent=catalog" TargetMode="External"/><Relationship Id="rId6" Type="http://schemas.openxmlformats.org/officeDocument/2006/relationships/hyperlink" Target="https://www.cloudskillsboost.google/focuses/104690?parent=catalog" TargetMode="External"/><Relationship Id="rId7" Type="http://schemas.openxmlformats.org/officeDocument/2006/relationships/hyperlink" Target="https://www.cloudskillsboost.google/focuses/104690?parent=catalog" TargetMode="External"/><Relationship Id="rId8" Type="http://schemas.openxmlformats.org/officeDocument/2006/relationships/hyperlink" Target="https://www.cloudskillsboost.google/focuses/603?locale=de&amp;parent=catalo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29.png"/><Relationship Id="rId5" Type="http://schemas.openxmlformats.org/officeDocument/2006/relationships/image" Target="../media/image33.png"/><Relationship Id="rId6" Type="http://schemas.openxmlformats.org/officeDocument/2006/relationships/image" Target="../media/image32.png"/></Relationships>
</file>

<file path=ppt/slides/_rels/slide20.xml.rels><?xml version="1.0" encoding="UTF-8" standalone="yes"?><Relationships xmlns="http://schemas.openxmlformats.org/package/2006/relationships"><Relationship Id="rId10" Type="http://schemas.openxmlformats.org/officeDocument/2006/relationships/image" Target="../media/image6.png"/><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2.png"/><Relationship Id="rId4" Type="http://schemas.openxmlformats.org/officeDocument/2006/relationships/image" Target="../media/image34.png"/><Relationship Id="rId9" Type="http://schemas.openxmlformats.org/officeDocument/2006/relationships/image" Target="../media/image23.png"/><Relationship Id="rId5" Type="http://schemas.openxmlformats.org/officeDocument/2006/relationships/image" Target="../media/image29.png"/><Relationship Id="rId6" Type="http://schemas.openxmlformats.org/officeDocument/2006/relationships/image" Target="../media/image8.png"/><Relationship Id="rId7" Type="http://schemas.openxmlformats.org/officeDocument/2006/relationships/image" Target="../media/image7.png"/><Relationship Id="rId8"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nvSpPr>
        <p:spPr>
          <a:xfrm>
            <a:off x="305527" y="303498"/>
            <a:ext cx="4266473" cy="1931587"/>
          </a:xfrm>
          <a:prstGeom prst="rect">
            <a:avLst/>
          </a:prstGeom>
          <a:noFill/>
          <a:ln>
            <a:noFill/>
          </a:ln>
        </p:spPr>
        <p:txBody>
          <a:bodyPr anchorCtr="0" anchor="t" bIns="34275" lIns="68575" spcFirstLastPara="1" rIns="68575" wrap="square" tIns="34275">
            <a:spAutoFit/>
          </a:bodyPr>
          <a:lstStyle/>
          <a:p>
            <a:pPr indent="0" lvl="0" marL="0" marR="0" rtl="0" algn="l">
              <a:lnSpc>
                <a:spcPct val="150000"/>
              </a:lnSpc>
              <a:spcBef>
                <a:spcPts val="0"/>
              </a:spcBef>
              <a:spcAft>
                <a:spcPts val="0"/>
              </a:spcAft>
              <a:buNone/>
            </a:pPr>
            <a:r>
              <a:rPr b="0" i="0" lang="de" sz="1800" u="none" cap="none" strike="noStrike">
                <a:solidFill>
                  <a:schemeClr val="lt1"/>
                </a:solidFill>
                <a:latin typeface="Verdana"/>
                <a:ea typeface="Verdana"/>
                <a:cs typeface="Verdana"/>
                <a:sym typeface="Verdana"/>
              </a:rPr>
              <a:t>Audiodeskription</a:t>
            </a:r>
            <a:endParaRPr sz="1100"/>
          </a:p>
          <a:p>
            <a:pPr indent="-222250" lvl="0" marL="215900" marR="0" rtl="0" algn="l">
              <a:lnSpc>
                <a:spcPct val="150000"/>
              </a:lnSpc>
              <a:spcBef>
                <a:spcPts val="0"/>
              </a:spcBef>
              <a:spcAft>
                <a:spcPts val="0"/>
              </a:spcAft>
              <a:buClr>
                <a:schemeClr val="lt1"/>
              </a:buClr>
              <a:buSzPts val="1100"/>
              <a:buFont typeface="Verdana"/>
              <a:buChar char="-"/>
            </a:pPr>
            <a:r>
              <a:rPr b="0" i="0" lang="de" sz="1100" u="none" cap="none" strike="noStrike">
                <a:solidFill>
                  <a:schemeClr val="lt1"/>
                </a:solidFill>
                <a:latin typeface="Verdana"/>
                <a:ea typeface="Verdana"/>
                <a:cs typeface="Verdana"/>
                <a:sym typeface="Verdana"/>
              </a:rPr>
              <a:t>KI-Modelle für die Analyse visueller Daten –</a:t>
            </a:r>
            <a:endParaRPr sz="1100"/>
          </a:p>
          <a:p>
            <a:pPr indent="0" lvl="0" marL="0" marR="0" rtl="0" algn="l">
              <a:lnSpc>
                <a:spcPct val="150000"/>
              </a:lnSpc>
              <a:spcBef>
                <a:spcPts val="0"/>
              </a:spcBef>
              <a:spcAft>
                <a:spcPts val="0"/>
              </a:spcAft>
              <a:buNone/>
            </a:pPr>
            <a:r>
              <a:t/>
            </a:r>
            <a:endParaRPr b="0" i="0" sz="1400" u="none" cap="none" strike="noStrike">
              <a:solidFill>
                <a:schemeClr val="lt1"/>
              </a:solidFill>
              <a:latin typeface="Verdana"/>
              <a:ea typeface="Verdana"/>
              <a:cs typeface="Verdana"/>
              <a:sym typeface="Verdana"/>
            </a:endParaRPr>
          </a:p>
          <a:p>
            <a:pPr indent="0" lvl="0" marL="0" marR="0" rtl="0" algn="l">
              <a:lnSpc>
                <a:spcPct val="150000"/>
              </a:lnSpc>
              <a:spcBef>
                <a:spcPts val="0"/>
              </a:spcBef>
              <a:spcAft>
                <a:spcPts val="0"/>
              </a:spcAft>
              <a:buNone/>
            </a:pPr>
            <a:r>
              <a:rPr b="0" i="0" lang="de" sz="1400" u="none" cap="none" strike="noStrike">
                <a:solidFill>
                  <a:schemeClr val="lt1"/>
                </a:solidFill>
                <a:latin typeface="Verdana"/>
                <a:ea typeface="Verdana"/>
                <a:cs typeface="Verdana"/>
                <a:sym typeface="Verdana"/>
              </a:rPr>
              <a:t>06.05. / 07.05.2025</a:t>
            </a:r>
            <a:endParaRPr b="0" i="0" sz="1400" u="none" cap="none" strike="noStrike">
              <a:solidFill>
                <a:schemeClr val="lt1"/>
              </a:solidFill>
              <a:latin typeface="Verdana"/>
              <a:ea typeface="Verdana"/>
              <a:cs typeface="Verdana"/>
              <a:sym typeface="Verdana"/>
            </a:endParaRPr>
          </a:p>
          <a:p>
            <a:pPr indent="0" lvl="0" marL="0" marR="0" rtl="0" algn="l">
              <a:lnSpc>
                <a:spcPct val="150000"/>
              </a:lnSpc>
              <a:spcBef>
                <a:spcPts val="0"/>
              </a:spcBef>
              <a:spcAft>
                <a:spcPts val="0"/>
              </a:spcAft>
              <a:buNone/>
            </a:pPr>
            <a:r>
              <a:t/>
            </a:r>
            <a:endParaRPr b="0" i="0" sz="1400" u="none" cap="none" strike="noStrike">
              <a:solidFill>
                <a:schemeClr val="lt1"/>
              </a:solidFill>
              <a:latin typeface="Verdana"/>
              <a:ea typeface="Verdana"/>
              <a:cs typeface="Verdana"/>
              <a:sym typeface="Verdana"/>
            </a:endParaRPr>
          </a:p>
          <a:p>
            <a:pPr indent="0" lvl="0" marL="0" marR="0" rtl="0" algn="l">
              <a:lnSpc>
                <a:spcPct val="150000"/>
              </a:lnSpc>
              <a:spcBef>
                <a:spcPts val="0"/>
              </a:spcBef>
              <a:spcAft>
                <a:spcPts val="0"/>
              </a:spcAft>
              <a:buNone/>
            </a:pPr>
            <a:r>
              <a:rPr b="0" i="0" lang="de" sz="1400" u="none" cap="none" strike="noStrike">
                <a:solidFill>
                  <a:schemeClr val="lt1"/>
                </a:solidFill>
                <a:latin typeface="Verdana"/>
                <a:ea typeface="Verdana"/>
                <a:cs typeface="Verdana"/>
                <a:sym typeface="Verdana"/>
              </a:rPr>
              <a:t>Projektgruppe</a:t>
            </a:r>
            <a:endParaRPr b="0" i="0" sz="1400" u="none" cap="none" strike="noStrike">
              <a:solidFill>
                <a:schemeClr val="lt1"/>
              </a:solidFill>
              <a:latin typeface="Verdana"/>
              <a:ea typeface="Verdana"/>
              <a:cs typeface="Verdana"/>
              <a:sym typeface="Verdana"/>
            </a:endParaRPr>
          </a:p>
        </p:txBody>
      </p:sp>
      <p:sp>
        <p:nvSpPr>
          <p:cNvPr id="163" name="Google Shape;163;p25"/>
          <p:cNvSpPr txBox="1"/>
          <p:nvPr>
            <p:ph idx="1" type="subTitle"/>
          </p:nvPr>
        </p:nvSpPr>
        <p:spPr>
          <a:xfrm>
            <a:off x="251520" y="3219822"/>
            <a:ext cx="3456384" cy="1620180"/>
          </a:xfrm>
          <a:prstGeom prst="rect">
            <a:avLst/>
          </a:prstGeom>
          <a:noFill/>
          <a:ln>
            <a:noFill/>
          </a:ln>
        </p:spPr>
        <p:txBody>
          <a:bodyPr anchorCtr="0" anchor="t" bIns="34275" lIns="68575" spcFirstLastPara="1" rIns="68575" wrap="square" tIns="34275">
            <a:normAutofit/>
          </a:bodyPr>
          <a:lstStyle/>
          <a:p>
            <a:pPr indent="0" lvl="0" marL="50800" rtl="0" algn="l">
              <a:lnSpc>
                <a:spcPct val="150000"/>
              </a:lnSpc>
              <a:spcBef>
                <a:spcPts val="0"/>
              </a:spcBef>
              <a:spcAft>
                <a:spcPts val="0"/>
              </a:spcAft>
              <a:buSzPts val="1100"/>
              <a:buNone/>
            </a:pPr>
            <a:r>
              <a:rPr lang="de" sz="1100" u="sng">
                <a:latin typeface="Verdana"/>
                <a:ea typeface="Verdana"/>
                <a:cs typeface="Verdana"/>
                <a:sym typeface="Verdana"/>
              </a:rPr>
              <a:t>Referenten</a:t>
            </a:r>
            <a:endParaRPr/>
          </a:p>
          <a:p>
            <a:pPr indent="0" lvl="0" marL="50800" rtl="0" algn="l">
              <a:lnSpc>
                <a:spcPct val="150000"/>
              </a:lnSpc>
              <a:spcBef>
                <a:spcPts val="200"/>
              </a:spcBef>
              <a:spcAft>
                <a:spcPts val="0"/>
              </a:spcAft>
              <a:buSzPts val="1100"/>
              <a:buNone/>
            </a:pPr>
            <a:r>
              <a:rPr lang="de" sz="1100">
                <a:latin typeface="Verdana"/>
                <a:ea typeface="Verdana"/>
                <a:cs typeface="Verdana"/>
                <a:sym typeface="Verdana"/>
              </a:rPr>
              <a:t>Koch, Claus-Peter</a:t>
            </a:r>
            <a:endParaRPr/>
          </a:p>
          <a:p>
            <a:pPr indent="0" lvl="0" marL="50800" rtl="0" algn="l">
              <a:lnSpc>
                <a:spcPct val="150000"/>
              </a:lnSpc>
              <a:spcBef>
                <a:spcPts val="200"/>
              </a:spcBef>
              <a:spcAft>
                <a:spcPts val="0"/>
              </a:spcAft>
              <a:buSzPts val="1100"/>
              <a:buNone/>
            </a:pPr>
            <a:r>
              <a:rPr lang="de" sz="1100">
                <a:latin typeface="Verdana"/>
                <a:ea typeface="Verdana"/>
                <a:cs typeface="Verdana"/>
                <a:sym typeface="Verdana"/>
              </a:rPr>
              <a:t>Neuhalfen, Felicitas</a:t>
            </a:r>
            <a:endParaRPr/>
          </a:p>
          <a:p>
            <a:pPr indent="0" lvl="0" marL="50800" rtl="0" algn="l">
              <a:lnSpc>
                <a:spcPct val="150000"/>
              </a:lnSpc>
              <a:spcBef>
                <a:spcPts val="200"/>
              </a:spcBef>
              <a:spcAft>
                <a:spcPts val="0"/>
              </a:spcAft>
              <a:buSzPts val="1100"/>
              <a:buNone/>
            </a:pPr>
            <a:r>
              <a:rPr lang="de" sz="1100">
                <a:latin typeface="Verdana"/>
                <a:ea typeface="Verdana"/>
                <a:cs typeface="Verdana"/>
                <a:sym typeface="Verdana"/>
              </a:rPr>
              <a:t>Ysop, Dietmar</a:t>
            </a:r>
            <a:endParaRPr/>
          </a:p>
        </p:txBody>
      </p:sp>
      <p:pic>
        <p:nvPicPr>
          <p:cNvPr id="164" name="Google Shape;164;p25"/>
          <p:cNvPicPr preferRelativeResize="0"/>
          <p:nvPr/>
        </p:nvPicPr>
        <p:blipFill rotWithShape="1">
          <a:blip r:embed="rId3">
            <a:alphaModFix/>
          </a:blip>
          <a:srcRect b="0" l="0" r="0" t="0"/>
          <a:stretch/>
        </p:blipFill>
        <p:spPr>
          <a:xfrm>
            <a:off x="6030162" y="4266322"/>
            <a:ext cx="2881384" cy="706035"/>
          </a:xfrm>
          <a:prstGeom prst="rect">
            <a:avLst/>
          </a:prstGeom>
          <a:noFill/>
          <a:ln>
            <a:noFill/>
          </a:ln>
        </p:spPr>
      </p:pic>
      <p:pic>
        <p:nvPicPr>
          <p:cNvPr descr="Ein Bild, das Screenshot, Raum, Kreis, Licht enthält." id="165" name="Google Shape;165;p25"/>
          <p:cNvPicPr preferRelativeResize="0"/>
          <p:nvPr/>
        </p:nvPicPr>
        <p:blipFill rotWithShape="1">
          <a:blip r:embed="rId4">
            <a:alphaModFix/>
          </a:blip>
          <a:srcRect b="0" l="0" r="0" t="0"/>
          <a:stretch/>
        </p:blipFill>
        <p:spPr>
          <a:xfrm>
            <a:off x="4572000" y="0"/>
            <a:ext cx="4572000" cy="2781000"/>
          </a:xfrm>
          <a:prstGeom prst="rect">
            <a:avLst/>
          </a:prstGeom>
          <a:noFill/>
          <a:ln>
            <a:noFill/>
          </a:ln>
        </p:spPr>
      </p:pic>
      <p:sp>
        <p:nvSpPr>
          <p:cNvPr id="166" name="Google Shape;166;p25"/>
          <p:cNvSpPr/>
          <p:nvPr/>
        </p:nvSpPr>
        <p:spPr>
          <a:xfrm>
            <a:off x="4572000" y="0"/>
            <a:ext cx="4572000" cy="2764800"/>
          </a:xfrm>
          <a:prstGeom prst="rect">
            <a:avLst/>
          </a:prstGeom>
          <a:solidFill>
            <a:srgbClr val="424456">
              <a:alpha val="29803"/>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idx="12" type="sldNum"/>
          </p:nvPr>
        </p:nvSpPr>
        <p:spPr>
          <a:xfrm>
            <a:off x="6624228" y="0"/>
            <a:ext cx="1221324" cy="276024"/>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r>
              <a:rPr lang="de">
                <a:latin typeface="Verdana"/>
                <a:ea typeface="Verdana"/>
                <a:cs typeface="Verdana"/>
                <a:sym typeface="Verdana"/>
              </a:rPr>
              <a:t>Seite </a:t>
            </a:r>
            <a:fld id="{00000000-1234-1234-1234-123412341234}" type="slidenum">
              <a:rPr lang="de">
                <a:latin typeface="Verdana"/>
                <a:ea typeface="Verdana"/>
                <a:cs typeface="Verdana"/>
                <a:sym typeface="Verdana"/>
              </a:rPr>
              <a:t>‹#›</a:t>
            </a:fld>
            <a:endParaRPr>
              <a:latin typeface="Verdana"/>
              <a:ea typeface="Verdana"/>
              <a:cs typeface="Verdana"/>
              <a:sym typeface="Verdana"/>
            </a:endParaRPr>
          </a:p>
        </p:txBody>
      </p:sp>
      <p:sp>
        <p:nvSpPr>
          <p:cNvPr id="172" name="Google Shape;172;p26"/>
          <p:cNvSpPr/>
          <p:nvPr/>
        </p:nvSpPr>
        <p:spPr>
          <a:xfrm>
            <a:off x="305526" y="1468111"/>
            <a:ext cx="3123692" cy="2562240"/>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900"/>
              <a:buFont typeface="Arial"/>
              <a:buNone/>
            </a:pPr>
            <a:r>
              <a:rPr b="1" i="0" lang="de" sz="900" u="none" cap="none" strike="noStrike">
                <a:solidFill>
                  <a:schemeClr val="dk1"/>
                </a:solidFill>
                <a:latin typeface="Arial"/>
                <a:ea typeface="Arial"/>
                <a:cs typeface="Arial"/>
                <a:sym typeface="Arial"/>
              </a:rPr>
              <a:t>1️⃣ Ausgangslage</a:t>
            </a:r>
            <a:endParaRPr sz="1100"/>
          </a:p>
          <a:p>
            <a:pPr indent="0" lvl="0" marL="0" marR="0" rtl="0" algn="l">
              <a:lnSpc>
                <a:spcPct val="100000"/>
              </a:lnSpc>
              <a:spcBef>
                <a:spcPts val="0"/>
              </a:spcBef>
              <a:spcAft>
                <a:spcPts val="0"/>
              </a:spcAft>
              <a:buClr>
                <a:schemeClr val="dk1"/>
              </a:buClr>
              <a:buSzPts val="900"/>
              <a:buFont typeface="Georgia"/>
              <a:buNone/>
            </a:pPr>
            <a:r>
              <a:t/>
            </a:r>
            <a:endParaRPr b="1" i="0" sz="900" u="none" cap="none" strike="noStrike">
              <a:solidFill>
                <a:schemeClr val="dk1"/>
              </a:solidFill>
              <a:latin typeface="Arial"/>
              <a:ea typeface="Arial"/>
              <a:cs typeface="Arial"/>
              <a:sym typeface="Arial"/>
            </a:endParaRPr>
          </a:p>
          <a:p>
            <a:pPr indent="-120650" lvl="0" marL="127000" marR="0" rtl="0" algn="l">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Mediennutzung und Barrierefreiheit </a:t>
            </a:r>
            <a:endParaRPr sz="1100"/>
          </a:p>
          <a:p>
            <a:pPr indent="-120650" lvl="0" marL="127000" marR="0" rtl="0" algn="l">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Stand der Wissenschaft und technologischer Fortschritt​ </a:t>
            </a:r>
            <a:endParaRPr sz="1100"/>
          </a:p>
          <a:p>
            <a:pPr indent="0" lvl="0" marL="0" marR="0" rtl="0" algn="l">
              <a:lnSpc>
                <a:spcPct val="100000"/>
              </a:lnSpc>
              <a:spcBef>
                <a:spcPts val="0"/>
              </a:spcBef>
              <a:spcAft>
                <a:spcPts val="0"/>
              </a:spcAft>
              <a:buNone/>
            </a:pPr>
            <a:r>
              <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900"/>
              <a:buFont typeface="Arial"/>
              <a:buNone/>
            </a:pPr>
            <a:r>
              <a:rPr b="1" i="0" lang="de" sz="900" u="none" cap="none" strike="noStrike">
                <a:solidFill>
                  <a:schemeClr val="dk1"/>
                </a:solidFill>
                <a:latin typeface="Arial"/>
                <a:ea typeface="Arial"/>
                <a:cs typeface="Arial"/>
                <a:sym typeface="Arial"/>
              </a:rPr>
              <a:t>2️⃣  Data Pipeline</a:t>
            </a:r>
            <a:endParaRPr sz="1100"/>
          </a:p>
          <a:p>
            <a:pPr indent="0" lvl="0" marL="0" marR="0" rtl="0" algn="l">
              <a:lnSpc>
                <a:spcPct val="100000"/>
              </a:lnSpc>
              <a:spcBef>
                <a:spcPts val="0"/>
              </a:spcBef>
              <a:spcAft>
                <a:spcPts val="0"/>
              </a:spcAft>
              <a:buClr>
                <a:schemeClr val="dk1"/>
              </a:buClr>
              <a:buSzPts val="900"/>
              <a:buFont typeface="Georgia"/>
              <a:buNone/>
            </a:pPr>
            <a:r>
              <a:t/>
            </a:r>
            <a:endParaRPr b="1" i="0" sz="900" u="none" cap="none" strike="noStrike">
              <a:solidFill>
                <a:schemeClr val="dk1"/>
              </a:solidFill>
              <a:latin typeface="Arial"/>
              <a:ea typeface="Arial"/>
              <a:cs typeface="Arial"/>
              <a:sym typeface="Arial"/>
            </a:endParaRPr>
          </a:p>
          <a:p>
            <a:pPr indent="-120650" lvl="0" marL="127000" marR="0" rtl="0" algn="just">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Eingabe &amp; Vorverarbeitung </a:t>
            </a:r>
            <a:endParaRPr sz="1100"/>
          </a:p>
          <a:p>
            <a:pPr indent="-120650" lvl="0" marL="127000" marR="0" rtl="0" algn="just">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Visuelle Analyse &amp; Beschreibung </a:t>
            </a:r>
            <a:endParaRPr sz="1100"/>
          </a:p>
          <a:p>
            <a:pPr indent="-120650" lvl="0" marL="127000" marR="0" rtl="0" algn="just">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Ausgabe, Evaluation &amp; Optimierung</a:t>
            </a:r>
            <a:endParaRPr sz="1100"/>
          </a:p>
          <a:p>
            <a:pPr indent="-63500" lvl="0" marL="127000" marR="0" rtl="0" algn="just">
              <a:lnSpc>
                <a:spcPct val="100000"/>
              </a:lnSpc>
              <a:spcBef>
                <a:spcPts val="0"/>
              </a:spcBef>
              <a:spcAft>
                <a:spcPts val="0"/>
              </a:spcAft>
              <a:buClr>
                <a:schemeClr val="dk1"/>
              </a:buClr>
              <a:buSzPts val="900"/>
              <a:buFont typeface="Noto Sans Symbols"/>
              <a:buNone/>
            </a:pPr>
            <a:r>
              <a:t/>
            </a:r>
            <a:endParaRPr b="0" i="0" sz="9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9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900"/>
              <a:buFont typeface="Arial"/>
              <a:buNone/>
            </a:pPr>
            <a:r>
              <a:rPr b="0" i="0" lang="de" sz="900" u="none" cap="none" strike="noStrike">
                <a:solidFill>
                  <a:schemeClr val="dk1"/>
                </a:solidFill>
                <a:latin typeface="Arial"/>
                <a:ea typeface="Arial"/>
                <a:cs typeface="Arial"/>
                <a:sym typeface="Arial"/>
              </a:rPr>
              <a:t>3️⃣ </a:t>
            </a:r>
            <a:r>
              <a:rPr b="1" i="0" lang="de" sz="900" u="none" cap="none" strike="noStrike">
                <a:solidFill>
                  <a:schemeClr val="dk1"/>
                </a:solidFill>
                <a:latin typeface="Arial"/>
                <a:ea typeface="Arial"/>
                <a:cs typeface="Arial"/>
                <a:sym typeface="Arial"/>
              </a:rPr>
              <a:t> Modell-Kriterien und Bewertung</a:t>
            </a:r>
            <a:endParaRPr sz="1100"/>
          </a:p>
          <a:p>
            <a:pPr indent="0" lvl="0" marL="0" marR="0" rtl="0" algn="l">
              <a:lnSpc>
                <a:spcPct val="100000"/>
              </a:lnSpc>
              <a:spcBef>
                <a:spcPts val="0"/>
              </a:spcBef>
              <a:spcAft>
                <a:spcPts val="0"/>
              </a:spcAft>
              <a:buClr>
                <a:schemeClr val="dk1"/>
              </a:buClr>
              <a:buSzPts val="900"/>
              <a:buFont typeface="Georgia"/>
              <a:buNone/>
            </a:pPr>
            <a:r>
              <a:t/>
            </a:r>
            <a:endParaRPr b="0" i="0" sz="900" u="none" cap="none" strike="noStrike">
              <a:solidFill>
                <a:schemeClr val="dk1"/>
              </a:solidFill>
              <a:latin typeface="Arial"/>
              <a:ea typeface="Arial"/>
              <a:cs typeface="Arial"/>
              <a:sym typeface="Arial"/>
            </a:endParaRPr>
          </a:p>
          <a:p>
            <a:pPr indent="-120650" lvl="0" marL="127000" marR="0" rtl="0" algn="l">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Heatmap möglicher Modelle </a:t>
            </a:r>
            <a:endParaRPr sz="1100"/>
          </a:p>
          <a:p>
            <a:pPr indent="-120650" lvl="0" marL="127000" marR="0" rtl="0" algn="l">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Prozess und Modell</a:t>
            </a:r>
            <a:endParaRPr sz="1100"/>
          </a:p>
          <a:p>
            <a:pPr indent="-120650" lvl="0" marL="127000" marR="0" rtl="0" algn="l">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a:t>
            </a:r>
            <a:endParaRPr b="0" i="0" sz="900" u="none" cap="none" strike="noStrike">
              <a:solidFill>
                <a:schemeClr val="dk1"/>
              </a:solidFill>
              <a:latin typeface="Arial"/>
              <a:ea typeface="Arial"/>
              <a:cs typeface="Arial"/>
              <a:sym typeface="Arial"/>
            </a:endParaRPr>
          </a:p>
        </p:txBody>
      </p:sp>
      <p:sp>
        <p:nvSpPr>
          <p:cNvPr id="173" name="Google Shape;173;p26"/>
          <p:cNvSpPr/>
          <p:nvPr/>
        </p:nvSpPr>
        <p:spPr>
          <a:xfrm>
            <a:off x="5349028" y="1468978"/>
            <a:ext cx="1599236" cy="3046988"/>
          </a:xfrm>
          <a:prstGeom prst="rect">
            <a:avLst/>
          </a:prstGeom>
          <a:noFill/>
          <a:ln>
            <a:noFill/>
          </a:ln>
        </p:spPr>
        <p:txBody>
          <a:bodyPr anchorCtr="0" anchor="ctr" bIns="34275" lIns="68575" spcFirstLastPara="1" rIns="68575" wrap="square" tIns="34275">
            <a:noAutofit/>
          </a:bodyPr>
          <a:lstStyle/>
          <a:p>
            <a:pPr indent="0" lvl="0" marL="0" marR="0" rtl="0" algn="l">
              <a:lnSpc>
                <a:spcPct val="100000"/>
              </a:lnSpc>
              <a:spcBef>
                <a:spcPts val="0"/>
              </a:spcBef>
              <a:spcAft>
                <a:spcPts val="0"/>
              </a:spcAft>
              <a:buClr>
                <a:schemeClr val="dk1"/>
              </a:buClr>
              <a:buSzPts val="900"/>
              <a:buFont typeface="Arial"/>
              <a:buNone/>
            </a:pPr>
            <a:r>
              <a:rPr b="0" i="0" lang="de" sz="900" u="none" cap="none" strike="noStrike">
                <a:solidFill>
                  <a:schemeClr val="dk1"/>
                </a:solidFill>
                <a:latin typeface="Arial"/>
                <a:ea typeface="Arial"/>
                <a:cs typeface="Arial"/>
                <a:sym typeface="Arial"/>
              </a:rPr>
              <a:t>​4️⃣ </a:t>
            </a:r>
            <a:r>
              <a:rPr b="1" i="0" lang="de" sz="900" u="none" cap="none" strike="noStrike">
                <a:solidFill>
                  <a:schemeClr val="dk1"/>
                </a:solidFill>
                <a:latin typeface="Arial"/>
                <a:ea typeface="Arial"/>
                <a:cs typeface="Arial"/>
                <a:sym typeface="Arial"/>
              </a:rPr>
              <a:t> Weitere Modellansätze</a:t>
            </a:r>
            <a:endParaRPr sz="1100"/>
          </a:p>
          <a:p>
            <a:pPr indent="0" lvl="0" marL="0" marR="0" rtl="0" algn="l">
              <a:lnSpc>
                <a:spcPct val="100000"/>
              </a:lnSpc>
              <a:spcBef>
                <a:spcPts val="0"/>
              </a:spcBef>
              <a:spcAft>
                <a:spcPts val="0"/>
              </a:spcAft>
              <a:buClr>
                <a:schemeClr val="dk1"/>
              </a:buClr>
              <a:buSzPts val="900"/>
              <a:buFont typeface="Georgia"/>
              <a:buNone/>
            </a:pPr>
            <a:r>
              <a:t/>
            </a:r>
            <a:endParaRPr b="0" i="0" sz="900" u="none" cap="none" strike="noStrike">
              <a:solidFill>
                <a:schemeClr val="dk1"/>
              </a:solidFill>
              <a:latin typeface="Arial"/>
              <a:ea typeface="Arial"/>
              <a:cs typeface="Arial"/>
              <a:sym typeface="Arial"/>
            </a:endParaRPr>
          </a:p>
          <a:p>
            <a:pPr indent="-120650" lvl="0" marL="127000" marR="0" rtl="0" algn="l">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Vertex AI </a:t>
            </a:r>
            <a:endParaRPr sz="1100"/>
          </a:p>
          <a:p>
            <a:pPr indent="-120650" lvl="0" marL="127000" marR="0" rtl="0" algn="l">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Gemini AI </a:t>
            </a:r>
            <a:endParaRPr sz="1100"/>
          </a:p>
          <a:p>
            <a:pPr indent="-120650" lvl="0" marL="127000" marR="0" rtl="0" algn="l">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tbd </a:t>
            </a:r>
            <a:endParaRPr sz="1100"/>
          </a:p>
          <a:p>
            <a:pPr indent="-120650" lvl="0" marL="127000" marR="0" rtl="0" algn="l">
              <a:lnSpc>
                <a:spcPct val="100000"/>
              </a:lnSpc>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​tbd</a:t>
            </a:r>
            <a:endParaRPr sz="1100"/>
          </a:p>
          <a:p>
            <a:pPr indent="-63500" lvl="0" marL="127000" marR="0" rtl="0" algn="l">
              <a:lnSpc>
                <a:spcPct val="100000"/>
              </a:lnSpc>
              <a:spcBef>
                <a:spcPts val="0"/>
              </a:spcBef>
              <a:spcAft>
                <a:spcPts val="0"/>
              </a:spcAft>
              <a:buClr>
                <a:schemeClr val="dk1"/>
              </a:buClr>
              <a:buSzPts val="900"/>
              <a:buFont typeface="Noto Sans Symbols"/>
              <a:buNone/>
            </a:pPr>
            <a:r>
              <a:t/>
            </a:r>
            <a:endParaRPr b="0" i="0" sz="900" u="none" cap="none" strike="noStrike">
              <a:solidFill>
                <a:schemeClr val="dk1"/>
              </a:solidFill>
              <a:latin typeface="Arial"/>
              <a:ea typeface="Arial"/>
              <a:cs typeface="Arial"/>
              <a:sym typeface="Arial"/>
            </a:endParaRPr>
          </a:p>
          <a:p>
            <a:pPr indent="-63500" lvl="0" marL="127000" marR="0" rtl="0" algn="l">
              <a:lnSpc>
                <a:spcPct val="100000"/>
              </a:lnSpc>
              <a:spcBef>
                <a:spcPts val="0"/>
              </a:spcBef>
              <a:spcAft>
                <a:spcPts val="0"/>
              </a:spcAft>
              <a:buClr>
                <a:schemeClr val="dk1"/>
              </a:buClr>
              <a:buSzPts val="900"/>
              <a:buFont typeface="Noto Sans Symbols"/>
              <a:buNone/>
            </a:pPr>
            <a:r>
              <a:t/>
            </a:r>
            <a:endParaRPr b="0" i="0" sz="900" u="none" cap="none" strike="noStrike">
              <a:solidFill>
                <a:schemeClr val="dk1"/>
              </a:solidFill>
              <a:latin typeface="Arial"/>
              <a:ea typeface="Arial"/>
              <a:cs typeface="Arial"/>
              <a:sym typeface="Arial"/>
            </a:endParaRPr>
          </a:p>
          <a:p>
            <a:pPr indent="-63500" lvl="0" marL="127000" marR="0" rtl="0" algn="l">
              <a:lnSpc>
                <a:spcPct val="100000"/>
              </a:lnSpc>
              <a:spcBef>
                <a:spcPts val="0"/>
              </a:spcBef>
              <a:spcAft>
                <a:spcPts val="0"/>
              </a:spcAft>
              <a:buClr>
                <a:schemeClr val="dk1"/>
              </a:buClr>
              <a:buSzPts val="900"/>
              <a:buFont typeface="Noto Sans Symbols"/>
              <a:buNone/>
            </a:pPr>
            <a:r>
              <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900"/>
              <a:buFont typeface="Arial"/>
              <a:buNone/>
            </a:pPr>
            <a:r>
              <a:rPr b="0" i="0" lang="de" sz="900" u="none" cap="none" strike="noStrike">
                <a:solidFill>
                  <a:schemeClr val="dk1"/>
                </a:solidFill>
                <a:latin typeface="Arial"/>
                <a:ea typeface="Arial"/>
                <a:cs typeface="Arial"/>
                <a:sym typeface="Arial"/>
              </a:rPr>
              <a:t>5️⃣ </a:t>
            </a:r>
            <a:r>
              <a:rPr b="1" i="0" lang="de" sz="900" u="none" cap="none" strike="noStrike">
                <a:solidFill>
                  <a:schemeClr val="dk1"/>
                </a:solidFill>
                <a:latin typeface="Arial"/>
                <a:ea typeface="Arial"/>
                <a:cs typeface="Arial"/>
                <a:sym typeface="Arial"/>
              </a:rPr>
              <a:t> Fazit</a:t>
            </a:r>
            <a:endParaRPr b="1" i="0" sz="900" u="none" cap="none" strike="noStrike">
              <a:solidFill>
                <a:schemeClr val="dk1"/>
              </a:solidFill>
              <a:latin typeface="Arial"/>
              <a:ea typeface="Arial"/>
              <a:cs typeface="Arial"/>
              <a:sym typeface="Arial"/>
            </a:endParaRPr>
          </a:p>
          <a:p>
            <a:pPr indent="0" lvl="0" marL="0" marR="0" rtl="0" algn="l">
              <a:spcBef>
                <a:spcPts val="0"/>
              </a:spcBef>
              <a:spcAft>
                <a:spcPts val="0"/>
              </a:spcAft>
              <a:buClr>
                <a:schemeClr val="dk1"/>
              </a:buClr>
              <a:buSzPts val="900"/>
              <a:buFont typeface="Georgia"/>
              <a:buNone/>
            </a:pPr>
            <a:r>
              <a:t/>
            </a:r>
            <a:endParaRPr b="0" i="0" sz="900" u="none" cap="none" strike="noStrike">
              <a:solidFill>
                <a:schemeClr val="dk1"/>
              </a:solidFill>
              <a:latin typeface="Arial"/>
              <a:ea typeface="Arial"/>
              <a:cs typeface="Arial"/>
              <a:sym typeface="Arial"/>
            </a:endParaRPr>
          </a:p>
          <a:p>
            <a:pPr indent="-120650" lvl="0" marL="1270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tbd</a:t>
            </a:r>
            <a:endParaRPr sz="1100"/>
          </a:p>
          <a:p>
            <a:pPr indent="-120650" lvl="0" marL="1270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tbd</a:t>
            </a:r>
            <a:endParaRPr sz="1100"/>
          </a:p>
          <a:p>
            <a:pPr indent="-120650" lvl="0" marL="1270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tbd</a:t>
            </a:r>
            <a:endParaRPr sz="1100"/>
          </a:p>
          <a:p>
            <a:pPr indent="0" lvl="0" marL="0" marR="0" rtl="0" algn="l">
              <a:spcBef>
                <a:spcPts val="0"/>
              </a:spcBef>
              <a:spcAft>
                <a:spcPts val="0"/>
              </a:spcAft>
              <a:buClr>
                <a:schemeClr val="dk1"/>
              </a:buClr>
              <a:buSzPts val="900"/>
              <a:buFont typeface="Arial"/>
              <a:buNone/>
            </a:pPr>
            <a:r>
              <a:t/>
            </a:r>
            <a:endParaRPr b="0" i="0" sz="9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9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900"/>
              <a:buFont typeface="Arial"/>
              <a:buNone/>
            </a:pPr>
            <a:r>
              <a:rPr lang="de" sz="900">
                <a:solidFill>
                  <a:schemeClr val="dk1"/>
                </a:solidFill>
                <a:latin typeface="Arial"/>
                <a:ea typeface="Arial"/>
                <a:cs typeface="Arial"/>
                <a:sym typeface="Arial"/>
              </a:rPr>
              <a:t>6️⃣ </a:t>
            </a:r>
            <a:r>
              <a:rPr b="1" i="0" lang="de" sz="900" u="none" cap="none" strike="noStrike">
                <a:solidFill>
                  <a:schemeClr val="dk1"/>
                </a:solidFill>
                <a:latin typeface="Arial"/>
                <a:ea typeface="Arial"/>
                <a:cs typeface="Arial"/>
                <a:sym typeface="Arial"/>
              </a:rPr>
              <a:t> Backup</a:t>
            </a:r>
            <a:endParaRPr b="1" sz="9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900"/>
              <a:buFont typeface="Georgia"/>
              <a:buNone/>
            </a:pPr>
            <a:r>
              <a:t/>
            </a:r>
            <a:endParaRPr sz="900">
              <a:solidFill>
                <a:schemeClr val="dk1"/>
              </a:solidFill>
              <a:latin typeface="Arial"/>
              <a:ea typeface="Arial"/>
              <a:cs typeface="Arial"/>
              <a:sym typeface="Arial"/>
            </a:endParaRPr>
          </a:p>
          <a:p>
            <a:pPr indent="-120650" lvl="0" marL="127000" marR="0" rtl="0" algn="l">
              <a:spcBef>
                <a:spcPts val="0"/>
              </a:spcBef>
              <a:spcAft>
                <a:spcPts val="0"/>
              </a:spcAft>
              <a:buClr>
                <a:schemeClr val="dk1"/>
              </a:buClr>
              <a:buSzPts val="900"/>
              <a:buFont typeface="Noto Sans Symbols"/>
              <a:buChar char="▪"/>
            </a:pPr>
            <a:r>
              <a:rPr lang="de" sz="900">
                <a:solidFill>
                  <a:schemeClr val="dk1"/>
                </a:solidFill>
                <a:latin typeface="Arial"/>
                <a:ea typeface="Arial"/>
                <a:cs typeface="Arial"/>
                <a:sym typeface="Arial"/>
              </a:rPr>
              <a:t>Glossar</a:t>
            </a:r>
            <a:endParaRPr sz="1100"/>
          </a:p>
          <a:p>
            <a:pPr indent="-120650" lvl="0" marL="1270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Bildnachweise</a:t>
            </a:r>
            <a:endParaRPr sz="1100"/>
          </a:p>
          <a:p>
            <a:pPr indent="-38100" lvl="0" marL="127000" marR="0" rtl="0" algn="l">
              <a:spcBef>
                <a:spcPts val="0"/>
              </a:spcBef>
              <a:spcAft>
                <a:spcPts val="0"/>
              </a:spcAft>
              <a:buClr>
                <a:schemeClr val="dk1"/>
              </a:buClr>
              <a:buSzPts val="1400"/>
              <a:buFont typeface="Noto Sans Symbols"/>
              <a:buNone/>
            </a:pPr>
            <a:r>
              <a:t/>
            </a:r>
            <a:endParaRPr b="0" i="0" sz="1400" u="none" cap="none" strike="noStrike">
              <a:solidFill>
                <a:schemeClr val="dk1"/>
              </a:solidFill>
              <a:latin typeface="Arial"/>
              <a:ea typeface="Arial"/>
              <a:cs typeface="Arial"/>
              <a:sym typeface="Arial"/>
            </a:endParaRPr>
          </a:p>
        </p:txBody>
      </p:sp>
      <p:sp>
        <p:nvSpPr>
          <p:cNvPr id="174" name="Google Shape;174;p26"/>
          <p:cNvSpPr/>
          <p:nvPr/>
        </p:nvSpPr>
        <p:spPr>
          <a:xfrm>
            <a:off x="413538" y="735546"/>
            <a:ext cx="1322766" cy="270030"/>
          </a:xfrm>
          <a:prstGeom prst="homePlate">
            <a:avLst>
              <a:gd fmla="val 50000" name="adj"/>
            </a:avLst>
          </a:prstGeom>
          <a:solidFill>
            <a:srgbClr val="43808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lang="de" sz="1800">
                <a:solidFill>
                  <a:schemeClr val="lt1"/>
                </a:solidFill>
                <a:latin typeface="Verdana"/>
                <a:ea typeface="Verdana"/>
                <a:cs typeface="Verdana"/>
                <a:sym typeface="Verdana"/>
              </a:rPr>
              <a:t>Agenda</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b="1" i="0" lang="de" sz="1500" u="none" cap="none" strike="noStrike">
                <a:solidFill>
                  <a:schemeClr val="dk1"/>
                </a:solidFill>
                <a:latin typeface="Arial"/>
                <a:ea typeface="Arial"/>
                <a:cs typeface="Arial"/>
                <a:sym typeface="Arial"/>
              </a:rPr>
              <a:t>1️⃣ Ausgangslage - Mediennutzung und Barrierefreiheit</a:t>
            </a:r>
            <a:endParaRPr b="1" sz="1800">
              <a:latin typeface="Arial"/>
              <a:ea typeface="Arial"/>
              <a:cs typeface="Arial"/>
              <a:sym typeface="Arial"/>
            </a:endParaRPr>
          </a:p>
        </p:txBody>
      </p:sp>
      <p:graphicFrame>
        <p:nvGraphicFramePr>
          <p:cNvPr id="181" name="Google Shape;181;p27"/>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pic>
        <p:nvPicPr>
          <p:cNvPr descr="Ein Bild, das Text, Screenshot, Diagramm, Schrift enthält.&#10;&#10;KI-generierte Inhalte können fehlerhaft sein." id="182" name="Google Shape;182;p27"/>
          <p:cNvPicPr preferRelativeResize="0"/>
          <p:nvPr/>
        </p:nvPicPr>
        <p:blipFill rotWithShape="1">
          <a:blip r:embed="rId3">
            <a:alphaModFix/>
          </a:blip>
          <a:srcRect b="0" l="0" r="0" t="0"/>
          <a:stretch/>
        </p:blipFill>
        <p:spPr>
          <a:xfrm>
            <a:off x="4838769" y="1545636"/>
            <a:ext cx="3999947" cy="2666631"/>
          </a:xfrm>
          <a:prstGeom prst="rect">
            <a:avLst/>
          </a:prstGeom>
          <a:noFill/>
          <a:ln cap="flat" cmpd="sng" w="9525">
            <a:solidFill>
              <a:srgbClr val="438086"/>
            </a:solidFill>
            <a:prstDash val="solid"/>
            <a:round/>
            <a:headEnd len="sm" w="sm" type="none"/>
            <a:tailEnd len="sm" w="sm" type="none"/>
          </a:ln>
        </p:spPr>
      </p:pic>
      <p:sp>
        <p:nvSpPr>
          <p:cNvPr id="183" name="Google Shape;183;p27"/>
          <p:cNvSpPr txBox="1"/>
          <p:nvPr/>
        </p:nvSpPr>
        <p:spPr>
          <a:xfrm>
            <a:off x="359532" y="1545636"/>
            <a:ext cx="4127655" cy="1082364"/>
          </a:xfrm>
          <a:prstGeom prst="rect">
            <a:avLst/>
          </a:prstGeom>
          <a:noFill/>
          <a:ln cap="flat" cmpd="sng" w="9525">
            <a:solidFill>
              <a:srgbClr val="438086"/>
            </a:solidFill>
            <a:prstDash val="solid"/>
            <a:round/>
            <a:headEnd len="sm" w="sm" type="none"/>
            <a:tailEnd len="sm" w="sm" type="none"/>
          </a:ln>
        </p:spPr>
        <p:txBody>
          <a:bodyPr anchorCtr="0" anchor="t" bIns="34275" lIns="68575" spcFirstLastPara="1" rIns="68575" wrap="square" tIns="34275">
            <a:spAutoFit/>
          </a:bodyPr>
          <a:lstStyle/>
          <a:p>
            <a:pPr indent="0" lvl="0" marL="0" marR="0" rtl="0" algn="just">
              <a:lnSpc>
                <a:spcPct val="150000"/>
              </a:lnSpc>
              <a:spcBef>
                <a:spcPts val="0"/>
              </a:spcBef>
              <a:spcAft>
                <a:spcPts val="0"/>
              </a:spcAft>
              <a:buNone/>
            </a:pPr>
            <a:r>
              <a:rPr lang="de" sz="900">
                <a:solidFill>
                  <a:schemeClr val="dk1"/>
                </a:solidFill>
                <a:latin typeface="Arial"/>
                <a:ea typeface="Arial"/>
                <a:cs typeface="Arial"/>
                <a:sym typeface="Arial"/>
              </a:rPr>
              <a:t>Audiodeskriptionen sind essenziell, um blinden und sehbehinderten Menschen den Zugang zu audiovisuellen Inhalten wie Filmen, Serien und Nachrichten zu ermöglichen. Die manuelle Erstellung dieser Beschreibungen ist jedoch zeit- und kostenintensiv und kann mit dem steigenden Bedarf an barrierefreiem Content kaum Schritt halten.</a:t>
            </a:r>
            <a:endParaRPr sz="1100"/>
          </a:p>
        </p:txBody>
      </p:sp>
      <p:sp>
        <p:nvSpPr>
          <p:cNvPr id="184" name="Google Shape;184;p27"/>
          <p:cNvSpPr txBox="1"/>
          <p:nvPr/>
        </p:nvSpPr>
        <p:spPr>
          <a:xfrm>
            <a:off x="305526" y="1124562"/>
            <a:ext cx="6102678" cy="23083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de" sz="1100">
                <a:solidFill>
                  <a:schemeClr val="dk1"/>
                </a:solidFill>
                <a:latin typeface="Arial"/>
                <a:ea typeface="Arial"/>
                <a:cs typeface="Arial"/>
                <a:sym typeface="Arial"/>
              </a:rPr>
              <a:t>Entwicklung einer KI-Lösung für Audiodeskriptionen</a:t>
            </a:r>
            <a:endParaRPr sz="1100"/>
          </a:p>
        </p:txBody>
      </p:sp>
      <p:sp>
        <p:nvSpPr>
          <p:cNvPr id="185" name="Google Shape;185;p27"/>
          <p:cNvSpPr/>
          <p:nvPr/>
        </p:nvSpPr>
        <p:spPr>
          <a:xfrm rot="5400000">
            <a:off x="307141" y="3390635"/>
            <a:ext cx="324036" cy="189021"/>
          </a:xfrm>
          <a:prstGeom prst="triangle">
            <a:avLst>
              <a:gd fmla="val 50000" name="adj"/>
            </a:avLst>
          </a:prstGeom>
          <a:solidFill>
            <a:srgbClr val="488A8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86" name="Google Shape;186;p27"/>
          <p:cNvSpPr txBox="1"/>
          <p:nvPr/>
        </p:nvSpPr>
        <p:spPr>
          <a:xfrm>
            <a:off x="629562" y="2758023"/>
            <a:ext cx="3857625" cy="1454244"/>
          </a:xfrm>
          <a:prstGeom prst="rect">
            <a:avLst/>
          </a:prstGeom>
          <a:noFill/>
          <a:ln cap="flat" cmpd="sng" w="9525">
            <a:solidFill>
              <a:srgbClr val="438086"/>
            </a:solidFill>
            <a:prstDash val="solid"/>
            <a:round/>
            <a:headEnd len="sm" w="sm" type="none"/>
            <a:tailEnd len="sm" w="sm" type="none"/>
          </a:ln>
        </p:spPr>
        <p:txBody>
          <a:bodyPr anchorCtr="0" anchor="t" bIns="34275" lIns="68575" spcFirstLastPara="1" rIns="68575" wrap="square" tIns="34275">
            <a:spAutoFit/>
          </a:bodyPr>
          <a:lstStyle/>
          <a:p>
            <a:pPr indent="0" lvl="0" marL="0" marR="0" rtl="0" algn="just">
              <a:spcBef>
                <a:spcPts val="0"/>
              </a:spcBef>
              <a:spcAft>
                <a:spcPts val="0"/>
              </a:spcAft>
              <a:buClr>
                <a:schemeClr val="dk1"/>
              </a:buClr>
              <a:buSzPts val="900"/>
              <a:buFont typeface="Arial"/>
              <a:buNone/>
            </a:pPr>
            <a:r>
              <a:rPr lang="de" sz="900">
                <a:solidFill>
                  <a:schemeClr val="dk1"/>
                </a:solidFill>
                <a:latin typeface="Arial"/>
                <a:ea typeface="Arial"/>
                <a:cs typeface="Arial"/>
                <a:sym typeface="Arial"/>
              </a:rPr>
              <a:t>Die aktuelle Forschung zeigt deutlich:</a:t>
            </a:r>
            <a:endParaRPr sz="1100"/>
          </a:p>
          <a:p>
            <a:pPr indent="0" lvl="0" marL="0" marR="0" rtl="0" algn="just">
              <a:spcBef>
                <a:spcPts val="0"/>
              </a:spcBef>
              <a:spcAft>
                <a:spcPts val="0"/>
              </a:spcAft>
              <a:buClr>
                <a:schemeClr val="dk1"/>
              </a:buClr>
              <a:buSzPts val="900"/>
              <a:buFont typeface="Arial"/>
              <a:buNone/>
            </a:pPr>
            <a:br>
              <a:rPr lang="de" sz="900">
                <a:solidFill>
                  <a:schemeClr val="dk1"/>
                </a:solidFill>
                <a:latin typeface="Arial"/>
                <a:ea typeface="Arial"/>
                <a:cs typeface="Arial"/>
                <a:sym typeface="Arial"/>
              </a:rPr>
            </a:br>
            <a:r>
              <a:rPr b="1" lang="de" sz="900">
                <a:solidFill>
                  <a:schemeClr val="dk1"/>
                </a:solidFill>
                <a:latin typeface="Arial"/>
                <a:ea typeface="Arial"/>
                <a:cs typeface="Arial"/>
                <a:sym typeface="Arial"/>
              </a:rPr>
              <a:t>Technologische Grundlagen für eine automatisierte Erstellung von Audiodeskriptionen sind vorhanden.</a:t>
            </a:r>
            <a:endParaRPr sz="1100"/>
          </a:p>
          <a:p>
            <a:pPr indent="0" lvl="0" marL="0" marR="0" rtl="0" algn="just">
              <a:spcBef>
                <a:spcPts val="0"/>
              </a:spcBef>
              <a:spcAft>
                <a:spcPts val="0"/>
              </a:spcAft>
              <a:buClr>
                <a:schemeClr val="dk1"/>
              </a:buClr>
              <a:buSzPts val="900"/>
              <a:buFont typeface="Georgia"/>
              <a:buNone/>
            </a:pPr>
            <a:r>
              <a:t/>
            </a:r>
            <a:endParaRPr sz="900">
              <a:solidFill>
                <a:schemeClr val="dk1"/>
              </a:solidFill>
              <a:latin typeface="Arial"/>
              <a:ea typeface="Arial"/>
              <a:cs typeface="Arial"/>
              <a:sym typeface="Arial"/>
            </a:endParaRPr>
          </a:p>
          <a:p>
            <a:pPr indent="0" lvl="0" marL="0" marR="0" rtl="0" algn="just">
              <a:spcBef>
                <a:spcPts val="0"/>
              </a:spcBef>
              <a:spcAft>
                <a:spcPts val="0"/>
              </a:spcAft>
              <a:buNone/>
            </a:pPr>
            <a:r>
              <a:rPr lang="de" sz="900">
                <a:solidFill>
                  <a:schemeClr val="dk1"/>
                </a:solidFill>
                <a:latin typeface="Arial"/>
                <a:ea typeface="Arial"/>
                <a:cs typeface="Arial"/>
                <a:sym typeface="Arial"/>
              </a:rPr>
              <a:t>Mehrere Ansätze sind praxistauglich und kombinierbar – insbesondere durch den Einsatz </a:t>
            </a:r>
            <a:r>
              <a:rPr b="1" lang="de" sz="900">
                <a:solidFill>
                  <a:schemeClr val="dk1"/>
                </a:solidFill>
                <a:latin typeface="Arial"/>
                <a:ea typeface="Arial"/>
                <a:cs typeface="Arial"/>
                <a:sym typeface="Arial"/>
              </a:rPr>
              <a:t>zero-shot-fähiger Vision-Language-Modelle</a:t>
            </a:r>
            <a:r>
              <a:rPr lang="de" sz="900">
                <a:solidFill>
                  <a:schemeClr val="dk1"/>
                </a:solidFill>
                <a:latin typeface="Arial"/>
                <a:ea typeface="Arial"/>
                <a:cs typeface="Arial"/>
                <a:sym typeface="Arial"/>
              </a:rPr>
              <a:t>, </a:t>
            </a:r>
            <a:r>
              <a:rPr b="1" lang="de" sz="900">
                <a:solidFill>
                  <a:schemeClr val="dk1"/>
                </a:solidFill>
                <a:latin typeface="Arial"/>
                <a:ea typeface="Arial"/>
                <a:cs typeface="Arial"/>
                <a:sym typeface="Arial"/>
              </a:rPr>
              <a:t>regelbasiertem Post-Editing</a:t>
            </a:r>
            <a:r>
              <a:rPr lang="de" sz="900">
                <a:solidFill>
                  <a:schemeClr val="dk1"/>
                </a:solidFill>
                <a:latin typeface="Arial"/>
                <a:ea typeface="Arial"/>
                <a:cs typeface="Arial"/>
                <a:sym typeface="Arial"/>
              </a:rPr>
              <a:t> und </a:t>
            </a:r>
            <a:r>
              <a:rPr b="1" lang="de" sz="900">
                <a:solidFill>
                  <a:schemeClr val="dk1"/>
                </a:solidFill>
                <a:latin typeface="Arial"/>
                <a:ea typeface="Arial"/>
                <a:cs typeface="Arial"/>
                <a:sym typeface="Arial"/>
              </a:rPr>
              <a:t>modularer Systemarchitektur</a:t>
            </a:r>
            <a:r>
              <a:rPr lang="de" sz="900">
                <a:solidFill>
                  <a:schemeClr val="dk1"/>
                </a:solidFill>
                <a:latin typeface="Arial"/>
                <a:ea typeface="Arial"/>
                <a:cs typeface="Arial"/>
                <a:sym typeface="Arial"/>
              </a:rPr>
              <a:t>. Damit wird es möglich, den bisherigen manuellen Aufwand erheblich zu reduzieren.</a:t>
            </a:r>
            <a:endParaRPr sz="1100"/>
          </a:p>
        </p:txBody>
      </p:sp>
      <p:sp>
        <p:nvSpPr>
          <p:cNvPr id="187" name="Google Shape;187;p27"/>
          <p:cNvSpPr txBox="1"/>
          <p:nvPr/>
        </p:nvSpPr>
        <p:spPr>
          <a:xfrm>
            <a:off x="4838769" y="4257805"/>
            <a:ext cx="2530059"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800"/>
              <a:buFont typeface="Arial"/>
              <a:buNone/>
            </a:pPr>
            <a:r>
              <a:rPr lang="de" sz="800">
                <a:solidFill>
                  <a:schemeClr val="dk1"/>
                </a:solidFill>
                <a:latin typeface="Arial"/>
                <a:ea typeface="Arial"/>
                <a:cs typeface="Arial"/>
                <a:sym typeface="Arial"/>
              </a:rPr>
              <a:t>Quelle: Eigene Darstellung.</a:t>
            </a:r>
            <a:endParaRPr sz="1100"/>
          </a:p>
        </p:txBody>
      </p:sp>
      <p:sp>
        <p:nvSpPr>
          <p:cNvPr id="188" name="Google Shape;188;p27"/>
          <p:cNvSpPr txBox="1"/>
          <p:nvPr/>
        </p:nvSpPr>
        <p:spPr>
          <a:xfrm>
            <a:off x="7711622" y="3963703"/>
            <a:ext cx="1125903"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800"/>
              <a:buFont typeface="Arial"/>
              <a:buNone/>
            </a:pPr>
            <a:r>
              <a:rPr lang="de" sz="800">
                <a:solidFill>
                  <a:schemeClr val="dk1"/>
                </a:solidFill>
                <a:latin typeface="Arial"/>
                <a:ea typeface="Arial"/>
                <a:cs typeface="Arial"/>
                <a:sym typeface="Arial"/>
              </a:rPr>
              <a:t>AD = Audiodeskription</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8"/>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b="1" i="0" lang="de" sz="1500" u="none" cap="none" strike="noStrike">
                <a:solidFill>
                  <a:schemeClr val="dk1"/>
                </a:solidFill>
                <a:latin typeface="Arial"/>
                <a:ea typeface="Arial"/>
                <a:cs typeface="Arial"/>
                <a:sym typeface="Arial"/>
              </a:rPr>
              <a:t>1️⃣ Ausgangslage - Stand der Wissenschaft und technologischer Fortschritt​</a:t>
            </a:r>
            <a:endParaRPr b="1" sz="1800">
              <a:latin typeface="Arial"/>
              <a:ea typeface="Arial"/>
              <a:cs typeface="Arial"/>
              <a:sym typeface="Arial"/>
            </a:endParaRPr>
          </a:p>
        </p:txBody>
      </p:sp>
      <p:graphicFrame>
        <p:nvGraphicFramePr>
          <p:cNvPr id="195" name="Google Shape;195;p28"/>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pic>
        <p:nvPicPr>
          <p:cNvPr id="196" name="Google Shape;196;p28"/>
          <p:cNvPicPr preferRelativeResize="0"/>
          <p:nvPr/>
        </p:nvPicPr>
        <p:blipFill rotWithShape="1">
          <a:blip r:embed="rId3">
            <a:alphaModFix/>
          </a:blip>
          <a:srcRect b="0" l="0" r="0" t="0"/>
          <a:stretch/>
        </p:blipFill>
        <p:spPr>
          <a:xfrm>
            <a:off x="359531" y="1435135"/>
            <a:ext cx="8694967" cy="2378753"/>
          </a:xfrm>
          <a:prstGeom prst="rect">
            <a:avLst/>
          </a:prstGeom>
          <a:noFill/>
          <a:ln cap="flat" cmpd="sng" w="9525">
            <a:solidFill>
              <a:srgbClr val="438086"/>
            </a:solidFill>
            <a:prstDash val="solid"/>
            <a:round/>
            <a:headEnd len="sm" w="sm" type="none"/>
            <a:tailEnd len="sm" w="sm" type="none"/>
          </a:ln>
        </p:spPr>
      </p:pic>
      <p:sp>
        <p:nvSpPr>
          <p:cNvPr id="197" name="Google Shape;197;p28"/>
          <p:cNvSpPr txBox="1"/>
          <p:nvPr/>
        </p:nvSpPr>
        <p:spPr>
          <a:xfrm>
            <a:off x="305526" y="1124562"/>
            <a:ext cx="6102678" cy="23083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de" sz="1100">
                <a:solidFill>
                  <a:schemeClr val="dk1"/>
                </a:solidFill>
                <a:latin typeface="Arial"/>
                <a:ea typeface="Arial"/>
                <a:cs typeface="Arial"/>
                <a:sym typeface="Arial"/>
              </a:rPr>
              <a:t>Systematische Gegenüberstellung aktueller Paper zur visuellen Analyse für Audiodeskription</a:t>
            </a:r>
            <a:endParaRPr sz="1100"/>
          </a:p>
        </p:txBody>
      </p:sp>
      <p:sp>
        <p:nvSpPr>
          <p:cNvPr id="198" name="Google Shape;198;p28"/>
          <p:cNvSpPr/>
          <p:nvPr/>
        </p:nvSpPr>
        <p:spPr>
          <a:xfrm rot="5400000">
            <a:off x="292023" y="4414762"/>
            <a:ext cx="324036" cy="189021"/>
          </a:xfrm>
          <a:prstGeom prst="triangle">
            <a:avLst>
              <a:gd fmla="val 50000" name="adj"/>
            </a:avLst>
          </a:prstGeom>
          <a:solidFill>
            <a:srgbClr val="488A8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199" name="Google Shape;199;p28"/>
          <p:cNvSpPr/>
          <p:nvPr/>
        </p:nvSpPr>
        <p:spPr>
          <a:xfrm>
            <a:off x="629562" y="4070690"/>
            <a:ext cx="8316924" cy="877163"/>
          </a:xfrm>
          <a:prstGeom prst="rect">
            <a:avLst/>
          </a:prstGeom>
          <a:noFill/>
          <a:ln>
            <a:noFill/>
          </a:ln>
        </p:spPr>
        <p:txBody>
          <a:bodyPr anchorCtr="0" anchor="ctr" bIns="34275" lIns="68575" spcFirstLastPara="1" rIns="68575" wrap="square" tIns="34275">
            <a:noAutofit/>
          </a:bodyPr>
          <a:lstStyle/>
          <a:p>
            <a:pPr indent="0" lvl="0" marL="0" marR="0" rtl="0" algn="just">
              <a:lnSpc>
                <a:spcPct val="100000"/>
              </a:lnSpc>
              <a:spcBef>
                <a:spcPts val="0"/>
              </a:spcBef>
              <a:spcAft>
                <a:spcPts val="0"/>
              </a:spcAft>
              <a:buClr>
                <a:schemeClr val="dk1"/>
              </a:buClr>
              <a:buSzPts val="800"/>
              <a:buFont typeface="Arial"/>
              <a:buNone/>
            </a:pPr>
            <a:r>
              <a:rPr b="0" i="0" lang="de" sz="800" u="none" cap="none" strike="noStrike">
                <a:solidFill>
                  <a:schemeClr val="dk1"/>
                </a:solidFill>
                <a:latin typeface="Arial"/>
                <a:ea typeface="Arial"/>
                <a:cs typeface="Arial"/>
                <a:sym typeface="Arial"/>
              </a:rPr>
              <a:t>Die vergleichende Analyse zeigt, dass mehrere aktuelle Modelle zur automatisierten Audiodeskription bereits praxisnah einsetzbar sind. Besonders das Framework von Gao et al. (2024) bietet eine tragfähige Struktur zur Systementwicklung. Modelle wie </a:t>
            </a:r>
            <a:r>
              <a:rPr b="1" i="0" lang="de" sz="800" u="none" cap="none" strike="noStrike">
                <a:solidFill>
                  <a:schemeClr val="dk1"/>
                </a:solidFill>
                <a:latin typeface="Arial"/>
                <a:ea typeface="Arial"/>
                <a:cs typeface="Arial"/>
                <a:sym typeface="Arial"/>
              </a:rPr>
              <a:t>AutoAD III</a:t>
            </a:r>
            <a:r>
              <a:rPr b="0" i="0" lang="de" sz="800" u="none" cap="none" strike="noStrike">
                <a:solidFill>
                  <a:schemeClr val="dk1"/>
                </a:solidFill>
                <a:latin typeface="Arial"/>
                <a:ea typeface="Arial"/>
                <a:cs typeface="Arial"/>
                <a:sym typeface="Arial"/>
              </a:rPr>
              <a:t> und </a:t>
            </a:r>
            <a:r>
              <a:rPr b="1" i="0" lang="de" sz="800" u="none" cap="none" strike="noStrike">
                <a:solidFill>
                  <a:schemeClr val="dk1"/>
                </a:solidFill>
                <a:latin typeface="Arial"/>
                <a:ea typeface="Arial"/>
                <a:cs typeface="Arial"/>
                <a:sym typeface="Arial"/>
              </a:rPr>
              <a:t>AutoAD-Zero</a:t>
            </a:r>
            <a:r>
              <a:rPr b="0" i="0" lang="de" sz="800" u="none" cap="none" strike="noStrike">
                <a:solidFill>
                  <a:schemeClr val="dk1"/>
                </a:solidFill>
                <a:latin typeface="Arial"/>
                <a:ea typeface="Arial"/>
                <a:cs typeface="Arial"/>
                <a:sym typeface="Arial"/>
              </a:rPr>
              <a:t> eignen sich als direkte Grundlage – letzteres insbesondere durch seinen zero-shot-Ansatz bei geringem Trainingsaufwand. Ergänzende Arbeiten wie </a:t>
            </a:r>
            <a:r>
              <a:rPr b="1" i="0" lang="de" sz="800" u="none" cap="none" strike="noStrike">
                <a:solidFill>
                  <a:schemeClr val="dk1"/>
                </a:solidFill>
                <a:latin typeface="Arial"/>
                <a:ea typeface="Arial"/>
                <a:cs typeface="Arial"/>
                <a:sym typeface="Arial"/>
              </a:rPr>
              <a:t>LLaVA-MR</a:t>
            </a:r>
            <a:r>
              <a:rPr b="0" i="0" lang="de" sz="800" u="none" cap="none" strike="noStrike">
                <a:solidFill>
                  <a:schemeClr val="dk1"/>
                </a:solidFill>
                <a:latin typeface="Arial"/>
                <a:ea typeface="Arial"/>
                <a:cs typeface="Arial"/>
                <a:sym typeface="Arial"/>
              </a:rPr>
              <a:t> oder </a:t>
            </a:r>
            <a:r>
              <a:rPr b="1" i="0" lang="de" sz="800" u="none" cap="none" strike="noStrike">
                <a:solidFill>
                  <a:schemeClr val="dk1"/>
                </a:solidFill>
                <a:latin typeface="Arial"/>
                <a:ea typeface="Arial"/>
                <a:cs typeface="Arial"/>
                <a:sym typeface="Arial"/>
              </a:rPr>
              <a:t>VidChain</a:t>
            </a:r>
            <a:r>
              <a:rPr b="0" i="0" lang="de" sz="800" u="none" cap="none" strike="noStrike">
                <a:solidFill>
                  <a:schemeClr val="dk1"/>
                </a:solidFill>
                <a:latin typeface="Arial"/>
                <a:ea typeface="Arial"/>
                <a:cs typeface="Arial"/>
                <a:sym typeface="Arial"/>
              </a:rPr>
              <a:t> adressieren Teilaspekte wie Zeitmarkenerkennung und Ereignisverkettung und können zur Optimierung einzelner Module herangezogen werden.</a:t>
            </a:r>
            <a:endParaRPr sz="1100"/>
          </a:p>
          <a:p>
            <a:pPr indent="0" lvl="0" marL="0" marR="0" rtl="0" algn="just">
              <a:lnSpc>
                <a:spcPct val="100000"/>
              </a:lnSpc>
              <a:spcBef>
                <a:spcPts val="0"/>
              </a:spcBef>
              <a:spcAft>
                <a:spcPts val="0"/>
              </a:spcAft>
              <a:buClr>
                <a:schemeClr val="dk1"/>
              </a:buClr>
              <a:buSzPts val="800"/>
              <a:buFont typeface="Georgia"/>
              <a:buNone/>
            </a:pPr>
            <a:r>
              <a:t/>
            </a:r>
            <a:endParaRPr b="0" i="0" sz="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800"/>
              <a:buFont typeface="Arial"/>
              <a:buNone/>
            </a:pPr>
            <a:r>
              <a:rPr b="0" i="0" lang="de" sz="800" u="none" cap="none" strike="noStrike">
                <a:solidFill>
                  <a:schemeClr val="dk1"/>
                </a:solidFill>
                <a:latin typeface="Arial"/>
                <a:ea typeface="Arial"/>
                <a:cs typeface="Arial"/>
                <a:sym typeface="Arial"/>
              </a:rPr>
              <a:t>Insgesamt ist ein Prototyp auf Basis existierender Open-Source-Komponenten mit vertretbarem Aufwand umsetzbar. Empfohlen wird auf Basis verfügbarer paper eine Kombination aus </a:t>
            </a:r>
            <a:r>
              <a:rPr b="1" i="0" lang="de" sz="800" u="none" cap="none" strike="noStrike">
                <a:solidFill>
                  <a:schemeClr val="dk1"/>
                </a:solidFill>
                <a:latin typeface="Arial"/>
                <a:ea typeface="Arial"/>
                <a:cs typeface="Arial"/>
                <a:sym typeface="Arial"/>
              </a:rPr>
              <a:t>zero-shot Captioning</a:t>
            </a:r>
            <a:r>
              <a:rPr b="0" i="0" lang="de" sz="800" u="none" cap="none" strike="noStrike">
                <a:solidFill>
                  <a:schemeClr val="dk1"/>
                </a:solidFill>
                <a:latin typeface="Arial"/>
                <a:ea typeface="Arial"/>
                <a:cs typeface="Arial"/>
                <a:sym typeface="Arial"/>
              </a:rPr>
              <a:t>, </a:t>
            </a:r>
            <a:r>
              <a:rPr b="1" i="0" lang="de" sz="800" u="none" cap="none" strike="noStrike">
                <a:solidFill>
                  <a:schemeClr val="dk1"/>
                </a:solidFill>
                <a:latin typeface="Arial"/>
                <a:ea typeface="Arial"/>
                <a:cs typeface="Arial"/>
                <a:sym typeface="Arial"/>
              </a:rPr>
              <a:t>regelbasiertem Post-Editing</a:t>
            </a:r>
            <a:r>
              <a:rPr b="0" i="0" lang="de" sz="800" u="none" cap="none" strike="noStrike">
                <a:solidFill>
                  <a:schemeClr val="dk1"/>
                </a:solidFill>
                <a:latin typeface="Arial"/>
                <a:ea typeface="Arial"/>
                <a:cs typeface="Arial"/>
                <a:sym typeface="Arial"/>
              </a:rPr>
              <a:t> und </a:t>
            </a:r>
            <a:r>
              <a:rPr b="1" i="0" lang="de" sz="800" u="none" cap="none" strike="noStrike">
                <a:solidFill>
                  <a:schemeClr val="dk1"/>
                </a:solidFill>
                <a:latin typeface="Arial"/>
                <a:ea typeface="Arial"/>
                <a:cs typeface="Arial"/>
                <a:sym typeface="Arial"/>
              </a:rPr>
              <a:t>nutzerzentrierter Evaluation</a:t>
            </a:r>
            <a:r>
              <a:rPr b="0" i="0" lang="de" sz="800" u="none" cap="none" strike="noStrike">
                <a:solidFill>
                  <a:schemeClr val="dk1"/>
                </a:solidFill>
                <a:latin typeface="Arial"/>
                <a:ea typeface="Arial"/>
                <a:cs typeface="Arial"/>
                <a:sym typeface="Arial"/>
              </a:rPr>
              <a:t>.</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graphicFrame>
        <p:nvGraphicFramePr>
          <p:cNvPr id="204" name="Google Shape;204;p29"/>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205" name="Google Shape;205;p29"/>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b="1" i="0" lang="de" sz="1500" u="none" cap="none" strike="noStrike">
                <a:solidFill>
                  <a:schemeClr val="dk1"/>
                </a:solidFill>
                <a:latin typeface="Arial"/>
                <a:ea typeface="Arial"/>
                <a:cs typeface="Arial"/>
                <a:sym typeface="Arial"/>
              </a:rPr>
              <a:t>2️⃣ Data Pipeline - Eingabe &amp; Vorverarbeitung</a:t>
            </a:r>
            <a:endParaRPr b="1" sz="1500">
              <a:latin typeface="Arial"/>
              <a:ea typeface="Arial"/>
              <a:cs typeface="Arial"/>
              <a:sym typeface="Arial"/>
            </a:endParaRPr>
          </a:p>
        </p:txBody>
      </p:sp>
      <p:sp>
        <p:nvSpPr>
          <p:cNvPr id="206" name="Google Shape;206;p29"/>
          <p:cNvSpPr txBox="1"/>
          <p:nvPr/>
        </p:nvSpPr>
        <p:spPr>
          <a:xfrm>
            <a:off x="305526" y="1124562"/>
            <a:ext cx="6102678" cy="23083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de" sz="1100">
                <a:solidFill>
                  <a:schemeClr val="dk1"/>
                </a:solidFill>
                <a:latin typeface="Arial"/>
                <a:ea typeface="Arial"/>
                <a:cs typeface="Arial"/>
                <a:sym typeface="Arial"/>
              </a:rPr>
              <a:t>Eingabe- und Vorverarbeitungsstufe für KI-gestützte Audiodeskription</a:t>
            </a:r>
            <a:endParaRPr sz="1100"/>
          </a:p>
        </p:txBody>
      </p:sp>
      <p:grpSp>
        <p:nvGrpSpPr>
          <p:cNvPr id="207" name="Google Shape;207;p29"/>
          <p:cNvGrpSpPr/>
          <p:nvPr/>
        </p:nvGrpSpPr>
        <p:grpSpPr>
          <a:xfrm>
            <a:off x="359532" y="1435699"/>
            <a:ext cx="5724636" cy="3104436"/>
            <a:chOff x="335360" y="2132856"/>
            <a:chExt cx="7632848" cy="4106703"/>
          </a:xfrm>
        </p:grpSpPr>
        <p:sp>
          <p:nvSpPr>
            <p:cNvPr id="208" name="Google Shape;208;p29"/>
            <p:cNvSpPr/>
            <p:nvPr/>
          </p:nvSpPr>
          <p:spPr>
            <a:xfrm>
              <a:off x="457201" y="2248565"/>
              <a:ext cx="1887488" cy="536029"/>
            </a:xfrm>
            <a:prstGeom prst="roundRect">
              <a:avLst>
                <a:gd fmla="val 16667" name="adj"/>
              </a:avLst>
            </a:prstGeom>
            <a:solidFill>
              <a:srgbClr val="C4D8D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a:p>
              <a:pPr indent="0" lvl="0" marL="0" marR="0" rtl="0" algn="l">
                <a:spcBef>
                  <a:spcPts val="0"/>
                </a:spcBef>
                <a:spcAft>
                  <a:spcPts val="0"/>
                </a:spcAft>
                <a:buNone/>
              </a:pPr>
              <a:r>
                <a:rPr b="1" lang="de" sz="800">
                  <a:solidFill>
                    <a:schemeClr val="dk1"/>
                  </a:solidFill>
                  <a:latin typeface="Arial"/>
                  <a:ea typeface="Arial"/>
                  <a:cs typeface="Arial"/>
                  <a:sym typeface="Arial"/>
                </a:rPr>
                <a:t>📽️ Video (MP4, MXF)</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Videodateien</a:t>
              </a:r>
              <a:endParaRPr sz="1100"/>
            </a:p>
          </p:txBody>
        </p:sp>
        <p:sp>
          <p:nvSpPr>
            <p:cNvPr id="209" name="Google Shape;209;p29"/>
            <p:cNvSpPr/>
            <p:nvPr/>
          </p:nvSpPr>
          <p:spPr>
            <a:xfrm>
              <a:off x="3200401" y="2248565"/>
              <a:ext cx="1887488" cy="536029"/>
            </a:xfrm>
            <a:prstGeom prst="roundRect">
              <a:avLst>
                <a:gd fmla="val 16667" name="adj"/>
              </a:avLst>
            </a:prstGeom>
            <a:solidFill>
              <a:srgbClr val="C4D8D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a:p>
              <a:pPr indent="0" lvl="0" marL="0" marR="0" rtl="0" algn="l">
                <a:spcBef>
                  <a:spcPts val="0"/>
                </a:spcBef>
                <a:spcAft>
                  <a:spcPts val="0"/>
                </a:spcAft>
                <a:buNone/>
              </a:pPr>
              <a:r>
                <a:rPr b="1" lang="de" sz="800">
                  <a:solidFill>
                    <a:schemeClr val="dk1"/>
                  </a:solidFill>
                  <a:latin typeface="Arial"/>
                  <a:ea typeface="Arial"/>
                  <a:cs typeface="Arial"/>
                  <a:sym typeface="Arial"/>
                </a:rPr>
                <a:t>🎵 Audio (WAV)</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Audiodateien</a:t>
              </a:r>
              <a:endParaRPr sz="1100"/>
            </a:p>
          </p:txBody>
        </p:sp>
        <p:sp>
          <p:nvSpPr>
            <p:cNvPr id="210" name="Google Shape;210;p29"/>
            <p:cNvSpPr/>
            <p:nvPr/>
          </p:nvSpPr>
          <p:spPr>
            <a:xfrm>
              <a:off x="5943601" y="2248565"/>
              <a:ext cx="1887488" cy="536029"/>
            </a:xfrm>
            <a:prstGeom prst="roundRect">
              <a:avLst>
                <a:gd fmla="val 16667" name="adj"/>
              </a:avLst>
            </a:prstGeom>
            <a:solidFill>
              <a:srgbClr val="C4D8D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a:p>
              <a:pPr indent="0" lvl="0" marL="0" marR="0" rtl="0" algn="l">
                <a:spcBef>
                  <a:spcPts val="0"/>
                </a:spcBef>
                <a:spcAft>
                  <a:spcPts val="0"/>
                </a:spcAft>
                <a:buNone/>
              </a:pPr>
              <a:r>
                <a:rPr b="1" lang="de" sz="800">
                  <a:solidFill>
                    <a:schemeClr val="dk1"/>
                  </a:solidFill>
                  <a:latin typeface="Arial"/>
                  <a:ea typeface="Arial"/>
                  <a:cs typeface="Arial"/>
                  <a:sym typeface="Arial"/>
                </a:rPr>
                <a:t>📂 Metadaten (XML, JSON)</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Strukturdaten</a:t>
              </a:r>
              <a:endParaRPr sz="1100"/>
            </a:p>
          </p:txBody>
        </p:sp>
        <p:sp>
          <p:nvSpPr>
            <p:cNvPr id="211" name="Google Shape;211;p29"/>
            <p:cNvSpPr/>
            <p:nvPr/>
          </p:nvSpPr>
          <p:spPr>
            <a:xfrm>
              <a:off x="460479" y="3293108"/>
              <a:ext cx="1887488" cy="536029"/>
            </a:xfrm>
            <a:prstGeom prst="roundRect">
              <a:avLst>
                <a:gd fmla="val 16667" name="adj"/>
              </a:avLst>
            </a:prstGeom>
            <a:solidFill>
              <a:srgbClr val="C4D8D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a:p>
              <a:pPr indent="0" lvl="0" marL="0" marR="0" rtl="0" algn="l">
                <a:spcBef>
                  <a:spcPts val="0"/>
                </a:spcBef>
                <a:spcAft>
                  <a:spcPts val="0"/>
                </a:spcAft>
                <a:buNone/>
              </a:pPr>
              <a:r>
                <a:rPr b="1" lang="de" sz="800">
                  <a:solidFill>
                    <a:schemeClr val="dk1"/>
                  </a:solidFill>
                  <a:latin typeface="Arial"/>
                  <a:ea typeface="Arial"/>
                  <a:cs typeface="Arial"/>
                  <a:sym typeface="Arial"/>
                </a:rPr>
                <a:t>📷 Frame-Extraktion</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Frames + Zeitstempel</a:t>
              </a:r>
              <a:endParaRPr sz="1100"/>
            </a:p>
          </p:txBody>
        </p:sp>
        <p:sp>
          <p:nvSpPr>
            <p:cNvPr id="212" name="Google Shape;212;p29"/>
            <p:cNvSpPr/>
            <p:nvPr/>
          </p:nvSpPr>
          <p:spPr>
            <a:xfrm>
              <a:off x="3202567" y="3293107"/>
              <a:ext cx="1887488" cy="536029"/>
            </a:xfrm>
            <a:prstGeom prst="roundRect">
              <a:avLst>
                <a:gd fmla="val 16667" name="adj"/>
              </a:avLst>
            </a:prstGeom>
            <a:solidFill>
              <a:srgbClr val="C4D8D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a:p>
              <a:pPr indent="0" lvl="0" marL="0" marR="0" rtl="0" algn="l">
                <a:spcBef>
                  <a:spcPts val="0"/>
                </a:spcBef>
                <a:spcAft>
                  <a:spcPts val="0"/>
                </a:spcAft>
                <a:buNone/>
              </a:pPr>
              <a:r>
                <a:rPr b="1" lang="de" sz="800">
                  <a:solidFill>
                    <a:schemeClr val="dk1"/>
                  </a:solidFill>
                  <a:latin typeface="Arial"/>
                  <a:ea typeface="Arial"/>
                  <a:cs typeface="Arial"/>
                  <a:sym typeface="Arial"/>
                </a:rPr>
                <a:t>🎧 Audioanalyse</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Stille-/Lautstärkeprofile</a:t>
              </a:r>
              <a:endParaRPr sz="1100"/>
            </a:p>
          </p:txBody>
        </p:sp>
        <p:sp>
          <p:nvSpPr>
            <p:cNvPr id="213" name="Google Shape;213;p29"/>
            <p:cNvSpPr/>
            <p:nvPr/>
          </p:nvSpPr>
          <p:spPr>
            <a:xfrm>
              <a:off x="5943601" y="3289997"/>
              <a:ext cx="1887488" cy="536029"/>
            </a:xfrm>
            <a:prstGeom prst="roundRect">
              <a:avLst>
                <a:gd fmla="val 16667" name="adj"/>
              </a:avLst>
            </a:prstGeom>
            <a:solidFill>
              <a:srgbClr val="C4D8D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a:p>
              <a:pPr indent="0" lvl="0" marL="0" marR="0" rtl="0" algn="l">
                <a:spcBef>
                  <a:spcPts val="0"/>
                </a:spcBef>
                <a:spcAft>
                  <a:spcPts val="0"/>
                </a:spcAft>
                <a:buNone/>
              </a:pPr>
              <a:r>
                <a:rPr b="1" lang="de" sz="800">
                  <a:solidFill>
                    <a:schemeClr val="dk1"/>
                  </a:solidFill>
                  <a:latin typeface="Arial"/>
                  <a:ea typeface="Arial"/>
                  <a:cs typeface="Arial"/>
                  <a:sym typeface="Arial"/>
                </a:rPr>
                <a:t>📑 Metadaten-Parsing</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Kapitel, Inhalte, Rechte</a:t>
              </a:r>
              <a:endParaRPr sz="1100"/>
            </a:p>
          </p:txBody>
        </p:sp>
        <p:sp>
          <p:nvSpPr>
            <p:cNvPr id="214" name="Google Shape;214;p29"/>
            <p:cNvSpPr/>
            <p:nvPr/>
          </p:nvSpPr>
          <p:spPr>
            <a:xfrm>
              <a:off x="1879510" y="4514779"/>
              <a:ext cx="4152473" cy="536029"/>
            </a:xfrm>
            <a:prstGeom prst="roundRect">
              <a:avLst>
                <a:gd fmla="val 16667" name="adj"/>
              </a:avLst>
            </a:prstGeom>
            <a:solidFill>
              <a:srgbClr val="C4D8D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a:p>
              <a:pPr indent="0" lvl="0" marL="0" marR="0" rtl="0" algn="l">
                <a:spcBef>
                  <a:spcPts val="0"/>
                </a:spcBef>
                <a:spcAft>
                  <a:spcPts val="0"/>
                </a:spcAft>
                <a:buNone/>
              </a:pPr>
              <a:r>
                <a:rPr b="1" lang="de" sz="800">
                  <a:solidFill>
                    <a:schemeClr val="dk1"/>
                  </a:solidFill>
                  <a:latin typeface="Arial"/>
                  <a:ea typeface="Arial"/>
                  <a:cs typeface="Arial"/>
                  <a:sym typeface="Arial"/>
                </a:rPr>
                <a:t>♻️ Synchronisation</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Bild-, Audio-, Metadatenabgleich</a:t>
              </a:r>
              <a:endParaRPr sz="1100"/>
            </a:p>
          </p:txBody>
        </p:sp>
        <p:sp>
          <p:nvSpPr>
            <p:cNvPr id="215" name="Google Shape;215;p29"/>
            <p:cNvSpPr/>
            <p:nvPr/>
          </p:nvSpPr>
          <p:spPr>
            <a:xfrm>
              <a:off x="1879510" y="5546710"/>
              <a:ext cx="4152473" cy="536029"/>
            </a:xfrm>
            <a:prstGeom prst="roundRect">
              <a:avLst>
                <a:gd fmla="val 16667" name="adj"/>
              </a:avLst>
            </a:prstGeom>
            <a:solidFill>
              <a:srgbClr val="C4D8D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800">
                <a:solidFill>
                  <a:schemeClr val="dk1"/>
                </a:solidFill>
                <a:latin typeface="Arial"/>
                <a:ea typeface="Arial"/>
                <a:cs typeface="Arial"/>
                <a:sym typeface="Arial"/>
              </a:endParaRPr>
            </a:p>
            <a:p>
              <a:pPr indent="0" lvl="0" marL="0" marR="0" rtl="0" algn="l">
                <a:spcBef>
                  <a:spcPts val="0"/>
                </a:spcBef>
                <a:spcAft>
                  <a:spcPts val="0"/>
                </a:spcAft>
                <a:buNone/>
              </a:pPr>
              <a:r>
                <a:rPr b="1" lang="de" sz="800">
                  <a:solidFill>
                    <a:schemeClr val="dk1"/>
                  </a:solidFill>
                  <a:latin typeface="Arial"/>
                  <a:ea typeface="Arial"/>
                  <a:cs typeface="Arial"/>
                  <a:sym typeface="Arial"/>
                </a:rPr>
                <a:t>📂 Vorverarbeitete Datenpakete</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Frames + Audiosegmente + Kontextdaten</a:t>
              </a:r>
              <a:endParaRPr sz="1100"/>
            </a:p>
          </p:txBody>
        </p:sp>
        <p:cxnSp>
          <p:nvCxnSpPr>
            <p:cNvPr id="216" name="Google Shape;216;p29"/>
            <p:cNvCxnSpPr>
              <a:stCxn id="208" idx="2"/>
              <a:endCxn id="211" idx="0"/>
            </p:cNvCxnSpPr>
            <p:nvPr/>
          </p:nvCxnSpPr>
          <p:spPr>
            <a:xfrm>
              <a:off x="1400945" y="2784594"/>
              <a:ext cx="3300" cy="508500"/>
            </a:xfrm>
            <a:prstGeom prst="straightConnector1">
              <a:avLst/>
            </a:prstGeom>
            <a:noFill/>
            <a:ln cap="flat" cmpd="sng" w="9525">
              <a:solidFill>
                <a:schemeClr val="accent1"/>
              </a:solidFill>
              <a:prstDash val="solid"/>
              <a:round/>
              <a:headEnd len="sm" w="sm" type="none"/>
              <a:tailEnd len="med" w="med" type="triangle"/>
            </a:ln>
          </p:spPr>
        </p:cxnSp>
        <p:cxnSp>
          <p:nvCxnSpPr>
            <p:cNvPr id="217" name="Google Shape;217;p29"/>
            <p:cNvCxnSpPr>
              <a:stCxn id="209" idx="2"/>
              <a:endCxn id="212" idx="0"/>
            </p:cNvCxnSpPr>
            <p:nvPr/>
          </p:nvCxnSpPr>
          <p:spPr>
            <a:xfrm>
              <a:off x="4144145" y="2784594"/>
              <a:ext cx="2100" cy="508500"/>
            </a:xfrm>
            <a:prstGeom prst="straightConnector1">
              <a:avLst/>
            </a:prstGeom>
            <a:noFill/>
            <a:ln cap="flat" cmpd="sng" w="9525">
              <a:solidFill>
                <a:schemeClr val="accent1"/>
              </a:solidFill>
              <a:prstDash val="solid"/>
              <a:round/>
              <a:headEnd len="sm" w="sm" type="none"/>
              <a:tailEnd len="med" w="med" type="triangle"/>
            </a:ln>
          </p:spPr>
        </p:cxnSp>
        <p:cxnSp>
          <p:nvCxnSpPr>
            <p:cNvPr id="218" name="Google Shape;218;p29"/>
            <p:cNvCxnSpPr>
              <a:stCxn id="210" idx="2"/>
              <a:endCxn id="213" idx="0"/>
            </p:cNvCxnSpPr>
            <p:nvPr/>
          </p:nvCxnSpPr>
          <p:spPr>
            <a:xfrm>
              <a:off x="6887345" y="2784594"/>
              <a:ext cx="0" cy="505500"/>
            </a:xfrm>
            <a:prstGeom prst="straightConnector1">
              <a:avLst/>
            </a:prstGeom>
            <a:noFill/>
            <a:ln cap="flat" cmpd="sng" w="9525">
              <a:solidFill>
                <a:schemeClr val="accent1"/>
              </a:solidFill>
              <a:prstDash val="solid"/>
              <a:round/>
              <a:headEnd len="sm" w="sm" type="none"/>
              <a:tailEnd len="med" w="med" type="triangle"/>
            </a:ln>
          </p:spPr>
        </p:cxnSp>
        <p:cxnSp>
          <p:nvCxnSpPr>
            <p:cNvPr id="219" name="Google Shape;219;p29"/>
            <p:cNvCxnSpPr>
              <a:stCxn id="211" idx="2"/>
              <a:endCxn id="214" idx="0"/>
            </p:cNvCxnSpPr>
            <p:nvPr/>
          </p:nvCxnSpPr>
          <p:spPr>
            <a:xfrm flipH="1" rot="-5400000">
              <a:off x="2337223" y="2896137"/>
              <a:ext cx="685500" cy="2551500"/>
            </a:xfrm>
            <a:prstGeom prst="curvedConnector3">
              <a:avLst>
                <a:gd fmla="val 79292" name="adj1"/>
              </a:avLst>
            </a:prstGeom>
            <a:noFill/>
            <a:ln cap="flat" cmpd="sng" w="9525">
              <a:solidFill>
                <a:schemeClr val="accent1"/>
              </a:solidFill>
              <a:prstDash val="solid"/>
              <a:round/>
              <a:headEnd len="sm" w="sm" type="none"/>
              <a:tailEnd len="med" w="med" type="triangle"/>
            </a:ln>
          </p:spPr>
        </p:cxnSp>
        <p:cxnSp>
          <p:nvCxnSpPr>
            <p:cNvPr id="220" name="Google Shape;220;p29"/>
            <p:cNvCxnSpPr>
              <a:stCxn id="212" idx="2"/>
              <a:endCxn id="214" idx="0"/>
            </p:cNvCxnSpPr>
            <p:nvPr/>
          </p:nvCxnSpPr>
          <p:spPr>
            <a:xfrm rot="5400000">
              <a:off x="3708311" y="4076636"/>
              <a:ext cx="685500" cy="190500"/>
            </a:xfrm>
            <a:prstGeom prst="curvedConnector3">
              <a:avLst>
                <a:gd fmla="val 79292" name="adj1"/>
              </a:avLst>
            </a:prstGeom>
            <a:noFill/>
            <a:ln cap="flat" cmpd="sng" w="9525">
              <a:solidFill>
                <a:schemeClr val="accent1"/>
              </a:solidFill>
              <a:prstDash val="solid"/>
              <a:round/>
              <a:headEnd len="sm" w="sm" type="none"/>
              <a:tailEnd len="med" w="med" type="triangle"/>
            </a:ln>
          </p:spPr>
        </p:cxnSp>
        <p:cxnSp>
          <p:nvCxnSpPr>
            <p:cNvPr id="221" name="Google Shape;221;p29"/>
            <p:cNvCxnSpPr>
              <a:stCxn id="213" idx="2"/>
              <a:endCxn id="214" idx="0"/>
            </p:cNvCxnSpPr>
            <p:nvPr/>
          </p:nvCxnSpPr>
          <p:spPr>
            <a:xfrm rot="5400000">
              <a:off x="5077145" y="2704626"/>
              <a:ext cx="688800" cy="2931600"/>
            </a:xfrm>
            <a:prstGeom prst="curvedConnector3">
              <a:avLst>
                <a:gd fmla="val 79162" name="adj1"/>
              </a:avLst>
            </a:prstGeom>
            <a:noFill/>
            <a:ln cap="flat" cmpd="sng" w="9525">
              <a:solidFill>
                <a:schemeClr val="accent1"/>
              </a:solidFill>
              <a:prstDash val="solid"/>
              <a:round/>
              <a:headEnd len="sm" w="sm" type="none"/>
              <a:tailEnd len="med" w="med" type="triangle"/>
            </a:ln>
          </p:spPr>
        </p:cxnSp>
        <p:cxnSp>
          <p:nvCxnSpPr>
            <p:cNvPr id="222" name="Google Shape;222;p29"/>
            <p:cNvCxnSpPr>
              <a:stCxn id="214" idx="2"/>
              <a:endCxn id="215" idx="0"/>
            </p:cNvCxnSpPr>
            <p:nvPr/>
          </p:nvCxnSpPr>
          <p:spPr>
            <a:xfrm>
              <a:off x="3955747" y="5050808"/>
              <a:ext cx="0" cy="495900"/>
            </a:xfrm>
            <a:prstGeom prst="straightConnector1">
              <a:avLst/>
            </a:prstGeom>
            <a:noFill/>
            <a:ln cap="flat" cmpd="sng" w="9525">
              <a:solidFill>
                <a:schemeClr val="accent1"/>
              </a:solidFill>
              <a:prstDash val="solid"/>
              <a:round/>
              <a:headEnd len="sm" w="sm" type="none"/>
              <a:tailEnd len="med" w="med" type="triangle"/>
            </a:ln>
          </p:spPr>
        </p:cxnSp>
        <p:sp>
          <p:nvSpPr>
            <p:cNvPr id="223" name="Google Shape;223;p29"/>
            <p:cNvSpPr/>
            <p:nvPr/>
          </p:nvSpPr>
          <p:spPr>
            <a:xfrm>
              <a:off x="335360" y="2132856"/>
              <a:ext cx="7632848" cy="4106703"/>
            </a:xfrm>
            <a:prstGeom prst="rect">
              <a:avLst/>
            </a:prstGeom>
            <a:solidFill>
              <a:srgbClr val="438086">
                <a:alpha val="16862"/>
              </a:srgbClr>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sp>
        <p:nvSpPr>
          <p:cNvPr id="224" name="Google Shape;224;p29"/>
          <p:cNvSpPr txBox="1"/>
          <p:nvPr/>
        </p:nvSpPr>
        <p:spPr>
          <a:xfrm>
            <a:off x="6300192" y="1435135"/>
            <a:ext cx="2484276" cy="3105000"/>
          </a:xfrm>
          <a:prstGeom prst="rect">
            <a:avLst/>
          </a:prstGeom>
          <a:noFill/>
          <a:ln cap="flat" cmpd="sng" w="9525">
            <a:solidFill>
              <a:srgbClr val="438086"/>
            </a:solidFill>
            <a:prstDash val="solid"/>
            <a:round/>
            <a:headEnd len="sm" w="sm" type="none"/>
            <a:tailEnd len="sm" w="sm" type="none"/>
          </a:ln>
        </p:spPr>
        <p:txBody>
          <a:bodyPr anchorCtr="0" anchor="t" bIns="34275" lIns="68575" spcFirstLastPara="1" rIns="68575" wrap="square" tIns="34275">
            <a:spAutoFit/>
          </a:bodyPr>
          <a:lstStyle/>
          <a:p>
            <a:pPr indent="0" lvl="0" marL="0" marR="0" rtl="0" algn="just">
              <a:spcBef>
                <a:spcPts val="0"/>
              </a:spcBef>
              <a:spcAft>
                <a:spcPts val="0"/>
              </a:spcAft>
              <a:buClr>
                <a:schemeClr val="dk1"/>
              </a:buClr>
              <a:buSzPts val="800"/>
              <a:buFont typeface="Arial"/>
              <a:buNone/>
            </a:pPr>
            <a:r>
              <a:rPr lang="de" sz="800">
                <a:solidFill>
                  <a:schemeClr val="dk1"/>
                </a:solidFill>
                <a:latin typeface="Arial"/>
                <a:ea typeface="Arial"/>
                <a:cs typeface="Arial"/>
                <a:sym typeface="Arial"/>
              </a:rPr>
              <a:t>In der Vorverarbeitungsphase werden Video-, Audio- und Metadatenquellen getrennt aufbereitet und synchronisiert, um eine strukturierte Grundlage für die KI-gestützte Analyse zu schaffen.</a:t>
            </a:r>
            <a:endParaRPr sz="1100"/>
          </a:p>
          <a:p>
            <a:pPr indent="0" lvl="0" marL="0" marR="0" rtl="0" algn="just">
              <a:spcBef>
                <a:spcPts val="0"/>
              </a:spcBef>
              <a:spcAft>
                <a:spcPts val="0"/>
              </a:spcAft>
              <a:buClr>
                <a:schemeClr val="dk1"/>
              </a:buClr>
              <a:buSzPts val="800"/>
              <a:buFont typeface="Georgia"/>
              <a:buNone/>
            </a:pPr>
            <a:r>
              <a:t/>
            </a:r>
            <a:endParaRPr sz="800">
              <a:solidFill>
                <a:schemeClr val="dk1"/>
              </a:solidFill>
              <a:latin typeface="Arial"/>
              <a:ea typeface="Arial"/>
              <a:cs typeface="Arial"/>
              <a:sym typeface="Arial"/>
            </a:endParaRPr>
          </a:p>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Aus Videodateien werden über die </a:t>
            </a:r>
            <a:r>
              <a:rPr b="1" lang="de" sz="800">
                <a:solidFill>
                  <a:schemeClr val="dk1"/>
                </a:solidFill>
                <a:latin typeface="Arial"/>
                <a:ea typeface="Arial"/>
                <a:cs typeface="Arial"/>
                <a:sym typeface="Arial"/>
              </a:rPr>
              <a:t>Frame-Extraktion</a:t>
            </a:r>
            <a:r>
              <a:rPr lang="de" sz="800">
                <a:solidFill>
                  <a:schemeClr val="dk1"/>
                </a:solidFill>
                <a:latin typeface="Arial"/>
                <a:ea typeface="Arial"/>
                <a:cs typeface="Arial"/>
                <a:sym typeface="Arial"/>
              </a:rPr>
              <a:t> Einzelbilder mit präziser Zeitreferenz erzeugt.</a:t>
            </a:r>
            <a:endParaRPr sz="1100"/>
          </a:p>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Audiodateien werden durch </a:t>
            </a:r>
            <a:r>
              <a:rPr b="1" lang="de" sz="800">
                <a:solidFill>
                  <a:schemeClr val="dk1"/>
                </a:solidFill>
                <a:latin typeface="Arial"/>
                <a:ea typeface="Arial"/>
                <a:cs typeface="Arial"/>
                <a:sym typeface="Arial"/>
              </a:rPr>
              <a:t>Audioanalyse</a:t>
            </a:r>
            <a:r>
              <a:rPr lang="de" sz="800">
                <a:solidFill>
                  <a:schemeClr val="dk1"/>
                </a:solidFill>
                <a:latin typeface="Arial"/>
                <a:ea typeface="Arial"/>
                <a:cs typeface="Arial"/>
                <a:sym typeface="Arial"/>
              </a:rPr>
              <a:t> in Lautstärke- und Stilleprofile segmentiert.</a:t>
            </a:r>
            <a:endParaRPr sz="1100"/>
          </a:p>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Metadaten wie Kapitelstrukturen und Rechteinformationen werden mittels </a:t>
            </a:r>
            <a:r>
              <a:rPr b="1" lang="de" sz="800">
                <a:solidFill>
                  <a:schemeClr val="dk1"/>
                </a:solidFill>
                <a:latin typeface="Arial"/>
                <a:ea typeface="Arial"/>
                <a:cs typeface="Arial"/>
                <a:sym typeface="Arial"/>
              </a:rPr>
              <a:t>Parsing</a:t>
            </a:r>
            <a:r>
              <a:rPr lang="de" sz="800">
                <a:solidFill>
                  <a:schemeClr val="dk1"/>
                </a:solidFill>
                <a:latin typeface="Arial"/>
                <a:ea typeface="Arial"/>
                <a:cs typeface="Arial"/>
                <a:sym typeface="Arial"/>
              </a:rPr>
              <a:t> extrahiert und strukturiert.</a:t>
            </a:r>
            <a:endParaRPr sz="1100"/>
          </a:p>
          <a:p>
            <a:pPr indent="0" lvl="0" marL="0" marR="0" rtl="0" algn="just">
              <a:spcBef>
                <a:spcPts val="0"/>
              </a:spcBef>
              <a:spcAft>
                <a:spcPts val="0"/>
              </a:spcAft>
              <a:buNone/>
            </a:pPr>
            <a:r>
              <a:t/>
            </a:r>
            <a:endParaRPr sz="800">
              <a:solidFill>
                <a:schemeClr val="dk1"/>
              </a:solidFill>
              <a:latin typeface="Arial"/>
              <a:ea typeface="Arial"/>
              <a:cs typeface="Arial"/>
              <a:sym typeface="Arial"/>
            </a:endParaRPr>
          </a:p>
          <a:p>
            <a:pPr indent="0" lvl="0" marL="0" marR="0" rtl="0" algn="just">
              <a:spcBef>
                <a:spcPts val="0"/>
              </a:spcBef>
              <a:spcAft>
                <a:spcPts val="0"/>
              </a:spcAft>
              <a:buClr>
                <a:schemeClr val="dk1"/>
              </a:buClr>
              <a:buSzPts val="800"/>
              <a:buFont typeface="Arial"/>
              <a:buNone/>
            </a:pPr>
            <a:r>
              <a:rPr lang="de" sz="800">
                <a:solidFill>
                  <a:schemeClr val="dk1"/>
                </a:solidFill>
                <a:latin typeface="Arial"/>
                <a:ea typeface="Arial"/>
                <a:cs typeface="Arial"/>
                <a:sym typeface="Arial"/>
              </a:rPr>
              <a:t>Anschließend erfolgt eine umfassende </a:t>
            </a:r>
            <a:r>
              <a:rPr b="1" lang="de" sz="800">
                <a:solidFill>
                  <a:schemeClr val="dk1"/>
                </a:solidFill>
                <a:latin typeface="Arial"/>
                <a:ea typeface="Arial"/>
                <a:cs typeface="Arial"/>
                <a:sym typeface="Arial"/>
              </a:rPr>
              <a:t>Synchronisation</a:t>
            </a:r>
            <a:r>
              <a:rPr lang="de" sz="800">
                <a:solidFill>
                  <a:schemeClr val="dk1"/>
                </a:solidFill>
                <a:latin typeface="Arial"/>
                <a:ea typeface="Arial"/>
                <a:cs typeface="Arial"/>
                <a:sym typeface="Arial"/>
              </a:rPr>
              <a:t>: Die extrahierten Bild-, Ton- und Kontextdaten werden zeitlich und inhaltlich aufeinander abgestimmt.</a:t>
            </a:r>
            <a:endParaRPr sz="1100"/>
          </a:p>
          <a:p>
            <a:pPr indent="0" lvl="0" marL="0" marR="0" rtl="0" algn="just">
              <a:spcBef>
                <a:spcPts val="0"/>
              </a:spcBef>
              <a:spcAft>
                <a:spcPts val="0"/>
              </a:spcAft>
              <a:buClr>
                <a:schemeClr val="dk1"/>
              </a:buClr>
              <a:buSzPts val="800"/>
              <a:buFont typeface="Georgia"/>
              <a:buNone/>
            </a:pPr>
            <a:r>
              <a:t/>
            </a:r>
            <a:endParaRPr sz="800">
              <a:solidFill>
                <a:schemeClr val="dk1"/>
              </a:solidFill>
              <a:latin typeface="Arial"/>
              <a:ea typeface="Arial"/>
              <a:cs typeface="Arial"/>
              <a:sym typeface="Arial"/>
            </a:endParaRPr>
          </a:p>
          <a:p>
            <a:pPr indent="0" lvl="0" marL="0" marR="0" rtl="0" algn="just">
              <a:spcBef>
                <a:spcPts val="0"/>
              </a:spcBef>
              <a:spcAft>
                <a:spcPts val="0"/>
              </a:spcAft>
              <a:buNone/>
            </a:pPr>
            <a:r>
              <a:rPr lang="de" sz="800">
                <a:solidFill>
                  <a:schemeClr val="dk1"/>
                </a:solidFill>
                <a:latin typeface="Arial"/>
                <a:ea typeface="Arial"/>
                <a:cs typeface="Arial"/>
                <a:sym typeface="Arial"/>
              </a:rPr>
              <a:t>Das Ergebnis sind </a:t>
            </a:r>
            <a:r>
              <a:rPr b="1" lang="de" sz="800">
                <a:solidFill>
                  <a:schemeClr val="dk1"/>
                </a:solidFill>
                <a:latin typeface="Arial"/>
                <a:ea typeface="Arial"/>
                <a:cs typeface="Arial"/>
                <a:sym typeface="Arial"/>
              </a:rPr>
              <a:t>vorverarbeitete Datenpakete</a:t>
            </a:r>
            <a:r>
              <a:rPr lang="de" sz="800">
                <a:solidFill>
                  <a:schemeClr val="dk1"/>
                </a:solidFill>
                <a:latin typeface="Arial"/>
                <a:ea typeface="Arial"/>
                <a:cs typeface="Arial"/>
                <a:sym typeface="Arial"/>
              </a:rPr>
              <a:t>, die synchronisierte Frames, Audiosegmente und Kontextinformationen enthalten. Diese Pakete bilden die robuste Grundlage für die nachfolgende visuelle Analyse, Caption-Generierung und Optimierungs-schritte.</a:t>
            </a:r>
            <a:endParaRPr sz="1100"/>
          </a:p>
        </p:txBody>
      </p:sp>
      <p:sp>
        <p:nvSpPr>
          <p:cNvPr id="225" name="Google Shape;225;p29"/>
          <p:cNvSpPr txBox="1"/>
          <p:nvPr/>
        </p:nvSpPr>
        <p:spPr>
          <a:xfrm>
            <a:off x="305526" y="4569972"/>
            <a:ext cx="2530059"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800"/>
              <a:buFont typeface="Arial"/>
              <a:buNone/>
            </a:pPr>
            <a:r>
              <a:rPr lang="de" sz="800">
                <a:solidFill>
                  <a:schemeClr val="dk1"/>
                </a:solidFill>
                <a:latin typeface="Arial"/>
                <a:ea typeface="Arial"/>
                <a:cs typeface="Arial"/>
                <a:sym typeface="Arial"/>
              </a:rPr>
              <a:t>Quelle: Eigene Darstellung.</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graphicFrame>
        <p:nvGraphicFramePr>
          <p:cNvPr id="230" name="Google Shape;230;p30"/>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231" name="Google Shape;231;p30"/>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b="1" i="0" lang="de" sz="1500" u="none" cap="none" strike="noStrike">
                <a:solidFill>
                  <a:schemeClr val="dk1"/>
                </a:solidFill>
                <a:latin typeface="Arial"/>
                <a:ea typeface="Arial"/>
                <a:cs typeface="Arial"/>
                <a:sym typeface="Arial"/>
              </a:rPr>
              <a:t>2️⃣ Data Pipeline - Visuelle Analyse &amp; Beschreibung</a:t>
            </a:r>
            <a:endParaRPr b="1" sz="1500">
              <a:latin typeface="Arial"/>
              <a:ea typeface="Arial"/>
              <a:cs typeface="Arial"/>
              <a:sym typeface="Arial"/>
            </a:endParaRPr>
          </a:p>
        </p:txBody>
      </p:sp>
      <p:grpSp>
        <p:nvGrpSpPr>
          <p:cNvPr id="232" name="Google Shape;232;p30"/>
          <p:cNvGrpSpPr/>
          <p:nvPr/>
        </p:nvGrpSpPr>
        <p:grpSpPr>
          <a:xfrm>
            <a:off x="877007" y="1435135"/>
            <a:ext cx="2646294" cy="3240360"/>
            <a:chOff x="3431704" y="1700808"/>
            <a:chExt cx="3528392" cy="4320480"/>
          </a:xfrm>
        </p:grpSpPr>
        <p:sp>
          <p:nvSpPr>
            <p:cNvPr id="233" name="Google Shape;233;p30"/>
            <p:cNvSpPr/>
            <p:nvPr/>
          </p:nvSpPr>
          <p:spPr>
            <a:xfrm>
              <a:off x="3540299" y="1792779"/>
              <a:ext cx="3280792" cy="404584"/>
            </a:xfrm>
            <a:prstGeom prst="roundRect">
              <a:avLst>
                <a:gd fmla="val 16667" name="adj"/>
              </a:avLst>
            </a:prstGeom>
            <a:solidFill>
              <a:srgbClr val="DEE8E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rPr b="1" lang="de" sz="800">
                  <a:solidFill>
                    <a:schemeClr val="dk1"/>
                  </a:solidFill>
                  <a:latin typeface="Arial"/>
                  <a:ea typeface="Arial"/>
                  <a:cs typeface="Arial"/>
                  <a:sym typeface="Arial"/>
                </a:rPr>
                <a:t>📂 Vorverarbeitete Datenpakete</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Frames, Audiodaten, Metadaten</a:t>
              </a:r>
              <a:endParaRPr sz="1100"/>
            </a:p>
          </p:txBody>
        </p:sp>
        <p:sp>
          <p:nvSpPr>
            <p:cNvPr id="234" name="Google Shape;234;p30"/>
            <p:cNvSpPr/>
            <p:nvPr/>
          </p:nvSpPr>
          <p:spPr>
            <a:xfrm>
              <a:off x="3540299" y="2537711"/>
              <a:ext cx="3280792" cy="404584"/>
            </a:xfrm>
            <a:prstGeom prst="roundRect">
              <a:avLst>
                <a:gd fmla="val 16667" name="adj"/>
              </a:avLst>
            </a:prstGeom>
            <a:solidFill>
              <a:srgbClr val="DEE8E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rPr b="1" lang="de" sz="800">
                  <a:solidFill>
                    <a:schemeClr val="dk1"/>
                  </a:solidFill>
                  <a:latin typeface="Arial"/>
                  <a:ea typeface="Arial"/>
                  <a:cs typeface="Arial"/>
                  <a:sym typeface="Arial"/>
                </a:rPr>
                <a:t>🎥 Szenenerkennung</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Visuelle Segmentierung</a:t>
              </a:r>
              <a:endParaRPr sz="1100"/>
            </a:p>
          </p:txBody>
        </p:sp>
        <p:sp>
          <p:nvSpPr>
            <p:cNvPr id="235" name="Google Shape;235;p30"/>
            <p:cNvSpPr/>
            <p:nvPr/>
          </p:nvSpPr>
          <p:spPr>
            <a:xfrm>
              <a:off x="3540299" y="3277895"/>
              <a:ext cx="3280792" cy="404584"/>
            </a:xfrm>
            <a:prstGeom prst="roundRect">
              <a:avLst>
                <a:gd fmla="val 16667" name="adj"/>
              </a:avLst>
            </a:prstGeom>
            <a:solidFill>
              <a:srgbClr val="DEE8E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rPr b="1" lang="de" sz="800">
                  <a:solidFill>
                    <a:schemeClr val="dk1"/>
                  </a:solidFill>
                  <a:latin typeface="Arial"/>
                  <a:ea typeface="Arial"/>
                  <a:cs typeface="Arial"/>
                  <a:sym typeface="Arial"/>
                </a:rPr>
                <a:t>🧠 Objekt- &amp; Kontextanalyse</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Personen, Objekte, Handlungen</a:t>
              </a:r>
              <a:endParaRPr sz="1100"/>
            </a:p>
          </p:txBody>
        </p:sp>
        <p:sp>
          <p:nvSpPr>
            <p:cNvPr id="236" name="Google Shape;236;p30"/>
            <p:cNvSpPr/>
            <p:nvPr/>
          </p:nvSpPr>
          <p:spPr>
            <a:xfrm>
              <a:off x="3540299" y="4018079"/>
              <a:ext cx="3280792" cy="404584"/>
            </a:xfrm>
            <a:prstGeom prst="roundRect">
              <a:avLst>
                <a:gd fmla="val 16667" name="adj"/>
              </a:avLst>
            </a:prstGeom>
            <a:solidFill>
              <a:srgbClr val="DEE8E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rPr b="1" lang="de" sz="800">
                  <a:solidFill>
                    <a:schemeClr val="dk1"/>
                  </a:solidFill>
                  <a:latin typeface="Arial"/>
                  <a:ea typeface="Arial"/>
                  <a:cs typeface="Arial"/>
                  <a:sym typeface="Arial"/>
                </a:rPr>
                <a:t>📝 Caption-Generierung</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Erstellung präziser Beschreibungen</a:t>
              </a:r>
              <a:endParaRPr sz="1100"/>
            </a:p>
          </p:txBody>
        </p:sp>
        <p:sp>
          <p:nvSpPr>
            <p:cNvPr id="237" name="Google Shape;237;p30"/>
            <p:cNvSpPr/>
            <p:nvPr/>
          </p:nvSpPr>
          <p:spPr>
            <a:xfrm>
              <a:off x="3519736" y="5498447"/>
              <a:ext cx="3280792" cy="404584"/>
            </a:xfrm>
            <a:prstGeom prst="roundRect">
              <a:avLst>
                <a:gd fmla="val 16667" name="adj"/>
              </a:avLst>
            </a:prstGeom>
            <a:solidFill>
              <a:srgbClr val="DEE8E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rPr b="1" lang="de" sz="800">
                  <a:solidFill>
                    <a:schemeClr val="dk1"/>
                  </a:solidFill>
                  <a:latin typeface="Arial"/>
                  <a:ea typeface="Arial"/>
                  <a:cs typeface="Arial"/>
                  <a:sym typeface="Arial"/>
                </a:rPr>
                <a:t>✅ Qualitätsfilterung</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Prüfung auf Relevanz und Lesbarkeit</a:t>
              </a:r>
              <a:endParaRPr sz="1100"/>
            </a:p>
          </p:txBody>
        </p:sp>
        <p:sp>
          <p:nvSpPr>
            <p:cNvPr id="238" name="Google Shape;238;p30"/>
            <p:cNvSpPr/>
            <p:nvPr/>
          </p:nvSpPr>
          <p:spPr>
            <a:xfrm>
              <a:off x="3519736" y="4758263"/>
              <a:ext cx="3280792" cy="404584"/>
            </a:xfrm>
            <a:prstGeom prst="roundRect">
              <a:avLst>
                <a:gd fmla="val 16667" name="adj"/>
              </a:avLst>
            </a:prstGeom>
            <a:solidFill>
              <a:srgbClr val="DEE8E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ctr" bIns="34275" lIns="68575" spcFirstLastPara="1" rIns="68575" wrap="square" tIns="34275">
              <a:noAutofit/>
            </a:bodyPr>
            <a:lstStyle/>
            <a:p>
              <a:pPr indent="0" lvl="0" marL="0" marR="0" rtl="0" algn="l">
                <a:spcBef>
                  <a:spcPts val="0"/>
                </a:spcBef>
                <a:spcAft>
                  <a:spcPts val="0"/>
                </a:spcAft>
                <a:buNone/>
              </a:pPr>
              <a:r>
                <a:rPr b="1" lang="de" sz="800">
                  <a:solidFill>
                    <a:schemeClr val="dk1"/>
                  </a:solidFill>
                  <a:latin typeface="Arial"/>
                  <a:ea typeface="Arial"/>
                  <a:cs typeface="Arial"/>
                  <a:sym typeface="Arial"/>
                </a:rPr>
                <a:t>🚀 Übergabe an Feinschliff</a:t>
              </a:r>
              <a:endParaRPr sz="1100"/>
            </a:p>
            <a:p>
              <a:pPr indent="0" lvl="0" marL="0" marR="0" rtl="0" algn="l">
                <a:spcBef>
                  <a:spcPts val="0"/>
                </a:spcBef>
                <a:spcAft>
                  <a:spcPts val="0"/>
                </a:spcAft>
                <a:buNone/>
              </a:pPr>
              <a:r>
                <a:rPr lang="de" sz="800">
                  <a:solidFill>
                    <a:schemeClr val="dk1"/>
                  </a:solidFill>
                  <a:latin typeface="Arial"/>
                  <a:ea typeface="Arial"/>
                  <a:cs typeface="Arial"/>
                  <a:sym typeface="Arial"/>
                </a:rPr>
                <a:t>Optimierung durch sprachliche Modelle</a:t>
              </a:r>
              <a:endParaRPr sz="1100"/>
            </a:p>
          </p:txBody>
        </p:sp>
        <p:sp>
          <p:nvSpPr>
            <p:cNvPr id="239" name="Google Shape;239;p30"/>
            <p:cNvSpPr/>
            <p:nvPr/>
          </p:nvSpPr>
          <p:spPr>
            <a:xfrm>
              <a:off x="3431704" y="1700808"/>
              <a:ext cx="3528392" cy="4320480"/>
            </a:xfrm>
            <a:prstGeom prst="rect">
              <a:avLst/>
            </a:prstGeom>
            <a:solidFill>
              <a:srgbClr val="438086">
                <a:alpha val="16862"/>
              </a:srgbClr>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pSp>
      <p:sp>
        <p:nvSpPr>
          <p:cNvPr id="240" name="Google Shape;240;p30"/>
          <p:cNvSpPr txBox="1"/>
          <p:nvPr/>
        </p:nvSpPr>
        <p:spPr>
          <a:xfrm>
            <a:off x="305526" y="1124562"/>
            <a:ext cx="6102678" cy="23083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de" sz="1100">
                <a:solidFill>
                  <a:schemeClr val="dk1"/>
                </a:solidFill>
                <a:latin typeface="Arial"/>
                <a:ea typeface="Arial"/>
                <a:cs typeface="Arial"/>
                <a:sym typeface="Arial"/>
              </a:rPr>
              <a:t>Strukturierte Prozesskette: Visuelle Analyse und Beschreibung</a:t>
            </a:r>
            <a:endParaRPr sz="1100"/>
          </a:p>
        </p:txBody>
      </p:sp>
      <p:sp>
        <p:nvSpPr>
          <p:cNvPr id="241" name="Google Shape;241;p30"/>
          <p:cNvSpPr txBox="1"/>
          <p:nvPr/>
        </p:nvSpPr>
        <p:spPr>
          <a:xfrm>
            <a:off x="4225379" y="1435135"/>
            <a:ext cx="3803005" cy="3240000"/>
          </a:xfrm>
          <a:prstGeom prst="rect">
            <a:avLst/>
          </a:prstGeom>
          <a:noFill/>
          <a:ln cap="flat" cmpd="sng" w="9525">
            <a:solidFill>
              <a:srgbClr val="438086"/>
            </a:solidFill>
            <a:prstDash val="solid"/>
            <a:round/>
            <a:headEnd len="sm" w="sm" type="none"/>
            <a:tailEnd len="sm" w="sm" type="none"/>
          </a:ln>
        </p:spPr>
        <p:txBody>
          <a:bodyPr anchorCtr="0" anchor="t" bIns="34275" lIns="68575" spcFirstLastPara="1" rIns="68575" wrap="square" tIns="34275">
            <a:spAutoFit/>
          </a:bodyPr>
          <a:lstStyle/>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Vorverarbeitete Datenpakete bündeln strukturierte Bild-, Audio- und Kontextinformationen und dienen als robuste Grundlage für die Analyse</a:t>
            </a:r>
            <a:endParaRPr sz="1100"/>
          </a:p>
          <a:p>
            <a:pPr indent="0" lvl="0" marL="0" marR="0" rtl="0" algn="just">
              <a:spcBef>
                <a:spcPts val="0"/>
              </a:spcBef>
              <a:spcAft>
                <a:spcPts val="0"/>
              </a:spcAft>
              <a:buClr>
                <a:schemeClr val="dk1"/>
              </a:buClr>
              <a:buSzPts val="800"/>
              <a:buFont typeface="Georgia"/>
              <a:buNone/>
            </a:pPr>
            <a:r>
              <a:t/>
            </a:r>
            <a:endParaRPr sz="800">
              <a:solidFill>
                <a:schemeClr val="dk1"/>
              </a:solidFill>
              <a:latin typeface="Arial"/>
              <a:ea typeface="Arial"/>
              <a:cs typeface="Arial"/>
              <a:sym typeface="Arial"/>
            </a:endParaRPr>
          </a:p>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Im Schritt der Szenenerkennung erfolgt eine automatische Segmentierung des Bildmaterials in logische Szeneneinheiten, die visuell kohärente Abschnitte definieren. Diese Segmentierung ist entscheidend, um einzelne Bildausschnitte sinnvoll beschreiben zu können.</a:t>
            </a:r>
            <a:endParaRPr sz="1100"/>
          </a:p>
          <a:p>
            <a:pPr indent="-76200" lvl="0" marL="127000" marR="0" rtl="0" algn="just">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Die Objekt- und Kontextanalyse identifiziert innerhalb jeder Szene zentrale Elemente wie Personen, Objekte, Handlungen und Stimmungen. Dabei werden semantische Beziehungen (z. B. „Person hält einen Gegenstand“) erkannt und kontextualisiert.</a:t>
            </a:r>
            <a:endParaRPr sz="1100"/>
          </a:p>
          <a:p>
            <a:pPr indent="-76200" lvl="0" marL="127000" marR="0" rtl="0" algn="just">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Aufbauend auf diesen Erkenntnissen erstellt die Caption-Generierung präzise, sprachlich gut strukturierte Kurzbeschreibungen. Hier wird darauf geachtet, dass die Beschreibungen sowohl informativ als auch sprachlich klar und kompakt sind.</a:t>
            </a:r>
            <a:endParaRPr sz="1100"/>
          </a:p>
          <a:p>
            <a:pPr indent="-76200" lvl="0" marL="127000" marR="0" rtl="0" algn="just">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Anschließend prüft die Qualitätsfilterung die erzeugten Beschreibungen hinsichtlich inhaltlicher Relevanz, Verständlichkeit, Redundanzfreiheit und stilistischer Konsistenz. Nur geprüfte Captions werden weiterverwendet.</a:t>
            </a:r>
            <a:endParaRPr sz="1100"/>
          </a:p>
          <a:p>
            <a:pPr indent="-76200" lvl="0" marL="127000" marR="0" rtl="0" algn="just">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Die qualitätsgeprüften Texte werden schließlich an ein Modul für den sprachlichen Feinschliff übergeben, das stilistische Optimierungen vornimmt, um die Texte an die Zielgruppe (z. B. Audiodeskriptionsnormen, Senderstandards) anzupassen.</a:t>
            </a:r>
            <a:endParaRPr sz="1100"/>
          </a:p>
        </p:txBody>
      </p:sp>
      <p:sp>
        <p:nvSpPr>
          <p:cNvPr id="242" name="Google Shape;242;p30"/>
          <p:cNvSpPr/>
          <p:nvPr/>
        </p:nvSpPr>
        <p:spPr>
          <a:xfrm rot="5400000">
            <a:off x="3271222" y="2925269"/>
            <a:ext cx="1206237" cy="259731"/>
          </a:xfrm>
          <a:prstGeom prst="triangle">
            <a:avLst>
              <a:gd fmla="val 50000" name="adj"/>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43" name="Google Shape;243;p30"/>
          <p:cNvSpPr/>
          <p:nvPr/>
        </p:nvSpPr>
        <p:spPr>
          <a:xfrm>
            <a:off x="390516" y="1480094"/>
            <a:ext cx="351476" cy="351476"/>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de" sz="800">
                <a:solidFill>
                  <a:schemeClr val="dk1"/>
                </a:solidFill>
                <a:latin typeface="Arial"/>
                <a:ea typeface="Arial"/>
                <a:cs typeface="Arial"/>
                <a:sym typeface="Arial"/>
              </a:rPr>
              <a:t>1.</a:t>
            </a:r>
            <a:endParaRPr sz="1100"/>
          </a:p>
        </p:txBody>
      </p:sp>
      <p:sp>
        <p:nvSpPr>
          <p:cNvPr id="244" name="Google Shape;244;p30"/>
          <p:cNvSpPr/>
          <p:nvPr/>
        </p:nvSpPr>
        <p:spPr>
          <a:xfrm>
            <a:off x="390516" y="2042230"/>
            <a:ext cx="351476" cy="351476"/>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de" sz="800">
                <a:solidFill>
                  <a:schemeClr val="dk1"/>
                </a:solidFill>
                <a:latin typeface="Arial"/>
                <a:ea typeface="Arial"/>
                <a:cs typeface="Arial"/>
                <a:sym typeface="Arial"/>
              </a:rPr>
              <a:t>2.</a:t>
            </a:r>
            <a:endParaRPr sz="1100"/>
          </a:p>
        </p:txBody>
      </p:sp>
      <p:sp>
        <p:nvSpPr>
          <p:cNvPr id="245" name="Google Shape;245;p30"/>
          <p:cNvSpPr/>
          <p:nvPr/>
        </p:nvSpPr>
        <p:spPr>
          <a:xfrm>
            <a:off x="383555" y="2574056"/>
            <a:ext cx="351476" cy="351476"/>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de" sz="800">
                <a:solidFill>
                  <a:schemeClr val="dk1"/>
                </a:solidFill>
                <a:latin typeface="Arial"/>
                <a:ea typeface="Arial"/>
                <a:cs typeface="Arial"/>
                <a:sym typeface="Arial"/>
              </a:rPr>
              <a:t>3.</a:t>
            </a:r>
            <a:endParaRPr sz="1100"/>
          </a:p>
        </p:txBody>
      </p:sp>
      <p:sp>
        <p:nvSpPr>
          <p:cNvPr id="246" name="Google Shape;246;p30"/>
          <p:cNvSpPr/>
          <p:nvPr/>
        </p:nvSpPr>
        <p:spPr>
          <a:xfrm>
            <a:off x="383555" y="3149069"/>
            <a:ext cx="351476" cy="351476"/>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de" sz="800">
                <a:solidFill>
                  <a:schemeClr val="dk1"/>
                </a:solidFill>
                <a:latin typeface="Arial"/>
                <a:ea typeface="Arial"/>
                <a:cs typeface="Arial"/>
                <a:sym typeface="Arial"/>
              </a:rPr>
              <a:t>4.</a:t>
            </a:r>
            <a:endParaRPr sz="1100"/>
          </a:p>
        </p:txBody>
      </p:sp>
      <p:sp>
        <p:nvSpPr>
          <p:cNvPr id="247" name="Google Shape;247;p30"/>
          <p:cNvSpPr/>
          <p:nvPr/>
        </p:nvSpPr>
        <p:spPr>
          <a:xfrm>
            <a:off x="382805" y="3704207"/>
            <a:ext cx="351476" cy="351476"/>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de" sz="800">
                <a:solidFill>
                  <a:schemeClr val="dk1"/>
                </a:solidFill>
                <a:latin typeface="Arial"/>
                <a:ea typeface="Arial"/>
                <a:cs typeface="Arial"/>
                <a:sym typeface="Arial"/>
              </a:rPr>
              <a:t>5.</a:t>
            </a:r>
            <a:endParaRPr sz="1100"/>
          </a:p>
        </p:txBody>
      </p:sp>
      <p:sp>
        <p:nvSpPr>
          <p:cNvPr id="248" name="Google Shape;248;p30"/>
          <p:cNvSpPr/>
          <p:nvPr/>
        </p:nvSpPr>
        <p:spPr>
          <a:xfrm>
            <a:off x="382805" y="4259345"/>
            <a:ext cx="351476" cy="351476"/>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de" sz="800">
                <a:solidFill>
                  <a:schemeClr val="dk1"/>
                </a:solidFill>
                <a:latin typeface="Arial"/>
                <a:ea typeface="Arial"/>
                <a:cs typeface="Arial"/>
                <a:sym typeface="Arial"/>
              </a:rPr>
              <a:t>6.</a:t>
            </a:r>
            <a:endParaRPr sz="1100"/>
          </a:p>
        </p:txBody>
      </p:sp>
      <p:sp>
        <p:nvSpPr>
          <p:cNvPr id="249" name="Google Shape;249;p30"/>
          <p:cNvSpPr txBox="1"/>
          <p:nvPr/>
        </p:nvSpPr>
        <p:spPr>
          <a:xfrm>
            <a:off x="845586" y="4677984"/>
            <a:ext cx="2530059"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800"/>
              <a:buFont typeface="Arial"/>
              <a:buNone/>
            </a:pPr>
            <a:r>
              <a:rPr lang="de" sz="800">
                <a:solidFill>
                  <a:schemeClr val="dk1"/>
                </a:solidFill>
                <a:latin typeface="Arial"/>
                <a:ea typeface="Arial"/>
                <a:cs typeface="Arial"/>
                <a:sym typeface="Arial"/>
              </a:rPr>
              <a:t>Quelle: Eigene Darstellung.</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graphicFrame>
        <p:nvGraphicFramePr>
          <p:cNvPr id="254" name="Google Shape;254;p31"/>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255" name="Google Shape;255;p31"/>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b="1" i="0" lang="de" sz="1500" u="none" cap="none" strike="noStrike">
                <a:solidFill>
                  <a:schemeClr val="dk1"/>
                </a:solidFill>
                <a:latin typeface="Arial"/>
                <a:ea typeface="Arial"/>
                <a:cs typeface="Arial"/>
                <a:sym typeface="Arial"/>
              </a:rPr>
              <a:t>2️⃣ Data Pipeline - Ausgabe, Evaluation &amp; Optimierung</a:t>
            </a:r>
            <a:endParaRPr b="1" sz="1500">
              <a:latin typeface="Arial"/>
              <a:ea typeface="Arial"/>
              <a:cs typeface="Arial"/>
              <a:sym typeface="Arial"/>
            </a:endParaRPr>
          </a:p>
        </p:txBody>
      </p:sp>
      <p:sp>
        <p:nvSpPr>
          <p:cNvPr id="256" name="Google Shape;256;p31"/>
          <p:cNvSpPr txBox="1"/>
          <p:nvPr/>
        </p:nvSpPr>
        <p:spPr>
          <a:xfrm>
            <a:off x="305526" y="1124562"/>
            <a:ext cx="6102678" cy="23083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de" sz="1100">
                <a:solidFill>
                  <a:schemeClr val="dk1"/>
                </a:solidFill>
                <a:latin typeface="Arial"/>
                <a:ea typeface="Arial"/>
                <a:cs typeface="Arial"/>
                <a:sym typeface="Arial"/>
              </a:rPr>
              <a:t>Strukturierte Prozesskette: Visuelle Analyse und Beschreibung</a:t>
            </a:r>
            <a:endParaRPr sz="1100"/>
          </a:p>
        </p:txBody>
      </p:sp>
      <p:sp>
        <p:nvSpPr>
          <p:cNvPr id="257" name="Google Shape;257;p31"/>
          <p:cNvSpPr/>
          <p:nvPr/>
        </p:nvSpPr>
        <p:spPr>
          <a:xfrm>
            <a:off x="942994" y="1616825"/>
            <a:ext cx="3672408" cy="399864"/>
          </a:xfrm>
          <a:prstGeom prst="roundRect">
            <a:avLst>
              <a:gd fmla="val 16667" name="adj"/>
            </a:avLst>
          </a:prstGeom>
          <a:solidFill>
            <a:srgbClr val="C4D8D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rPr b="1" lang="de" sz="800">
                <a:solidFill>
                  <a:schemeClr val="lt1"/>
                </a:solidFill>
                <a:latin typeface="Arial"/>
                <a:ea typeface="Arial"/>
                <a:cs typeface="Arial"/>
                <a:sym typeface="Arial"/>
              </a:rPr>
              <a:t>📄 Ausgabe-Generierung</a:t>
            </a:r>
            <a:endParaRPr sz="1100"/>
          </a:p>
          <a:p>
            <a:pPr indent="0" lvl="0" marL="0" marR="0" rtl="0" algn="l">
              <a:spcBef>
                <a:spcPts val="0"/>
              </a:spcBef>
              <a:spcAft>
                <a:spcPts val="0"/>
              </a:spcAft>
              <a:buNone/>
            </a:pPr>
            <a:r>
              <a:rPr lang="de" sz="800">
                <a:solidFill>
                  <a:schemeClr val="lt1"/>
                </a:solidFill>
                <a:latin typeface="Arial"/>
                <a:ea typeface="Arial"/>
                <a:cs typeface="Arial"/>
                <a:sym typeface="Arial"/>
              </a:rPr>
              <a:t>Erstellung von Audiodeskriptionsskripten auf Basis der Captions.</a:t>
            </a:r>
            <a:endParaRPr sz="1100"/>
          </a:p>
        </p:txBody>
      </p:sp>
      <p:sp>
        <p:nvSpPr>
          <p:cNvPr id="258" name="Google Shape;258;p31"/>
          <p:cNvSpPr/>
          <p:nvPr/>
        </p:nvSpPr>
        <p:spPr>
          <a:xfrm>
            <a:off x="942994" y="2387991"/>
            <a:ext cx="3672408" cy="399864"/>
          </a:xfrm>
          <a:prstGeom prst="roundRect">
            <a:avLst>
              <a:gd fmla="val 16667" name="adj"/>
            </a:avLst>
          </a:prstGeom>
          <a:solidFill>
            <a:srgbClr val="C4D8D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rPr b="1" lang="de" sz="800">
                <a:solidFill>
                  <a:schemeClr val="lt1"/>
                </a:solidFill>
                <a:latin typeface="Arial"/>
                <a:ea typeface="Arial"/>
                <a:cs typeface="Arial"/>
                <a:sym typeface="Arial"/>
              </a:rPr>
              <a:t>✅ Evaluation &amp; Review</a:t>
            </a:r>
            <a:endParaRPr sz="1100"/>
          </a:p>
          <a:p>
            <a:pPr indent="0" lvl="0" marL="0" marR="0" rtl="0" algn="l">
              <a:spcBef>
                <a:spcPts val="0"/>
              </a:spcBef>
              <a:spcAft>
                <a:spcPts val="0"/>
              </a:spcAft>
              <a:buNone/>
            </a:pPr>
            <a:r>
              <a:rPr lang="de" sz="800">
                <a:solidFill>
                  <a:schemeClr val="lt1"/>
                </a:solidFill>
                <a:latin typeface="Arial"/>
                <a:ea typeface="Arial"/>
                <a:cs typeface="Arial"/>
                <a:sym typeface="Arial"/>
              </a:rPr>
              <a:t>Prüfung der Audiodeskriptionen auf Verständlichkeit, Präzision und Wirkung.</a:t>
            </a:r>
            <a:endParaRPr sz="1100"/>
          </a:p>
        </p:txBody>
      </p:sp>
      <p:sp>
        <p:nvSpPr>
          <p:cNvPr id="259" name="Google Shape;259;p31"/>
          <p:cNvSpPr/>
          <p:nvPr/>
        </p:nvSpPr>
        <p:spPr>
          <a:xfrm>
            <a:off x="942994" y="3159157"/>
            <a:ext cx="3672408" cy="399864"/>
          </a:xfrm>
          <a:prstGeom prst="roundRect">
            <a:avLst>
              <a:gd fmla="val 16667" name="adj"/>
            </a:avLst>
          </a:prstGeom>
          <a:solidFill>
            <a:srgbClr val="C4D8DF"/>
          </a:solidFill>
          <a:ln cap="flat" cmpd="sng" w="9525">
            <a:solidFill>
              <a:schemeClr val="accent1"/>
            </a:solidFill>
            <a:prstDash val="solid"/>
            <a:round/>
            <a:headEnd len="sm" w="sm" type="none"/>
            <a:tailEnd len="sm" w="sm" type="none"/>
          </a:ln>
          <a:effectLst>
            <a:outerShdw blurRad="50800" rotWithShape="0" dir="5400000" dist="25400">
              <a:srgbClr val="000000">
                <a:alpha val="44705"/>
              </a:srgbClr>
            </a:outerShdw>
          </a:effectLst>
        </p:spPr>
        <p:txBody>
          <a:bodyPr anchorCtr="0" anchor="t" bIns="34275" lIns="68575" spcFirstLastPara="1" rIns="68575" wrap="square" tIns="34275">
            <a:noAutofit/>
          </a:bodyPr>
          <a:lstStyle/>
          <a:p>
            <a:pPr indent="0" lvl="0" marL="0" marR="0" rtl="0" algn="l">
              <a:spcBef>
                <a:spcPts val="0"/>
              </a:spcBef>
              <a:spcAft>
                <a:spcPts val="0"/>
              </a:spcAft>
              <a:buNone/>
            </a:pPr>
            <a:r>
              <a:rPr b="1" lang="de" sz="800">
                <a:solidFill>
                  <a:schemeClr val="lt1"/>
                </a:solidFill>
                <a:latin typeface="Arial"/>
                <a:ea typeface="Arial"/>
                <a:cs typeface="Arial"/>
                <a:sym typeface="Arial"/>
              </a:rPr>
              <a:t>🔧 Optimierung &amp; Nachbesserung</a:t>
            </a:r>
            <a:endParaRPr sz="1100"/>
          </a:p>
          <a:p>
            <a:pPr indent="0" lvl="0" marL="0" marR="0" rtl="0" algn="l">
              <a:spcBef>
                <a:spcPts val="0"/>
              </a:spcBef>
              <a:spcAft>
                <a:spcPts val="0"/>
              </a:spcAft>
              <a:buNone/>
            </a:pPr>
            <a:r>
              <a:rPr lang="de" sz="800">
                <a:solidFill>
                  <a:schemeClr val="lt1"/>
                </a:solidFill>
                <a:latin typeface="Arial"/>
                <a:ea typeface="Arial"/>
                <a:cs typeface="Arial"/>
                <a:sym typeface="Arial"/>
              </a:rPr>
              <a:t>Anpassung und Verbesserung basierend auf den Evaluationsrückmeldungen.</a:t>
            </a:r>
            <a:endParaRPr sz="1100"/>
          </a:p>
        </p:txBody>
      </p:sp>
      <p:sp>
        <p:nvSpPr>
          <p:cNvPr id="260" name="Google Shape;260;p31"/>
          <p:cNvSpPr/>
          <p:nvPr/>
        </p:nvSpPr>
        <p:spPr>
          <a:xfrm>
            <a:off x="856190" y="1543838"/>
            <a:ext cx="3867224" cy="2129429"/>
          </a:xfrm>
          <a:prstGeom prst="rect">
            <a:avLst/>
          </a:prstGeom>
          <a:solidFill>
            <a:srgbClr val="438086">
              <a:alpha val="16862"/>
            </a:srgbClr>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61" name="Google Shape;261;p31"/>
          <p:cNvSpPr/>
          <p:nvPr/>
        </p:nvSpPr>
        <p:spPr>
          <a:xfrm>
            <a:off x="390516" y="1630444"/>
            <a:ext cx="351476" cy="351476"/>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de" sz="800">
                <a:solidFill>
                  <a:schemeClr val="dk1"/>
                </a:solidFill>
                <a:latin typeface="Arial"/>
                <a:ea typeface="Arial"/>
                <a:cs typeface="Arial"/>
                <a:sym typeface="Arial"/>
              </a:rPr>
              <a:t>1.</a:t>
            </a:r>
            <a:endParaRPr sz="1100"/>
          </a:p>
        </p:txBody>
      </p:sp>
      <p:sp>
        <p:nvSpPr>
          <p:cNvPr id="262" name="Google Shape;262;p31"/>
          <p:cNvSpPr/>
          <p:nvPr/>
        </p:nvSpPr>
        <p:spPr>
          <a:xfrm>
            <a:off x="396702" y="2352974"/>
            <a:ext cx="351476" cy="351476"/>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de" sz="800">
                <a:solidFill>
                  <a:schemeClr val="dk1"/>
                </a:solidFill>
                <a:latin typeface="Arial"/>
                <a:ea typeface="Arial"/>
                <a:cs typeface="Arial"/>
                <a:sym typeface="Arial"/>
              </a:rPr>
              <a:t>2.</a:t>
            </a:r>
            <a:endParaRPr sz="1100"/>
          </a:p>
        </p:txBody>
      </p:sp>
      <p:sp>
        <p:nvSpPr>
          <p:cNvPr id="263" name="Google Shape;263;p31"/>
          <p:cNvSpPr/>
          <p:nvPr/>
        </p:nvSpPr>
        <p:spPr>
          <a:xfrm>
            <a:off x="390516" y="3084287"/>
            <a:ext cx="351476" cy="351476"/>
          </a:xfrm>
          <a:prstGeom prst="ellipse">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de" sz="800">
                <a:solidFill>
                  <a:schemeClr val="dk1"/>
                </a:solidFill>
                <a:latin typeface="Arial"/>
                <a:ea typeface="Arial"/>
                <a:cs typeface="Arial"/>
                <a:sym typeface="Arial"/>
              </a:rPr>
              <a:t>3.</a:t>
            </a:r>
            <a:endParaRPr sz="1100"/>
          </a:p>
        </p:txBody>
      </p:sp>
      <p:sp>
        <p:nvSpPr>
          <p:cNvPr id="264" name="Google Shape;264;p31"/>
          <p:cNvSpPr txBox="1"/>
          <p:nvPr/>
        </p:nvSpPr>
        <p:spPr>
          <a:xfrm>
            <a:off x="4981463" y="1545636"/>
            <a:ext cx="3803005" cy="2129429"/>
          </a:xfrm>
          <a:prstGeom prst="rect">
            <a:avLst/>
          </a:prstGeom>
          <a:noFill/>
          <a:ln cap="flat" cmpd="sng" w="9525">
            <a:solidFill>
              <a:srgbClr val="438086"/>
            </a:solidFill>
            <a:prstDash val="solid"/>
            <a:round/>
            <a:headEnd len="sm" w="sm" type="none"/>
            <a:tailEnd len="sm" w="sm" type="none"/>
          </a:ln>
        </p:spPr>
        <p:txBody>
          <a:bodyPr anchorCtr="0" anchor="t" bIns="34275" lIns="68575" spcFirstLastPara="1" rIns="68575" wrap="square" tIns="34275">
            <a:spAutoFit/>
          </a:bodyPr>
          <a:lstStyle/>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Ausgabe-Generierung: Die qualitätsgeprüften Captions werden in ein standardisiertes Format überführt (z. B. Audiodeskriptionsskripte), das für die Sprachsynthese (Text-to-Speech) oder für die manuelle Sprachaufnahme geeignet ist.</a:t>
            </a:r>
            <a:endParaRPr sz="1100"/>
          </a:p>
          <a:p>
            <a:pPr indent="-76200" lvl="0" marL="127000" marR="0" rtl="0" algn="just">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Evaluation und Review: In dieser Phase erfolgt eine strukturierte Überprüfung der generierten Audiodeskriptionen. Hierbei werden Aspekte wie Verständlichkeit, Synchronität mit dem Bildmaterial, sprachliche Präzision und emotionale Wirkung bewertet.Je nach Anforderung werden sowohl automatische Evaluationsmetriken als auch menschliche Reviewprozesse eingesetzt.</a:t>
            </a:r>
            <a:endParaRPr sz="1100"/>
          </a:p>
          <a:p>
            <a:pPr indent="-76200" lvl="0" marL="127000" marR="0" rtl="0" algn="just">
              <a:spcBef>
                <a:spcPts val="0"/>
              </a:spcBef>
              <a:spcAft>
                <a:spcPts val="0"/>
              </a:spcAft>
              <a:buClr>
                <a:schemeClr val="dk1"/>
              </a:buClr>
              <a:buSzPts val="800"/>
              <a:buFont typeface="Noto Sans Symbols"/>
              <a:buNone/>
            </a:pPr>
            <a:r>
              <a:t/>
            </a:r>
            <a:endParaRPr sz="800">
              <a:solidFill>
                <a:schemeClr val="dk1"/>
              </a:solidFill>
              <a:latin typeface="Arial"/>
              <a:ea typeface="Arial"/>
              <a:cs typeface="Arial"/>
              <a:sym typeface="Arial"/>
            </a:endParaRPr>
          </a:p>
          <a:p>
            <a:pPr indent="-127000" lvl="0" marL="127000" marR="0" rtl="0" algn="just">
              <a:spcBef>
                <a:spcPts val="0"/>
              </a:spcBef>
              <a:spcAft>
                <a:spcPts val="0"/>
              </a:spcAft>
              <a:buClr>
                <a:schemeClr val="dk1"/>
              </a:buClr>
              <a:buSzPts val="800"/>
              <a:buFont typeface="Noto Sans Symbols"/>
              <a:buChar char="▪"/>
            </a:pPr>
            <a:r>
              <a:rPr lang="de" sz="800">
                <a:solidFill>
                  <a:schemeClr val="dk1"/>
                </a:solidFill>
                <a:latin typeface="Arial"/>
                <a:ea typeface="Arial"/>
                <a:cs typeface="Arial"/>
                <a:sym typeface="Arial"/>
              </a:rPr>
              <a:t>Optimierung und Nachbesserung: Basierend auf den Evaluationsrückmeldungen werden gezielte Korrekturen vorgenommen. Dies betrifft sowohl inhaltliche Anpassungen (z. B. präzisere Beschreibungen) als auch stilistische Optimierungen (z. B. bessere Fluss der Sätze, zielgruppengerechte Ausdrucksweise).</a:t>
            </a:r>
            <a:endParaRPr sz="1100"/>
          </a:p>
        </p:txBody>
      </p:sp>
      <p:sp>
        <p:nvSpPr>
          <p:cNvPr id="265" name="Google Shape;265;p31"/>
          <p:cNvSpPr txBox="1"/>
          <p:nvPr/>
        </p:nvSpPr>
        <p:spPr>
          <a:xfrm>
            <a:off x="791580" y="3683228"/>
            <a:ext cx="2530059"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800"/>
              <a:buFont typeface="Arial"/>
              <a:buNone/>
            </a:pPr>
            <a:r>
              <a:rPr lang="de" sz="800">
                <a:solidFill>
                  <a:schemeClr val="dk1"/>
                </a:solidFill>
                <a:latin typeface="Arial"/>
                <a:ea typeface="Arial"/>
                <a:cs typeface="Arial"/>
                <a:sym typeface="Arial"/>
              </a:rPr>
              <a:t>Quelle: Eigene Darstellung.</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2"/>
          <p:cNvSpPr txBox="1"/>
          <p:nvPr>
            <p:ph idx="12" type="sldNum"/>
          </p:nvPr>
        </p:nvSpPr>
        <p:spPr>
          <a:xfrm>
            <a:off x="6624228" y="0"/>
            <a:ext cx="1221324" cy="276024"/>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r>
              <a:rPr lang="de">
                <a:latin typeface="Verdana"/>
                <a:ea typeface="Verdana"/>
                <a:cs typeface="Verdana"/>
                <a:sym typeface="Verdana"/>
              </a:rPr>
              <a:t>Seite </a:t>
            </a:r>
            <a:fld id="{00000000-1234-1234-1234-123412341234}" type="slidenum">
              <a:rPr lang="de">
                <a:latin typeface="Verdana"/>
                <a:ea typeface="Verdana"/>
                <a:cs typeface="Verdana"/>
                <a:sym typeface="Verdana"/>
              </a:rPr>
              <a:t>‹#›</a:t>
            </a:fld>
            <a:r>
              <a:rPr lang="de">
                <a:latin typeface="Verdana"/>
                <a:ea typeface="Verdana"/>
                <a:cs typeface="Verdana"/>
                <a:sym typeface="Verdana"/>
              </a:rPr>
              <a:t> </a:t>
            </a:r>
            <a:endParaRPr/>
          </a:p>
        </p:txBody>
      </p:sp>
      <p:graphicFrame>
        <p:nvGraphicFramePr>
          <p:cNvPr id="272" name="Google Shape;272;p32"/>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273" name="Google Shape;273;p32"/>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2"/>
              </a:buClr>
              <a:buSzPts val="1500"/>
              <a:buFont typeface="Arial"/>
              <a:buNone/>
            </a:pPr>
            <a:r>
              <a:rPr lang="de" sz="1500">
                <a:latin typeface="Arial"/>
                <a:ea typeface="Arial"/>
                <a:cs typeface="Arial"/>
                <a:sym typeface="Arial"/>
              </a:rPr>
              <a:t>3️⃣ </a:t>
            </a:r>
            <a:r>
              <a:rPr b="1" i="0" lang="de" sz="1500" u="none" cap="none" strike="noStrike">
                <a:solidFill>
                  <a:schemeClr val="dk1"/>
                </a:solidFill>
                <a:latin typeface="Arial"/>
                <a:ea typeface="Arial"/>
                <a:cs typeface="Arial"/>
                <a:sym typeface="Arial"/>
              </a:rPr>
              <a:t>Punkt 3 – Heatmap möglicher Modelle</a:t>
            </a:r>
            <a:endParaRPr b="1" sz="1800">
              <a:latin typeface="Arial"/>
              <a:ea typeface="Arial"/>
              <a:cs typeface="Arial"/>
              <a:sym typeface="Arial"/>
            </a:endParaRPr>
          </a:p>
        </p:txBody>
      </p:sp>
      <p:pic>
        <p:nvPicPr>
          <p:cNvPr id="274" name="Google Shape;274;p32"/>
          <p:cNvPicPr preferRelativeResize="0"/>
          <p:nvPr/>
        </p:nvPicPr>
        <p:blipFill rotWithShape="1">
          <a:blip r:embed="rId3">
            <a:alphaModFix/>
          </a:blip>
          <a:srcRect b="0" l="0" r="0" t="0"/>
          <a:stretch/>
        </p:blipFill>
        <p:spPr>
          <a:xfrm>
            <a:off x="378042" y="1383618"/>
            <a:ext cx="7002270" cy="3480210"/>
          </a:xfrm>
          <a:prstGeom prst="rect">
            <a:avLst/>
          </a:prstGeom>
          <a:noFill/>
          <a:ln cap="flat" cmpd="sng" w="9525">
            <a:solidFill>
              <a:srgbClr val="438086"/>
            </a:solidFill>
            <a:prstDash val="solid"/>
            <a:round/>
            <a:headEnd len="sm" w="sm" type="none"/>
            <a:tailEnd len="sm" w="sm" type="none"/>
          </a:ln>
        </p:spPr>
      </p:pic>
      <p:sp>
        <p:nvSpPr>
          <p:cNvPr id="275" name="Google Shape;275;p32"/>
          <p:cNvSpPr txBox="1"/>
          <p:nvPr/>
        </p:nvSpPr>
        <p:spPr>
          <a:xfrm>
            <a:off x="305526" y="1124562"/>
            <a:ext cx="6102678" cy="23083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de" sz="1100">
                <a:solidFill>
                  <a:schemeClr val="dk1"/>
                </a:solidFill>
                <a:latin typeface="Arial"/>
                <a:ea typeface="Arial"/>
                <a:cs typeface="Arial"/>
                <a:sym typeface="Arial"/>
              </a:rPr>
              <a:t>Vergleich der KI-Modelle anhand zentraler Qualitätskriterien</a:t>
            </a:r>
            <a:endParaRPr sz="1100"/>
          </a:p>
        </p:txBody>
      </p:sp>
      <p:sp>
        <p:nvSpPr>
          <p:cNvPr id="276" name="Google Shape;276;p32"/>
          <p:cNvSpPr txBox="1"/>
          <p:nvPr/>
        </p:nvSpPr>
        <p:spPr>
          <a:xfrm>
            <a:off x="305526" y="4863828"/>
            <a:ext cx="2530059" cy="18466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800"/>
              <a:buFont typeface="Arial"/>
              <a:buNone/>
            </a:pPr>
            <a:r>
              <a:rPr lang="de" sz="800">
                <a:solidFill>
                  <a:schemeClr val="dk1"/>
                </a:solidFill>
                <a:latin typeface="Arial"/>
                <a:ea typeface="Arial"/>
                <a:cs typeface="Arial"/>
                <a:sym typeface="Arial"/>
              </a:rPr>
              <a:t>Quelle: Eigene Darstellung.</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3"/>
          <p:cNvSpPr txBox="1"/>
          <p:nvPr>
            <p:ph idx="12" type="sldNum"/>
          </p:nvPr>
        </p:nvSpPr>
        <p:spPr>
          <a:xfrm>
            <a:off x="6624228" y="0"/>
            <a:ext cx="1221324" cy="276024"/>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r>
              <a:rPr lang="de">
                <a:latin typeface="Verdana"/>
                <a:ea typeface="Verdana"/>
                <a:cs typeface="Verdana"/>
                <a:sym typeface="Verdana"/>
              </a:rPr>
              <a:t>Seite </a:t>
            </a:r>
            <a:fld id="{00000000-1234-1234-1234-123412341234}" type="slidenum">
              <a:rPr lang="de">
                <a:latin typeface="Verdana"/>
                <a:ea typeface="Verdana"/>
                <a:cs typeface="Verdana"/>
                <a:sym typeface="Verdana"/>
              </a:rPr>
              <a:t>‹#›</a:t>
            </a:fld>
            <a:r>
              <a:rPr lang="de">
                <a:latin typeface="Verdana"/>
                <a:ea typeface="Verdana"/>
                <a:cs typeface="Verdana"/>
                <a:sym typeface="Verdana"/>
              </a:rPr>
              <a:t> </a:t>
            </a:r>
            <a:endParaRPr/>
          </a:p>
        </p:txBody>
      </p:sp>
      <p:graphicFrame>
        <p:nvGraphicFramePr>
          <p:cNvPr id="283" name="Google Shape;283;p33"/>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284" name="Google Shape;284;p33"/>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2"/>
              </a:buClr>
              <a:buSzPts val="1500"/>
              <a:buFont typeface="Arial"/>
              <a:buNone/>
            </a:pPr>
            <a:r>
              <a:rPr lang="de" sz="1500">
                <a:latin typeface="Arial"/>
                <a:ea typeface="Arial"/>
                <a:cs typeface="Arial"/>
                <a:sym typeface="Arial"/>
              </a:rPr>
              <a:t>3️⃣ </a:t>
            </a:r>
            <a:r>
              <a:rPr b="1" i="0" lang="de" sz="1500" u="none" cap="none" strike="noStrike">
                <a:solidFill>
                  <a:schemeClr val="dk1"/>
                </a:solidFill>
                <a:latin typeface="Arial"/>
                <a:ea typeface="Arial"/>
                <a:cs typeface="Arial"/>
                <a:sym typeface="Arial"/>
              </a:rPr>
              <a:t>Punkt 3 – Prozess und Modell</a:t>
            </a:r>
            <a:endParaRPr b="1" sz="1800">
              <a:latin typeface="Arial"/>
              <a:ea typeface="Arial"/>
              <a:cs typeface="Arial"/>
              <a:sym typeface="Arial"/>
            </a:endParaRPr>
          </a:p>
        </p:txBody>
      </p:sp>
      <p:pic>
        <p:nvPicPr>
          <p:cNvPr id="285" name="Google Shape;285;p33"/>
          <p:cNvPicPr preferRelativeResize="0"/>
          <p:nvPr/>
        </p:nvPicPr>
        <p:blipFill rotWithShape="1">
          <a:blip r:embed="rId3">
            <a:alphaModFix/>
          </a:blip>
          <a:srcRect b="0" l="0" r="0" t="0"/>
          <a:stretch/>
        </p:blipFill>
        <p:spPr>
          <a:xfrm>
            <a:off x="4409982" y="1435135"/>
            <a:ext cx="4536504" cy="1847715"/>
          </a:xfrm>
          <a:prstGeom prst="rect">
            <a:avLst/>
          </a:prstGeom>
          <a:noFill/>
          <a:ln cap="flat" cmpd="sng" w="9525">
            <a:solidFill>
              <a:srgbClr val="438086"/>
            </a:solidFill>
            <a:prstDash val="solid"/>
            <a:round/>
            <a:headEnd len="sm" w="sm" type="none"/>
            <a:tailEnd len="sm" w="sm" type="none"/>
          </a:ln>
        </p:spPr>
      </p:pic>
      <p:sp>
        <p:nvSpPr>
          <p:cNvPr id="286" name="Google Shape;286;p33"/>
          <p:cNvSpPr txBox="1"/>
          <p:nvPr/>
        </p:nvSpPr>
        <p:spPr>
          <a:xfrm>
            <a:off x="305526" y="1124562"/>
            <a:ext cx="6102678" cy="230833"/>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de" sz="1100">
                <a:solidFill>
                  <a:schemeClr val="dk1"/>
                </a:solidFill>
                <a:latin typeface="Arial"/>
                <a:ea typeface="Arial"/>
                <a:cs typeface="Arial"/>
                <a:sym typeface="Arial"/>
              </a:rPr>
              <a:t>Empfehlung auf Basis wissenschaftlicher Evaluierung</a:t>
            </a:r>
            <a:endParaRPr sz="1100"/>
          </a:p>
        </p:txBody>
      </p:sp>
      <p:sp>
        <p:nvSpPr>
          <p:cNvPr id="287" name="Google Shape;287;p33"/>
          <p:cNvSpPr txBox="1"/>
          <p:nvPr/>
        </p:nvSpPr>
        <p:spPr>
          <a:xfrm>
            <a:off x="359532" y="1435135"/>
            <a:ext cx="3564396" cy="3462486"/>
          </a:xfrm>
          <a:prstGeom prst="rect">
            <a:avLst/>
          </a:prstGeom>
          <a:noFill/>
          <a:ln cap="flat" cmpd="sng" w="9525">
            <a:solidFill>
              <a:srgbClr val="438086"/>
            </a:solidFill>
            <a:prstDash val="solid"/>
            <a:round/>
            <a:headEnd len="sm" w="sm" type="none"/>
            <a:tailEnd len="sm" w="sm" type="none"/>
          </a:ln>
        </p:spPr>
        <p:txBody>
          <a:bodyPr anchorCtr="0" anchor="t" bIns="34275" lIns="68575" spcFirstLastPara="1" rIns="68575" wrap="square" tIns="34275">
            <a:spAutoFit/>
          </a:bodyPr>
          <a:lstStyle/>
          <a:p>
            <a:pPr indent="0" lvl="0" marL="0" marR="0" rtl="0" algn="just">
              <a:spcBef>
                <a:spcPts val="0"/>
              </a:spcBef>
              <a:spcAft>
                <a:spcPts val="0"/>
              </a:spcAft>
              <a:buNone/>
            </a:pPr>
            <a:r>
              <a:rPr lang="de" sz="800">
                <a:solidFill>
                  <a:schemeClr val="dk1"/>
                </a:solidFill>
                <a:latin typeface="Arial"/>
                <a:ea typeface="Arial"/>
                <a:cs typeface="Arial"/>
                <a:sym typeface="Arial"/>
              </a:rPr>
              <a:t>✅ Hohe Flexibilität und Skalierbarkeit:Durch die modulare Trennung von Vorverarbeitung, visueller Analyse, sprachlicher Optimierung und Ausgabe kann das System flexibel an neue Anforderungen (z. B. Formate, Barrierefreiheitsstandards) angepasst werden.</a:t>
            </a:r>
            <a:endParaRPr sz="1100"/>
          </a:p>
          <a:p>
            <a:pPr indent="0" lvl="0" marL="0" marR="0" rtl="0" algn="just">
              <a:spcBef>
                <a:spcPts val="0"/>
              </a:spcBef>
              <a:spcAft>
                <a:spcPts val="0"/>
              </a:spcAft>
              <a:buNone/>
            </a:pPr>
            <a:r>
              <a:t/>
            </a:r>
            <a:endParaRPr sz="800">
              <a:solidFill>
                <a:schemeClr val="dk1"/>
              </a:solidFill>
              <a:latin typeface="Arial"/>
              <a:ea typeface="Arial"/>
              <a:cs typeface="Arial"/>
              <a:sym typeface="Arial"/>
            </a:endParaRPr>
          </a:p>
          <a:p>
            <a:pPr indent="0" lvl="0" marL="0" marR="0" rtl="0" algn="just">
              <a:spcBef>
                <a:spcPts val="0"/>
              </a:spcBef>
              <a:spcAft>
                <a:spcPts val="0"/>
              </a:spcAft>
              <a:buNone/>
            </a:pPr>
            <a:r>
              <a:rPr lang="de" sz="800">
                <a:solidFill>
                  <a:schemeClr val="dk1"/>
                </a:solidFill>
                <a:latin typeface="Arial"/>
                <a:ea typeface="Arial"/>
                <a:cs typeface="Arial"/>
                <a:sym typeface="Arial"/>
              </a:rPr>
              <a:t>✅ Zero-Shot-Fähigkeit der Hauptmodelle:AutoAD-Zero und LLaVA-MR erlauben den direkten Einsatz auf neuen Inhalten ohne aufwändiges Fine-Tuning – ein entscheidender Vorteil für wechselnde Programmformate und hohe Aktualitätsanforderungen.</a:t>
            </a:r>
            <a:endParaRPr sz="1100"/>
          </a:p>
          <a:p>
            <a:pPr indent="0" lvl="0" marL="0" marR="0" rtl="0" algn="just">
              <a:spcBef>
                <a:spcPts val="0"/>
              </a:spcBef>
              <a:spcAft>
                <a:spcPts val="0"/>
              </a:spcAft>
              <a:buNone/>
            </a:pPr>
            <a:r>
              <a:t/>
            </a:r>
            <a:endParaRPr sz="800">
              <a:solidFill>
                <a:schemeClr val="dk1"/>
              </a:solidFill>
              <a:latin typeface="Arial"/>
              <a:ea typeface="Arial"/>
              <a:cs typeface="Arial"/>
              <a:sym typeface="Arial"/>
            </a:endParaRPr>
          </a:p>
          <a:p>
            <a:pPr indent="0" lvl="0" marL="0" marR="0" rtl="0" algn="just">
              <a:spcBef>
                <a:spcPts val="0"/>
              </a:spcBef>
              <a:spcAft>
                <a:spcPts val="0"/>
              </a:spcAft>
              <a:buNone/>
            </a:pPr>
            <a:r>
              <a:rPr lang="de" sz="800">
                <a:solidFill>
                  <a:schemeClr val="dk1"/>
                </a:solidFill>
                <a:latin typeface="Arial"/>
                <a:ea typeface="Arial"/>
                <a:cs typeface="Arial"/>
                <a:sym typeface="Arial"/>
              </a:rPr>
              <a:t>✅ Qualität durch mehrstufige Optimierung:Die nachgelagerte Optimierung mit spezialisierten Modellen (VidChain, BLIP-2, GIT) gewährleistet eine hohe sprachliche und inhaltliche Qualität der Audiodeskriptionen, was insbesondere bei öffentlich-rechtlichen Produktionen hohe Relevanz besitzt.</a:t>
            </a:r>
            <a:endParaRPr sz="1100"/>
          </a:p>
          <a:p>
            <a:pPr indent="0" lvl="0" marL="0" marR="0" rtl="0" algn="just">
              <a:spcBef>
                <a:spcPts val="0"/>
              </a:spcBef>
              <a:spcAft>
                <a:spcPts val="0"/>
              </a:spcAft>
              <a:buNone/>
            </a:pPr>
            <a:r>
              <a:t/>
            </a:r>
            <a:endParaRPr sz="800">
              <a:solidFill>
                <a:schemeClr val="dk1"/>
              </a:solidFill>
              <a:latin typeface="Arial"/>
              <a:ea typeface="Arial"/>
              <a:cs typeface="Arial"/>
              <a:sym typeface="Arial"/>
            </a:endParaRPr>
          </a:p>
          <a:p>
            <a:pPr indent="0" lvl="0" marL="0" marR="0" rtl="0" algn="just">
              <a:spcBef>
                <a:spcPts val="0"/>
              </a:spcBef>
              <a:spcAft>
                <a:spcPts val="0"/>
              </a:spcAft>
              <a:buNone/>
            </a:pPr>
            <a:r>
              <a:rPr lang="de" sz="800">
                <a:solidFill>
                  <a:schemeClr val="dk1"/>
                </a:solidFill>
                <a:latin typeface="Arial"/>
                <a:ea typeface="Arial"/>
                <a:cs typeface="Arial"/>
                <a:sym typeface="Arial"/>
              </a:rPr>
              <a:t>✅ Rechtssicherheit und Transparenz:Durch klare Trennung von Modellen und nachvollziehbare Verarbeitungsschritte wird die Nachvollziehbarkeit der automatisierten Entscheidungen erhöht – ein zentraler Aspekt für Datenschutz, BITV-Compliance und interne Prüfprozesse.</a:t>
            </a:r>
            <a:endParaRPr sz="1100"/>
          </a:p>
          <a:p>
            <a:pPr indent="0" lvl="0" marL="0" marR="0" rtl="0" algn="just">
              <a:spcBef>
                <a:spcPts val="0"/>
              </a:spcBef>
              <a:spcAft>
                <a:spcPts val="0"/>
              </a:spcAft>
              <a:buNone/>
            </a:pPr>
            <a:r>
              <a:t/>
            </a:r>
            <a:endParaRPr sz="800">
              <a:solidFill>
                <a:schemeClr val="dk1"/>
              </a:solidFill>
              <a:latin typeface="Arial"/>
              <a:ea typeface="Arial"/>
              <a:cs typeface="Arial"/>
              <a:sym typeface="Arial"/>
            </a:endParaRPr>
          </a:p>
          <a:p>
            <a:pPr indent="0" lvl="0" marL="0" marR="0" rtl="0" algn="just">
              <a:spcBef>
                <a:spcPts val="0"/>
              </a:spcBef>
              <a:spcAft>
                <a:spcPts val="0"/>
              </a:spcAft>
              <a:buNone/>
            </a:pPr>
            <a:r>
              <a:rPr lang="de" sz="800">
                <a:solidFill>
                  <a:schemeClr val="dk1"/>
                </a:solidFill>
                <a:latin typeface="Arial"/>
                <a:ea typeface="Arial"/>
                <a:cs typeface="Arial"/>
                <a:sym typeface="Arial"/>
              </a:rPr>
              <a:t>✅ Kosteneffizienz:Die Architektur reduziert langfristige Anpassungs- und Wartungskosten, da keine spezifische Nachschulung der Hauptmodelle für jede einzelne Produktion erforderlich ist.</a:t>
            </a:r>
            <a:endParaRPr sz="1100"/>
          </a:p>
          <a:p>
            <a:pPr indent="0" lvl="0" marL="0" marR="0" rtl="0" algn="just">
              <a:spcBef>
                <a:spcPts val="0"/>
              </a:spcBef>
              <a:spcAft>
                <a:spcPts val="0"/>
              </a:spcAft>
              <a:buNone/>
            </a:pPr>
            <a:r>
              <a:t/>
            </a:r>
            <a:endParaRPr sz="800">
              <a:solidFill>
                <a:schemeClr val="dk1"/>
              </a:solidFill>
              <a:latin typeface="Arial"/>
              <a:ea typeface="Arial"/>
              <a:cs typeface="Arial"/>
              <a:sym typeface="Arial"/>
            </a:endParaRPr>
          </a:p>
          <a:p>
            <a:pPr indent="0" lvl="0" marL="0" marR="0" rtl="0" algn="just">
              <a:spcBef>
                <a:spcPts val="0"/>
              </a:spcBef>
              <a:spcAft>
                <a:spcPts val="0"/>
              </a:spcAft>
              <a:buNone/>
            </a:pPr>
            <a:r>
              <a:rPr lang="de" sz="800">
                <a:solidFill>
                  <a:schemeClr val="dk1"/>
                </a:solidFill>
                <a:latin typeface="Arial"/>
                <a:ea typeface="Arial"/>
                <a:cs typeface="Arial"/>
                <a:sym typeface="Arial"/>
              </a:rPr>
              <a:t>✅ Zukunftssicherheit:Die gewählte Struktur erlaubt die einfache Integration zukünftiger Entwicklungen im Bereich KI-gestützter Sprachgenerierung oder Videoanalyse, ohne die bestehende Pipeline grundlegend umbauen zu müssen.</a:t>
            </a:r>
            <a:endParaRPr sz="1100"/>
          </a:p>
        </p:txBody>
      </p:sp>
      <p:sp>
        <p:nvSpPr>
          <p:cNvPr id="288" name="Google Shape;288;p33"/>
          <p:cNvSpPr/>
          <p:nvPr/>
        </p:nvSpPr>
        <p:spPr>
          <a:xfrm rot="5400000">
            <a:off x="3526685" y="2229127"/>
            <a:ext cx="1206237" cy="259731"/>
          </a:xfrm>
          <a:prstGeom prst="triangle">
            <a:avLst>
              <a:gd fmla="val 50000" name="adj"/>
            </a:avLst>
          </a:prstGeom>
          <a:solidFill>
            <a:srgbClr val="FFC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89" name="Google Shape;289;p33"/>
          <p:cNvSpPr/>
          <p:nvPr/>
        </p:nvSpPr>
        <p:spPr>
          <a:xfrm>
            <a:off x="4335680" y="1355395"/>
            <a:ext cx="4664700" cy="2026500"/>
          </a:xfrm>
          <a:prstGeom prst="rect">
            <a:avLst/>
          </a:prstGeom>
          <a:solidFill>
            <a:srgbClr val="438086">
              <a:alpha val="16862"/>
            </a:srgbClr>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290" name="Google Shape;290;p33"/>
          <p:cNvSpPr txBox="1"/>
          <p:nvPr/>
        </p:nvSpPr>
        <p:spPr>
          <a:xfrm>
            <a:off x="4335679" y="3612673"/>
            <a:ext cx="4664813" cy="1008786"/>
          </a:xfrm>
          <a:prstGeom prst="rect">
            <a:avLst/>
          </a:prstGeom>
          <a:noFill/>
          <a:ln>
            <a:noFill/>
          </a:ln>
        </p:spPr>
        <p:txBody>
          <a:bodyPr anchorCtr="0" anchor="t" bIns="34275" lIns="68575" spcFirstLastPara="1" rIns="68575" wrap="square" tIns="34275">
            <a:spAutoFit/>
          </a:bodyPr>
          <a:lstStyle/>
          <a:p>
            <a:pPr indent="0" lvl="0" marL="0" marR="0" rtl="0" algn="just">
              <a:lnSpc>
                <a:spcPct val="150000"/>
              </a:lnSpc>
              <a:spcBef>
                <a:spcPts val="0"/>
              </a:spcBef>
              <a:spcAft>
                <a:spcPts val="0"/>
              </a:spcAft>
              <a:buNone/>
            </a:pPr>
            <a:r>
              <a:rPr b="1" lang="de" sz="1100">
                <a:solidFill>
                  <a:schemeClr val="dk1"/>
                </a:solidFill>
                <a:latin typeface="Arial"/>
                <a:ea typeface="Arial"/>
                <a:cs typeface="Arial"/>
                <a:sym typeface="Arial"/>
              </a:rPr>
              <a:t>Die vorgeschlagene Architektur bietet dem MDR eine robuste, skalierbare und qualitativ hochwertige Grundlage für die KI-gestützte Erstellung von Audiodeskriptionen, die den hohen Anforderungen an Barrierefreiheit, Effizienz und inhaltliche Qualität gerecht wird.</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4"/>
          <p:cNvSpPr/>
          <p:nvPr/>
        </p:nvSpPr>
        <p:spPr>
          <a:xfrm>
            <a:off x="305525" y="1116175"/>
            <a:ext cx="4520100" cy="4027200"/>
          </a:xfrm>
          <a:prstGeom prst="rect">
            <a:avLst/>
          </a:prstGeom>
          <a:solidFill>
            <a:srgbClr val="438086">
              <a:alpha val="16860"/>
            </a:srgbClr>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aphicFrame>
        <p:nvGraphicFramePr>
          <p:cNvPr id="297" name="Google Shape;297;p34"/>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88A88"/>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298" name="Google Shape;298;p34"/>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lang="de" sz="1500">
                <a:solidFill>
                  <a:schemeClr val="dk1"/>
                </a:solidFill>
                <a:latin typeface="Arial"/>
                <a:ea typeface="Arial"/>
                <a:cs typeface="Arial"/>
                <a:sym typeface="Arial"/>
              </a:rPr>
              <a:t>4️⃣</a:t>
            </a:r>
            <a:r>
              <a:rPr b="1" i="0" lang="de" sz="1500" u="none" cap="none" strike="noStrike">
                <a:solidFill>
                  <a:schemeClr val="dk1"/>
                </a:solidFill>
                <a:latin typeface="Arial"/>
                <a:ea typeface="Arial"/>
                <a:cs typeface="Arial"/>
                <a:sym typeface="Arial"/>
              </a:rPr>
              <a:t>Ansätze der visuellen Auswertung im Bezug zur Story - </a:t>
            </a:r>
            <a:r>
              <a:rPr b="1" i="1" lang="de" sz="1700" u="none" cap="none" strike="noStrike">
                <a:solidFill>
                  <a:schemeClr val="dk1"/>
                </a:solidFill>
                <a:latin typeface="Arial"/>
                <a:ea typeface="Arial"/>
                <a:cs typeface="Arial"/>
                <a:sym typeface="Arial"/>
              </a:rPr>
              <a:t>jetzt DOPPE</a:t>
            </a:r>
            <a:r>
              <a:rPr b="1" i="1" lang="de" sz="1700">
                <a:solidFill>
                  <a:schemeClr val="dk1"/>
                </a:solidFill>
                <a:latin typeface="Arial"/>
                <a:ea typeface="Arial"/>
                <a:cs typeface="Arial"/>
                <a:sym typeface="Arial"/>
              </a:rPr>
              <a:t>LT &lt;&lt;&lt;&lt;&lt;&lt;&lt;&lt;&lt;&lt;&lt;&lt;&lt;&lt;&lt;</a:t>
            </a:r>
            <a:endParaRPr b="1" i="1" sz="1700">
              <a:latin typeface="Arial"/>
              <a:ea typeface="Arial"/>
              <a:cs typeface="Arial"/>
              <a:sym typeface="Arial"/>
            </a:endParaRPr>
          </a:p>
        </p:txBody>
      </p:sp>
      <p:sp>
        <p:nvSpPr>
          <p:cNvPr id="299" name="Google Shape;299;p34"/>
          <p:cNvSpPr txBox="1"/>
          <p:nvPr/>
        </p:nvSpPr>
        <p:spPr>
          <a:xfrm>
            <a:off x="305526" y="1221600"/>
            <a:ext cx="4647000" cy="3809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900"/>
              <a:buFont typeface="Arial"/>
              <a:buNone/>
            </a:pPr>
            <a:r>
              <a:rPr b="1" lang="de" sz="900">
                <a:solidFill>
                  <a:schemeClr val="dk1"/>
                </a:solidFill>
                <a:latin typeface="Arial"/>
                <a:ea typeface="Arial"/>
                <a:cs typeface="Arial"/>
                <a:sym typeface="Arial"/>
              </a:rPr>
              <a:t>Film</a:t>
            </a:r>
            <a:endParaRPr sz="1100"/>
          </a:p>
          <a:p>
            <a:pPr indent="0" lvl="0" marL="0" marR="0" rtl="0" algn="l">
              <a:spcBef>
                <a:spcPts val="0"/>
              </a:spcBef>
              <a:spcAft>
                <a:spcPts val="0"/>
              </a:spcAft>
              <a:buClr>
                <a:schemeClr val="dk1"/>
              </a:buClr>
              <a:buSzPts val="900"/>
              <a:buFont typeface="Georgia"/>
              <a:buNone/>
            </a:pPr>
            <a:r>
              <a:t/>
            </a:r>
            <a:endParaRPr sz="900">
              <a:solidFill>
                <a:schemeClr val="dk1"/>
              </a:solidFill>
              <a:latin typeface="Arial"/>
              <a:ea typeface="Arial"/>
              <a:cs typeface="Arial"/>
              <a:sym typeface="Arial"/>
            </a:endParaRPr>
          </a:p>
          <a:p>
            <a:pPr indent="-209550" lvl="0" marL="215900" marR="0" rtl="0" algn="l">
              <a:spcBef>
                <a:spcPts val="0"/>
              </a:spcBef>
              <a:spcAft>
                <a:spcPts val="0"/>
              </a:spcAft>
              <a:buClr>
                <a:schemeClr val="dk1"/>
              </a:buClr>
              <a:buSzPts val="900"/>
              <a:buFont typeface="Noto Sans Symbols"/>
              <a:buChar char="▪"/>
            </a:pPr>
            <a:r>
              <a:rPr lang="de" sz="900">
                <a:solidFill>
                  <a:schemeClr val="dk1"/>
                </a:solidFill>
                <a:latin typeface="Arial"/>
                <a:ea typeface="Arial"/>
                <a:cs typeface="Arial"/>
                <a:sym typeface="Arial"/>
              </a:rPr>
              <a:t>Story</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Der gesamte Film bildet die Story</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Auch kurze Text-Einblendungen können Handlungsrelevant sein</a:t>
            </a:r>
            <a:endParaRPr sz="1100"/>
          </a:p>
          <a:p>
            <a:pPr indent="0" lvl="1" marL="342900" marR="0" rtl="0" algn="l">
              <a:spcBef>
                <a:spcPts val="0"/>
              </a:spcBef>
              <a:spcAft>
                <a:spcPts val="0"/>
              </a:spcAft>
              <a:buNone/>
            </a:pPr>
            <a:r>
              <a:t/>
            </a:r>
            <a:endParaRPr b="0" i="0" sz="900" u="none" cap="none" strike="noStrike">
              <a:solidFill>
                <a:schemeClr val="dk1"/>
              </a:solidFill>
              <a:latin typeface="Arial"/>
              <a:ea typeface="Arial"/>
              <a:cs typeface="Arial"/>
              <a:sym typeface="Arial"/>
            </a:endParaRPr>
          </a:p>
          <a:p>
            <a:pPr indent="-209550" lvl="0" marL="215900" marR="0" rtl="0" algn="l">
              <a:spcBef>
                <a:spcPts val="0"/>
              </a:spcBef>
              <a:spcAft>
                <a:spcPts val="0"/>
              </a:spcAft>
              <a:buClr>
                <a:schemeClr val="dk1"/>
              </a:buClr>
              <a:buSzPts val="900"/>
              <a:buFont typeface="Noto Sans Symbols"/>
              <a:buChar char="▪"/>
            </a:pPr>
            <a:r>
              <a:rPr lang="de" sz="900">
                <a:solidFill>
                  <a:schemeClr val="dk1"/>
                </a:solidFill>
                <a:latin typeface="Arial"/>
                <a:ea typeface="Arial"/>
                <a:cs typeface="Arial"/>
                <a:sym typeface="Arial"/>
              </a:rPr>
              <a:t>Szenen</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Trennung nach Handlungsorten und Gesprächen</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Ermittlung </a:t>
            </a:r>
            <a:r>
              <a:rPr lang="de" sz="900">
                <a:solidFill>
                  <a:schemeClr val="dk1"/>
                </a:solidFill>
              </a:rPr>
              <a:t>s</a:t>
            </a:r>
            <a:r>
              <a:rPr b="0" i="0" lang="de" sz="900" u="none" cap="none" strike="noStrike">
                <a:solidFill>
                  <a:schemeClr val="dk1"/>
                </a:solidFill>
                <a:latin typeface="Arial"/>
                <a:ea typeface="Arial"/>
                <a:cs typeface="Arial"/>
                <a:sym typeface="Arial"/>
              </a:rPr>
              <a:t>zenenrelevanter Teile für Schnitt in Videos</a:t>
            </a:r>
            <a:endParaRPr sz="1100"/>
          </a:p>
          <a:p>
            <a:pPr indent="0" lvl="1" marL="342900" marR="0" rtl="0" algn="l">
              <a:spcBef>
                <a:spcPts val="0"/>
              </a:spcBef>
              <a:spcAft>
                <a:spcPts val="0"/>
              </a:spcAft>
              <a:buNone/>
            </a:pPr>
            <a:r>
              <a:t/>
            </a:r>
            <a:endParaRPr b="0" i="0" sz="900" u="none" cap="none" strike="noStrike">
              <a:solidFill>
                <a:schemeClr val="dk1"/>
              </a:solidFill>
              <a:latin typeface="Arial"/>
              <a:ea typeface="Arial"/>
              <a:cs typeface="Arial"/>
              <a:sym typeface="Arial"/>
            </a:endParaRPr>
          </a:p>
          <a:p>
            <a:pPr indent="-209550" lvl="0" marL="215900" marR="0" rtl="0" algn="l">
              <a:spcBef>
                <a:spcPts val="0"/>
              </a:spcBef>
              <a:spcAft>
                <a:spcPts val="0"/>
              </a:spcAft>
              <a:buClr>
                <a:schemeClr val="dk1"/>
              </a:buClr>
              <a:buSzPts val="900"/>
              <a:buFont typeface="Noto Sans Symbols"/>
              <a:buChar char="▪"/>
            </a:pPr>
            <a:r>
              <a:rPr lang="de" sz="900">
                <a:solidFill>
                  <a:schemeClr val="dk1"/>
                </a:solidFill>
                <a:latin typeface="Arial"/>
                <a:ea typeface="Arial"/>
                <a:cs typeface="Arial"/>
                <a:sym typeface="Arial"/>
              </a:rPr>
              <a:t>Videos</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Objekterkennung, Objektsegmentierung, Handelnde Personen, usw.</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Bezogen auf Story und Szenenrelevanz Objekte und Landmarke</a:t>
            </a:r>
            <a:r>
              <a:rPr lang="de" sz="900">
                <a:solidFill>
                  <a:schemeClr val="dk1"/>
                </a:solidFill>
              </a:rPr>
              <a:t>n erkennen</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i.d.R. 25 Bilder pro Sekunde / 50 Halbbilder pro Sekunde</a:t>
            </a:r>
            <a:endParaRPr sz="1100"/>
          </a:p>
          <a:p>
            <a:pPr indent="-152400" lvl="1" marL="558800" marR="0" rtl="0" algn="l">
              <a:spcBef>
                <a:spcPts val="0"/>
              </a:spcBef>
              <a:spcAft>
                <a:spcPts val="0"/>
              </a:spcAft>
              <a:buClr>
                <a:schemeClr val="dk1"/>
              </a:buClr>
              <a:buSzPts val="900"/>
              <a:buFont typeface="Noto Sans Symbols"/>
              <a:buNone/>
            </a:pPr>
            <a:r>
              <a:t/>
            </a:r>
            <a:endParaRPr b="0" i="0" sz="900" u="none" cap="none" strike="noStrike">
              <a:solidFill>
                <a:schemeClr val="dk1"/>
              </a:solidFill>
              <a:latin typeface="Arial"/>
              <a:ea typeface="Arial"/>
              <a:cs typeface="Arial"/>
              <a:sym typeface="Arial"/>
            </a:endParaRPr>
          </a:p>
          <a:p>
            <a:pPr indent="-209550" lvl="0" marL="215900" marR="0" rtl="0" algn="l">
              <a:spcBef>
                <a:spcPts val="0"/>
              </a:spcBef>
              <a:spcAft>
                <a:spcPts val="0"/>
              </a:spcAft>
              <a:buClr>
                <a:schemeClr val="dk1"/>
              </a:buClr>
              <a:buSzPts val="900"/>
              <a:buFont typeface="Noto Sans Symbols"/>
              <a:buChar char="▪"/>
            </a:pPr>
            <a:r>
              <a:rPr lang="de" sz="900">
                <a:solidFill>
                  <a:schemeClr val="dk1"/>
                </a:solidFill>
                <a:latin typeface="Arial"/>
                <a:ea typeface="Arial"/>
                <a:cs typeface="Arial"/>
                <a:sym typeface="Arial"/>
              </a:rPr>
              <a:t>Einzelbilder</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Mögliche Einzelbildauswertung z.B. alle 500ms (2fps) für Vorauswertung</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Bild OCR möglicherweise relevant für Story (Briefinhalt, Untertitel, usw.)</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kostengünstigste Lösung</a:t>
            </a:r>
            <a:endParaRPr sz="1100"/>
          </a:p>
          <a:p>
            <a:pPr indent="-152400" lvl="1" marL="558800" marR="0" rtl="0" algn="l">
              <a:spcBef>
                <a:spcPts val="0"/>
              </a:spcBef>
              <a:spcAft>
                <a:spcPts val="0"/>
              </a:spcAft>
              <a:buClr>
                <a:schemeClr val="dk1"/>
              </a:buClr>
              <a:buSzPts val="900"/>
              <a:buFont typeface="Noto Sans Symbols"/>
              <a:buNone/>
            </a:pPr>
            <a:r>
              <a:t/>
            </a:r>
            <a:endParaRPr b="0" i="0" sz="900" u="none" cap="none" strike="noStrike">
              <a:solidFill>
                <a:schemeClr val="dk1"/>
              </a:solidFill>
              <a:latin typeface="Arial"/>
              <a:ea typeface="Arial"/>
              <a:cs typeface="Arial"/>
              <a:sym typeface="Arial"/>
            </a:endParaRPr>
          </a:p>
          <a:p>
            <a:pPr indent="-209550" lvl="0" marL="215900" marR="0" rtl="0" algn="l">
              <a:spcBef>
                <a:spcPts val="0"/>
              </a:spcBef>
              <a:spcAft>
                <a:spcPts val="0"/>
              </a:spcAft>
              <a:buClr>
                <a:schemeClr val="dk1"/>
              </a:buClr>
              <a:buSzPts val="900"/>
              <a:buFont typeface="Noto Sans Symbols"/>
              <a:buChar char="▪"/>
            </a:pPr>
            <a:r>
              <a:rPr lang="de" sz="900">
                <a:solidFill>
                  <a:schemeClr val="dk1"/>
                </a:solidFill>
                <a:latin typeface="Arial"/>
                <a:ea typeface="Arial"/>
                <a:cs typeface="Arial"/>
                <a:sym typeface="Arial"/>
              </a:rPr>
              <a:t>Tonspuren</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Tragen ebenfalls Informationen zum Handlungsgeschehen bei</a:t>
            </a:r>
            <a:endParaRPr sz="1100"/>
          </a:p>
          <a:p>
            <a:pPr indent="-209550" lvl="1" marL="558800" marR="0" rtl="0" algn="l">
              <a:spcBef>
                <a:spcPts val="0"/>
              </a:spcBef>
              <a:spcAft>
                <a:spcPts val="0"/>
              </a:spcAft>
              <a:buClr>
                <a:schemeClr val="dk1"/>
              </a:buClr>
              <a:buSzPts val="900"/>
              <a:buFont typeface="Noto Sans Symbols"/>
              <a:buChar char="▪"/>
            </a:pPr>
            <a:r>
              <a:rPr b="0" i="0" lang="de" sz="900" u="none" cap="none" strike="noStrike">
                <a:solidFill>
                  <a:schemeClr val="dk1"/>
                </a:solidFill>
                <a:latin typeface="Arial"/>
                <a:ea typeface="Arial"/>
                <a:cs typeface="Arial"/>
                <a:sym typeface="Arial"/>
              </a:rPr>
              <a:t>Ton zu Text ggf. notwendig für die Story</a:t>
            </a:r>
            <a:endParaRPr sz="1100"/>
          </a:p>
          <a:p>
            <a:pPr indent="-152400" lvl="1" marL="558800" marR="0" rtl="0" algn="l">
              <a:spcBef>
                <a:spcPts val="0"/>
              </a:spcBef>
              <a:spcAft>
                <a:spcPts val="0"/>
              </a:spcAft>
              <a:buClr>
                <a:schemeClr val="dk1"/>
              </a:buClr>
              <a:buSzPts val="900"/>
              <a:buFont typeface="Noto Sans Symbols"/>
              <a:buNone/>
            </a:pPr>
            <a:r>
              <a:t/>
            </a:r>
            <a:endParaRPr b="0" i="0" sz="900" u="none" cap="none" strike="noStrike">
              <a:solidFill>
                <a:schemeClr val="dk1"/>
              </a:solidFill>
              <a:latin typeface="Arial"/>
              <a:ea typeface="Arial"/>
              <a:cs typeface="Arial"/>
              <a:sym typeface="Arial"/>
            </a:endParaRPr>
          </a:p>
          <a:p>
            <a:pPr indent="-152400" lvl="1" marL="558800" marR="0" rtl="0" algn="l">
              <a:spcBef>
                <a:spcPts val="0"/>
              </a:spcBef>
              <a:spcAft>
                <a:spcPts val="0"/>
              </a:spcAft>
              <a:buClr>
                <a:schemeClr val="dk1"/>
              </a:buClr>
              <a:buSzPts val="900"/>
              <a:buFont typeface="Noto Sans Symbols"/>
              <a:buNone/>
            </a:pPr>
            <a:r>
              <a:t/>
            </a:r>
            <a:endParaRPr b="0" i="0" sz="900" u="none" cap="none" strike="noStrike">
              <a:solidFill>
                <a:schemeClr val="dk1"/>
              </a:solidFill>
              <a:latin typeface="Arial"/>
              <a:ea typeface="Arial"/>
              <a:cs typeface="Arial"/>
              <a:sym typeface="Arial"/>
            </a:endParaRPr>
          </a:p>
          <a:p>
            <a:pPr indent="0" lvl="1" marL="342900" marR="0" rtl="0" algn="l">
              <a:spcBef>
                <a:spcPts val="0"/>
              </a:spcBef>
              <a:spcAft>
                <a:spcPts val="0"/>
              </a:spcAft>
              <a:buNone/>
            </a:pPr>
            <a:r>
              <a:rPr b="1" i="0" lang="de" sz="900" u="none" cap="none" strike="noStrike">
                <a:solidFill>
                  <a:schemeClr val="dk1"/>
                </a:solidFill>
                <a:latin typeface="Arial"/>
                <a:ea typeface="Arial"/>
                <a:cs typeface="Arial"/>
                <a:sym typeface="Arial"/>
              </a:rPr>
              <a:t>Eine Verarbeitung auf Szenenbasis ist zu empfehlen, um eine leichte Editierbarkeit für Autoren zu gewährleisten</a:t>
            </a:r>
            <a:endParaRPr sz="1100"/>
          </a:p>
        </p:txBody>
      </p:sp>
      <p:pic>
        <p:nvPicPr>
          <p:cNvPr id="300" name="Google Shape;300;p34"/>
          <p:cNvPicPr preferRelativeResize="0"/>
          <p:nvPr/>
        </p:nvPicPr>
        <p:blipFill rotWithShape="1">
          <a:blip r:embed="rId3">
            <a:alphaModFix/>
          </a:blip>
          <a:srcRect b="0" l="0" r="0" t="0"/>
          <a:stretch/>
        </p:blipFill>
        <p:spPr>
          <a:xfrm>
            <a:off x="5092729" y="1112987"/>
            <a:ext cx="723712" cy="729126"/>
          </a:xfrm>
          <a:prstGeom prst="rect">
            <a:avLst/>
          </a:prstGeom>
          <a:noFill/>
          <a:ln>
            <a:noFill/>
          </a:ln>
        </p:spPr>
      </p:pic>
      <p:pic>
        <p:nvPicPr>
          <p:cNvPr id="301" name="Google Shape;301;p34"/>
          <p:cNvPicPr preferRelativeResize="0"/>
          <p:nvPr/>
        </p:nvPicPr>
        <p:blipFill rotWithShape="1">
          <a:blip r:embed="rId4">
            <a:alphaModFix/>
          </a:blip>
          <a:srcRect b="0" l="0" r="0" t="0"/>
          <a:stretch/>
        </p:blipFill>
        <p:spPr>
          <a:xfrm>
            <a:off x="5055761" y="2558515"/>
            <a:ext cx="677699" cy="862353"/>
          </a:xfrm>
          <a:prstGeom prst="rect">
            <a:avLst/>
          </a:prstGeom>
          <a:noFill/>
          <a:ln>
            <a:noFill/>
          </a:ln>
        </p:spPr>
      </p:pic>
      <p:pic>
        <p:nvPicPr>
          <p:cNvPr id="302" name="Google Shape;302;p34"/>
          <p:cNvPicPr preferRelativeResize="0"/>
          <p:nvPr/>
        </p:nvPicPr>
        <p:blipFill rotWithShape="1">
          <a:blip r:embed="rId4">
            <a:alphaModFix/>
          </a:blip>
          <a:srcRect b="0" l="0" r="0" t="0"/>
          <a:stretch/>
        </p:blipFill>
        <p:spPr>
          <a:xfrm>
            <a:off x="5733461" y="2558515"/>
            <a:ext cx="677699" cy="862353"/>
          </a:xfrm>
          <a:prstGeom prst="rect">
            <a:avLst/>
          </a:prstGeom>
          <a:noFill/>
          <a:ln>
            <a:noFill/>
          </a:ln>
        </p:spPr>
      </p:pic>
      <p:pic>
        <p:nvPicPr>
          <p:cNvPr id="303" name="Google Shape;303;p34"/>
          <p:cNvPicPr preferRelativeResize="0"/>
          <p:nvPr/>
        </p:nvPicPr>
        <p:blipFill rotWithShape="1">
          <a:blip r:embed="rId4">
            <a:alphaModFix/>
          </a:blip>
          <a:srcRect b="0" l="0" r="0" t="0"/>
          <a:stretch/>
        </p:blipFill>
        <p:spPr>
          <a:xfrm>
            <a:off x="6411160" y="2558515"/>
            <a:ext cx="677699" cy="862353"/>
          </a:xfrm>
          <a:prstGeom prst="rect">
            <a:avLst/>
          </a:prstGeom>
          <a:noFill/>
          <a:ln>
            <a:noFill/>
          </a:ln>
        </p:spPr>
      </p:pic>
      <p:pic>
        <p:nvPicPr>
          <p:cNvPr id="304" name="Google Shape;304;p34"/>
          <p:cNvPicPr preferRelativeResize="0"/>
          <p:nvPr/>
        </p:nvPicPr>
        <p:blipFill rotWithShape="1">
          <a:blip r:embed="rId5">
            <a:alphaModFix/>
          </a:blip>
          <a:srcRect b="0" l="0" r="0" t="0"/>
          <a:stretch/>
        </p:blipFill>
        <p:spPr>
          <a:xfrm>
            <a:off x="5095475" y="3442090"/>
            <a:ext cx="637985" cy="605933"/>
          </a:xfrm>
          <a:prstGeom prst="rect">
            <a:avLst/>
          </a:prstGeom>
          <a:noFill/>
          <a:ln>
            <a:noFill/>
          </a:ln>
        </p:spPr>
      </p:pic>
      <p:pic>
        <p:nvPicPr>
          <p:cNvPr id="305" name="Google Shape;305;p34"/>
          <p:cNvPicPr preferRelativeResize="0"/>
          <p:nvPr/>
        </p:nvPicPr>
        <p:blipFill rotWithShape="1">
          <a:blip r:embed="rId5">
            <a:alphaModFix/>
          </a:blip>
          <a:srcRect b="0" l="0" r="0" t="0"/>
          <a:stretch/>
        </p:blipFill>
        <p:spPr>
          <a:xfrm>
            <a:off x="5787468" y="3442090"/>
            <a:ext cx="637985" cy="605933"/>
          </a:xfrm>
          <a:prstGeom prst="rect">
            <a:avLst/>
          </a:prstGeom>
          <a:noFill/>
          <a:ln>
            <a:noFill/>
          </a:ln>
        </p:spPr>
      </p:pic>
      <p:pic>
        <p:nvPicPr>
          <p:cNvPr id="306" name="Google Shape;306;p34"/>
          <p:cNvPicPr preferRelativeResize="0"/>
          <p:nvPr/>
        </p:nvPicPr>
        <p:blipFill rotWithShape="1">
          <a:blip r:embed="rId5">
            <a:alphaModFix/>
          </a:blip>
          <a:srcRect b="0" l="0" r="0" t="0"/>
          <a:stretch/>
        </p:blipFill>
        <p:spPr>
          <a:xfrm>
            <a:off x="6425453" y="3442089"/>
            <a:ext cx="637985" cy="605933"/>
          </a:xfrm>
          <a:prstGeom prst="rect">
            <a:avLst/>
          </a:prstGeom>
          <a:noFill/>
          <a:ln>
            <a:noFill/>
          </a:ln>
        </p:spPr>
      </p:pic>
      <p:grpSp>
        <p:nvGrpSpPr>
          <p:cNvPr id="307" name="Google Shape;307;p34"/>
          <p:cNvGrpSpPr/>
          <p:nvPr/>
        </p:nvGrpSpPr>
        <p:grpSpPr>
          <a:xfrm>
            <a:off x="5131363" y="4113230"/>
            <a:ext cx="488176" cy="792881"/>
            <a:chOff x="6812601" y="4862280"/>
            <a:chExt cx="650902" cy="1057175"/>
          </a:xfrm>
        </p:grpSpPr>
        <p:pic>
          <p:nvPicPr>
            <p:cNvPr id="308" name="Google Shape;308;p34"/>
            <p:cNvPicPr preferRelativeResize="0"/>
            <p:nvPr/>
          </p:nvPicPr>
          <p:blipFill rotWithShape="1">
            <a:blip r:embed="rId6">
              <a:alphaModFix/>
            </a:blip>
            <a:srcRect b="0" l="0" r="0" t="0"/>
            <a:stretch/>
          </p:blipFill>
          <p:spPr>
            <a:xfrm>
              <a:off x="6819540" y="4862280"/>
              <a:ext cx="325853" cy="320977"/>
            </a:xfrm>
            <a:prstGeom prst="rect">
              <a:avLst/>
            </a:prstGeom>
            <a:noFill/>
            <a:ln>
              <a:noFill/>
            </a:ln>
          </p:spPr>
        </p:pic>
        <p:pic>
          <p:nvPicPr>
            <p:cNvPr id="309" name="Google Shape;309;p34"/>
            <p:cNvPicPr preferRelativeResize="0"/>
            <p:nvPr/>
          </p:nvPicPr>
          <p:blipFill rotWithShape="1">
            <a:blip r:embed="rId6">
              <a:alphaModFix/>
            </a:blip>
            <a:srcRect b="0" l="0" r="0" t="0"/>
            <a:stretch/>
          </p:blipFill>
          <p:spPr>
            <a:xfrm>
              <a:off x="7131515" y="4862280"/>
              <a:ext cx="325853" cy="320977"/>
            </a:xfrm>
            <a:prstGeom prst="rect">
              <a:avLst/>
            </a:prstGeom>
            <a:noFill/>
            <a:ln>
              <a:noFill/>
            </a:ln>
          </p:spPr>
        </p:pic>
        <p:pic>
          <p:nvPicPr>
            <p:cNvPr id="310" name="Google Shape;310;p34"/>
            <p:cNvPicPr preferRelativeResize="0"/>
            <p:nvPr/>
          </p:nvPicPr>
          <p:blipFill rotWithShape="1">
            <a:blip r:embed="rId6">
              <a:alphaModFix/>
            </a:blip>
            <a:srcRect b="0" l="0" r="0" t="0"/>
            <a:stretch/>
          </p:blipFill>
          <p:spPr>
            <a:xfrm>
              <a:off x="6812601" y="5183257"/>
              <a:ext cx="325853" cy="320977"/>
            </a:xfrm>
            <a:prstGeom prst="rect">
              <a:avLst/>
            </a:prstGeom>
            <a:noFill/>
            <a:ln>
              <a:noFill/>
            </a:ln>
          </p:spPr>
        </p:pic>
        <p:pic>
          <p:nvPicPr>
            <p:cNvPr id="311" name="Google Shape;311;p34"/>
            <p:cNvPicPr preferRelativeResize="0"/>
            <p:nvPr/>
          </p:nvPicPr>
          <p:blipFill rotWithShape="1">
            <a:blip r:embed="rId6">
              <a:alphaModFix/>
            </a:blip>
            <a:srcRect b="0" l="0" r="0" t="0"/>
            <a:stretch/>
          </p:blipFill>
          <p:spPr>
            <a:xfrm>
              <a:off x="7137650" y="5186908"/>
              <a:ext cx="325853" cy="320977"/>
            </a:xfrm>
            <a:prstGeom prst="rect">
              <a:avLst/>
            </a:prstGeom>
            <a:noFill/>
            <a:ln>
              <a:noFill/>
            </a:ln>
          </p:spPr>
        </p:pic>
        <p:pic>
          <p:nvPicPr>
            <p:cNvPr id="312" name="Google Shape;312;p34"/>
            <p:cNvPicPr preferRelativeResize="0"/>
            <p:nvPr/>
          </p:nvPicPr>
          <p:blipFill rotWithShape="1">
            <a:blip r:embed="rId7">
              <a:alphaModFix/>
            </a:blip>
            <a:srcRect b="0" l="0" r="0" t="0"/>
            <a:stretch/>
          </p:blipFill>
          <p:spPr>
            <a:xfrm>
              <a:off x="6906039" y="5516690"/>
              <a:ext cx="450952" cy="402765"/>
            </a:xfrm>
            <a:prstGeom prst="rect">
              <a:avLst/>
            </a:prstGeom>
            <a:noFill/>
            <a:ln>
              <a:noFill/>
            </a:ln>
          </p:spPr>
        </p:pic>
      </p:grpSp>
      <p:grpSp>
        <p:nvGrpSpPr>
          <p:cNvPr id="313" name="Google Shape;313;p34"/>
          <p:cNvGrpSpPr/>
          <p:nvPr/>
        </p:nvGrpSpPr>
        <p:grpSpPr>
          <a:xfrm>
            <a:off x="5833150" y="4117946"/>
            <a:ext cx="488177" cy="792881"/>
            <a:chOff x="6812601" y="4862280"/>
            <a:chExt cx="650902" cy="1057175"/>
          </a:xfrm>
        </p:grpSpPr>
        <p:pic>
          <p:nvPicPr>
            <p:cNvPr id="314" name="Google Shape;314;p34"/>
            <p:cNvPicPr preferRelativeResize="0"/>
            <p:nvPr/>
          </p:nvPicPr>
          <p:blipFill rotWithShape="1">
            <a:blip r:embed="rId6">
              <a:alphaModFix/>
            </a:blip>
            <a:srcRect b="0" l="0" r="0" t="0"/>
            <a:stretch/>
          </p:blipFill>
          <p:spPr>
            <a:xfrm>
              <a:off x="6819540" y="4862280"/>
              <a:ext cx="325853" cy="320977"/>
            </a:xfrm>
            <a:prstGeom prst="rect">
              <a:avLst/>
            </a:prstGeom>
            <a:noFill/>
            <a:ln>
              <a:noFill/>
            </a:ln>
          </p:spPr>
        </p:pic>
        <p:pic>
          <p:nvPicPr>
            <p:cNvPr id="315" name="Google Shape;315;p34"/>
            <p:cNvPicPr preferRelativeResize="0"/>
            <p:nvPr/>
          </p:nvPicPr>
          <p:blipFill rotWithShape="1">
            <a:blip r:embed="rId6">
              <a:alphaModFix/>
            </a:blip>
            <a:srcRect b="0" l="0" r="0" t="0"/>
            <a:stretch/>
          </p:blipFill>
          <p:spPr>
            <a:xfrm>
              <a:off x="7131515" y="4862280"/>
              <a:ext cx="325853" cy="320977"/>
            </a:xfrm>
            <a:prstGeom prst="rect">
              <a:avLst/>
            </a:prstGeom>
            <a:noFill/>
            <a:ln>
              <a:noFill/>
            </a:ln>
          </p:spPr>
        </p:pic>
        <p:pic>
          <p:nvPicPr>
            <p:cNvPr id="316" name="Google Shape;316;p34"/>
            <p:cNvPicPr preferRelativeResize="0"/>
            <p:nvPr/>
          </p:nvPicPr>
          <p:blipFill rotWithShape="1">
            <a:blip r:embed="rId6">
              <a:alphaModFix/>
            </a:blip>
            <a:srcRect b="0" l="0" r="0" t="0"/>
            <a:stretch/>
          </p:blipFill>
          <p:spPr>
            <a:xfrm>
              <a:off x="6812601" y="5183257"/>
              <a:ext cx="325853" cy="320977"/>
            </a:xfrm>
            <a:prstGeom prst="rect">
              <a:avLst/>
            </a:prstGeom>
            <a:noFill/>
            <a:ln>
              <a:noFill/>
            </a:ln>
          </p:spPr>
        </p:pic>
        <p:pic>
          <p:nvPicPr>
            <p:cNvPr id="317" name="Google Shape;317;p34"/>
            <p:cNvPicPr preferRelativeResize="0"/>
            <p:nvPr/>
          </p:nvPicPr>
          <p:blipFill rotWithShape="1">
            <a:blip r:embed="rId6">
              <a:alphaModFix/>
            </a:blip>
            <a:srcRect b="0" l="0" r="0" t="0"/>
            <a:stretch/>
          </p:blipFill>
          <p:spPr>
            <a:xfrm>
              <a:off x="7137650" y="5186908"/>
              <a:ext cx="325853" cy="320977"/>
            </a:xfrm>
            <a:prstGeom prst="rect">
              <a:avLst/>
            </a:prstGeom>
            <a:noFill/>
            <a:ln>
              <a:noFill/>
            </a:ln>
          </p:spPr>
        </p:pic>
        <p:pic>
          <p:nvPicPr>
            <p:cNvPr id="318" name="Google Shape;318;p34"/>
            <p:cNvPicPr preferRelativeResize="0"/>
            <p:nvPr/>
          </p:nvPicPr>
          <p:blipFill rotWithShape="1">
            <a:blip r:embed="rId7">
              <a:alphaModFix/>
            </a:blip>
            <a:srcRect b="0" l="0" r="0" t="0"/>
            <a:stretch/>
          </p:blipFill>
          <p:spPr>
            <a:xfrm>
              <a:off x="6906039" y="5516690"/>
              <a:ext cx="450952" cy="402765"/>
            </a:xfrm>
            <a:prstGeom prst="rect">
              <a:avLst/>
            </a:prstGeom>
            <a:noFill/>
            <a:ln>
              <a:noFill/>
            </a:ln>
          </p:spPr>
        </p:pic>
      </p:grpSp>
      <p:grpSp>
        <p:nvGrpSpPr>
          <p:cNvPr id="319" name="Google Shape;319;p34"/>
          <p:cNvGrpSpPr/>
          <p:nvPr/>
        </p:nvGrpSpPr>
        <p:grpSpPr>
          <a:xfrm>
            <a:off x="6505285" y="4124233"/>
            <a:ext cx="488176" cy="792881"/>
            <a:chOff x="6812601" y="4862280"/>
            <a:chExt cx="650902" cy="1057175"/>
          </a:xfrm>
        </p:grpSpPr>
        <p:pic>
          <p:nvPicPr>
            <p:cNvPr id="320" name="Google Shape;320;p34"/>
            <p:cNvPicPr preferRelativeResize="0"/>
            <p:nvPr/>
          </p:nvPicPr>
          <p:blipFill rotWithShape="1">
            <a:blip r:embed="rId6">
              <a:alphaModFix/>
            </a:blip>
            <a:srcRect b="0" l="0" r="0" t="0"/>
            <a:stretch/>
          </p:blipFill>
          <p:spPr>
            <a:xfrm>
              <a:off x="6819540" y="4862280"/>
              <a:ext cx="325853" cy="320977"/>
            </a:xfrm>
            <a:prstGeom prst="rect">
              <a:avLst/>
            </a:prstGeom>
            <a:noFill/>
            <a:ln>
              <a:noFill/>
            </a:ln>
          </p:spPr>
        </p:pic>
        <p:pic>
          <p:nvPicPr>
            <p:cNvPr id="321" name="Google Shape;321;p34"/>
            <p:cNvPicPr preferRelativeResize="0"/>
            <p:nvPr/>
          </p:nvPicPr>
          <p:blipFill rotWithShape="1">
            <a:blip r:embed="rId6">
              <a:alphaModFix/>
            </a:blip>
            <a:srcRect b="0" l="0" r="0" t="0"/>
            <a:stretch/>
          </p:blipFill>
          <p:spPr>
            <a:xfrm>
              <a:off x="7131515" y="4862280"/>
              <a:ext cx="325853" cy="320977"/>
            </a:xfrm>
            <a:prstGeom prst="rect">
              <a:avLst/>
            </a:prstGeom>
            <a:noFill/>
            <a:ln>
              <a:noFill/>
            </a:ln>
          </p:spPr>
        </p:pic>
        <p:pic>
          <p:nvPicPr>
            <p:cNvPr id="322" name="Google Shape;322;p34"/>
            <p:cNvPicPr preferRelativeResize="0"/>
            <p:nvPr/>
          </p:nvPicPr>
          <p:blipFill rotWithShape="1">
            <a:blip r:embed="rId6">
              <a:alphaModFix/>
            </a:blip>
            <a:srcRect b="0" l="0" r="0" t="0"/>
            <a:stretch/>
          </p:blipFill>
          <p:spPr>
            <a:xfrm>
              <a:off x="6812601" y="5183257"/>
              <a:ext cx="325853" cy="320977"/>
            </a:xfrm>
            <a:prstGeom prst="rect">
              <a:avLst/>
            </a:prstGeom>
            <a:noFill/>
            <a:ln>
              <a:noFill/>
            </a:ln>
          </p:spPr>
        </p:pic>
        <p:pic>
          <p:nvPicPr>
            <p:cNvPr id="323" name="Google Shape;323;p34"/>
            <p:cNvPicPr preferRelativeResize="0"/>
            <p:nvPr/>
          </p:nvPicPr>
          <p:blipFill rotWithShape="1">
            <a:blip r:embed="rId6">
              <a:alphaModFix/>
            </a:blip>
            <a:srcRect b="0" l="0" r="0" t="0"/>
            <a:stretch/>
          </p:blipFill>
          <p:spPr>
            <a:xfrm>
              <a:off x="7137650" y="5186908"/>
              <a:ext cx="325853" cy="320977"/>
            </a:xfrm>
            <a:prstGeom prst="rect">
              <a:avLst/>
            </a:prstGeom>
            <a:noFill/>
            <a:ln>
              <a:noFill/>
            </a:ln>
          </p:spPr>
        </p:pic>
        <p:pic>
          <p:nvPicPr>
            <p:cNvPr id="324" name="Google Shape;324;p34"/>
            <p:cNvPicPr preferRelativeResize="0"/>
            <p:nvPr/>
          </p:nvPicPr>
          <p:blipFill rotWithShape="1">
            <a:blip r:embed="rId7">
              <a:alphaModFix/>
            </a:blip>
            <a:srcRect b="0" l="0" r="0" t="0"/>
            <a:stretch/>
          </p:blipFill>
          <p:spPr>
            <a:xfrm>
              <a:off x="6906039" y="5516690"/>
              <a:ext cx="450952" cy="402765"/>
            </a:xfrm>
            <a:prstGeom prst="rect">
              <a:avLst/>
            </a:prstGeom>
            <a:noFill/>
            <a:ln>
              <a:noFill/>
            </a:ln>
          </p:spPr>
        </p:pic>
      </p:grpSp>
      <p:pic>
        <p:nvPicPr>
          <p:cNvPr id="325" name="Google Shape;325;p34"/>
          <p:cNvPicPr preferRelativeResize="0"/>
          <p:nvPr/>
        </p:nvPicPr>
        <p:blipFill rotWithShape="1">
          <a:blip r:embed="rId8">
            <a:alphaModFix/>
          </a:blip>
          <a:srcRect b="28435" l="11501" r="10799" t="23750"/>
          <a:stretch/>
        </p:blipFill>
        <p:spPr>
          <a:xfrm>
            <a:off x="5056760" y="1892564"/>
            <a:ext cx="2003932" cy="576589"/>
          </a:xfrm>
          <a:prstGeom prst="rect">
            <a:avLst/>
          </a:prstGeom>
          <a:noFill/>
          <a:ln>
            <a:noFill/>
          </a:ln>
        </p:spPr>
      </p:pic>
      <p:cxnSp>
        <p:nvCxnSpPr>
          <p:cNvPr id="326" name="Google Shape;326;p34"/>
          <p:cNvCxnSpPr/>
          <p:nvPr/>
        </p:nvCxnSpPr>
        <p:spPr>
          <a:xfrm>
            <a:off x="-71450" y="299375"/>
            <a:ext cx="9015000" cy="4796400"/>
          </a:xfrm>
          <a:prstGeom prst="straightConnector1">
            <a:avLst/>
          </a:prstGeom>
          <a:noFill/>
          <a:ln cap="flat" cmpd="sng" w="228600">
            <a:solidFill>
              <a:srgbClr val="FF0000"/>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id="332" name="Google Shape;332;p35"/>
          <p:cNvPicPr preferRelativeResize="0"/>
          <p:nvPr/>
        </p:nvPicPr>
        <p:blipFill rotWithShape="1">
          <a:blip r:embed="rId3">
            <a:alphaModFix/>
          </a:blip>
          <a:srcRect b="0" l="0" r="0" t="0"/>
          <a:stretch/>
        </p:blipFill>
        <p:spPr>
          <a:xfrm>
            <a:off x="305526" y="681540"/>
            <a:ext cx="3417550" cy="4353997"/>
          </a:xfrm>
          <a:prstGeom prst="rect">
            <a:avLst/>
          </a:prstGeom>
          <a:noFill/>
          <a:ln>
            <a:noFill/>
          </a:ln>
        </p:spPr>
      </p:pic>
      <p:sp>
        <p:nvSpPr>
          <p:cNvPr id="333" name="Google Shape;333;p35"/>
          <p:cNvSpPr/>
          <p:nvPr/>
        </p:nvSpPr>
        <p:spPr>
          <a:xfrm>
            <a:off x="271301" y="1437624"/>
            <a:ext cx="3417600" cy="918000"/>
          </a:xfrm>
          <a:prstGeom prst="rect">
            <a:avLst/>
          </a:prstGeom>
          <a:noFill/>
          <a:ln cap="flat" cmpd="sng" w="1905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334" name="Google Shape;334;p35"/>
          <p:cNvSpPr/>
          <p:nvPr/>
        </p:nvSpPr>
        <p:spPr>
          <a:xfrm>
            <a:off x="271326" y="3817738"/>
            <a:ext cx="3417600" cy="648000"/>
          </a:xfrm>
          <a:prstGeom prst="rect">
            <a:avLst/>
          </a:prstGeom>
          <a:noFill/>
          <a:ln cap="flat" cmpd="sng" w="1905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pic>
        <p:nvPicPr>
          <p:cNvPr id="335" name="Google Shape;335;p35"/>
          <p:cNvPicPr preferRelativeResize="0"/>
          <p:nvPr/>
        </p:nvPicPr>
        <p:blipFill rotWithShape="1">
          <a:blip r:embed="rId4">
            <a:alphaModFix/>
          </a:blip>
          <a:srcRect b="0" l="0" r="0" t="0"/>
          <a:stretch/>
        </p:blipFill>
        <p:spPr>
          <a:xfrm>
            <a:off x="3815916" y="789552"/>
            <a:ext cx="4845369" cy="2406974"/>
          </a:xfrm>
          <a:prstGeom prst="rect">
            <a:avLst/>
          </a:prstGeom>
          <a:noFill/>
          <a:ln>
            <a:noFill/>
          </a:ln>
        </p:spPr>
      </p:pic>
      <p:sp>
        <p:nvSpPr>
          <p:cNvPr id="336" name="Google Shape;336;p35"/>
          <p:cNvSpPr txBox="1"/>
          <p:nvPr/>
        </p:nvSpPr>
        <p:spPr>
          <a:xfrm>
            <a:off x="1439652" y="411510"/>
            <a:ext cx="2646294"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de" sz="1400">
                <a:solidFill>
                  <a:srgbClr val="FF0000"/>
                </a:solidFill>
                <a:highlight>
                  <a:srgbClr val="FFFF00"/>
                </a:highlight>
                <a:latin typeface="Georgia"/>
                <a:ea typeface="Georgia"/>
                <a:cs typeface="Georgia"/>
                <a:sym typeface="Georgia"/>
              </a:rPr>
              <a:t>ToDo</a:t>
            </a:r>
            <a:endParaRPr sz="1400">
              <a:solidFill>
                <a:srgbClr val="FF0000"/>
              </a:solidFill>
              <a:highlight>
                <a:srgbClr val="FFFF00"/>
              </a:highlight>
              <a:latin typeface="Georgia"/>
              <a:ea typeface="Georgia"/>
              <a:cs typeface="Georgia"/>
              <a:sym typeface="Georgia"/>
            </a:endParaRPr>
          </a:p>
        </p:txBody>
      </p:sp>
      <p:sp>
        <p:nvSpPr>
          <p:cNvPr id="337" name="Google Shape;337;p35"/>
          <p:cNvSpPr txBox="1"/>
          <p:nvPr/>
        </p:nvSpPr>
        <p:spPr>
          <a:xfrm>
            <a:off x="2539553" y="3999425"/>
            <a:ext cx="12420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de" sz="1400">
                <a:solidFill>
                  <a:schemeClr val="dk1"/>
                </a:solidFill>
                <a:latin typeface="Georgia"/>
                <a:ea typeface="Georgia"/>
                <a:cs typeface="Georgia"/>
                <a:sym typeface="Georgia"/>
              </a:rPr>
              <a:t>Claus</a:t>
            </a:r>
            <a:endParaRPr sz="1100"/>
          </a:p>
        </p:txBody>
      </p:sp>
      <p:sp>
        <p:nvSpPr>
          <p:cNvPr id="338" name="Google Shape;338;p35"/>
          <p:cNvSpPr txBox="1"/>
          <p:nvPr/>
        </p:nvSpPr>
        <p:spPr>
          <a:xfrm>
            <a:off x="2627784" y="1758175"/>
            <a:ext cx="1242138" cy="276999"/>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de" sz="1400">
                <a:solidFill>
                  <a:schemeClr val="dk1"/>
                </a:solidFill>
                <a:latin typeface="Georgia"/>
                <a:ea typeface="Georgia"/>
                <a:cs typeface="Georgia"/>
                <a:sym typeface="Georgia"/>
              </a:rPr>
              <a:t>Claus</a:t>
            </a:r>
            <a:endParaRPr sz="1100"/>
          </a:p>
        </p:txBody>
      </p:sp>
      <p:sp>
        <p:nvSpPr>
          <p:cNvPr id="339" name="Google Shape;339;p35"/>
          <p:cNvSpPr/>
          <p:nvPr/>
        </p:nvSpPr>
        <p:spPr>
          <a:xfrm>
            <a:off x="271325" y="4725943"/>
            <a:ext cx="3417600" cy="276900"/>
          </a:xfrm>
          <a:prstGeom prst="rect">
            <a:avLst/>
          </a:prstGeom>
          <a:noFill/>
          <a:ln cap="flat" cmpd="sng" w="1905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340" name="Google Shape;340;p35"/>
          <p:cNvSpPr txBox="1"/>
          <p:nvPr/>
        </p:nvSpPr>
        <p:spPr>
          <a:xfrm>
            <a:off x="2481078" y="4722050"/>
            <a:ext cx="12420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de" sz="1400">
                <a:solidFill>
                  <a:schemeClr val="dk1"/>
                </a:solidFill>
                <a:latin typeface="Georgia"/>
                <a:ea typeface="Georgia"/>
                <a:cs typeface="Georgia"/>
                <a:sym typeface="Georgia"/>
              </a:rPr>
              <a:t>Claus</a:t>
            </a:r>
            <a:endParaRPr sz="1100"/>
          </a:p>
        </p:txBody>
      </p:sp>
      <p:sp>
        <p:nvSpPr>
          <p:cNvPr id="341" name="Google Shape;341;p35"/>
          <p:cNvSpPr/>
          <p:nvPr/>
        </p:nvSpPr>
        <p:spPr>
          <a:xfrm>
            <a:off x="271300" y="840175"/>
            <a:ext cx="3417600" cy="597300"/>
          </a:xfrm>
          <a:prstGeom prst="rect">
            <a:avLst/>
          </a:prstGeom>
          <a:noFill/>
          <a:ln cap="flat" cmpd="sng" w="1905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342" name="Google Shape;342;p35"/>
          <p:cNvSpPr txBox="1"/>
          <p:nvPr/>
        </p:nvSpPr>
        <p:spPr>
          <a:xfrm>
            <a:off x="2627784" y="1060951"/>
            <a:ext cx="12420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de">
                <a:solidFill>
                  <a:schemeClr val="dk1"/>
                </a:solidFill>
                <a:latin typeface="Georgia"/>
                <a:ea typeface="Georgia"/>
                <a:cs typeface="Georgia"/>
                <a:sym typeface="Georgia"/>
              </a:rPr>
              <a:t>Feli</a:t>
            </a:r>
            <a:endParaRPr sz="1100"/>
          </a:p>
        </p:txBody>
      </p:sp>
      <p:cxnSp>
        <p:nvCxnSpPr>
          <p:cNvPr id="343" name="Google Shape;343;p35"/>
          <p:cNvCxnSpPr/>
          <p:nvPr/>
        </p:nvCxnSpPr>
        <p:spPr>
          <a:xfrm>
            <a:off x="476600" y="1267625"/>
            <a:ext cx="4629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6"/>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lang="de" sz="1500">
                <a:solidFill>
                  <a:schemeClr val="dk1"/>
                </a:solidFill>
                <a:latin typeface="Arial"/>
                <a:ea typeface="Arial"/>
                <a:cs typeface="Arial"/>
                <a:sym typeface="Arial"/>
              </a:rPr>
              <a:t>4️⃣</a:t>
            </a:r>
            <a:r>
              <a:rPr b="1" lang="de" sz="1500">
                <a:solidFill>
                  <a:schemeClr val="dk1"/>
                </a:solidFill>
                <a:latin typeface="Arial"/>
                <a:ea typeface="Arial"/>
                <a:cs typeface="Arial"/>
                <a:sym typeface="Arial"/>
              </a:rPr>
              <a:t>Steckbriefe visuelle KI-Modelle</a:t>
            </a:r>
            <a:endParaRPr b="1" i="1" sz="1700">
              <a:latin typeface="Arial"/>
              <a:ea typeface="Arial"/>
              <a:cs typeface="Arial"/>
              <a:sym typeface="Arial"/>
            </a:endParaRPr>
          </a:p>
        </p:txBody>
      </p:sp>
      <p:sp>
        <p:nvSpPr>
          <p:cNvPr id="350" name="Google Shape;350;p36"/>
          <p:cNvSpPr txBox="1"/>
          <p:nvPr/>
        </p:nvSpPr>
        <p:spPr>
          <a:xfrm>
            <a:off x="403350" y="1869175"/>
            <a:ext cx="64374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2600">
                <a:solidFill>
                  <a:schemeClr val="dk1"/>
                </a:solidFill>
              </a:rPr>
              <a:t>Steckbriefe </a:t>
            </a:r>
            <a:endParaRPr b="1" sz="2600">
              <a:solidFill>
                <a:schemeClr val="dk1"/>
              </a:solidFill>
            </a:endParaRPr>
          </a:p>
          <a:p>
            <a:pPr indent="0" lvl="0" marL="0" rtl="0" algn="l">
              <a:spcBef>
                <a:spcPts val="0"/>
              </a:spcBef>
              <a:spcAft>
                <a:spcPts val="0"/>
              </a:spcAft>
              <a:buNone/>
            </a:pPr>
            <a:r>
              <a:rPr lang="de" sz="2600">
                <a:solidFill>
                  <a:schemeClr val="dk1"/>
                </a:solidFill>
              </a:rPr>
              <a:t>visuelle KI-Modelle</a:t>
            </a:r>
            <a:endParaRPr sz="2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7"/>
          <p:cNvSpPr/>
          <p:nvPr/>
        </p:nvSpPr>
        <p:spPr>
          <a:xfrm>
            <a:off x="229973" y="1113600"/>
            <a:ext cx="4281300" cy="3908100"/>
          </a:xfrm>
          <a:prstGeom prst="rect">
            <a:avLst/>
          </a:prstGeom>
          <a:solidFill>
            <a:schemeClr val="lt1"/>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357" name="Google Shape;357;p37"/>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lang="de" sz="1500">
                <a:solidFill>
                  <a:schemeClr val="dk1"/>
                </a:solidFill>
                <a:latin typeface="Arial"/>
                <a:ea typeface="Arial"/>
                <a:cs typeface="Arial"/>
                <a:sym typeface="Arial"/>
              </a:rPr>
              <a:t>4️⃣</a:t>
            </a:r>
            <a:r>
              <a:rPr b="1" i="0" lang="de" sz="1500" u="none" cap="none" strike="noStrike">
                <a:solidFill>
                  <a:schemeClr val="dk1"/>
                </a:solidFill>
                <a:latin typeface="Arial"/>
                <a:ea typeface="Arial"/>
                <a:cs typeface="Arial"/>
                <a:sym typeface="Arial"/>
              </a:rPr>
              <a:t> Vertex </a:t>
            </a:r>
            <a:r>
              <a:rPr b="1" lang="de" sz="1500">
                <a:solidFill>
                  <a:schemeClr val="dk1"/>
                </a:solidFill>
                <a:latin typeface="Arial"/>
                <a:ea typeface="Arial"/>
                <a:cs typeface="Arial"/>
                <a:sym typeface="Arial"/>
              </a:rPr>
              <a:t>AI Vision - visuelle Bildanalysen</a:t>
            </a:r>
            <a:endParaRPr b="1" sz="1800">
              <a:latin typeface="Arial"/>
              <a:ea typeface="Arial"/>
              <a:cs typeface="Arial"/>
              <a:sym typeface="Arial"/>
            </a:endParaRPr>
          </a:p>
        </p:txBody>
      </p:sp>
      <p:graphicFrame>
        <p:nvGraphicFramePr>
          <p:cNvPr id="358" name="Google Shape;358;p37"/>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359" name="Google Shape;359;p37"/>
          <p:cNvSpPr txBox="1"/>
          <p:nvPr/>
        </p:nvSpPr>
        <p:spPr>
          <a:xfrm>
            <a:off x="1128000" y="1157300"/>
            <a:ext cx="3360300" cy="3123000"/>
          </a:xfrm>
          <a:prstGeom prst="rect">
            <a:avLst/>
          </a:prstGeom>
          <a:solidFill>
            <a:schemeClr val="lt1"/>
          </a:solid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800"/>
              <a:buFont typeface="Arial"/>
              <a:buNone/>
            </a:pPr>
            <a:r>
              <a:rPr b="1" lang="de" sz="700">
                <a:solidFill>
                  <a:schemeClr val="dk1"/>
                </a:solidFill>
              </a:rPr>
              <a:t>Vertex AI Vision</a:t>
            </a:r>
            <a:endParaRPr b="1" sz="700">
              <a:solidFill>
                <a:schemeClr val="dk1"/>
              </a:solidFill>
            </a:endParaRPr>
          </a:p>
          <a:p>
            <a:pPr indent="0" lvl="0" marL="0" marR="0" rtl="0" algn="l">
              <a:spcBef>
                <a:spcPts val="0"/>
              </a:spcBef>
              <a:spcAft>
                <a:spcPts val="0"/>
              </a:spcAft>
              <a:buClr>
                <a:schemeClr val="dk1"/>
              </a:buClr>
              <a:buSzPts val="800"/>
              <a:buFont typeface="Arial"/>
              <a:buNone/>
            </a:pPr>
            <a:r>
              <a:t/>
            </a:r>
            <a:endParaRPr b="1" sz="700">
              <a:solidFill>
                <a:schemeClr val="dk1"/>
              </a:solidFill>
            </a:endParaRPr>
          </a:p>
          <a:p>
            <a:pPr indent="0" lvl="0" marL="0" marR="0" rtl="0" algn="l">
              <a:spcBef>
                <a:spcPts val="0"/>
              </a:spcBef>
              <a:spcAft>
                <a:spcPts val="0"/>
              </a:spcAft>
              <a:buClr>
                <a:schemeClr val="dk1"/>
              </a:buClr>
              <a:buSzPts val="800"/>
              <a:buFont typeface="Arial"/>
              <a:buNone/>
            </a:pPr>
            <a:r>
              <a:t/>
            </a:r>
            <a:endParaRPr b="1" sz="700">
              <a:solidFill>
                <a:schemeClr val="dk1"/>
              </a:solidFill>
            </a:endParaRPr>
          </a:p>
          <a:p>
            <a:pPr indent="0" lvl="0" marL="0" marR="0" rtl="0" algn="l">
              <a:spcBef>
                <a:spcPts val="0"/>
              </a:spcBef>
              <a:spcAft>
                <a:spcPts val="0"/>
              </a:spcAft>
              <a:buClr>
                <a:schemeClr val="dk1"/>
              </a:buClr>
              <a:buSzPts val="800"/>
              <a:buFont typeface="Arial"/>
              <a:buNone/>
            </a:pPr>
            <a:r>
              <a:t/>
            </a:r>
            <a:endParaRPr b="1" sz="700">
              <a:solidFill>
                <a:schemeClr val="dk1"/>
              </a:solidFill>
            </a:endParaRPr>
          </a:p>
          <a:p>
            <a:pPr indent="0" lvl="0" marL="0" marR="0" rtl="0" algn="l">
              <a:spcBef>
                <a:spcPts val="0"/>
              </a:spcBef>
              <a:spcAft>
                <a:spcPts val="0"/>
              </a:spcAft>
              <a:buClr>
                <a:schemeClr val="dk1"/>
              </a:buClr>
              <a:buSzPts val="800"/>
              <a:buFont typeface="Georgia"/>
              <a:buNone/>
            </a:pPr>
            <a:r>
              <a:t/>
            </a:r>
            <a:endParaRPr sz="500">
              <a:solidFill>
                <a:schemeClr val="dk1"/>
              </a:solidFill>
            </a:endParaRPr>
          </a:p>
          <a:p>
            <a:pPr indent="0" lvl="0" marL="0" marR="0" rtl="0" algn="l">
              <a:spcBef>
                <a:spcPts val="0"/>
              </a:spcBef>
              <a:spcAft>
                <a:spcPts val="0"/>
              </a:spcAft>
              <a:buClr>
                <a:schemeClr val="dk1"/>
              </a:buClr>
              <a:buSzPts val="800"/>
              <a:buFont typeface="Georgia"/>
              <a:buNone/>
            </a:pPr>
            <a:r>
              <a:rPr lang="de" sz="600">
                <a:solidFill>
                  <a:schemeClr val="dk1"/>
                </a:solidFill>
              </a:rPr>
              <a:t>Unterstützt direkte Videodeskription und fokussiert sich dabei auf den gesamten Zusammenhang des Videos.</a:t>
            </a:r>
            <a:endParaRPr sz="600">
              <a:solidFill>
                <a:schemeClr val="dk1"/>
              </a:solidFill>
            </a:endParaRPr>
          </a:p>
          <a:p>
            <a:pPr indent="0" lvl="0" marL="0" marR="0" rtl="0" algn="l">
              <a:spcBef>
                <a:spcPts val="0"/>
              </a:spcBef>
              <a:spcAft>
                <a:spcPts val="0"/>
              </a:spcAft>
              <a:buClr>
                <a:schemeClr val="dk1"/>
              </a:buClr>
              <a:buSzPts val="800"/>
              <a:buFont typeface="Georgia"/>
              <a:buNone/>
            </a:pPr>
            <a:r>
              <a:t/>
            </a:r>
            <a:endParaRPr sz="600">
              <a:solidFill>
                <a:schemeClr val="dk1"/>
              </a:solidFill>
            </a:endParaRPr>
          </a:p>
          <a:p>
            <a:pPr indent="-266700" lvl="0" marL="457200" marR="0" rtl="0" algn="l">
              <a:lnSpc>
                <a:spcPct val="100000"/>
              </a:lnSpc>
              <a:spcBef>
                <a:spcPts val="0"/>
              </a:spcBef>
              <a:spcAft>
                <a:spcPts val="0"/>
              </a:spcAft>
              <a:buClr>
                <a:schemeClr val="dk1"/>
              </a:buClr>
              <a:buSzPts val="600"/>
              <a:buChar char="●"/>
            </a:pPr>
            <a:r>
              <a:rPr lang="de" sz="600">
                <a:solidFill>
                  <a:schemeClr val="dk1"/>
                </a:solidFill>
              </a:rPr>
              <a:t>Video-Deskription</a:t>
            </a:r>
            <a:endParaRPr sz="600">
              <a:solidFill>
                <a:schemeClr val="dk1"/>
              </a:solidFill>
            </a:endParaRPr>
          </a:p>
          <a:p>
            <a:pPr indent="0" lvl="0" marL="457200" marR="0" rtl="0" algn="l">
              <a:lnSpc>
                <a:spcPct val="100000"/>
              </a:lnSpc>
              <a:spcBef>
                <a:spcPts val="0"/>
              </a:spcBef>
              <a:spcAft>
                <a:spcPts val="0"/>
              </a:spcAft>
              <a:buNone/>
            </a:pPr>
            <a:r>
              <a:t/>
            </a:r>
            <a:endParaRPr sz="600">
              <a:solidFill>
                <a:schemeClr val="dk1"/>
              </a:solidFill>
            </a:endParaRPr>
          </a:p>
          <a:p>
            <a:pPr indent="-266700" lvl="0" marL="457200" marR="0" rtl="0" algn="l">
              <a:lnSpc>
                <a:spcPct val="100000"/>
              </a:lnSpc>
              <a:spcBef>
                <a:spcPts val="0"/>
              </a:spcBef>
              <a:spcAft>
                <a:spcPts val="0"/>
              </a:spcAft>
              <a:buClr>
                <a:schemeClr val="dk1"/>
              </a:buClr>
              <a:buSzPts val="600"/>
              <a:buChar char="●"/>
            </a:pPr>
            <a:r>
              <a:rPr lang="de" sz="600">
                <a:solidFill>
                  <a:schemeClr val="dk1"/>
                </a:solidFill>
              </a:rPr>
              <a:t>Texte für Story Board mit </a:t>
            </a:r>
            <a:r>
              <a:rPr lang="de" sz="600">
                <a:solidFill>
                  <a:schemeClr val="dk1"/>
                </a:solidFill>
              </a:rPr>
              <a:t>Zeitmarken</a:t>
            </a:r>
            <a:r>
              <a:rPr lang="de" sz="600">
                <a:solidFill>
                  <a:schemeClr val="dk1"/>
                </a:solidFill>
              </a:rPr>
              <a:t>, mit Optionen für</a:t>
            </a:r>
            <a:endParaRPr sz="600">
              <a:solidFill>
                <a:schemeClr val="dk1"/>
              </a:solidFill>
            </a:endParaRPr>
          </a:p>
          <a:p>
            <a:pPr indent="-266700" lvl="1" marL="914400" marR="0" rtl="0" algn="l">
              <a:lnSpc>
                <a:spcPct val="115000"/>
              </a:lnSpc>
              <a:spcBef>
                <a:spcPts val="0"/>
              </a:spcBef>
              <a:spcAft>
                <a:spcPts val="0"/>
              </a:spcAft>
              <a:buClr>
                <a:schemeClr val="dk1"/>
              </a:buClr>
              <a:buSzPts val="600"/>
              <a:buChar char="○"/>
            </a:pPr>
            <a:r>
              <a:rPr lang="de" sz="600">
                <a:solidFill>
                  <a:schemeClr val="dk1"/>
                </a:solidFill>
              </a:rPr>
              <a:t>Label Detektion (z.B. Straße, Strand, usw.)</a:t>
            </a:r>
            <a:endParaRPr sz="600">
              <a:solidFill>
                <a:schemeClr val="dk1"/>
              </a:solidFill>
            </a:endParaRPr>
          </a:p>
          <a:p>
            <a:pPr indent="-266700" lvl="1" marL="914400" marR="0" rtl="0" algn="l">
              <a:lnSpc>
                <a:spcPct val="115000"/>
              </a:lnSpc>
              <a:spcBef>
                <a:spcPts val="0"/>
              </a:spcBef>
              <a:spcAft>
                <a:spcPts val="0"/>
              </a:spcAft>
              <a:buClr>
                <a:schemeClr val="dk1"/>
              </a:buClr>
              <a:buSzPts val="600"/>
              <a:buChar char="○"/>
            </a:pPr>
            <a:r>
              <a:rPr lang="de" sz="600">
                <a:solidFill>
                  <a:schemeClr val="dk1"/>
                </a:solidFill>
              </a:rPr>
              <a:t>Landmarken Detektion (z.B. Eifelturm)</a:t>
            </a:r>
            <a:endParaRPr sz="600">
              <a:solidFill>
                <a:schemeClr val="dk1"/>
              </a:solidFill>
            </a:endParaRPr>
          </a:p>
          <a:p>
            <a:pPr indent="-266700" lvl="1" marL="914400" marR="0" rtl="0" algn="l">
              <a:lnSpc>
                <a:spcPct val="115000"/>
              </a:lnSpc>
              <a:spcBef>
                <a:spcPts val="0"/>
              </a:spcBef>
              <a:spcAft>
                <a:spcPts val="0"/>
              </a:spcAft>
              <a:buClr>
                <a:schemeClr val="dk1"/>
              </a:buClr>
              <a:buSzPts val="600"/>
              <a:buChar char="○"/>
            </a:pPr>
            <a:r>
              <a:rPr lang="de" sz="600">
                <a:solidFill>
                  <a:schemeClr val="dk1"/>
                </a:solidFill>
              </a:rPr>
              <a:t>Logo Detektion (Firmenlogos)</a:t>
            </a:r>
            <a:endParaRPr sz="600">
              <a:solidFill>
                <a:schemeClr val="dk1"/>
              </a:solidFill>
            </a:endParaRPr>
          </a:p>
          <a:p>
            <a:pPr indent="-266700" lvl="1" marL="914400" marR="0" rtl="0" algn="l">
              <a:lnSpc>
                <a:spcPct val="115000"/>
              </a:lnSpc>
              <a:spcBef>
                <a:spcPts val="0"/>
              </a:spcBef>
              <a:spcAft>
                <a:spcPts val="0"/>
              </a:spcAft>
              <a:buClr>
                <a:schemeClr val="dk1"/>
              </a:buClr>
              <a:buSzPts val="600"/>
              <a:buChar char="○"/>
            </a:pPr>
            <a:r>
              <a:rPr lang="de" sz="600">
                <a:solidFill>
                  <a:schemeClr val="dk1"/>
                </a:solidFill>
              </a:rPr>
              <a:t>Objekte erkennen (z.B. Fahrzeuge, Schilder, Personen)</a:t>
            </a:r>
            <a:endParaRPr sz="600">
              <a:solidFill>
                <a:schemeClr val="dk1"/>
              </a:solidFill>
            </a:endParaRPr>
          </a:p>
          <a:p>
            <a:pPr indent="-266700" lvl="1" marL="914400" marR="0" rtl="0" algn="l">
              <a:lnSpc>
                <a:spcPct val="115000"/>
              </a:lnSpc>
              <a:spcBef>
                <a:spcPts val="0"/>
              </a:spcBef>
              <a:spcAft>
                <a:spcPts val="0"/>
              </a:spcAft>
              <a:buClr>
                <a:schemeClr val="dk1"/>
              </a:buClr>
              <a:buSzPts val="600"/>
              <a:buChar char="○"/>
            </a:pPr>
            <a:r>
              <a:rPr lang="de" sz="600">
                <a:solidFill>
                  <a:schemeClr val="dk1"/>
                </a:solidFill>
              </a:rPr>
              <a:t>Texte erkennen (OCR)</a:t>
            </a:r>
            <a:endParaRPr sz="600">
              <a:solidFill>
                <a:schemeClr val="dk1"/>
              </a:solidFill>
            </a:endParaRPr>
          </a:p>
          <a:p>
            <a:pPr indent="-266700" lvl="1" marL="914400" marR="0" rtl="0" algn="l">
              <a:lnSpc>
                <a:spcPct val="115000"/>
              </a:lnSpc>
              <a:spcBef>
                <a:spcPts val="0"/>
              </a:spcBef>
              <a:spcAft>
                <a:spcPts val="0"/>
              </a:spcAft>
              <a:buClr>
                <a:schemeClr val="dk1"/>
              </a:buClr>
              <a:buSzPts val="600"/>
              <a:buChar char="○"/>
            </a:pPr>
            <a:r>
              <a:rPr lang="de" sz="600">
                <a:solidFill>
                  <a:schemeClr val="dk1"/>
                </a:solidFill>
              </a:rPr>
              <a:t>Web Detektion (z.B. </a:t>
            </a:r>
            <a:r>
              <a:rPr lang="de" sz="600">
                <a:solidFill>
                  <a:schemeClr val="dk1"/>
                </a:solidFill>
              </a:rPr>
              <a:t>Veranstaltungen</a:t>
            </a:r>
            <a:r>
              <a:rPr lang="de" sz="600">
                <a:solidFill>
                  <a:schemeClr val="dk1"/>
                </a:solidFill>
              </a:rPr>
              <a:t>, Personen etc.)</a:t>
            </a:r>
            <a:endParaRPr sz="600">
              <a:solidFill>
                <a:schemeClr val="dk1"/>
              </a:solidFill>
            </a:endParaRPr>
          </a:p>
          <a:p>
            <a:pPr indent="0" lvl="0" marL="914400" marR="0" rtl="0" algn="l">
              <a:lnSpc>
                <a:spcPct val="100000"/>
              </a:lnSpc>
              <a:spcBef>
                <a:spcPts val="0"/>
              </a:spcBef>
              <a:spcAft>
                <a:spcPts val="0"/>
              </a:spcAft>
              <a:buNone/>
            </a:pPr>
            <a:r>
              <a:t/>
            </a:r>
            <a:endParaRPr sz="600">
              <a:solidFill>
                <a:schemeClr val="dk1"/>
              </a:solidFill>
            </a:endParaRPr>
          </a:p>
          <a:p>
            <a:pPr indent="-266700" lvl="0" marL="457200" marR="0" rtl="0" algn="l">
              <a:lnSpc>
                <a:spcPct val="100000"/>
              </a:lnSpc>
              <a:spcBef>
                <a:spcPts val="0"/>
              </a:spcBef>
              <a:spcAft>
                <a:spcPts val="0"/>
              </a:spcAft>
              <a:buClr>
                <a:schemeClr val="dk1"/>
              </a:buClr>
              <a:buSzPts val="600"/>
              <a:buChar char="●"/>
            </a:pPr>
            <a:r>
              <a:rPr lang="de" sz="600">
                <a:solidFill>
                  <a:schemeClr val="dk1"/>
                </a:solidFill>
              </a:rPr>
              <a:t>Ausgabe als JSON an weiterverarbeitende Software</a:t>
            </a:r>
            <a:endParaRPr sz="600">
              <a:solidFill>
                <a:schemeClr val="dk1"/>
              </a:solidFill>
            </a:endParaRPr>
          </a:p>
          <a:p>
            <a:pPr indent="0" lvl="0" marL="457200" marR="0" rtl="0" algn="l">
              <a:lnSpc>
                <a:spcPct val="100000"/>
              </a:lnSpc>
              <a:spcBef>
                <a:spcPts val="0"/>
              </a:spcBef>
              <a:spcAft>
                <a:spcPts val="0"/>
              </a:spcAft>
              <a:buNone/>
            </a:pPr>
            <a:r>
              <a:t/>
            </a:r>
            <a:endParaRPr sz="600">
              <a:solidFill>
                <a:schemeClr val="dk1"/>
              </a:solidFill>
            </a:endParaRPr>
          </a:p>
          <a:p>
            <a:pPr indent="-266700" lvl="0" marL="457200" marR="0" rtl="0" algn="l">
              <a:lnSpc>
                <a:spcPct val="100000"/>
              </a:lnSpc>
              <a:spcBef>
                <a:spcPts val="0"/>
              </a:spcBef>
              <a:spcAft>
                <a:spcPts val="0"/>
              </a:spcAft>
              <a:buClr>
                <a:schemeClr val="dk1"/>
              </a:buClr>
              <a:buSzPts val="600"/>
              <a:buChar char="●"/>
            </a:pPr>
            <a:r>
              <a:rPr lang="de" sz="600">
                <a:solidFill>
                  <a:schemeClr val="dk1"/>
                </a:solidFill>
              </a:rPr>
              <a:t>API verfügbar für Anbindung an Edge- oder Cloud Lösung</a:t>
            </a:r>
            <a:endParaRPr sz="600">
              <a:solidFill>
                <a:schemeClr val="dk1"/>
              </a:solidFill>
            </a:endParaRPr>
          </a:p>
          <a:p>
            <a:pPr indent="0" lvl="0" marL="457200" marR="0" rtl="0" algn="l">
              <a:lnSpc>
                <a:spcPct val="100000"/>
              </a:lnSpc>
              <a:spcBef>
                <a:spcPts val="0"/>
              </a:spcBef>
              <a:spcAft>
                <a:spcPts val="0"/>
              </a:spcAft>
              <a:buNone/>
            </a:pPr>
            <a:r>
              <a:t/>
            </a:r>
            <a:endParaRPr sz="600">
              <a:solidFill>
                <a:schemeClr val="dk1"/>
              </a:solidFill>
            </a:endParaRPr>
          </a:p>
          <a:p>
            <a:pPr indent="-266700" lvl="0" marL="457200" marR="0" rtl="0" algn="l">
              <a:lnSpc>
                <a:spcPct val="100000"/>
              </a:lnSpc>
              <a:spcBef>
                <a:spcPts val="0"/>
              </a:spcBef>
              <a:spcAft>
                <a:spcPts val="0"/>
              </a:spcAft>
              <a:buClr>
                <a:schemeClr val="dk1"/>
              </a:buClr>
              <a:buSzPts val="600"/>
              <a:buChar char="●"/>
            </a:pPr>
            <a:r>
              <a:rPr lang="de" sz="600">
                <a:solidFill>
                  <a:schemeClr val="dk1"/>
                </a:solidFill>
              </a:rPr>
              <a:t>Für weitere Zusammenfassungen, Prüfung nach Anpassung und gezielte Sprech-Pausen Ermittlung sind weitere Tools notwendig</a:t>
            </a:r>
            <a:endParaRPr sz="600">
              <a:solidFill>
                <a:schemeClr val="dk1"/>
              </a:solidFill>
            </a:endParaRPr>
          </a:p>
          <a:p>
            <a:pPr indent="0" lvl="0" marL="457200" marR="0" rtl="0" algn="l">
              <a:lnSpc>
                <a:spcPct val="100000"/>
              </a:lnSpc>
              <a:spcBef>
                <a:spcPts val="0"/>
              </a:spcBef>
              <a:spcAft>
                <a:spcPts val="0"/>
              </a:spcAft>
              <a:buNone/>
            </a:pPr>
            <a:r>
              <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Interaktive Tests: Vertex AI Studio Chat-Oberfläche für Tests ohne viel Vorarbeit</a:t>
            </a:r>
            <a:endParaRPr sz="600">
              <a:solidFill>
                <a:schemeClr val="dk1"/>
              </a:solidFill>
            </a:endParaRPr>
          </a:p>
          <a:p>
            <a:pPr indent="0" lvl="0" marL="457200" rtl="0" algn="l">
              <a:spcBef>
                <a:spcPts val="0"/>
              </a:spcBef>
              <a:spcAft>
                <a:spcPts val="0"/>
              </a:spcAft>
              <a:buClr>
                <a:schemeClr val="dk1"/>
              </a:buClr>
              <a:buSzPts val="1100"/>
              <a:buFont typeface="Arial"/>
              <a:buNone/>
            </a:pPr>
            <a:r>
              <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Anpassungen durch optionale Regeln, Filter und weitere Verknüpfungen</a:t>
            </a:r>
            <a:endParaRPr sz="600">
              <a:solidFill>
                <a:schemeClr val="dk1"/>
              </a:solidFill>
            </a:endParaRPr>
          </a:p>
          <a:p>
            <a:pPr indent="0" lvl="0" marL="457200" rtl="0" algn="l">
              <a:spcBef>
                <a:spcPts val="0"/>
              </a:spcBef>
              <a:spcAft>
                <a:spcPts val="0"/>
              </a:spcAft>
              <a:buClr>
                <a:schemeClr val="dk1"/>
              </a:buClr>
              <a:buSzPts val="1100"/>
              <a:buFont typeface="Arial"/>
              <a:buNone/>
            </a:pPr>
            <a:r>
              <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CloudSkillBoost, Dokumentation, Videotutorials, Community, …</a:t>
            </a:r>
            <a:endParaRPr sz="600">
              <a:solidFill>
                <a:schemeClr val="dk1"/>
              </a:solidFill>
            </a:endParaRPr>
          </a:p>
          <a:p>
            <a:pPr indent="0" lvl="1" marL="0" marR="0" rtl="0" algn="l">
              <a:spcBef>
                <a:spcPts val="0"/>
              </a:spcBef>
              <a:spcAft>
                <a:spcPts val="0"/>
              </a:spcAft>
              <a:buClr>
                <a:schemeClr val="dk1"/>
              </a:buClr>
              <a:buSzPts val="800"/>
              <a:buFont typeface="Noto Sans Symbols"/>
              <a:buNone/>
            </a:pPr>
            <a:r>
              <a:t/>
            </a:r>
            <a:endParaRPr sz="500">
              <a:solidFill>
                <a:schemeClr val="dk1"/>
              </a:solidFill>
            </a:endParaRPr>
          </a:p>
          <a:p>
            <a:pPr indent="0" lvl="1" marL="0" marR="0" rtl="0" algn="l">
              <a:spcBef>
                <a:spcPts val="0"/>
              </a:spcBef>
              <a:spcAft>
                <a:spcPts val="0"/>
              </a:spcAft>
              <a:buClr>
                <a:schemeClr val="dk1"/>
              </a:buClr>
              <a:buSzPts val="800"/>
              <a:buFont typeface="Noto Sans Symbols"/>
              <a:buNone/>
            </a:pPr>
            <a:r>
              <a:t/>
            </a:r>
            <a:endParaRPr sz="500">
              <a:solidFill>
                <a:schemeClr val="dk1"/>
              </a:solidFill>
            </a:endParaRPr>
          </a:p>
        </p:txBody>
      </p:sp>
      <p:pic>
        <p:nvPicPr>
          <p:cNvPr id="360" name="Google Shape;360;p37"/>
          <p:cNvPicPr preferRelativeResize="0"/>
          <p:nvPr/>
        </p:nvPicPr>
        <p:blipFill>
          <a:blip r:embed="rId3">
            <a:alphaModFix/>
          </a:blip>
          <a:stretch>
            <a:fillRect/>
          </a:stretch>
        </p:blipFill>
        <p:spPr>
          <a:xfrm>
            <a:off x="4668700" y="1157312"/>
            <a:ext cx="3614249" cy="1959653"/>
          </a:xfrm>
          <a:prstGeom prst="rect">
            <a:avLst/>
          </a:prstGeom>
          <a:noFill/>
          <a:ln>
            <a:noFill/>
          </a:ln>
        </p:spPr>
      </p:pic>
      <p:sp>
        <p:nvSpPr>
          <p:cNvPr id="361" name="Google Shape;361;p37"/>
          <p:cNvSpPr/>
          <p:nvPr/>
        </p:nvSpPr>
        <p:spPr>
          <a:xfrm>
            <a:off x="6605675" y="2483400"/>
            <a:ext cx="1511400" cy="176700"/>
          </a:xfrm>
          <a:prstGeom prst="rect">
            <a:avLst/>
          </a:prstGeom>
          <a:noFill/>
          <a:ln cap="flat" cmpd="sng" w="9525">
            <a:solidFill>
              <a:srgbClr val="488A8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362" name="Google Shape;362;p37"/>
          <p:cNvSpPr txBox="1"/>
          <p:nvPr/>
        </p:nvSpPr>
        <p:spPr>
          <a:xfrm>
            <a:off x="222900" y="47601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500" u="sng">
                <a:solidFill>
                  <a:schemeClr val="hlink"/>
                </a:solidFill>
                <a:hlinkClick r:id="rId4"/>
              </a:rPr>
              <a:t>https://cloud.google.com/vertex-ai/generative-ai/docs/video/video-descriptions?hl=de</a:t>
            </a:r>
            <a:endParaRPr sz="500"/>
          </a:p>
          <a:p>
            <a:pPr indent="0" lvl="0" marL="0" rtl="0" algn="l">
              <a:spcBef>
                <a:spcPts val="0"/>
              </a:spcBef>
              <a:spcAft>
                <a:spcPts val="0"/>
              </a:spcAft>
              <a:buNone/>
            </a:pPr>
            <a:r>
              <a:rPr lang="de" sz="500"/>
              <a:t>https://cloud.google.com/vision-ai/pricing?hl=de</a:t>
            </a:r>
            <a:endParaRPr sz="500"/>
          </a:p>
        </p:txBody>
      </p:sp>
      <p:grpSp>
        <p:nvGrpSpPr>
          <p:cNvPr id="363" name="Google Shape;363;p37"/>
          <p:cNvGrpSpPr/>
          <p:nvPr/>
        </p:nvGrpSpPr>
        <p:grpSpPr>
          <a:xfrm>
            <a:off x="4647450" y="3163800"/>
            <a:ext cx="3032850" cy="1882550"/>
            <a:chOff x="5365925" y="3338050"/>
            <a:chExt cx="3032850" cy="1882550"/>
          </a:xfrm>
        </p:grpSpPr>
        <p:pic>
          <p:nvPicPr>
            <p:cNvPr id="364" name="Google Shape;364;p37"/>
            <p:cNvPicPr preferRelativeResize="0"/>
            <p:nvPr/>
          </p:nvPicPr>
          <p:blipFill>
            <a:blip r:embed="rId5">
              <a:alphaModFix/>
            </a:blip>
            <a:stretch>
              <a:fillRect/>
            </a:stretch>
          </p:blipFill>
          <p:spPr>
            <a:xfrm>
              <a:off x="5365925" y="3338050"/>
              <a:ext cx="2207750" cy="1572550"/>
            </a:xfrm>
            <a:prstGeom prst="rect">
              <a:avLst/>
            </a:prstGeom>
            <a:noFill/>
            <a:ln>
              <a:noFill/>
            </a:ln>
          </p:spPr>
        </p:pic>
        <p:sp>
          <p:nvSpPr>
            <p:cNvPr id="365" name="Google Shape;365;p37"/>
            <p:cNvSpPr txBox="1"/>
            <p:nvPr/>
          </p:nvSpPr>
          <p:spPr>
            <a:xfrm>
              <a:off x="5398775" y="4835700"/>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800">
                  <a:solidFill>
                    <a:schemeClr val="dk1"/>
                  </a:solidFill>
                </a:rPr>
                <a:t>Landmarken Detektion</a:t>
              </a:r>
              <a:endParaRPr sz="800">
                <a:solidFill>
                  <a:schemeClr val="dk1"/>
                </a:solidFill>
              </a:endParaRPr>
            </a:p>
            <a:p>
              <a:pPr indent="0" lvl="0" marL="0" rtl="0" algn="l">
                <a:spcBef>
                  <a:spcPts val="0"/>
                </a:spcBef>
                <a:spcAft>
                  <a:spcPts val="0"/>
                </a:spcAft>
                <a:buNone/>
              </a:pPr>
              <a:r>
                <a:rPr lang="de" sz="500">
                  <a:solidFill>
                    <a:schemeClr val="dk1"/>
                  </a:solidFill>
                </a:rPr>
                <a:t>Quelle: https://cloud.google.com/vision/docs/detecting-landmarks?hl=de</a:t>
              </a:r>
              <a:endParaRPr sz="500">
                <a:solidFill>
                  <a:schemeClr val="dk1"/>
                </a:solidFill>
              </a:endParaRPr>
            </a:p>
          </p:txBody>
        </p:sp>
      </p:grpSp>
      <p:grpSp>
        <p:nvGrpSpPr>
          <p:cNvPr id="366" name="Google Shape;366;p37"/>
          <p:cNvGrpSpPr/>
          <p:nvPr/>
        </p:nvGrpSpPr>
        <p:grpSpPr>
          <a:xfrm>
            <a:off x="4647438" y="3163800"/>
            <a:ext cx="3799325" cy="1882550"/>
            <a:chOff x="5365925" y="3338050"/>
            <a:chExt cx="3799325" cy="1882550"/>
          </a:xfrm>
        </p:grpSpPr>
        <p:grpSp>
          <p:nvGrpSpPr>
            <p:cNvPr id="367" name="Google Shape;367;p37"/>
            <p:cNvGrpSpPr/>
            <p:nvPr/>
          </p:nvGrpSpPr>
          <p:grpSpPr>
            <a:xfrm>
              <a:off x="5365925" y="3338050"/>
              <a:ext cx="3016425" cy="1882550"/>
              <a:chOff x="5365925" y="3338050"/>
              <a:chExt cx="3016425" cy="1882550"/>
            </a:xfrm>
          </p:grpSpPr>
          <p:pic>
            <p:nvPicPr>
              <p:cNvPr id="368" name="Google Shape;368;p37"/>
              <p:cNvPicPr preferRelativeResize="0"/>
              <p:nvPr/>
            </p:nvPicPr>
            <p:blipFill>
              <a:blip r:embed="rId6">
                <a:alphaModFix/>
              </a:blip>
              <a:stretch>
                <a:fillRect/>
              </a:stretch>
            </p:blipFill>
            <p:spPr>
              <a:xfrm>
                <a:off x="5365925" y="3338050"/>
                <a:ext cx="2345850" cy="1563900"/>
              </a:xfrm>
              <a:prstGeom prst="rect">
                <a:avLst/>
              </a:prstGeom>
              <a:noFill/>
              <a:ln>
                <a:noFill/>
              </a:ln>
            </p:spPr>
          </p:pic>
          <p:sp>
            <p:nvSpPr>
              <p:cNvPr id="369" name="Google Shape;369;p37"/>
              <p:cNvSpPr txBox="1"/>
              <p:nvPr/>
            </p:nvSpPr>
            <p:spPr>
              <a:xfrm>
                <a:off x="5382350" y="4835700"/>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800">
                    <a:solidFill>
                      <a:schemeClr val="dk1"/>
                    </a:solidFill>
                  </a:rPr>
                  <a:t>Label Detektion</a:t>
                </a:r>
                <a:endParaRPr sz="800">
                  <a:solidFill>
                    <a:schemeClr val="dk1"/>
                  </a:solidFill>
                </a:endParaRPr>
              </a:p>
              <a:p>
                <a:pPr indent="0" lvl="0" marL="0" rtl="0" algn="l">
                  <a:spcBef>
                    <a:spcPts val="0"/>
                  </a:spcBef>
                  <a:spcAft>
                    <a:spcPts val="0"/>
                  </a:spcAft>
                  <a:buNone/>
                </a:pPr>
                <a:r>
                  <a:rPr lang="de" sz="500">
                    <a:solidFill>
                      <a:schemeClr val="dk1"/>
                    </a:solidFill>
                  </a:rPr>
                  <a:t>Quelle: https://cloud.google.com/vision/docs/labels?hl=de</a:t>
                </a:r>
                <a:endParaRPr sz="500">
                  <a:solidFill>
                    <a:schemeClr val="dk1"/>
                  </a:solidFill>
                </a:endParaRPr>
              </a:p>
            </p:txBody>
          </p:sp>
        </p:grpSp>
        <p:pic>
          <p:nvPicPr>
            <p:cNvPr id="370" name="Google Shape;370;p37"/>
            <p:cNvPicPr preferRelativeResize="0"/>
            <p:nvPr/>
          </p:nvPicPr>
          <p:blipFill>
            <a:blip r:embed="rId7">
              <a:alphaModFix/>
            </a:blip>
            <a:stretch>
              <a:fillRect/>
            </a:stretch>
          </p:blipFill>
          <p:spPr>
            <a:xfrm>
              <a:off x="7837660" y="3778375"/>
              <a:ext cx="1327590" cy="1121275"/>
            </a:xfrm>
            <a:prstGeom prst="rect">
              <a:avLst/>
            </a:prstGeom>
            <a:noFill/>
            <a:ln>
              <a:noFill/>
            </a:ln>
          </p:spPr>
        </p:pic>
      </p:grpSp>
      <p:pic>
        <p:nvPicPr>
          <p:cNvPr id="371" name="Google Shape;371;p37"/>
          <p:cNvPicPr preferRelativeResize="0"/>
          <p:nvPr/>
        </p:nvPicPr>
        <p:blipFill rotWithShape="1">
          <a:blip r:embed="rId8">
            <a:alphaModFix/>
          </a:blip>
          <a:srcRect b="26821" l="0" r="0" t="26854"/>
          <a:stretch/>
        </p:blipFill>
        <p:spPr>
          <a:xfrm>
            <a:off x="3154757" y="1157312"/>
            <a:ext cx="1322168" cy="411525"/>
          </a:xfrm>
          <a:prstGeom prst="rect">
            <a:avLst/>
          </a:prstGeom>
          <a:noFill/>
          <a:ln>
            <a:noFill/>
          </a:ln>
        </p:spPr>
      </p:pic>
      <p:pic>
        <p:nvPicPr>
          <p:cNvPr id="372" name="Google Shape;372;p37"/>
          <p:cNvPicPr preferRelativeResize="0"/>
          <p:nvPr/>
        </p:nvPicPr>
        <p:blipFill>
          <a:blip r:embed="rId9">
            <a:alphaModFix/>
          </a:blip>
          <a:stretch>
            <a:fillRect/>
          </a:stretch>
        </p:blipFill>
        <p:spPr>
          <a:xfrm>
            <a:off x="3614125" y="1502075"/>
            <a:ext cx="862750" cy="141375"/>
          </a:xfrm>
          <a:prstGeom prst="rect">
            <a:avLst/>
          </a:prstGeom>
          <a:noFill/>
          <a:ln>
            <a:noFill/>
          </a:ln>
        </p:spPr>
      </p:pic>
      <p:sp>
        <p:nvSpPr>
          <p:cNvPr id="373" name="Google Shape;373;p37"/>
          <p:cNvSpPr txBox="1"/>
          <p:nvPr/>
        </p:nvSpPr>
        <p:spPr>
          <a:xfrm>
            <a:off x="222900" y="1631775"/>
            <a:ext cx="9051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600">
                <a:solidFill>
                  <a:schemeClr val="dk1"/>
                </a:solidFill>
              </a:rPr>
              <a:t>Technologischer Überblick</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Bild- &amp; Video- Analyse</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Integration &amp; Umsetzung</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Tests</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Anpassbarkeit</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Einarbeitung</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p:txBody>
      </p:sp>
      <p:grpSp>
        <p:nvGrpSpPr>
          <p:cNvPr id="374" name="Google Shape;374;p37"/>
          <p:cNvGrpSpPr/>
          <p:nvPr/>
        </p:nvGrpSpPr>
        <p:grpSpPr>
          <a:xfrm>
            <a:off x="4647450" y="3125275"/>
            <a:ext cx="4377626" cy="1959600"/>
            <a:chOff x="3460025" y="5090475"/>
            <a:chExt cx="4377626" cy="1959600"/>
          </a:xfrm>
        </p:grpSpPr>
        <p:sp>
          <p:nvSpPr>
            <p:cNvPr id="375" name="Google Shape;375;p37"/>
            <p:cNvSpPr/>
            <p:nvPr/>
          </p:nvSpPr>
          <p:spPr>
            <a:xfrm>
              <a:off x="3460025" y="5090475"/>
              <a:ext cx="4377600" cy="1959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grpSp>
          <p:nvGrpSpPr>
            <p:cNvPr id="376" name="Google Shape;376;p37"/>
            <p:cNvGrpSpPr/>
            <p:nvPr/>
          </p:nvGrpSpPr>
          <p:grpSpPr>
            <a:xfrm>
              <a:off x="3460025" y="5093175"/>
              <a:ext cx="4377626" cy="1882550"/>
              <a:chOff x="5365925" y="3338050"/>
              <a:chExt cx="4377626" cy="1882550"/>
            </a:xfrm>
          </p:grpSpPr>
          <p:pic>
            <p:nvPicPr>
              <p:cNvPr id="377" name="Google Shape;377;p37"/>
              <p:cNvPicPr preferRelativeResize="0"/>
              <p:nvPr/>
            </p:nvPicPr>
            <p:blipFill>
              <a:blip r:embed="rId10">
                <a:alphaModFix/>
              </a:blip>
              <a:stretch>
                <a:fillRect/>
              </a:stretch>
            </p:blipFill>
            <p:spPr>
              <a:xfrm>
                <a:off x="5365925" y="3338050"/>
                <a:ext cx="1931248" cy="1289250"/>
              </a:xfrm>
              <a:prstGeom prst="rect">
                <a:avLst/>
              </a:prstGeom>
              <a:noFill/>
              <a:ln cap="flat" cmpd="sng" w="9525">
                <a:solidFill>
                  <a:schemeClr val="lt1"/>
                </a:solidFill>
                <a:prstDash val="solid"/>
                <a:round/>
                <a:headEnd len="sm" w="sm" type="none"/>
                <a:tailEnd len="sm" w="sm" type="none"/>
              </a:ln>
            </p:spPr>
          </p:pic>
          <p:sp>
            <p:nvSpPr>
              <p:cNvPr id="378" name="Google Shape;378;p37"/>
              <p:cNvSpPr txBox="1"/>
              <p:nvPr/>
            </p:nvSpPr>
            <p:spPr>
              <a:xfrm>
                <a:off x="5382350" y="4835700"/>
                <a:ext cx="3000000" cy="3849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de" sz="800">
                    <a:solidFill>
                      <a:schemeClr val="dk1"/>
                    </a:solidFill>
                  </a:rPr>
                  <a:t>Objekte erkennen</a:t>
                </a:r>
                <a:endParaRPr sz="800">
                  <a:solidFill>
                    <a:schemeClr val="dk1"/>
                  </a:solidFill>
                </a:endParaRPr>
              </a:p>
              <a:p>
                <a:pPr indent="0" lvl="0" marL="0" rtl="0" algn="l">
                  <a:spcBef>
                    <a:spcPts val="0"/>
                  </a:spcBef>
                  <a:spcAft>
                    <a:spcPts val="0"/>
                  </a:spcAft>
                  <a:buNone/>
                </a:pPr>
                <a:r>
                  <a:rPr lang="de" sz="500">
                    <a:solidFill>
                      <a:schemeClr val="dk1"/>
                    </a:solidFill>
                  </a:rPr>
                  <a:t>Quelle: </a:t>
                </a:r>
                <a:r>
                  <a:rPr lang="de" sz="500">
                    <a:solidFill>
                      <a:schemeClr val="dk1"/>
                    </a:solidFill>
                  </a:rPr>
                  <a:t>https://cloud.google.com/vision/docs/object-localizer?hl=de</a:t>
                </a:r>
                <a:endParaRPr sz="500">
                  <a:solidFill>
                    <a:schemeClr val="dk1"/>
                  </a:solidFill>
                </a:endParaRPr>
              </a:p>
            </p:txBody>
          </p:sp>
          <p:pic>
            <p:nvPicPr>
              <p:cNvPr id="379" name="Google Shape;379;p37"/>
              <p:cNvPicPr preferRelativeResize="0"/>
              <p:nvPr/>
            </p:nvPicPr>
            <p:blipFill>
              <a:blip r:embed="rId11">
                <a:alphaModFix/>
              </a:blip>
              <a:stretch>
                <a:fillRect/>
              </a:stretch>
            </p:blipFill>
            <p:spPr>
              <a:xfrm>
                <a:off x="7386025" y="3346500"/>
                <a:ext cx="2357526" cy="1032875"/>
              </a:xfrm>
              <a:prstGeom prst="rect">
                <a:avLst/>
              </a:prstGeom>
              <a:noFill/>
              <a:ln cap="flat" cmpd="sng" w="9525">
                <a:solidFill>
                  <a:schemeClr val="lt1"/>
                </a:solidFill>
                <a:prstDash val="solid"/>
                <a:round/>
                <a:headEnd len="sm" w="sm" type="none"/>
                <a:tailEnd len="sm" w="sm" type="none"/>
              </a:ln>
            </p:spPr>
          </p:pic>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66"/>
                                        </p:tgtEl>
                                        <p:attrNameLst>
                                          <p:attrName>style.visibility</p:attrName>
                                        </p:attrNameLst>
                                      </p:cBhvr>
                                      <p:to>
                                        <p:strVal val="hidden"/>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1000"/>
                                        <p:tgtEl>
                                          <p:spTgt spid="3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63"/>
                                        </p:tgtEl>
                                        <p:attrNameLst>
                                          <p:attrName>style.visibility</p:attrName>
                                        </p:attrNameLst>
                                      </p:cBhvr>
                                      <p:to>
                                        <p:strVal val="hidden"/>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8"/>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lang="de" sz="1500">
                <a:solidFill>
                  <a:schemeClr val="dk1"/>
                </a:solidFill>
                <a:latin typeface="Arial"/>
                <a:ea typeface="Arial"/>
                <a:cs typeface="Arial"/>
                <a:sym typeface="Arial"/>
              </a:rPr>
              <a:t>4️⃣</a:t>
            </a:r>
            <a:r>
              <a:rPr b="1" i="0" lang="de" sz="1500" u="none" cap="none" strike="noStrike">
                <a:solidFill>
                  <a:schemeClr val="dk1"/>
                </a:solidFill>
                <a:latin typeface="Arial"/>
                <a:ea typeface="Arial"/>
                <a:cs typeface="Arial"/>
                <a:sym typeface="Arial"/>
              </a:rPr>
              <a:t> Vertex AI </a:t>
            </a:r>
            <a:r>
              <a:rPr b="1" lang="de" sz="1500">
                <a:solidFill>
                  <a:schemeClr val="dk1"/>
                </a:solidFill>
                <a:latin typeface="Arial"/>
                <a:ea typeface="Arial"/>
                <a:cs typeface="Arial"/>
                <a:sym typeface="Arial"/>
              </a:rPr>
              <a:t>Vision</a:t>
            </a:r>
            <a:endParaRPr b="1" sz="1800">
              <a:latin typeface="Arial"/>
              <a:ea typeface="Arial"/>
              <a:cs typeface="Arial"/>
              <a:sym typeface="Arial"/>
            </a:endParaRPr>
          </a:p>
        </p:txBody>
      </p:sp>
      <p:graphicFrame>
        <p:nvGraphicFramePr>
          <p:cNvPr id="386" name="Google Shape;386;p38"/>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pic>
        <p:nvPicPr>
          <p:cNvPr id="387" name="Google Shape;387;p38"/>
          <p:cNvPicPr preferRelativeResize="0"/>
          <p:nvPr/>
        </p:nvPicPr>
        <p:blipFill rotWithShape="1">
          <a:blip r:embed="rId3">
            <a:alphaModFix/>
          </a:blip>
          <a:srcRect b="0" l="0" r="0" t="0"/>
          <a:stretch/>
        </p:blipFill>
        <p:spPr>
          <a:xfrm>
            <a:off x="319675" y="1334175"/>
            <a:ext cx="2986727" cy="3059574"/>
          </a:xfrm>
          <a:prstGeom prst="rect">
            <a:avLst/>
          </a:prstGeom>
          <a:noFill/>
          <a:ln>
            <a:noFill/>
          </a:ln>
        </p:spPr>
      </p:pic>
      <p:pic>
        <p:nvPicPr>
          <p:cNvPr descr="Referenzarchitektur – Prozessvideos mit Vertex AI Vision und anderen Google Cloud-Tools streamen" id="388" name="Google Shape;388;p38"/>
          <p:cNvPicPr preferRelativeResize="0"/>
          <p:nvPr/>
        </p:nvPicPr>
        <p:blipFill rotWithShape="1">
          <a:blip r:embed="rId4">
            <a:alphaModFix/>
          </a:blip>
          <a:srcRect b="0" l="0" r="0" t="0"/>
          <a:stretch/>
        </p:blipFill>
        <p:spPr>
          <a:xfrm>
            <a:off x="3461287" y="1279385"/>
            <a:ext cx="5530988" cy="2190229"/>
          </a:xfrm>
          <a:prstGeom prst="rect">
            <a:avLst/>
          </a:prstGeom>
          <a:noFill/>
          <a:ln>
            <a:noFill/>
          </a:ln>
        </p:spPr>
      </p:pic>
      <p:sp>
        <p:nvSpPr>
          <p:cNvPr id="389" name="Google Shape;389;p38"/>
          <p:cNvSpPr txBox="1"/>
          <p:nvPr/>
        </p:nvSpPr>
        <p:spPr>
          <a:xfrm>
            <a:off x="494546" y="4785996"/>
            <a:ext cx="8154900" cy="146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de" sz="500">
                <a:solidFill>
                  <a:schemeClr val="dk1"/>
                </a:solidFill>
                <a:latin typeface="Georgia"/>
                <a:ea typeface="Georgia"/>
                <a:cs typeface="Georgia"/>
                <a:sym typeface="Georgia"/>
              </a:rPr>
              <a:t>Quelle: https://cloud.google.com/vision?hl=de#get-automated-image-descriptions-with-gen-ai</a:t>
            </a:r>
            <a:endParaRPr sz="500"/>
          </a:p>
        </p:txBody>
      </p:sp>
      <p:sp>
        <p:nvSpPr>
          <p:cNvPr id="390" name="Google Shape;390;p38"/>
          <p:cNvSpPr txBox="1"/>
          <p:nvPr/>
        </p:nvSpPr>
        <p:spPr>
          <a:xfrm>
            <a:off x="3540075" y="3537625"/>
            <a:ext cx="5414700" cy="1394400"/>
          </a:xfrm>
          <a:prstGeom prst="rect">
            <a:avLst/>
          </a:prstGeom>
          <a:solidFill>
            <a:srgbClr val="328D96">
              <a:alpha val="2471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800">
                <a:solidFill>
                  <a:schemeClr val="dk1"/>
                </a:solidFill>
              </a:rPr>
              <a:t>Ein User kann von seinem PC Bilder und Videos per REST API (1) zur Auswertung in die Cloud senden. Cloud Vision (2) verarbeitet die Daten und gibt das Ergebnis an den User. Bei großen oder mehreren Dateien ist ein Upload in den Cloud Speicher (3) vorgesehen, welcher über Trigger oder Cloud Funktionen entweder an Cloud Vision (5) oder verarbeitet in den Cloud Speicher legt (6).</a:t>
            </a:r>
            <a:endParaRPr sz="800">
              <a:solidFill>
                <a:schemeClr val="dk1"/>
              </a:solidFill>
            </a:endParaRPr>
          </a:p>
          <a:p>
            <a:pPr indent="0" lvl="0" marL="0" rtl="0" algn="l">
              <a:spcBef>
                <a:spcPts val="0"/>
              </a:spcBef>
              <a:spcAft>
                <a:spcPts val="0"/>
              </a:spcAft>
              <a:buNone/>
            </a:pPr>
            <a:r>
              <a:t/>
            </a:r>
            <a:endParaRPr sz="800">
              <a:solidFill>
                <a:schemeClr val="dk1"/>
              </a:solidFill>
            </a:endParaRPr>
          </a:p>
          <a:p>
            <a:pPr indent="0" lvl="0" marL="0" rtl="0" algn="l">
              <a:spcBef>
                <a:spcPts val="0"/>
              </a:spcBef>
              <a:spcAft>
                <a:spcPts val="0"/>
              </a:spcAft>
              <a:buNone/>
            </a:pPr>
            <a:r>
              <a:rPr lang="de" sz="800">
                <a:solidFill>
                  <a:schemeClr val="dk1"/>
                </a:solidFill>
              </a:rPr>
              <a:t>Außer Cloud Vision können weitere Module </a:t>
            </a:r>
            <a:r>
              <a:rPr lang="de" sz="800">
                <a:solidFill>
                  <a:schemeClr val="dk1"/>
                </a:solidFill>
              </a:rPr>
              <a:t>hinzu gebucht</a:t>
            </a:r>
            <a:r>
              <a:rPr lang="de" sz="800">
                <a:solidFill>
                  <a:schemeClr val="dk1"/>
                </a:solidFill>
              </a:rPr>
              <a:t> oder Custom-built AI Modelle verwendet werden, um die Daten aufzubereiten und zu analysieren. Die Daten können zur weiteren Analyse in Datenbanken gespeichert oder an den User zurückgegeben werden.</a:t>
            </a:r>
            <a:endParaRPr sz="8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39"/>
          <p:cNvSpPr/>
          <p:nvPr/>
        </p:nvSpPr>
        <p:spPr>
          <a:xfrm>
            <a:off x="231150" y="1113600"/>
            <a:ext cx="4520100" cy="3851700"/>
          </a:xfrm>
          <a:prstGeom prst="rect">
            <a:avLst/>
          </a:prstGeom>
          <a:solidFill>
            <a:schemeClr val="lt1"/>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Clr>
                <a:srgbClr val="000000"/>
              </a:buClr>
              <a:buFont typeface="Arial"/>
              <a:buNone/>
            </a:pPr>
            <a:r>
              <a:t/>
            </a:r>
            <a:endParaRPr sz="1400">
              <a:solidFill>
                <a:schemeClr val="lt1"/>
              </a:solidFill>
              <a:latin typeface="Georgia"/>
              <a:ea typeface="Georgia"/>
              <a:cs typeface="Georgia"/>
              <a:sym typeface="Georgia"/>
            </a:endParaRPr>
          </a:p>
        </p:txBody>
      </p:sp>
      <p:pic>
        <p:nvPicPr>
          <p:cNvPr id="397" name="Google Shape;397;p39"/>
          <p:cNvPicPr preferRelativeResize="0"/>
          <p:nvPr/>
        </p:nvPicPr>
        <p:blipFill rotWithShape="1">
          <a:blip r:embed="rId3">
            <a:alphaModFix/>
          </a:blip>
          <a:srcRect b="0" l="0" r="0" t="0"/>
          <a:stretch/>
        </p:blipFill>
        <p:spPr>
          <a:xfrm>
            <a:off x="5346758" y="1576614"/>
            <a:ext cx="3797244" cy="2266480"/>
          </a:xfrm>
          <a:prstGeom prst="rect">
            <a:avLst/>
          </a:prstGeom>
          <a:noFill/>
          <a:ln>
            <a:noFill/>
          </a:ln>
        </p:spPr>
      </p:pic>
      <p:sp>
        <p:nvSpPr>
          <p:cNvPr id="398" name="Google Shape;398;p39"/>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lang="de" sz="1500">
                <a:solidFill>
                  <a:schemeClr val="dk1"/>
                </a:solidFill>
                <a:latin typeface="Arial"/>
                <a:ea typeface="Arial"/>
                <a:cs typeface="Arial"/>
                <a:sym typeface="Arial"/>
              </a:rPr>
              <a:t>4️⃣</a:t>
            </a:r>
            <a:r>
              <a:rPr b="1" i="0" lang="de" sz="1500" u="none" cap="none" strike="noStrike">
                <a:solidFill>
                  <a:schemeClr val="dk1"/>
                </a:solidFill>
                <a:latin typeface="Arial"/>
                <a:ea typeface="Arial"/>
                <a:cs typeface="Arial"/>
                <a:sym typeface="Arial"/>
              </a:rPr>
              <a:t> Vertex AI </a:t>
            </a:r>
            <a:r>
              <a:rPr b="1" lang="de" sz="1500">
                <a:solidFill>
                  <a:schemeClr val="dk1"/>
                </a:solidFill>
                <a:latin typeface="Arial"/>
                <a:ea typeface="Arial"/>
                <a:cs typeface="Arial"/>
                <a:sym typeface="Arial"/>
              </a:rPr>
              <a:t>mit Gemini</a:t>
            </a:r>
            <a:r>
              <a:rPr b="1" i="0" lang="de" sz="1500" u="none" cap="none" strike="noStrike">
                <a:solidFill>
                  <a:schemeClr val="dk1"/>
                </a:solidFill>
                <a:latin typeface="Arial"/>
                <a:ea typeface="Arial"/>
                <a:cs typeface="Arial"/>
                <a:sym typeface="Arial"/>
              </a:rPr>
              <a:t> Multimodales Modell – Analyse von Text, </a:t>
            </a:r>
            <a:r>
              <a:rPr b="1" lang="de" sz="1500">
                <a:solidFill>
                  <a:schemeClr val="dk1"/>
                </a:solidFill>
                <a:latin typeface="Arial"/>
                <a:ea typeface="Arial"/>
                <a:cs typeface="Arial"/>
                <a:sym typeface="Arial"/>
              </a:rPr>
              <a:t>Audio</a:t>
            </a:r>
            <a:r>
              <a:rPr b="1" i="0" lang="de" sz="1500" u="none" cap="none" strike="noStrike">
                <a:solidFill>
                  <a:schemeClr val="dk1"/>
                </a:solidFill>
                <a:latin typeface="Arial"/>
                <a:ea typeface="Arial"/>
                <a:cs typeface="Arial"/>
                <a:sym typeface="Arial"/>
              </a:rPr>
              <a:t>, Bildern und Videos</a:t>
            </a:r>
            <a:endParaRPr b="1" sz="1800">
              <a:latin typeface="Arial"/>
              <a:ea typeface="Arial"/>
              <a:cs typeface="Arial"/>
              <a:sym typeface="Arial"/>
            </a:endParaRPr>
          </a:p>
        </p:txBody>
      </p:sp>
      <p:graphicFrame>
        <p:nvGraphicFramePr>
          <p:cNvPr id="399" name="Google Shape;399;p39"/>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400" name="Google Shape;400;p39"/>
          <p:cNvSpPr txBox="1"/>
          <p:nvPr/>
        </p:nvSpPr>
        <p:spPr>
          <a:xfrm>
            <a:off x="222900" y="1122300"/>
            <a:ext cx="4536600" cy="192300"/>
          </a:xfrm>
          <a:prstGeom prst="rect">
            <a:avLst/>
          </a:prstGeom>
          <a:noFill/>
          <a:ln>
            <a:noFill/>
          </a:ln>
        </p:spPr>
        <p:txBody>
          <a:bodyPr anchorCtr="0" anchor="t" bIns="34275" lIns="68575" spcFirstLastPara="1" rIns="68575" wrap="square" tIns="34275">
            <a:spAutoFit/>
          </a:bodyPr>
          <a:lstStyle/>
          <a:p>
            <a:pPr indent="0" lvl="0" marL="0" rtl="0" algn="l">
              <a:lnSpc>
                <a:spcPct val="115000"/>
              </a:lnSpc>
              <a:spcBef>
                <a:spcPts val="1200"/>
              </a:spcBef>
              <a:spcAft>
                <a:spcPts val="1200"/>
              </a:spcAft>
              <a:buClr>
                <a:schemeClr val="dk1"/>
              </a:buClr>
              <a:buSzPts val="1100"/>
              <a:buFont typeface="Arial"/>
              <a:buNone/>
            </a:pPr>
            <a:r>
              <a:rPr b="1" lang="de" sz="800">
                <a:solidFill>
                  <a:schemeClr val="dk1"/>
                </a:solidFill>
              </a:rPr>
              <a:t>KI-gestützte Medienauswertung mit skalierbarer API-Integration</a:t>
            </a:r>
            <a:endParaRPr sz="800">
              <a:solidFill>
                <a:schemeClr val="dk1"/>
              </a:solidFill>
            </a:endParaRPr>
          </a:p>
        </p:txBody>
      </p:sp>
      <p:sp>
        <p:nvSpPr>
          <p:cNvPr id="401" name="Google Shape;401;p39"/>
          <p:cNvSpPr txBox="1"/>
          <p:nvPr/>
        </p:nvSpPr>
        <p:spPr>
          <a:xfrm>
            <a:off x="5544108" y="4928396"/>
            <a:ext cx="35025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de" sz="800">
                <a:solidFill>
                  <a:schemeClr val="dk1"/>
                </a:solidFill>
                <a:latin typeface="Georgia"/>
                <a:ea typeface="Georgia"/>
                <a:cs typeface="Georgia"/>
                <a:sym typeface="Georgia"/>
              </a:rPr>
              <a:t>https://cloud.google.com/vertex-ai/generative-ai/pricing?hl=de</a:t>
            </a:r>
            <a:endParaRPr sz="1100"/>
          </a:p>
        </p:txBody>
      </p:sp>
      <p:grpSp>
        <p:nvGrpSpPr>
          <p:cNvPr id="402" name="Google Shape;402;p39"/>
          <p:cNvGrpSpPr/>
          <p:nvPr/>
        </p:nvGrpSpPr>
        <p:grpSpPr>
          <a:xfrm>
            <a:off x="5014921" y="1049764"/>
            <a:ext cx="4105476" cy="3883369"/>
            <a:chOff x="7129010" y="1389210"/>
            <a:chExt cx="4933281" cy="4992118"/>
          </a:xfrm>
        </p:grpSpPr>
        <p:pic>
          <p:nvPicPr>
            <p:cNvPr id="403" name="Google Shape;403;p39"/>
            <p:cNvPicPr preferRelativeResize="0"/>
            <p:nvPr/>
          </p:nvPicPr>
          <p:blipFill rotWithShape="1">
            <a:blip r:embed="rId4">
              <a:alphaModFix/>
            </a:blip>
            <a:srcRect b="0" l="33997" r="0" t="0"/>
            <a:stretch/>
          </p:blipFill>
          <p:spPr>
            <a:xfrm>
              <a:off x="8040215" y="1389210"/>
              <a:ext cx="4022076" cy="4992118"/>
            </a:xfrm>
            <a:prstGeom prst="rect">
              <a:avLst/>
            </a:prstGeom>
            <a:noFill/>
            <a:ln>
              <a:noFill/>
            </a:ln>
          </p:spPr>
        </p:pic>
        <p:pic>
          <p:nvPicPr>
            <p:cNvPr id="404" name="Google Shape;404;p39"/>
            <p:cNvPicPr preferRelativeResize="0"/>
            <p:nvPr/>
          </p:nvPicPr>
          <p:blipFill rotWithShape="1">
            <a:blip r:embed="rId4">
              <a:alphaModFix/>
            </a:blip>
            <a:srcRect b="0" l="0" r="85046" t="0"/>
            <a:stretch/>
          </p:blipFill>
          <p:spPr>
            <a:xfrm>
              <a:off x="7129010" y="1389210"/>
              <a:ext cx="911202" cy="4992118"/>
            </a:xfrm>
            <a:prstGeom prst="rect">
              <a:avLst/>
            </a:prstGeom>
            <a:noFill/>
            <a:ln>
              <a:noFill/>
            </a:ln>
          </p:spPr>
        </p:pic>
      </p:grpSp>
      <p:pic>
        <p:nvPicPr>
          <p:cNvPr id="405" name="Google Shape;405;p39"/>
          <p:cNvPicPr preferRelativeResize="0"/>
          <p:nvPr/>
        </p:nvPicPr>
        <p:blipFill rotWithShape="1">
          <a:blip r:embed="rId5">
            <a:alphaModFix/>
          </a:blip>
          <a:srcRect b="0" l="0" r="0" t="0"/>
          <a:stretch/>
        </p:blipFill>
        <p:spPr>
          <a:xfrm>
            <a:off x="4819870" y="1044822"/>
            <a:ext cx="4343473" cy="4083919"/>
          </a:xfrm>
          <a:prstGeom prst="rect">
            <a:avLst/>
          </a:prstGeom>
          <a:noFill/>
          <a:ln>
            <a:noFill/>
          </a:ln>
        </p:spPr>
      </p:pic>
      <p:sp>
        <p:nvSpPr>
          <p:cNvPr id="406" name="Google Shape;406;p39"/>
          <p:cNvSpPr txBox="1"/>
          <p:nvPr/>
        </p:nvSpPr>
        <p:spPr>
          <a:xfrm>
            <a:off x="8141505" y="4938075"/>
            <a:ext cx="905100" cy="146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de" sz="500">
                <a:solidFill>
                  <a:schemeClr val="dk1"/>
                </a:solidFill>
                <a:latin typeface="Georgia"/>
                <a:ea typeface="Georgia"/>
                <a:cs typeface="Georgia"/>
                <a:sym typeface="Georgia"/>
              </a:rPr>
              <a:t>Bildquelle: ChatGPT</a:t>
            </a:r>
            <a:endParaRPr sz="500"/>
          </a:p>
        </p:txBody>
      </p:sp>
      <p:sp>
        <p:nvSpPr>
          <p:cNvPr id="407" name="Google Shape;407;p39"/>
          <p:cNvSpPr txBox="1"/>
          <p:nvPr/>
        </p:nvSpPr>
        <p:spPr>
          <a:xfrm>
            <a:off x="222900" y="4933125"/>
            <a:ext cx="30000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500"/>
              <a:t>GeminiLogo Quelle: </a:t>
            </a:r>
            <a:r>
              <a:rPr lang="de" sz="500"/>
              <a:t>https://logowik.com/google-ai-gemini-logo-vector-63597.html</a:t>
            </a:r>
            <a:endParaRPr sz="500"/>
          </a:p>
        </p:txBody>
      </p:sp>
      <p:sp>
        <p:nvSpPr>
          <p:cNvPr id="408" name="Google Shape;408;p39"/>
          <p:cNvSpPr txBox="1"/>
          <p:nvPr/>
        </p:nvSpPr>
        <p:spPr>
          <a:xfrm>
            <a:off x="1013700" y="1631775"/>
            <a:ext cx="3660900" cy="3232500"/>
          </a:xfrm>
          <a:prstGeom prst="rect">
            <a:avLst/>
          </a:prstGeom>
          <a:noFill/>
          <a:ln>
            <a:noFill/>
          </a:ln>
        </p:spPr>
        <p:txBody>
          <a:bodyPr anchorCtr="0" anchor="t" bIns="91425" lIns="91425" spcFirstLastPara="1" rIns="91425" wrap="square" tIns="91425">
            <a:spAutoFit/>
          </a:bodyPr>
          <a:lstStyle/>
          <a:p>
            <a:pPr indent="-266700" lvl="0" marL="457200" rtl="0" algn="l">
              <a:spcBef>
                <a:spcPts val="0"/>
              </a:spcBef>
              <a:spcAft>
                <a:spcPts val="0"/>
              </a:spcAft>
              <a:buClr>
                <a:schemeClr val="dk1"/>
              </a:buClr>
              <a:buSzPts val="600"/>
              <a:buChar char="▪"/>
            </a:pPr>
            <a:r>
              <a:rPr lang="de" sz="600">
                <a:solidFill>
                  <a:schemeClr val="dk1"/>
                </a:solidFill>
              </a:rPr>
              <a:t>KI-Modell: Gemini 1.5 Flash Pro oder neuer</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Betriebsmodi: Zero-Shot, One-Shot, Few-Shot</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Plattform: Google Cloud Vertex AI</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Zugriff: REST, API </a:t>
            </a:r>
            <a:endParaRPr sz="600">
              <a:solidFill>
                <a:schemeClr val="dk1"/>
              </a:solidFill>
            </a:endParaRPr>
          </a:p>
          <a:p>
            <a:pPr indent="0" lvl="0" marL="457200" rtl="0" algn="l">
              <a:spcBef>
                <a:spcPts val="0"/>
              </a:spcBef>
              <a:spcAft>
                <a:spcPts val="0"/>
              </a:spcAft>
              <a:buNone/>
            </a:pPr>
            <a:r>
              <a:t/>
            </a:r>
            <a:endParaRPr sz="600">
              <a:solidFill>
                <a:schemeClr val="dk1"/>
              </a:solidFill>
            </a:endParaRPr>
          </a:p>
          <a:p>
            <a:pPr indent="0" lvl="0" marL="914400" rtl="0" algn="l">
              <a:spcBef>
                <a:spcPts val="0"/>
              </a:spcBef>
              <a:spcAft>
                <a:spcPts val="0"/>
              </a:spcAft>
              <a:buNone/>
            </a:pPr>
            <a:r>
              <a:t/>
            </a:r>
            <a:endParaRPr sz="600">
              <a:solidFill>
                <a:schemeClr val="dk1"/>
              </a:solidFill>
            </a:endParaRPr>
          </a:p>
          <a:p>
            <a:pPr indent="-266700" lvl="1" marL="457200" rtl="0" algn="l">
              <a:spcBef>
                <a:spcPts val="0"/>
              </a:spcBef>
              <a:spcAft>
                <a:spcPts val="0"/>
              </a:spcAft>
              <a:buClr>
                <a:schemeClr val="dk1"/>
              </a:buClr>
              <a:buSzPts val="600"/>
              <a:buChar char="▪"/>
            </a:pPr>
            <a:r>
              <a:rPr lang="de" sz="600">
                <a:solidFill>
                  <a:schemeClr val="dk1"/>
                </a:solidFill>
              </a:rPr>
              <a:t>Text: </a:t>
            </a:r>
            <a:endParaRPr sz="600">
              <a:solidFill>
                <a:schemeClr val="dk1"/>
              </a:solidFill>
            </a:endParaRPr>
          </a:p>
          <a:p>
            <a:pPr indent="-266700" lvl="1" marL="914400" rtl="0" algn="l">
              <a:spcBef>
                <a:spcPts val="0"/>
              </a:spcBef>
              <a:spcAft>
                <a:spcPts val="0"/>
              </a:spcAft>
              <a:buClr>
                <a:schemeClr val="dk1"/>
              </a:buClr>
              <a:buSzPts val="600"/>
              <a:buChar char="▪"/>
            </a:pPr>
            <a:r>
              <a:rPr lang="de" sz="600">
                <a:solidFill>
                  <a:schemeClr val="dk1"/>
                </a:solidFill>
              </a:rPr>
              <a:t>Textuelle Eingabe &amp; Ausgabe (JSON)</a:t>
            </a:r>
            <a:endParaRPr sz="600">
              <a:solidFill>
                <a:schemeClr val="dk1"/>
              </a:solidFill>
            </a:endParaRPr>
          </a:p>
          <a:p>
            <a:pPr indent="-266700" lvl="1" marL="914400" rtl="0" algn="l">
              <a:spcBef>
                <a:spcPts val="0"/>
              </a:spcBef>
              <a:spcAft>
                <a:spcPts val="0"/>
              </a:spcAft>
              <a:buClr>
                <a:schemeClr val="dk1"/>
              </a:buClr>
              <a:buSzPts val="600"/>
              <a:buChar char="▪"/>
            </a:pPr>
            <a:r>
              <a:rPr lang="de" sz="600">
                <a:solidFill>
                  <a:schemeClr val="dk1"/>
                </a:solidFill>
              </a:rPr>
              <a:t>Szenenbeschreibungen und </a:t>
            </a:r>
            <a:r>
              <a:rPr lang="de" sz="600">
                <a:solidFill>
                  <a:schemeClr val="dk1"/>
                </a:solidFill>
              </a:rPr>
              <a:t>Storytelling</a:t>
            </a:r>
            <a:r>
              <a:rPr lang="de" sz="600">
                <a:solidFill>
                  <a:schemeClr val="dk1"/>
                </a:solidFill>
              </a:rPr>
              <a:t> </a:t>
            </a:r>
            <a:endParaRPr sz="600">
              <a:solidFill>
                <a:schemeClr val="dk1"/>
              </a:solidFill>
            </a:endParaRPr>
          </a:p>
          <a:p>
            <a:pPr indent="-266700" lvl="1" marL="457200" rtl="0" algn="l">
              <a:spcBef>
                <a:spcPts val="0"/>
              </a:spcBef>
              <a:spcAft>
                <a:spcPts val="0"/>
              </a:spcAft>
              <a:buClr>
                <a:schemeClr val="dk1"/>
              </a:buClr>
              <a:buSzPts val="600"/>
              <a:buChar char="▪"/>
            </a:pPr>
            <a:r>
              <a:rPr lang="de" sz="600">
                <a:solidFill>
                  <a:schemeClr val="dk1"/>
                </a:solidFill>
              </a:rPr>
              <a:t>Bild:</a:t>
            </a:r>
            <a:endParaRPr sz="600">
              <a:solidFill>
                <a:schemeClr val="dk1"/>
              </a:solidFill>
            </a:endParaRPr>
          </a:p>
          <a:p>
            <a:pPr indent="-266700" lvl="2" marL="914400" rtl="0" algn="l">
              <a:spcBef>
                <a:spcPts val="0"/>
              </a:spcBef>
              <a:spcAft>
                <a:spcPts val="0"/>
              </a:spcAft>
              <a:buClr>
                <a:schemeClr val="dk1"/>
              </a:buClr>
              <a:buSzPts val="600"/>
              <a:buChar char="▪"/>
            </a:pPr>
            <a:r>
              <a:rPr lang="de" sz="600">
                <a:solidFill>
                  <a:schemeClr val="dk1"/>
                </a:solidFill>
              </a:rPr>
              <a:t>Bildbeschreibung in mehreren </a:t>
            </a:r>
            <a:r>
              <a:rPr lang="de" sz="600">
                <a:solidFill>
                  <a:schemeClr val="dk1"/>
                </a:solidFill>
              </a:rPr>
              <a:t>Detailstufen</a:t>
            </a:r>
            <a:r>
              <a:rPr lang="de" sz="600">
                <a:solidFill>
                  <a:schemeClr val="dk1"/>
                </a:solidFill>
              </a:rPr>
              <a:t>, anpassbar</a:t>
            </a:r>
            <a:endParaRPr sz="600">
              <a:solidFill>
                <a:schemeClr val="dk1"/>
              </a:solidFill>
            </a:endParaRPr>
          </a:p>
          <a:p>
            <a:pPr indent="-266700" lvl="2" marL="914400" rtl="0" algn="l">
              <a:spcBef>
                <a:spcPts val="0"/>
              </a:spcBef>
              <a:spcAft>
                <a:spcPts val="0"/>
              </a:spcAft>
              <a:buClr>
                <a:schemeClr val="dk1"/>
              </a:buClr>
              <a:buSzPts val="600"/>
              <a:buChar char="▪"/>
            </a:pPr>
            <a:r>
              <a:rPr lang="de" sz="600">
                <a:solidFill>
                  <a:schemeClr val="dk1"/>
                </a:solidFill>
              </a:rPr>
              <a:t>OCR-Analyse mit logischen Ableitungen (z. B. Fahrpläne und Fahrtdauer)</a:t>
            </a:r>
            <a:endParaRPr sz="600">
              <a:solidFill>
                <a:schemeClr val="dk1"/>
              </a:solidFill>
            </a:endParaRPr>
          </a:p>
          <a:p>
            <a:pPr indent="-266700" lvl="2" marL="914400" rtl="0" algn="l">
              <a:spcBef>
                <a:spcPts val="0"/>
              </a:spcBef>
              <a:spcAft>
                <a:spcPts val="0"/>
              </a:spcAft>
              <a:buClr>
                <a:schemeClr val="dk1"/>
              </a:buClr>
              <a:buSzPts val="600"/>
              <a:buChar char="▪"/>
            </a:pPr>
            <a:r>
              <a:rPr lang="de" sz="600">
                <a:solidFill>
                  <a:schemeClr val="dk1"/>
                </a:solidFill>
              </a:rPr>
              <a:t>Erkennung bekannter Objekte und Orte, ohne Extrakosten</a:t>
            </a:r>
            <a:endParaRPr sz="600">
              <a:solidFill>
                <a:schemeClr val="dk1"/>
              </a:solidFill>
            </a:endParaRPr>
          </a:p>
          <a:p>
            <a:pPr indent="-266700" lvl="2" marL="914400" rtl="0" algn="l">
              <a:spcBef>
                <a:spcPts val="0"/>
              </a:spcBef>
              <a:spcAft>
                <a:spcPts val="0"/>
              </a:spcAft>
              <a:buClr>
                <a:schemeClr val="dk1"/>
              </a:buClr>
              <a:buSzPts val="600"/>
              <a:buChar char="▪"/>
            </a:pPr>
            <a:r>
              <a:rPr lang="de" sz="600">
                <a:solidFill>
                  <a:schemeClr val="dk1"/>
                </a:solidFill>
              </a:rPr>
              <a:t>Bei schnellen </a:t>
            </a:r>
            <a:r>
              <a:rPr lang="de" sz="600">
                <a:solidFill>
                  <a:schemeClr val="dk1"/>
                </a:solidFill>
              </a:rPr>
              <a:t>Szenen </a:t>
            </a:r>
            <a:r>
              <a:rPr lang="de" sz="600">
                <a:solidFill>
                  <a:schemeClr val="dk1"/>
                </a:solidFill>
              </a:rPr>
              <a:t>kann so mehr als 1 fps ausgewertet werden</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Video:</a:t>
            </a:r>
            <a:endParaRPr sz="600">
              <a:solidFill>
                <a:schemeClr val="dk1"/>
              </a:solidFill>
            </a:endParaRPr>
          </a:p>
          <a:p>
            <a:pPr indent="-266700" lvl="1" marL="914400" rtl="0" algn="l">
              <a:spcBef>
                <a:spcPts val="0"/>
              </a:spcBef>
              <a:spcAft>
                <a:spcPts val="0"/>
              </a:spcAft>
              <a:buClr>
                <a:schemeClr val="dk1"/>
              </a:buClr>
              <a:buSzPts val="600"/>
              <a:buChar char="▪"/>
            </a:pPr>
            <a:r>
              <a:rPr lang="de" sz="600">
                <a:solidFill>
                  <a:schemeClr val="dk1"/>
                </a:solidFill>
              </a:rPr>
              <a:t>Textuelle Inhaltsanalyse</a:t>
            </a:r>
            <a:r>
              <a:rPr lang="de" sz="600">
                <a:solidFill>
                  <a:schemeClr val="dk1"/>
                </a:solidFill>
              </a:rPr>
              <a:t> in mehreren Detailstufen, anpassbar</a:t>
            </a:r>
            <a:endParaRPr sz="600">
              <a:solidFill>
                <a:schemeClr val="dk1"/>
              </a:solidFill>
            </a:endParaRPr>
          </a:p>
          <a:p>
            <a:pPr indent="-266700" lvl="1" marL="914400" rtl="0" algn="l">
              <a:spcBef>
                <a:spcPts val="0"/>
              </a:spcBef>
              <a:spcAft>
                <a:spcPts val="0"/>
              </a:spcAft>
              <a:buClr>
                <a:schemeClr val="dk1"/>
              </a:buClr>
              <a:buSzPts val="600"/>
              <a:buChar char="▪"/>
            </a:pPr>
            <a:r>
              <a:rPr lang="de" sz="600">
                <a:solidFill>
                  <a:schemeClr val="dk1"/>
                </a:solidFill>
              </a:rPr>
              <a:t>Detaillierungsgrad individuell einstellbar</a:t>
            </a:r>
            <a:endParaRPr sz="600">
              <a:solidFill>
                <a:schemeClr val="dk1"/>
              </a:solidFill>
            </a:endParaRPr>
          </a:p>
          <a:p>
            <a:pPr indent="-266700" lvl="1" marL="914400" rtl="0" algn="l">
              <a:spcBef>
                <a:spcPts val="0"/>
              </a:spcBef>
              <a:spcAft>
                <a:spcPts val="0"/>
              </a:spcAft>
              <a:buClr>
                <a:schemeClr val="dk1"/>
              </a:buClr>
              <a:buSzPts val="600"/>
              <a:buChar char="▪"/>
            </a:pPr>
            <a:r>
              <a:rPr lang="de" sz="600">
                <a:solidFill>
                  <a:schemeClr val="dk1"/>
                </a:solidFill>
              </a:rPr>
              <a:t>Bis 20 MB direkt nutzbar, größere via Cloud Storage (indirekt)</a:t>
            </a:r>
            <a:endParaRPr sz="600">
              <a:solidFill>
                <a:schemeClr val="dk1"/>
              </a:solidFill>
            </a:endParaRPr>
          </a:p>
          <a:p>
            <a:pPr indent="-266700" lvl="1" marL="914400" rtl="0" algn="l">
              <a:spcBef>
                <a:spcPts val="0"/>
              </a:spcBef>
              <a:spcAft>
                <a:spcPts val="0"/>
              </a:spcAft>
              <a:buClr>
                <a:schemeClr val="dk1"/>
              </a:buClr>
              <a:buSzPts val="600"/>
              <a:buChar char="▪"/>
            </a:pPr>
            <a:r>
              <a:rPr lang="de" sz="600">
                <a:solidFill>
                  <a:schemeClr val="dk1"/>
                </a:solidFill>
              </a:rPr>
              <a:t>Max. Videolänge: 60/120 Minuten, je nach Gemini Modell</a:t>
            </a:r>
            <a:endParaRPr sz="600">
              <a:solidFill>
                <a:schemeClr val="dk1"/>
              </a:solidFill>
            </a:endParaRPr>
          </a:p>
          <a:p>
            <a:pPr indent="0" lvl="0" marL="914400" rtl="0" algn="l">
              <a:spcBef>
                <a:spcPts val="0"/>
              </a:spcBef>
              <a:spcAft>
                <a:spcPts val="0"/>
              </a:spcAft>
              <a:buNone/>
            </a:pPr>
            <a:r>
              <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Audio-Auswertung: Video-Tonspur</a:t>
            </a:r>
            <a:endParaRPr sz="600">
              <a:solidFill>
                <a:schemeClr val="dk1"/>
              </a:solidFill>
            </a:endParaRPr>
          </a:p>
          <a:p>
            <a:pPr indent="0" lvl="0" marL="1371600" rtl="0" algn="l">
              <a:spcBef>
                <a:spcPts val="0"/>
              </a:spcBef>
              <a:spcAft>
                <a:spcPts val="0"/>
              </a:spcAft>
              <a:buNone/>
            </a:pPr>
            <a:r>
              <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API-Zugriff via Google Cloud Vertex AI</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Schnelle Integration für Bilder/Videos/Audio und Text</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Optional mit Python-Skripten erweiterbar</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Komplexere Szenarien: Zwischenspeicherung in Cloud erforderlich</a:t>
            </a:r>
            <a:endParaRPr sz="600">
              <a:solidFill>
                <a:schemeClr val="dk1"/>
              </a:solidFill>
            </a:endParaRPr>
          </a:p>
          <a:p>
            <a:pPr indent="0" lvl="0" marL="0" rtl="0" algn="l">
              <a:spcBef>
                <a:spcPts val="0"/>
              </a:spcBef>
              <a:spcAft>
                <a:spcPts val="0"/>
              </a:spcAft>
              <a:buNone/>
            </a:pPr>
            <a:r>
              <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Interaktive Tests: Vertex AI Studio Chat-Oberfläche für Tests ohne viel Vorarbeit</a:t>
            </a:r>
            <a:endParaRPr sz="600">
              <a:solidFill>
                <a:schemeClr val="dk1"/>
              </a:solidFill>
            </a:endParaRPr>
          </a:p>
          <a:p>
            <a:pPr indent="0" lvl="0" marL="457200" rtl="0" algn="l">
              <a:spcBef>
                <a:spcPts val="0"/>
              </a:spcBef>
              <a:spcAft>
                <a:spcPts val="0"/>
              </a:spcAft>
              <a:buNone/>
            </a:pPr>
            <a:r>
              <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Anpassungen durch optionale Regeln, Filter und weitere Verknüpfungen</a:t>
            </a:r>
            <a:endParaRPr sz="600">
              <a:solidFill>
                <a:schemeClr val="dk1"/>
              </a:solidFill>
            </a:endParaRPr>
          </a:p>
          <a:p>
            <a:pPr indent="0" lvl="0" marL="457200" rtl="0" algn="l">
              <a:spcBef>
                <a:spcPts val="0"/>
              </a:spcBef>
              <a:spcAft>
                <a:spcPts val="0"/>
              </a:spcAft>
              <a:buNone/>
            </a:pPr>
            <a:r>
              <a:t/>
            </a:r>
            <a:endParaRPr sz="600">
              <a:solidFill>
                <a:schemeClr val="dk1"/>
              </a:solidFill>
            </a:endParaRPr>
          </a:p>
          <a:p>
            <a:pPr indent="-266700" lvl="0" marL="457200" rtl="0" algn="l">
              <a:spcBef>
                <a:spcPts val="0"/>
              </a:spcBef>
              <a:spcAft>
                <a:spcPts val="0"/>
              </a:spcAft>
              <a:buClr>
                <a:schemeClr val="dk1"/>
              </a:buClr>
              <a:buSzPts val="600"/>
              <a:buChar char="▪"/>
            </a:pPr>
            <a:r>
              <a:rPr lang="de" sz="600">
                <a:solidFill>
                  <a:schemeClr val="dk1"/>
                </a:solidFill>
              </a:rPr>
              <a:t>CloudSkillBoost, Dokumentation, Videotutorials, Community, …</a:t>
            </a:r>
            <a:endParaRPr sz="600">
              <a:solidFill>
                <a:schemeClr val="dk1"/>
              </a:solidFill>
            </a:endParaRPr>
          </a:p>
        </p:txBody>
      </p:sp>
      <p:sp>
        <p:nvSpPr>
          <p:cNvPr id="409" name="Google Shape;409;p39"/>
          <p:cNvSpPr txBox="1"/>
          <p:nvPr/>
        </p:nvSpPr>
        <p:spPr>
          <a:xfrm>
            <a:off x="222900" y="1631775"/>
            <a:ext cx="9051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600">
                <a:solidFill>
                  <a:schemeClr val="dk1"/>
                </a:solidFill>
              </a:rPr>
              <a:t>Technologischer</a:t>
            </a:r>
            <a:r>
              <a:rPr b="1" lang="de" sz="600">
                <a:solidFill>
                  <a:schemeClr val="dk1"/>
                </a:solidFill>
              </a:rPr>
              <a:t> Überblick</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Text-, Bild-, Video-, </a:t>
            </a:r>
            <a:r>
              <a:rPr b="1" lang="de" sz="600">
                <a:solidFill>
                  <a:schemeClr val="dk1"/>
                </a:solidFill>
              </a:rPr>
              <a:t>Audio-Analyse</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Integration &amp; Umsetzung</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Tests</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Anpassbarkeit</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Einarbeitung</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p:txBody>
      </p:sp>
      <p:pic>
        <p:nvPicPr>
          <p:cNvPr id="410" name="Google Shape;410;p39"/>
          <p:cNvPicPr preferRelativeResize="0"/>
          <p:nvPr/>
        </p:nvPicPr>
        <p:blipFill rotWithShape="1">
          <a:blip r:embed="rId6">
            <a:alphaModFix/>
          </a:blip>
          <a:srcRect b="26821" l="0" r="0" t="26854"/>
          <a:stretch/>
        </p:blipFill>
        <p:spPr>
          <a:xfrm>
            <a:off x="3383357" y="1132537"/>
            <a:ext cx="1322168" cy="411525"/>
          </a:xfrm>
          <a:prstGeom prst="rect">
            <a:avLst/>
          </a:prstGeom>
          <a:noFill/>
          <a:ln>
            <a:noFill/>
          </a:ln>
        </p:spPr>
      </p:pic>
      <p:pic>
        <p:nvPicPr>
          <p:cNvPr id="411" name="Google Shape;411;p39"/>
          <p:cNvPicPr preferRelativeResize="0"/>
          <p:nvPr/>
        </p:nvPicPr>
        <p:blipFill rotWithShape="1">
          <a:blip r:embed="rId7">
            <a:alphaModFix/>
          </a:blip>
          <a:srcRect b="29568" l="8006" r="6266" t="27089"/>
          <a:stretch/>
        </p:blipFill>
        <p:spPr>
          <a:xfrm>
            <a:off x="4011819" y="1442325"/>
            <a:ext cx="662655" cy="251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05"/>
                                        </p:tgtEl>
                                      </p:cBhvr>
                                    </p:animEffect>
                                    <p:set>
                                      <p:cBhvr>
                                        <p:cTn dur="1" fill="hold">
                                          <p:stCondLst>
                                            <p:cond delay="500"/>
                                          </p:stCondLst>
                                        </p:cTn>
                                        <p:tgtEl>
                                          <p:spTgt spid="40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40"/>
          <p:cNvSpPr/>
          <p:nvPr/>
        </p:nvSpPr>
        <p:spPr>
          <a:xfrm>
            <a:off x="231150" y="1113600"/>
            <a:ext cx="6022200" cy="3908100"/>
          </a:xfrm>
          <a:prstGeom prst="rect">
            <a:avLst/>
          </a:prstGeom>
          <a:solidFill>
            <a:srgbClr val="438086">
              <a:alpha val="16860"/>
            </a:srgbClr>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418" name="Google Shape;418;p40"/>
          <p:cNvSpPr txBox="1"/>
          <p:nvPr/>
        </p:nvSpPr>
        <p:spPr>
          <a:xfrm>
            <a:off x="231150" y="4683225"/>
            <a:ext cx="60222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600"/>
              <a:t>Quellen:</a:t>
            </a:r>
            <a:r>
              <a:rPr lang="de" sz="500" u="sng">
                <a:solidFill>
                  <a:schemeClr val="hlink"/>
                </a:solidFill>
                <a:hlinkClick r:id="rId3"/>
              </a:rPr>
              <a:t>https://cloud.google.com/vertex-ai/generative-ai/docs/learn/models?hl=de#gemini-models</a:t>
            </a:r>
            <a:endParaRPr sz="500"/>
          </a:p>
          <a:p>
            <a:pPr indent="0" lvl="0" marL="0" rtl="0" algn="l">
              <a:spcBef>
                <a:spcPts val="0"/>
              </a:spcBef>
              <a:spcAft>
                <a:spcPts val="0"/>
              </a:spcAft>
              <a:buNone/>
            </a:pPr>
            <a:r>
              <a:rPr lang="de" sz="500" u="sng">
                <a:solidFill>
                  <a:schemeClr val="hlink"/>
                </a:solidFill>
                <a:hlinkClick r:id="rId4"/>
              </a:rPr>
              <a:t>https://console.cloud.google.com/vertex-ai/publishers/google/model-garden/gemini-1.5-pro-002?hl=de&amp;inv=1&amp;invt=AbwOaw</a:t>
            </a:r>
            <a:r>
              <a:rPr lang="de" sz="500"/>
              <a:t> </a:t>
            </a:r>
            <a:endParaRPr sz="500"/>
          </a:p>
        </p:txBody>
      </p:sp>
      <p:sp>
        <p:nvSpPr>
          <p:cNvPr id="419" name="Google Shape;419;p40"/>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lang="de" sz="1500">
                <a:solidFill>
                  <a:schemeClr val="dk1"/>
                </a:solidFill>
                <a:latin typeface="Arial"/>
                <a:ea typeface="Arial"/>
                <a:cs typeface="Arial"/>
                <a:sym typeface="Arial"/>
              </a:rPr>
              <a:t>4️⃣</a:t>
            </a:r>
            <a:r>
              <a:rPr b="1" i="0" lang="de" sz="1500" u="none" cap="none" strike="noStrike">
                <a:solidFill>
                  <a:schemeClr val="dk1"/>
                </a:solidFill>
                <a:latin typeface="Arial"/>
                <a:ea typeface="Arial"/>
                <a:cs typeface="Arial"/>
                <a:sym typeface="Arial"/>
              </a:rPr>
              <a:t> Vertex </a:t>
            </a:r>
            <a:r>
              <a:rPr b="1" lang="de" sz="1500">
                <a:solidFill>
                  <a:schemeClr val="dk1"/>
                </a:solidFill>
                <a:latin typeface="Arial"/>
                <a:ea typeface="Arial"/>
                <a:cs typeface="Arial"/>
                <a:sym typeface="Arial"/>
              </a:rPr>
              <a:t>AI </a:t>
            </a:r>
            <a:r>
              <a:rPr b="1" lang="de" sz="1500">
                <a:solidFill>
                  <a:schemeClr val="dk1"/>
                </a:solidFill>
                <a:latin typeface="Arial"/>
                <a:ea typeface="Arial"/>
                <a:cs typeface="Arial"/>
                <a:sym typeface="Arial"/>
              </a:rPr>
              <a:t>unterstützte</a:t>
            </a:r>
            <a:r>
              <a:rPr b="1" lang="de" sz="1500">
                <a:solidFill>
                  <a:schemeClr val="dk1"/>
                </a:solidFill>
                <a:latin typeface="Arial"/>
                <a:ea typeface="Arial"/>
                <a:cs typeface="Arial"/>
                <a:sym typeface="Arial"/>
              </a:rPr>
              <a:t> </a:t>
            </a:r>
            <a:r>
              <a:rPr b="1" i="0" lang="de" sz="1500" u="none" cap="none" strike="noStrike">
                <a:solidFill>
                  <a:schemeClr val="dk1"/>
                </a:solidFill>
                <a:latin typeface="Arial"/>
                <a:ea typeface="Arial"/>
                <a:cs typeface="Arial"/>
                <a:sym typeface="Arial"/>
              </a:rPr>
              <a:t>Gemini Versionen</a:t>
            </a:r>
            <a:endParaRPr b="1" sz="1800">
              <a:latin typeface="Arial"/>
              <a:ea typeface="Arial"/>
              <a:cs typeface="Arial"/>
              <a:sym typeface="Arial"/>
            </a:endParaRPr>
          </a:p>
        </p:txBody>
      </p:sp>
      <p:graphicFrame>
        <p:nvGraphicFramePr>
          <p:cNvPr id="420" name="Google Shape;420;p40"/>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421" name="Google Shape;421;p40"/>
          <p:cNvSpPr txBox="1"/>
          <p:nvPr/>
        </p:nvSpPr>
        <p:spPr>
          <a:xfrm>
            <a:off x="222901" y="1122301"/>
            <a:ext cx="45366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800"/>
              <a:buFont typeface="Arial"/>
              <a:buNone/>
            </a:pPr>
            <a:r>
              <a:rPr b="1" lang="de" sz="800">
                <a:solidFill>
                  <a:schemeClr val="dk1"/>
                </a:solidFill>
              </a:rPr>
              <a:t>Gemini Versionen </a:t>
            </a:r>
            <a:endParaRPr sz="1100"/>
          </a:p>
          <a:p>
            <a:pPr indent="0" lvl="1" marL="393700" marR="0" rtl="0" algn="l">
              <a:spcBef>
                <a:spcPts val="0"/>
              </a:spcBef>
              <a:spcAft>
                <a:spcPts val="0"/>
              </a:spcAft>
              <a:buClr>
                <a:schemeClr val="dk1"/>
              </a:buClr>
              <a:buSzPts val="800"/>
              <a:buFont typeface="Noto Sans Symbols"/>
              <a:buNone/>
            </a:pPr>
            <a:r>
              <a:t/>
            </a:r>
            <a:endParaRPr b="0" i="0" sz="800" u="none" cap="none" strike="noStrike">
              <a:solidFill>
                <a:schemeClr val="dk1"/>
              </a:solidFill>
              <a:latin typeface="Arial"/>
              <a:ea typeface="Arial"/>
              <a:cs typeface="Arial"/>
              <a:sym typeface="Arial"/>
            </a:endParaRPr>
          </a:p>
        </p:txBody>
      </p:sp>
      <p:pic>
        <p:nvPicPr>
          <p:cNvPr id="422" name="Google Shape;422;p40"/>
          <p:cNvPicPr preferRelativeResize="0"/>
          <p:nvPr/>
        </p:nvPicPr>
        <p:blipFill>
          <a:blip r:embed="rId5">
            <a:alphaModFix/>
          </a:blip>
          <a:stretch>
            <a:fillRect/>
          </a:stretch>
        </p:blipFill>
        <p:spPr>
          <a:xfrm>
            <a:off x="6349550" y="1113600"/>
            <a:ext cx="2678574" cy="1378524"/>
          </a:xfrm>
          <a:prstGeom prst="rect">
            <a:avLst/>
          </a:prstGeom>
          <a:noFill/>
          <a:ln>
            <a:noFill/>
          </a:ln>
        </p:spPr>
      </p:pic>
      <p:graphicFrame>
        <p:nvGraphicFramePr>
          <p:cNvPr id="423" name="Google Shape;423;p40"/>
          <p:cNvGraphicFramePr/>
          <p:nvPr/>
        </p:nvGraphicFramePr>
        <p:xfrm>
          <a:off x="231150" y="1265025"/>
          <a:ext cx="3000000" cy="3000000"/>
        </p:xfrm>
        <a:graphic>
          <a:graphicData uri="http://schemas.openxmlformats.org/drawingml/2006/table">
            <a:tbl>
              <a:tblPr>
                <a:noFill/>
                <a:tableStyleId>{BA45F573-9B29-47CA-AB3D-ED83CEF522B1}</a:tableStyleId>
              </a:tblPr>
              <a:tblGrid>
                <a:gridCol w="1113150"/>
                <a:gridCol w="914775"/>
                <a:gridCol w="726450"/>
                <a:gridCol w="624000"/>
                <a:gridCol w="2542775"/>
              </a:tblGrid>
              <a:tr h="357725">
                <a:tc>
                  <a:txBody>
                    <a:bodyPr/>
                    <a:lstStyle/>
                    <a:p>
                      <a:pPr indent="0" lvl="0" marL="0" rtl="0" algn="l">
                        <a:spcBef>
                          <a:spcPts val="0"/>
                        </a:spcBef>
                        <a:spcAft>
                          <a:spcPts val="0"/>
                        </a:spcAft>
                        <a:buNone/>
                      </a:pPr>
                      <a:r>
                        <a:rPr b="1" lang="de" sz="700"/>
                        <a:t>Modell</a:t>
                      </a:r>
                      <a:endParaRPr b="1" sz="700"/>
                    </a:p>
                  </a:txBody>
                  <a:tcPr marT="91425" marB="91425" marR="91425" marL="91425"/>
                </a:tc>
                <a:tc>
                  <a:txBody>
                    <a:bodyPr/>
                    <a:lstStyle/>
                    <a:p>
                      <a:pPr indent="0" lvl="0" marL="0" rtl="0" algn="l">
                        <a:spcBef>
                          <a:spcPts val="0"/>
                        </a:spcBef>
                        <a:spcAft>
                          <a:spcPts val="0"/>
                        </a:spcAft>
                        <a:buNone/>
                      </a:pPr>
                      <a:r>
                        <a:rPr b="1" lang="de" sz="700"/>
                        <a:t>Eingaben</a:t>
                      </a:r>
                      <a:endParaRPr b="1" sz="700"/>
                    </a:p>
                  </a:txBody>
                  <a:tcPr marT="91425" marB="91425" marR="91425" marL="91425"/>
                </a:tc>
                <a:tc>
                  <a:txBody>
                    <a:bodyPr/>
                    <a:lstStyle/>
                    <a:p>
                      <a:pPr indent="0" lvl="0" marL="0" rtl="0" algn="l">
                        <a:spcBef>
                          <a:spcPts val="0"/>
                        </a:spcBef>
                        <a:spcAft>
                          <a:spcPts val="0"/>
                        </a:spcAft>
                        <a:buNone/>
                      </a:pPr>
                      <a:r>
                        <a:rPr b="1" lang="de" sz="700"/>
                        <a:t>max. Video Länge</a:t>
                      </a:r>
                      <a:endParaRPr b="1" sz="700"/>
                    </a:p>
                  </a:txBody>
                  <a:tcPr marT="91425" marB="91425" marR="91425" marL="91425"/>
                </a:tc>
                <a:tc>
                  <a:txBody>
                    <a:bodyPr/>
                    <a:lstStyle/>
                    <a:p>
                      <a:pPr indent="0" lvl="0" marL="0" rtl="0" algn="l">
                        <a:spcBef>
                          <a:spcPts val="0"/>
                        </a:spcBef>
                        <a:spcAft>
                          <a:spcPts val="0"/>
                        </a:spcAft>
                        <a:buNone/>
                      </a:pPr>
                      <a:r>
                        <a:rPr b="1" lang="de" sz="700"/>
                        <a:t>Ausgaben</a:t>
                      </a:r>
                      <a:endParaRPr b="1" sz="700"/>
                    </a:p>
                  </a:txBody>
                  <a:tcPr marT="91425" marB="91425" marR="91425" marL="91425"/>
                </a:tc>
                <a:tc>
                  <a:txBody>
                    <a:bodyPr/>
                    <a:lstStyle/>
                    <a:p>
                      <a:pPr indent="0" lvl="0" marL="0" rtl="0" algn="l">
                        <a:spcBef>
                          <a:spcPts val="0"/>
                        </a:spcBef>
                        <a:spcAft>
                          <a:spcPts val="0"/>
                        </a:spcAft>
                        <a:buNone/>
                      </a:pPr>
                      <a:r>
                        <a:rPr b="1" lang="de" sz="700"/>
                        <a:t>Anwendungsfall</a:t>
                      </a:r>
                      <a:endParaRPr b="1" sz="700"/>
                    </a:p>
                  </a:txBody>
                  <a:tcPr marT="91425" marB="91425" marR="91425" marL="91425"/>
                </a:tc>
              </a:tr>
              <a:tr h="120500">
                <a:tc rowSpan="2">
                  <a:txBody>
                    <a:bodyPr/>
                    <a:lstStyle/>
                    <a:p>
                      <a:pPr indent="0" lvl="0" marL="0" rtl="0" algn="l">
                        <a:spcBef>
                          <a:spcPts val="0"/>
                        </a:spcBef>
                        <a:spcAft>
                          <a:spcPts val="0"/>
                        </a:spcAft>
                        <a:buNone/>
                      </a:pPr>
                      <a:r>
                        <a:rPr lang="de" sz="700"/>
                        <a:t>Gemini 2.0 Flash </a:t>
                      </a:r>
                      <a:endParaRPr sz="700"/>
                    </a:p>
                  </a:txBody>
                  <a:tcPr marT="91425" marB="91425" marR="91425" marL="91425"/>
                </a:tc>
                <a:tc rowSpan="2">
                  <a:txBody>
                    <a:bodyPr/>
                    <a:lstStyle/>
                    <a:p>
                      <a:pPr indent="0" lvl="0" marL="0" rtl="0" algn="l">
                        <a:spcBef>
                          <a:spcPts val="0"/>
                        </a:spcBef>
                        <a:spcAft>
                          <a:spcPts val="0"/>
                        </a:spcAft>
                        <a:buNone/>
                      </a:pPr>
                      <a:r>
                        <a:rPr lang="de" sz="700"/>
                        <a:t>Text, Code, Bilder, </a:t>
                      </a:r>
                      <a:r>
                        <a:rPr b="1" lang="de" sz="700"/>
                        <a:t>Audio, Video, Video mit Audio</a:t>
                      </a:r>
                      <a:r>
                        <a:rPr lang="de" sz="700"/>
                        <a:t>, PDF</a:t>
                      </a:r>
                      <a:endParaRPr sz="700"/>
                    </a:p>
                  </a:txBody>
                  <a:tcPr marT="91425" marB="91425" marR="91425" marL="91425">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None/>
                      </a:pPr>
                      <a:r>
                        <a:rPr lang="de" sz="700"/>
                        <a:t>60 Min.</a:t>
                      </a:r>
                      <a:endParaRPr sz="700"/>
                    </a:p>
                  </a:txBody>
                  <a:tcPr marT="91425" marB="91425" marR="91425" marL="91425">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None/>
                      </a:pPr>
                      <a:r>
                        <a:rPr lang="de" sz="700"/>
                        <a:t>Text, Audio</a:t>
                      </a:r>
                      <a:r>
                        <a:rPr lang="de" sz="700"/>
                        <a:t>, Bilder</a:t>
                      </a:r>
                      <a:endParaRPr sz="700"/>
                    </a:p>
                  </a:txBody>
                  <a:tcPr marT="91425" marB="91425" marR="91425" marL="91425">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None/>
                      </a:pPr>
                      <a:r>
                        <a:rPr lang="de" sz="700"/>
                        <a:t>Ein zuverlässiges Modell für alle täglichen Aufgaben. Hervorragende Gesamtleistung und Unterstützung der Live API für Echtzeitstreaming.</a:t>
                      </a:r>
                      <a:endParaRPr sz="700"/>
                    </a:p>
                  </a:txBody>
                  <a:tcPr marT="91425" marB="91425" marR="91425" marL="91425">
                    <a:lnB cap="flat" cmpd="sng" w="11550">
                      <a:solidFill>
                        <a:srgbClr val="DADCE0"/>
                      </a:solidFill>
                      <a:prstDash val="solid"/>
                      <a:round/>
                      <a:headEnd len="sm" w="sm" type="none"/>
                      <a:tailEnd len="sm" w="sm" type="none"/>
                    </a:lnB>
                  </a:tcPr>
                </a:tc>
              </a:tr>
              <a:tr h="428275">
                <a:tc vMerge="1"/>
                <a:tc vMerge="1"/>
                <a:tc vMerge="1"/>
                <a:tc vMerge="1"/>
                <a:tc vMerge="1"/>
              </a:tr>
              <a:tr h="164375">
                <a:tc rowSpan="2">
                  <a:txBody>
                    <a:bodyPr/>
                    <a:lstStyle/>
                    <a:p>
                      <a:pPr indent="0" lvl="0" marL="0" rtl="0" algn="l">
                        <a:spcBef>
                          <a:spcPts val="0"/>
                        </a:spcBef>
                        <a:spcAft>
                          <a:spcPts val="0"/>
                        </a:spcAft>
                        <a:buNone/>
                      </a:pPr>
                      <a:r>
                        <a:rPr lang="de" sz="700"/>
                        <a:t>Gemini 2.5 Pro</a:t>
                      </a:r>
                      <a:endParaRPr sz="700"/>
                    </a:p>
                    <a:p>
                      <a:pPr indent="0" lvl="0" marL="0" rtl="0" algn="l">
                        <a:spcBef>
                          <a:spcPts val="0"/>
                        </a:spcBef>
                        <a:spcAft>
                          <a:spcPts val="0"/>
                        </a:spcAft>
                        <a:buClr>
                          <a:schemeClr val="dk1"/>
                        </a:buClr>
                        <a:buSzPts val="1100"/>
                        <a:buFont typeface="Arial"/>
                        <a:buNone/>
                      </a:pPr>
                      <a:r>
                        <a:rPr lang="de" sz="700">
                          <a:solidFill>
                            <a:schemeClr val="dk1"/>
                          </a:solidFill>
                        </a:rPr>
                        <a:t>(Preview)</a:t>
                      </a:r>
                      <a:endParaRPr sz="700"/>
                    </a:p>
                  </a:txBody>
                  <a:tcPr marT="91425" marB="91425" marR="91425" marL="91425"/>
                </a:tc>
                <a:tc rowSpan="2">
                  <a:txBody>
                    <a:bodyPr/>
                    <a:lstStyle/>
                    <a:p>
                      <a:pPr indent="0" lvl="0" marL="0" rtl="0" algn="l">
                        <a:spcBef>
                          <a:spcPts val="0"/>
                        </a:spcBef>
                        <a:spcAft>
                          <a:spcPts val="0"/>
                        </a:spcAft>
                        <a:buNone/>
                      </a:pPr>
                      <a:r>
                        <a:rPr lang="de" sz="700"/>
                        <a:t>Text, Bilder, </a:t>
                      </a:r>
                      <a:r>
                        <a:rPr b="1" lang="de" sz="700"/>
                        <a:t>Video, Audio</a:t>
                      </a:r>
                      <a:r>
                        <a:rPr lang="de" sz="700"/>
                        <a:t>, PDF</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Clr>
                          <a:schemeClr val="dk1"/>
                        </a:buClr>
                        <a:buSzPts val="1100"/>
                        <a:buFont typeface="Arial"/>
                        <a:buNone/>
                      </a:pPr>
                      <a:r>
                        <a:rPr lang="de" sz="700">
                          <a:solidFill>
                            <a:schemeClr val="dk1"/>
                          </a:solidFill>
                        </a:rPr>
                        <a:t>120 Min.</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None/>
                      </a:pPr>
                      <a:r>
                        <a:rPr lang="de" sz="700"/>
                        <a:t>Text</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None/>
                      </a:pPr>
                      <a:r>
                        <a:rPr lang="de" sz="700"/>
                        <a:t>Das fortschrittlichste Gemini-Modell für Schlussfolgerungen, insbesondere für multimodales Verständnis, Programmieren und Weltwissen.</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r>
              <a:tr h="288875">
                <a:tc vMerge="1"/>
                <a:tc vMerge="1"/>
                <a:tc vMerge="1"/>
                <a:tc vMerge="1"/>
                <a:tc vMerge="1"/>
              </a:tr>
              <a:tr h="122200">
                <a:tc rowSpan="2">
                  <a:txBody>
                    <a:bodyPr/>
                    <a:lstStyle/>
                    <a:p>
                      <a:pPr indent="0" lvl="0" marL="0" rtl="0" algn="l">
                        <a:spcBef>
                          <a:spcPts val="0"/>
                        </a:spcBef>
                        <a:spcAft>
                          <a:spcPts val="0"/>
                        </a:spcAft>
                        <a:buNone/>
                      </a:pPr>
                      <a:r>
                        <a:rPr lang="de" sz="700"/>
                        <a:t>Gemini 2.0 Flash-Lite</a:t>
                      </a:r>
                      <a:endParaRPr sz="700"/>
                    </a:p>
                  </a:txBody>
                  <a:tcPr marT="91425" marB="91425" marR="91425" marL="91425"/>
                </a:tc>
                <a:tc rowSpan="2">
                  <a:txBody>
                    <a:bodyPr/>
                    <a:lstStyle/>
                    <a:p>
                      <a:pPr indent="0" lvl="0" marL="0" rtl="0" algn="l">
                        <a:spcBef>
                          <a:spcPts val="0"/>
                        </a:spcBef>
                        <a:spcAft>
                          <a:spcPts val="0"/>
                        </a:spcAft>
                        <a:buNone/>
                      </a:pPr>
                      <a:r>
                        <a:rPr lang="de" sz="700"/>
                        <a:t>Text, Bilder, </a:t>
                      </a:r>
                      <a:r>
                        <a:rPr b="1" lang="de" sz="700"/>
                        <a:t>Video, Audio</a:t>
                      </a:r>
                      <a:r>
                        <a:rPr lang="de" sz="700"/>
                        <a:t>, PDF</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None/>
                      </a:pPr>
                      <a:r>
                        <a:rPr lang="de" sz="700"/>
                        <a:t>60 Min.</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None/>
                      </a:pPr>
                      <a:r>
                        <a:rPr lang="de" sz="700"/>
                        <a:t>Text</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None/>
                      </a:pPr>
                      <a:r>
                        <a:rPr lang="de" sz="700"/>
                        <a:t>Unser kostengünstiges Angebot für einen hohen Durchsatz.</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r>
              <a:tr h="331050">
                <a:tc vMerge="1"/>
                <a:tc vMerge="1"/>
                <a:tc vMerge="1"/>
                <a:tc vMerge="1"/>
                <a:tc vMerge="1"/>
              </a:tr>
              <a:tr h="164375">
                <a:tc rowSpan="2">
                  <a:txBody>
                    <a:bodyPr/>
                    <a:lstStyle/>
                    <a:p>
                      <a:pPr indent="0" lvl="0" marL="0" rtl="0" algn="l">
                        <a:spcBef>
                          <a:spcPts val="0"/>
                        </a:spcBef>
                        <a:spcAft>
                          <a:spcPts val="0"/>
                        </a:spcAft>
                        <a:buNone/>
                      </a:pPr>
                      <a:r>
                        <a:rPr lang="de" sz="700"/>
                        <a:t>Gemini 2.0 Flash Thinking</a:t>
                      </a:r>
                      <a:endParaRPr sz="700"/>
                    </a:p>
                  </a:txBody>
                  <a:tcPr marT="91425" marB="91425" marR="91425" marL="91425"/>
                </a:tc>
                <a:tc rowSpan="2">
                  <a:txBody>
                    <a:bodyPr/>
                    <a:lstStyle/>
                    <a:p>
                      <a:pPr indent="0" lvl="0" marL="0" rtl="0" algn="l">
                        <a:spcBef>
                          <a:spcPts val="0"/>
                        </a:spcBef>
                        <a:spcAft>
                          <a:spcPts val="0"/>
                        </a:spcAft>
                        <a:buNone/>
                      </a:pPr>
                      <a:r>
                        <a:rPr lang="de" sz="700"/>
                        <a:t>Text, Bilder</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None/>
                      </a:pPr>
                      <a:r>
                        <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None/>
                      </a:pPr>
                      <a:r>
                        <a:rPr lang="de" sz="700"/>
                        <a:t>Text</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rowSpan="2">
                  <a:txBody>
                    <a:bodyPr/>
                    <a:lstStyle/>
                    <a:p>
                      <a:pPr indent="0" lvl="0" marL="0" rtl="0" algn="l">
                        <a:spcBef>
                          <a:spcPts val="0"/>
                        </a:spcBef>
                        <a:spcAft>
                          <a:spcPts val="0"/>
                        </a:spcAft>
                        <a:buNone/>
                      </a:pPr>
                      <a:r>
                        <a:rPr lang="de" sz="700"/>
                        <a:t>Bietet bessere Begründung Kompetenzen und bezieht den Denkprozess in die Antworten ein.</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r>
              <a:tr h="193375">
                <a:tc vMerge="1"/>
                <a:tc vMerge="1"/>
                <a:tc vMerge="1"/>
                <a:tc vMerge="1"/>
                <a:tc vMerge="1"/>
              </a:tr>
              <a:tr h="357725">
                <a:tc>
                  <a:txBody>
                    <a:bodyPr/>
                    <a:lstStyle/>
                    <a:p>
                      <a:pPr indent="0" lvl="0" marL="0" rtl="0" algn="l">
                        <a:spcBef>
                          <a:spcPts val="0"/>
                        </a:spcBef>
                        <a:spcAft>
                          <a:spcPts val="0"/>
                        </a:spcAft>
                        <a:buNone/>
                      </a:pPr>
                      <a:r>
                        <a:rPr lang="de" sz="700"/>
                        <a:t>Gemini 1.5 Pro</a:t>
                      </a:r>
                      <a:endParaRPr sz="7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de" sz="700">
                          <a:solidFill>
                            <a:schemeClr val="dk1"/>
                          </a:solidFill>
                        </a:rPr>
                        <a:t>Text, Bilder, </a:t>
                      </a:r>
                      <a:r>
                        <a:rPr b="1" lang="de" sz="700">
                          <a:solidFill>
                            <a:schemeClr val="dk1"/>
                          </a:solidFill>
                        </a:rPr>
                        <a:t>Audio, Video</a:t>
                      </a:r>
                      <a:endParaRPr b="1"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de" sz="700">
                          <a:solidFill>
                            <a:schemeClr val="dk1"/>
                          </a:solidFill>
                        </a:rPr>
                        <a:t>120 Min.</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a:txBody>
                    <a:bodyPr/>
                    <a:lstStyle/>
                    <a:p>
                      <a:pPr indent="0" lvl="0" marL="0" rtl="0" algn="l">
                        <a:spcBef>
                          <a:spcPts val="0"/>
                        </a:spcBef>
                        <a:spcAft>
                          <a:spcPts val="0"/>
                        </a:spcAft>
                        <a:buNone/>
                      </a:pPr>
                      <a:r>
                        <a:rPr lang="de" sz="700"/>
                        <a:t>Text</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a:txBody>
                    <a:bodyPr/>
                    <a:lstStyle/>
                    <a:p>
                      <a:pPr indent="0" lvl="0" marL="0" rtl="0" algn="l">
                        <a:spcBef>
                          <a:spcPts val="0"/>
                        </a:spcBef>
                        <a:spcAft>
                          <a:spcPts val="0"/>
                        </a:spcAft>
                        <a:buNone/>
                      </a:pPr>
                      <a:r>
                        <a:rPr lang="de" sz="700"/>
                        <a:t>Kontext Verständnis</a:t>
                      </a:r>
                      <a:r>
                        <a:rPr lang="de" sz="700"/>
                        <a:t> mit bis zu 2 Mio. Eingabe-Token und robuster multimodaler Eingabe</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r>
              <a:tr h="357725">
                <a:tc>
                  <a:txBody>
                    <a:bodyPr/>
                    <a:lstStyle/>
                    <a:p>
                      <a:pPr indent="0" lvl="0" marL="0" rtl="0" algn="l">
                        <a:spcBef>
                          <a:spcPts val="0"/>
                        </a:spcBef>
                        <a:spcAft>
                          <a:spcPts val="0"/>
                        </a:spcAft>
                        <a:buNone/>
                      </a:pPr>
                      <a:r>
                        <a:rPr lang="de" sz="700"/>
                        <a:t>Gemini 1.0 Pro</a:t>
                      </a:r>
                      <a:endParaRPr sz="7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de" sz="700">
                          <a:solidFill>
                            <a:schemeClr val="dk1"/>
                          </a:solidFill>
                        </a:rPr>
                        <a:t>Text</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a:txBody>
                    <a:bodyPr/>
                    <a:lstStyle/>
                    <a:p>
                      <a:pPr indent="0" lvl="0" marL="0" rtl="0" algn="l">
                        <a:spcBef>
                          <a:spcPts val="0"/>
                        </a:spcBef>
                        <a:spcAft>
                          <a:spcPts val="0"/>
                        </a:spcAft>
                        <a:buNone/>
                      </a:pPr>
                      <a:r>
                        <a:t/>
                      </a:r>
                      <a:endParaRPr sz="700">
                        <a:solidFill>
                          <a:schemeClr val="dk1"/>
                        </a:solidFill>
                      </a:endParaRPr>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de" sz="700">
                          <a:solidFill>
                            <a:schemeClr val="dk1"/>
                          </a:solidFill>
                        </a:rPr>
                        <a:t>Text</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c>
                  <a:txBody>
                    <a:bodyPr/>
                    <a:lstStyle/>
                    <a:p>
                      <a:pPr indent="0" lvl="0" marL="0" rtl="0" algn="l">
                        <a:spcBef>
                          <a:spcPts val="0"/>
                        </a:spcBef>
                        <a:spcAft>
                          <a:spcPts val="0"/>
                        </a:spcAft>
                        <a:buNone/>
                      </a:pPr>
                      <a:r>
                        <a:rPr lang="de" sz="700"/>
                        <a:t>Modell mit Funktionen für eine breite Palette von Aufgaben.</a:t>
                      </a:r>
                      <a:endParaRPr sz="700"/>
                    </a:p>
                  </a:txBody>
                  <a:tcPr marT="91425" marB="91425" marR="91425" marL="91425">
                    <a:lnT cap="flat" cmpd="sng" w="11550">
                      <a:solidFill>
                        <a:srgbClr val="DADCE0"/>
                      </a:solidFill>
                      <a:prstDash val="solid"/>
                      <a:round/>
                      <a:headEnd len="sm" w="sm" type="none"/>
                      <a:tailEnd len="sm" w="sm" type="none"/>
                    </a:lnT>
                    <a:lnB cap="flat" cmpd="sng" w="11550">
                      <a:solidFill>
                        <a:srgbClr val="DADCE0"/>
                      </a:solidFill>
                      <a:prstDash val="solid"/>
                      <a:round/>
                      <a:headEnd len="sm" w="sm" type="none"/>
                      <a:tailEnd len="sm" w="sm" type="none"/>
                    </a:lnB>
                  </a:tcPr>
                </a:tc>
              </a:tr>
              <a:tr h="357725">
                <a:tc>
                  <a:txBody>
                    <a:bodyPr/>
                    <a:lstStyle/>
                    <a:p>
                      <a:pPr indent="0" lvl="0" marL="0" rtl="0" algn="l">
                        <a:spcBef>
                          <a:spcPts val="0"/>
                        </a:spcBef>
                        <a:spcAft>
                          <a:spcPts val="0"/>
                        </a:spcAft>
                        <a:buNone/>
                      </a:pPr>
                      <a:r>
                        <a:rPr lang="de" sz="700"/>
                        <a:t>Gemini 1.0 Pro Vision</a:t>
                      </a:r>
                      <a:endParaRPr sz="700"/>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de" sz="700">
                          <a:solidFill>
                            <a:schemeClr val="dk1"/>
                          </a:solidFill>
                        </a:rPr>
                        <a:t>Text, Bilder</a:t>
                      </a:r>
                      <a:endParaRPr sz="700"/>
                    </a:p>
                  </a:txBody>
                  <a:tcPr marT="91425" marB="91425" marR="91425" marL="91425">
                    <a:lnT cap="flat" cmpd="sng" w="11550">
                      <a:solidFill>
                        <a:srgbClr val="DADCE0"/>
                      </a:solidFill>
                      <a:prstDash val="solid"/>
                      <a:round/>
                      <a:headEnd len="sm" w="sm" type="none"/>
                      <a:tailEnd len="sm" w="sm" type="none"/>
                    </a:lnT>
                  </a:tcPr>
                </a:tc>
                <a:tc>
                  <a:txBody>
                    <a:bodyPr/>
                    <a:lstStyle/>
                    <a:p>
                      <a:pPr indent="0" lvl="0" marL="0" rtl="0" algn="l">
                        <a:spcBef>
                          <a:spcPts val="0"/>
                        </a:spcBef>
                        <a:spcAft>
                          <a:spcPts val="0"/>
                        </a:spcAft>
                        <a:buNone/>
                      </a:pPr>
                      <a:r>
                        <a:t/>
                      </a:r>
                      <a:endParaRPr sz="700">
                        <a:solidFill>
                          <a:schemeClr val="dk1"/>
                        </a:solidFill>
                      </a:endParaRPr>
                    </a:p>
                  </a:txBody>
                  <a:tcPr marT="91425" marB="91425" marR="91425" marL="91425">
                    <a:lnT cap="flat" cmpd="sng" w="11550">
                      <a:solidFill>
                        <a:srgbClr val="DADCE0"/>
                      </a:solidFill>
                      <a:prstDash val="solid"/>
                      <a:round/>
                      <a:headEnd len="sm" w="sm" type="none"/>
                      <a:tailEnd len="sm" w="sm" type="none"/>
                    </a:lnT>
                  </a:tcPr>
                </a:tc>
                <a:tc>
                  <a:txBody>
                    <a:bodyPr/>
                    <a:lstStyle/>
                    <a:p>
                      <a:pPr indent="0" lvl="0" marL="0" rtl="0" algn="l">
                        <a:spcBef>
                          <a:spcPts val="0"/>
                        </a:spcBef>
                        <a:spcAft>
                          <a:spcPts val="0"/>
                        </a:spcAft>
                        <a:buClr>
                          <a:schemeClr val="dk1"/>
                        </a:buClr>
                        <a:buSzPts val="1100"/>
                        <a:buFont typeface="Arial"/>
                        <a:buNone/>
                      </a:pPr>
                      <a:r>
                        <a:rPr lang="de" sz="700">
                          <a:solidFill>
                            <a:schemeClr val="dk1"/>
                          </a:solidFill>
                        </a:rPr>
                        <a:t>Text</a:t>
                      </a:r>
                      <a:endParaRPr sz="700"/>
                    </a:p>
                  </a:txBody>
                  <a:tcPr marT="91425" marB="91425" marR="91425" marL="91425">
                    <a:lnT cap="flat" cmpd="sng" w="11550">
                      <a:solidFill>
                        <a:srgbClr val="DADCE0"/>
                      </a:solidFill>
                      <a:prstDash val="solid"/>
                      <a:round/>
                      <a:headEnd len="sm" w="sm" type="none"/>
                      <a:tailEnd len="sm" w="sm" type="none"/>
                    </a:lnT>
                  </a:tcPr>
                </a:tc>
                <a:tc>
                  <a:txBody>
                    <a:bodyPr/>
                    <a:lstStyle/>
                    <a:p>
                      <a:pPr indent="0" lvl="0" marL="0" rtl="0" algn="l">
                        <a:spcBef>
                          <a:spcPts val="0"/>
                        </a:spcBef>
                        <a:spcAft>
                          <a:spcPts val="0"/>
                        </a:spcAft>
                        <a:buNone/>
                      </a:pPr>
                      <a:r>
                        <a:rPr lang="de" sz="700"/>
                        <a:t>Das leistungsstärkste </a:t>
                      </a:r>
                      <a:r>
                        <a:rPr lang="de" sz="700"/>
                        <a:t>Bild-Verstehensmodell</a:t>
                      </a:r>
                      <a:r>
                        <a:rPr lang="de" sz="700"/>
                        <a:t> für ein breites Spektrum von Anwendungen.</a:t>
                      </a:r>
                      <a:endParaRPr sz="700"/>
                    </a:p>
                  </a:txBody>
                  <a:tcPr marT="91425" marB="91425" marR="91425" marL="91425">
                    <a:lnT cap="flat" cmpd="sng" w="11550">
                      <a:solidFill>
                        <a:srgbClr val="DADCE0"/>
                      </a:solidFill>
                      <a:prstDash val="solid"/>
                      <a:round/>
                      <a:headEnd len="sm" w="sm" type="none"/>
                      <a:tailEnd len="sm" w="sm" type="none"/>
                    </a:lnT>
                  </a:tcPr>
                </a:tc>
              </a:tr>
            </a:tbl>
          </a:graphicData>
        </a:graphic>
      </p:graphicFrame>
      <p:grpSp>
        <p:nvGrpSpPr>
          <p:cNvPr id="424" name="Google Shape;424;p40"/>
          <p:cNvGrpSpPr/>
          <p:nvPr/>
        </p:nvGrpSpPr>
        <p:grpSpPr>
          <a:xfrm>
            <a:off x="6349820" y="2571833"/>
            <a:ext cx="2678772" cy="2450132"/>
            <a:chOff x="7129010" y="1389210"/>
            <a:chExt cx="4933281" cy="4992118"/>
          </a:xfrm>
        </p:grpSpPr>
        <p:pic>
          <p:nvPicPr>
            <p:cNvPr id="425" name="Google Shape;425;p40"/>
            <p:cNvPicPr preferRelativeResize="0"/>
            <p:nvPr/>
          </p:nvPicPr>
          <p:blipFill rotWithShape="1">
            <a:blip r:embed="rId6">
              <a:alphaModFix/>
            </a:blip>
            <a:srcRect b="0" l="33997" r="0" t="0"/>
            <a:stretch/>
          </p:blipFill>
          <p:spPr>
            <a:xfrm>
              <a:off x="8040215" y="1389210"/>
              <a:ext cx="4022076" cy="4992118"/>
            </a:xfrm>
            <a:prstGeom prst="rect">
              <a:avLst/>
            </a:prstGeom>
            <a:noFill/>
            <a:ln>
              <a:noFill/>
            </a:ln>
          </p:spPr>
        </p:pic>
        <p:pic>
          <p:nvPicPr>
            <p:cNvPr id="426" name="Google Shape;426;p40"/>
            <p:cNvPicPr preferRelativeResize="0"/>
            <p:nvPr/>
          </p:nvPicPr>
          <p:blipFill rotWithShape="1">
            <a:blip r:embed="rId6">
              <a:alphaModFix/>
            </a:blip>
            <a:srcRect b="0" l="0" r="85046" t="0"/>
            <a:stretch/>
          </p:blipFill>
          <p:spPr>
            <a:xfrm>
              <a:off x="7129010" y="1389210"/>
              <a:ext cx="911202" cy="4992118"/>
            </a:xfrm>
            <a:prstGeom prst="rect">
              <a:avLst/>
            </a:prstGeom>
            <a:noFill/>
            <a:ln>
              <a:noFill/>
            </a:ln>
          </p:spPr>
        </p:pic>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1"/>
          <p:cNvSpPr/>
          <p:nvPr/>
        </p:nvSpPr>
        <p:spPr>
          <a:xfrm>
            <a:off x="305525" y="1116175"/>
            <a:ext cx="4520100" cy="3938700"/>
          </a:xfrm>
          <a:prstGeom prst="rect">
            <a:avLst/>
          </a:prstGeom>
          <a:solidFill>
            <a:srgbClr val="438086">
              <a:alpha val="16860"/>
            </a:srgbClr>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aphicFrame>
        <p:nvGraphicFramePr>
          <p:cNvPr id="433" name="Google Shape;433;p41"/>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434" name="Google Shape;434;p41"/>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lang="de" sz="1500">
                <a:solidFill>
                  <a:schemeClr val="dk1"/>
                </a:solidFill>
                <a:latin typeface="Arial"/>
                <a:ea typeface="Arial"/>
                <a:cs typeface="Arial"/>
                <a:sym typeface="Arial"/>
              </a:rPr>
              <a:t>4️⃣</a:t>
            </a:r>
            <a:r>
              <a:rPr b="1" i="0" lang="de" sz="1500" u="none" cap="none" strike="noStrike">
                <a:solidFill>
                  <a:schemeClr val="dk1"/>
                </a:solidFill>
                <a:latin typeface="Arial"/>
                <a:ea typeface="Arial"/>
                <a:cs typeface="Arial"/>
                <a:sym typeface="Arial"/>
              </a:rPr>
              <a:t> Google Vertex AI API, Lernpfade und Einstiegshilfen</a:t>
            </a:r>
            <a:endParaRPr b="1" sz="1500">
              <a:latin typeface="Arial"/>
              <a:ea typeface="Arial"/>
              <a:cs typeface="Arial"/>
              <a:sym typeface="Arial"/>
            </a:endParaRPr>
          </a:p>
        </p:txBody>
      </p:sp>
      <p:sp>
        <p:nvSpPr>
          <p:cNvPr id="435" name="Google Shape;435;p41"/>
          <p:cNvSpPr txBox="1"/>
          <p:nvPr/>
        </p:nvSpPr>
        <p:spPr>
          <a:xfrm>
            <a:off x="305525" y="1153150"/>
            <a:ext cx="4520100" cy="365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900"/>
              <a:buFont typeface="Arial"/>
              <a:buNone/>
            </a:pPr>
            <a:r>
              <a:rPr b="1" lang="de" sz="900">
                <a:solidFill>
                  <a:schemeClr val="dk1"/>
                </a:solidFill>
                <a:latin typeface="Arial"/>
                <a:ea typeface="Arial"/>
                <a:cs typeface="Arial"/>
                <a:sym typeface="Arial"/>
              </a:rPr>
              <a:t>Lernpfade für Vertex AI</a:t>
            </a:r>
            <a:r>
              <a:rPr b="1" lang="de" sz="900">
                <a:solidFill>
                  <a:schemeClr val="dk1"/>
                </a:solidFill>
              </a:rPr>
              <a:t>, Gemini-, Vision AI und Python Skript Anbindung</a:t>
            </a:r>
            <a:endParaRPr sz="1100"/>
          </a:p>
          <a:p>
            <a:pPr indent="0" lvl="0" marL="0" marR="0" rtl="0" algn="l">
              <a:spcBef>
                <a:spcPts val="0"/>
              </a:spcBef>
              <a:spcAft>
                <a:spcPts val="0"/>
              </a:spcAft>
              <a:buClr>
                <a:schemeClr val="dk1"/>
              </a:buClr>
              <a:buSzPts val="900"/>
              <a:buFont typeface="Georgia"/>
              <a:buNone/>
            </a:pPr>
            <a:r>
              <a:t/>
            </a:r>
            <a:endParaRPr b="1" sz="900">
              <a:solidFill>
                <a:schemeClr val="dk1"/>
              </a:solidFill>
              <a:latin typeface="Arial"/>
              <a:ea typeface="Arial"/>
              <a:cs typeface="Arial"/>
              <a:sym typeface="Arial"/>
            </a:endParaRPr>
          </a:p>
          <a:p>
            <a:pPr indent="-133350" lvl="0" marL="127000" marR="0" rtl="0" algn="l">
              <a:spcBef>
                <a:spcPts val="0"/>
              </a:spcBef>
              <a:spcAft>
                <a:spcPts val="0"/>
              </a:spcAft>
              <a:buClr>
                <a:schemeClr val="dk1"/>
              </a:buClr>
              <a:buSzPts val="1100"/>
              <a:buFont typeface="Noto Sans Symbols"/>
              <a:buChar char="▪"/>
            </a:pPr>
            <a:r>
              <a:rPr b="1" lang="de" sz="1100">
                <a:solidFill>
                  <a:schemeClr val="dk1"/>
                </a:solidFill>
                <a:latin typeface="Arial"/>
                <a:ea typeface="Arial"/>
                <a:cs typeface="Arial"/>
                <a:sym typeface="Arial"/>
              </a:rPr>
              <a:t>Über 100 Lernkurse in CloudSkillBoost </a:t>
            </a:r>
            <a:endParaRPr sz="1100"/>
          </a:p>
          <a:p>
            <a:pPr indent="-63500" lvl="0" marL="127000" marR="0" rtl="0" algn="l">
              <a:spcBef>
                <a:spcPts val="0"/>
              </a:spcBef>
              <a:spcAft>
                <a:spcPts val="0"/>
              </a:spcAft>
              <a:buClr>
                <a:schemeClr val="dk1"/>
              </a:buClr>
              <a:buSzPts val="1100"/>
              <a:buFont typeface="Noto Sans Symbols"/>
              <a:buNone/>
            </a:pPr>
            <a:r>
              <a:t/>
            </a:r>
            <a:endParaRPr b="1" sz="1100">
              <a:solidFill>
                <a:schemeClr val="dk1"/>
              </a:solidFill>
              <a:latin typeface="Arial"/>
              <a:ea typeface="Arial"/>
              <a:cs typeface="Arial"/>
              <a:sym typeface="Arial"/>
            </a:endParaRPr>
          </a:p>
          <a:p>
            <a:pPr indent="-133350" lvl="0" marL="127000" marR="0" rtl="0" algn="l">
              <a:spcBef>
                <a:spcPts val="0"/>
              </a:spcBef>
              <a:spcAft>
                <a:spcPts val="0"/>
              </a:spcAft>
              <a:buClr>
                <a:schemeClr val="dk1"/>
              </a:buClr>
              <a:buSzPts val="1100"/>
              <a:buFont typeface="Noto Sans Symbols"/>
              <a:buChar char="▪"/>
            </a:pPr>
            <a:r>
              <a:rPr b="1" lang="de" sz="1100">
                <a:solidFill>
                  <a:schemeClr val="dk1"/>
                </a:solidFill>
                <a:latin typeface="Arial"/>
                <a:ea typeface="Arial"/>
                <a:cs typeface="Arial"/>
                <a:sym typeface="Arial"/>
              </a:rPr>
              <a:t>Viele Beispiele in GCS</a:t>
            </a:r>
            <a:r>
              <a:rPr b="1" lang="de" sz="1100">
                <a:solidFill>
                  <a:schemeClr val="dk1"/>
                </a:solidFill>
              </a:rPr>
              <a:t>B</a:t>
            </a:r>
            <a:r>
              <a:rPr b="1" lang="de" sz="1100">
                <a:solidFill>
                  <a:schemeClr val="dk1"/>
                </a:solidFill>
                <a:latin typeface="Arial"/>
                <a:ea typeface="Arial"/>
                <a:cs typeface="Arial"/>
                <a:sym typeface="Arial"/>
              </a:rPr>
              <a:t>, Colab und der Community</a:t>
            </a:r>
            <a:endParaRPr sz="1100"/>
          </a:p>
          <a:p>
            <a:pPr indent="0" lvl="0" marL="0" marR="0" rtl="0" algn="l">
              <a:spcBef>
                <a:spcPts val="0"/>
              </a:spcBef>
              <a:spcAft>
                <a:spcPts val="0"/>
              </a:spcAft>
              <a:buClr>
                <a:schemeClr val="dk1"/>
              </a:buClr>
              <a:buSzPts val="900"/>
              <a:buFont typeface="Georgia"/>
              <a:buNone/>
            </a:pPr>
            <a:r>
              <a:t/>
            </a:r>
            <a:endParaRPr sz="900">
              <a:solidFill>
                <a:schemeClr val="dk1"/>
              </a:solidFill>
              <a:latin typeface="Arial"/>
              <a:ea typeface="Arial"/>
              <a:cs typeface="Arial"/>
              <a:sym typeface="Arial"/>
            </a:endParaRPr>
          </a:p>
          <a:p>
            <a:pPr indent="-209550" lvl="0" marL="215900" marR="0" rtl="0" algn="l">
              <a:spcBef>
                <a:spcPts val="0"/>
              </a:spcBef>
              <a:spcAft>
                <a:spcPts val="0"/>
              </a:spcAft>
              <a:buClr>
                <a:schemeClr val="dk1"/>
              </a:buClr>
              <a:buSzPts val="900"/>
              <a:buFont typeface="Noto Sans Symbols"/>
              <a:buChar char="▪"/>
            </a:pPr>
            <a:r>
              <a:rPr b="1" lang="de" sz="900">
                <a:solidFill>
                  <a:schemeClr val="dk1"/>
                </a:solidFill>
                <a:latin typeface="Arial"/>
                <a:ea typeface="Arial"/>
                <a:cs typeface="Arial"/>
                <a:sym typeface="Arial"/>
              </a:rPr>
              <a:t>Erste Schritte mit Vertex AI Studio </a:t>
            </a:r>
            <a:r>
              <a:rPr lang="de" sz="700" u="sng">
                <a:solidFill>
                  <a:schemeClr val="hlink"/>
                </a:solidFill>
                <a:latin typeface="Arial"/>
                <a:ea typeface="Arial"/>
                <a:cs typeface="Arial"/>
                <a:sym typeface="Arial"/>
                <a:hlinkClick r:id="rId3"/>
              </a:rPr>
              <a:t>https://www.cloudskillsboost.google/focuses/86502?parent=catalog</a:t>
            </a:r>
            <a:endParaRPr sz="700">
              <a:solidFill>
                <a:schemeClr val="dk1"/>
              </a:solidFill>
              <a:latin typeface="Arial"/>
              <a:ea typeface="Arial"/>
              <a:cs typeface="Arial"/>
              <a:sym typeface="Arial"/>
            </a:endParaRPr>
          </a:p>
          <a:p>
            <a:pPr indent="-152400" lvl="0" marL="215900" marR="0" rtl="0" algn="l">
              <a:spcBef>
                <a:spcPts val="0"/>
              </a:spcBef>
              <a:spcAft>
                <a:spcPts val="0"/>
              </a:spcAft>
              <a:buClr>
                <a:schemeClr val="dk1"/>
              </a:buClr>
              <a:buSzPts val="900"/>
              <a:buFont typeface="Noto Sans Symbols"/>
              <a:buNone/>
            </a:pPr>
            <a:r>
              <a:t/>
            </a:r>
            <a:endParaRPr sz="900">
              <a:solidFill>
                <a:schemeClr val="dk1"/>
              </a:solidFill>
              <a:latin typeface="Arial"/>
              <a:ea typeface="Arial"/>
              <a:cs typeface="Arial"/>
              <a:sym typeface="Arial"/>
            </a:endParaRPr>
          </a:p>
          <a:p>
            <a:pPr indent="-209550" lvl="0" marL="215900" marR="0" rtl="0" algn="l">
              <a:spcBef>
                <a:spcPts val="0"/>
              </a:spcBef>
              <a:spcAft>
                <a:spcPts val="0"/>
              </a:spcAft>
              <a:buClr>
                <a:schemeClr val="dk1"/>
              </a:buClr>
              <a:buSzPts val="900"/>
              <a:buFont typeface="Noto Sans Symbols"/>
              <a:buChar char="▪"/>
            </a:pPr>
            <a:r>
              <a:rPr b="1" lang="de" sz="900">
                <a:solidFill>
                  <a:schemeClr val="dk1"/>
                </a:solidFill>
                <a:latin typeface="Arial"/>
                <a:ea typeface="Arial"/>
                <a:cs typeface="Arial"/>
                <a:sym typeface="Arial"/>
              </a:rPr>
              <a:t>Vertex AI Gemini API und Python SDK</a:t>
            </a:r>
            <a:r>
              <a:rPr lang="de" sz="900">
                <a:solidFill>
                  <a:schemeClr val="dk1"/>
                </a:solidFill>
                <a:latin typeface="Arial"/>
                <a:ea typeface="Arial"/>
                <a:cs typeface="Arial"/>
                <a:sym typeface="Arial"/>
              </a:rPr>
              <a:t> </a:t>
            </a:r>
            <a:r>
              <a:rPr lang="de" sz="700" u="sng">
                <a:solidFill>
                  <a:schemeClr val="hlink"/>
                </a:solidFill>
                <a:latin typeface="Arial"/>
                <a:ea typeface="Arial"/>
                <a:cs typeface="Arial"/>
                <a:sym typeface="Arial"/>
                <a:hlinkClick r:id="rId4"/>
              </a:rPr>
              <a:t>https://www.cloudskillsboost.google/focuses/86503?parent=catalog</a:t>
            </a:r>
            <a:endParaRPr sz="700">
              <a:solidFill>
                <a:schemeClr val="dk1"/>
              </a:solidFill>
              <a:latin typeface="Arial"/>
              <a:ea typeface="Arial"/>
              <a:cs typeface="Arial"/>
              <a:sym typeface="Arial"/>
            </a:endParaRPr>
          </a:p>
          <a:p>
            <a:pPr indent="0" lvl="0" marL="0" marR="0" rtl="0" algn="l">
              <a:spcBef>
                <a:spcPts val="0"/>
              </a:spcBef>
              <a:spcAft>
                <a:spcPts val="0"/>
              </a:spcAft>
              <a:buNone/>
            </a:pPr>
            <a:r>
              <a:t/>
            </a:r>
            <a:endParaRPr sz="900">
              <a:solidFill>
                <a:schemeClr val="dk1"/>
              </a:solidFill>
              <a:latin typeface="Arial"/>
              <a:ea typeface="Arial"/>
              <a:cs typeface="Arial"/>
              <a:sym typeface="Arial"/>
            </a:endParaRPr>
          </a:p>
          <a:p>
            <a:pPr indent="-209550" lvl="0" marL="215900" marR="0" rtl="0" algn="l">
              <a:spcBef>
                <a:spcPts val="0"/>
              </a:spcBef>
              <a:spcAft>
                <a:spcPts val="0"/>
              </a:spcAft>
              <a:buClr>
                <a:schemeClr val="dk1"/>
              </a:buClr>
              <a:buSzPts val="900"/>
              <a:buFont typeface="Noto Sans Symbols"/>
              <a:buChar char="▪"/>
            </a:pPr>
            <a:r>
              <a:rPr b="1" lang="de" sz="900">
                <a:solidFill>
                  <a:schemeClr val="dk1"/>
                </a:solidFill>
                <a:latin typeface="Arial"/>
                <a:ea typeface="Arial"/>
                <a:cs typeface="Arial"/>
                <a:sym typeface="Arial"/>
              </a:rPr>
              <a:t>Vertex Pipelines </a:t>
            </a:r>
            <a:endParaRPr b="1" sz="900">
              <a:solidFill>
                <a:schemeClr val="dk1"/>
              </a:solidFill>
              <a:latin typeface="Arial"/>
              <a:ea typeface="Arial"/>
              <a:cs typeface="Arial"/>
              <a:sym typeface="Arial"/>
            </a:endParaRPr>
          </a:p>
          <a:p>
            <a:pPr indent="224999" lvl="0" marL="0" marR="0" rtl="0" algn="l">
              <a:spcBef>
                <a:spcPts val="0"/>
              </a:spcBef>
              <a:spcAft>
                <a:spcPts val="0"/>
              </a:spcAft>
              <a:buNone/>
            </a:pPr>
            <a:r>
              <a:rPr lang="de" sz="700" u="sng">
                <a:solidFill>
                  <a:schemeClr val="hlink"/>
                </a:solidFill>
                <a:latin typeface="Arial"/>
                <a:ea typeface="Arial"/>
                <a:cs typeface="Arial"/>
                <a:sym typeface="Arial"/>
                <a:hlinkClick r:id="rId5"/>
              </a:rPr>
              <a:t>https://www.cloudskillsboost.google/focuses/21234?parent=catalog</a:t>
            </a:r>
            <a:endParaRPr sz="700">
              <a:solidFill>
                <a:schemeClr val="dk1"/>
              </a:solidFill>
              <a:latin typeface="Arial"/>
              <a:ea typeface="Arial"/>
              <a:cs typeface="Arial"/>
              <a:sym typeface="Arial"/>
            </a:endParaRPr>
          </a:p>
          <a:p>
            <a:pPr indent="-152400" lvl="0" marL="215900" marR="0" rtl="0" algn="l">
              <a:spcBef>
                <a:spcPts val="0"/>
              </a:spcBef>
              <a:spcAft>
                <a:spcPts val="0"/>
              </a:spcAft>
              <a:buClr>
                <a:schemeClr val="dk1"/>
              </a:buClr>
              <a:buSzPts val="900"/>
              <a:buFont typeface="Noto Sans Symbols"/>
              <a:buNone/>
            </a:pPr>
            <a:r>
              <a:t/>
            </a:r>
            <a:endParaRPr sz="900">
              <a:solidFill>
                <a:schemeClr val="dk1"/>
              </a:solidFill>
              <a:latin typeface="Arial"/>
              <a:ea typeface="Arial"/>
              <a:cs typeface="Arial"/>
              <a:sym typeface="Arial"/>
            </a:endParaRPr>
          </a:p>
          <a:p>
            <a:pPr indent="-209550" lvl="0" marL="215900" marR="0" rtl="0" algn="l">
              <a:spcBef>
                <a:spcPts val="0"/>
              </a:spcBef>
              <a:spcAft>
                <a:spcPts val="0"/>
              </a:spcAft>
              <a:buClr>
                <a:schemeClr val="dk1"/>
              </a:buClr>
              <a:buSzPts val="900"/>
              <a:buFont typeface="Noto Sans Symbols"/>
              <a:buChar char="▪"/>
            </a:pPr>
            <a:r>
              <a:rPr b="1" lang="de" sz="900">
                <a:solidFill>
                  <a:schemeClr val="dk1"/>
                </a:solidFill>
                <a:latin typeface="Arial"/>
                <a:ea typeface="Arial"/>
                <a:cs typeface="Arial"/>
                <a:sym typeface="Arial"/>
              </a:rPr>
              <a:t>Gemini-Modelle in Vertex AI fundieren </a:t>
            </a:r>
            <a:r>
              <a:rPr b="0" lang="de" sz="700" u="sng">
                <a:solidFill>
                  <a:schemeClr val="hlink"/>
                </a:solidFill>
                <a:latin typeface="Arial"/>
                <a:ea typeface="Arial"/>
                <a:cs typeface="Arial"/>
                <a:sym typeface="Arial"/>
                <a:hlinkClick r:id="rId6"/>
              </a:rPr>
              <a:t>https://www.cloudskillsboost.google/focuses/104690?</a:t>
            </a:r>
            <a:r>
              <a:rPr lang="de" sz="700" u="sng">
                <a:solidFill>
                  <a:schemeClr val="hlink"/>
                </a:solidFill>
                <a:latin typeface="Arial"/>
                <a:ea typeface="Arial"/>
                <a:cs typeface="Arial"/>
                <a:sym typeface="Arial"/>
                <a:hlinkClick r:id="rId7"/>
              </a:rPr>
              <a:t>parent=catalog</a:t>
            </a:r>
            <a:endParaRPr sz="700">
              <a:solidFill>
                <a:schemeClr val="dk1"/>
              </a:solidFill>
              <a:latin typeface="Arial"/>
              <a:ea typeface="Arial"/>
              <a:cs typeface="Arial"/>
              <a:sym typeface="Arial"/>
            </a:endParaRPr>
          </a:p>
          <a:p>
            <a:pPr indent="-152400" lvl="0" marL="215900" marR="0" rtl="0" algn="l">
              <a:spcBef>
                <a:spcPts val="0"/>
              </a:spcBef>
              <a:spcAft>
                <a:spcPts val="0"/>
              </a:spcAft>
              <a:buClr>
                <a:schemeClr val="dk1"/>
              </a:buClr>
              <a:buSzPts val="900"/>
              <a:buFont typeface="Noto Sans Symbols"/>
              <a:buNone/>
            </a:pPr>
            <a:r>
              <a:t/>
            </a:r>
            <a:endParaRPr sz="900">
              <a:solidFill>
                <a:schemeClr val="dk1"/>
              </a:solidFill>
              <a:latin typeface="Arial"/>
              <a:ea typeface="Arial"/>
              <a:cs typeface="Arial"/>
              <a:sym typeface="Arial"/>
            </a:endParaRPr>
          </a:p>
          <a:p>
            <a:pPr indent="-209550" lvl="0" marL="215900" marR="0" rtl="0" algn="l">
              <a:spcBef>
                <a:spcPts val="0"/>
              </a:spcBef>
              <a:spcAft>
                <a:spcPts val="0"/>
              </a:spcAft>
              <a:buClr>
                <a:schemeClr val="dk1"/>
              </a:buClr>
              <a:buSzPts val="900"/>
              <a:buFont typeface="Noto Sans Symbols"/>
              <a:buChar char="▪"/>
            </a:pPr>
            <a:r>
              <a:rPr b="1" lang="de" sz="900">
                <a:solidFill>
                  <a:schemeClr val="dk1"/>
                </a:solidFill>
                <a:latin typeface="Arial"/>
                <a:ea typeface="Arial"/>
                <a:cs typeface="Arial"/>
                <a:sym typeface="Arial"/>
              </a:rPr>
              <a:t>Video Intelligence </a:t>
            </a:r>
            <a:endParaRPr b="1" sz="900">
              <a:solidFill>
                <a:schemeClr val="dk1"/>
              </a:solidFill>
              <a:latin typeface="Arial"/>
              <a:ea typeface="Arial"/>
              <a:cs typeface="Arial"/>
              <a:sym typeface="Arial"/>
            </a:endParaRPr>
          </a:p>
          <a:p>
            <a:pPr indent="-232200" lvl="0" marL="457200" marR="0" rtl="0" algn="l">
              <a:spcBef>
                <a:spcPts val="0"/>
              </a:spcBef>
              <a:spcAft>
                <a:spcPts val="0"/>
              </a:spcAft>
              <a:buNone/>
            </a:pPr>
            <a:r>
              <a:rPr lang="de" sz="700" u="sng">
                <a:solidFill>
                  <a:schemeClr val="hlink"/>
                </a:solidFill>
                <a:latin typeface="Arial"/>
                <a:ea typeface="Arial"/>
                <a:cs typeface="Arial"/>
                <a:sym typeface="Arial"/>
                <a:hlinkClick r:id="rId8"/>
              </a:rPr>
              <a:t>https://www.cloudskillsboost.google/focuses/603?locale=de&amp;parent=catalog</a:t>
            </a:r>
            <a:endParaRPr sz="700">
              <a:solidFill>
                <a:schemeClr val="dk1"/>
              </a:solidFill>
              <a:latin typeface="Arial"/>
              <a:ea typeface="Arial"/>
              <a:cs typeface="Arial"/>
              <a:sym typeface="Arial"/>
            </a:endParaRPr>
          </a:p>
          <a:p>
            <a:pPr indent="-152400" lvl="0" marL="215900" marR="0" rtl="0" algn="l">
              <a:spcBef>
                <a:spcPts val="0"/>
              </a:spcBef>
              <a:spcAft>
                <a:spcPts val="0"/>
              </a:spcAft>
              <a:buClr>
                <a:schemeClr val="dk1"/>
              </a:buClr>
              <a:buSzPts val="900"/>
              <a:buFont typeface="Noto Sans Symbols"/>
              <a:buNone/>
            </a:pPr>
            <a:r>
              <a:t/>
            </a:r>
            <a:endParaRPr sz="900">
              <a:solidFill>
                <a:schemeClr val="dk1"/>
              </a:solidFill>
              <a:latin typeface="Arial"/>
              <a:ea typeface="Arial"/>
              <a:cs typeface="Arial"/>
              <a:sym typeface="Arial"/>
            </a:endParaRPr>
          </a:p>
          <a:p>
            <a:pPr indent="-209550" lvl="0" marL="215900" marR="0" rtl="0" algn="l">
              <a:spcBef>
                <a:spcPts val="0"/>
              </a:spcBef>
              <a:spcAft>
                <a:spcPts val="0"/>
              </a:spcAft>
              <a:buClr>
                <a:schemeClr val="dk1"/>
              </a:buClr>
              <a:buSzPts val="900"/>
              <a:buFont typeface="Noto Sans Symbols"/>
              <a:buChar char="▪"/>
            </a:pPr>
            <a:r>
              <a:rPr b="1" lang="de" sz="900">
                <a:solidFill>
                  <a:schemeClr val="dk1"/>
                </a:solidFill>
                <a:latin typeface="Arial"/>
                <a:ea typeface="Arial"/>
                <a:cs typeface="Arial"/>
                <a:sym typeface="Arial"/>
              </a:rPr>
              <a:t>YouTube-Videoanalyse mit Gemini </a:t>
            </a:r>
            <a:r>
              <a:rPr lang="de" sz="700" u="sng">
                <a:solidFill>
                  <a:schemeClr val="hlink"/>
                </a:solidFill>
                <a:latin typeface="Arial"/>
                <a:ea typeface="Arial"/>
                <a:cs typeface="Arial"/>
                <a:sym typeface="Arial"/>
                <a:hlinkClick r:id="rId9"/>
              </a:rPr>
              <a:t>https://www.cloudskillsboost.google/focuses/109489</a:t>
            </a:r>
            <a:r>
              <a:rPr b="0" lang="de" sz="700" u="sng">
                <a:solidFill>
                  <a:schemeClr val="hlink"/>
                </a:solidFill>
                <a:latin typeface="Arial"/>
                <a:ea typeface="Arial"/>
                <a:cs typeface="Arial"/>
                <a:sym typeface="Arial"/>
                <a:hlinkClick r:id="rId10"/>
              </a:rPr>
              <a:t>?</a:t>
            </a:r>
            <a:r>
              <a:rPr lang="de" sz="700" u="sng">
                <a:solidFill>
                  <a:schemeClr val="hlink"/>
                </a:solidFill>
                <a:latin typeface="Arial"/>
                <a:ea typeface="Arial"/>
                <a:cs typeface="Arial"/>
                <a:sym typeface="Arial"/>
                <a:hlinkClick r:id="rId11"/>
              </a:rPr>
              <a:t>parent=catalog</a:t>
            </a:r>
            <a:endParaRPr sz="700">
              <a:solidFill>
                <a:schemeClr val="dk1"/>
              </a:solidFill>
              <a:latin typeface="Arial"/>
              <a:ea typeface="Arial"/>
              <a:cs typeface="Arial"/>
              <a:sym typeface="Arial"/>
            </a:endParaRPr>
          </a:p>
          <a:p>
            <a:pPr indent="-152400" lvl="0" marL="215900" marR="0" rtl="0" algn="l">
              <a:spcBef>
                <a:spcPts val="0"/>
              </a:spcBef>
              <a:spcAft>
                <a:spcPts val="0"/>
              </a:spcAft>
              <a:buClr>
                <a:schemeClr val="dk1"/>
              </a:buClr>
              <a:buSzPts val="900"/>
              <a:buFont typeface="Noto Sans Symbols"/>
              <a:buNone/>
            </a:pPr>
            <a:r>
              <a:t/>
            </a:r>
            <a:endParaRPr sz="900">
              <a:solidFill>
                <a:schemeClr val="dk1"/>
              </a:solidFill>
            </a:endParaRPr>
          </a:p>
          <a:p>
            <a:pPr indent="-192149" lvl="0" marL="224999" marR="0" rtl="0" algn="l">
              <a:spcBef>
                <a:spcPts val="0"/>
              </a:spcBef>
              <a:spcAft>
                <a:spcPts val="0"/>
              </a:spcAft>
              <a:buClr>
                <a:schemeClr val="dk1"/>
              </a:buClr>
              <a:buSzPts val="900"/>
              <a:buChar char="●"/>
            </a:pPr>
            <a:r>
              <a:rPr b="1" lang="de" sz="900">
                <a:solidFill>
                  <a:schemeClr val="dk1"/>
                </a:solidFill>
              </a:rPr>
              <a:t>Gemini 1.5 Pro Beispiele</a:t>
            </a:r>
            <a:endParaRPr sz="900">
              <a:solidFill>
                <a:schemeClr val="dk1"/>
              </a:solidFill>
            </a:endParaRPr>
          </a:p>
          <a:p>
            <a:pPr indent="0" lvl="0" marL="224999" marR="0" rtl="0" algn="l">
              <a:spcBef>
                <a:spcPts val="0"/>
              </a:spcBef>
              <a:spcAft>
                <a:spcPts val="0"/>
              </a:spcAft>
              <a:buNone/>
            </a:pPr>
            <a:r>
              <a:rPr lang="de" sz="700" u="sng">
                <a:solidFill>
                  <a:schemeClr val="hlink"/>
                </a:solidFill>
                <a:hlinkClick r:id="rId12"/>
              </a:rPr>
              <a:t>https://console.cloud.google.com/vertex-ai/publishers/google/model-garden/gemini-1.5-pro-002?hl=de&amp;inv=1&amp;invt=AbwOaw</a:t>
            </a:r>
            <a:r>
              <a:rPr lang="de" sz="700">
                <a:solidFill>
                  <a:schemeClr val="dk1"/>
                </a:solidFill>
              </a:rPr>
              <a:t> </a:t>
            </a:r>
            <a:endParaRPr sz="700">
              <a:solidFill>
                <a:schemeClr val="dk1"/>
              </a:solidFill>
              <a:latin typeface="Arial"/>
              <a:ea typeface="Arial"/>
              <a:cs typeface="Arial"/>
              <a:sym typeface="Arial"/>
            </a:endParaRPr>
          </a:p>
        </p:txBody>
      </p:sp>
      <p:sp>
        <p:nvSpPr>
          <p:cNvPr id="436" name="Google Shape;436;p41"/>
          <p:cNvSpPr txBox="1"/>
          <p:nvPr/>
        </p:nvSpPr>
        <p:spPr>
          <a:xfrm>
            <a:off x="4985313" y="4098700"/>
            <a:ext cx="399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700"/>
              <a:t>Quelle: </a:t>
            </a:r>
            <a:r>
              <a:rPr lang="de" sz="700" u="sng">
                <a:solidFill>
                  <a:schemeClr val="hlink"/>
                </a:solidFill>
                <a:hlinkClick r:id="rId13"/>
              </a:rPr>
              <a:t>https://console.cloud.google.com/vertex-ai/publishers/google/model-garden/gemini-1.5-pro-002?hl=de&amp;inv=1&amp;invt=AbwOaw</a:t>
            </a:r>
            <a:endParaRPr sz="700"/>
          </a:p>
          <a:p>
            <a:pPr indent="0" lvl="0" marL="0" rtl="0" algn="l">
              <a:spcBef>
                <a:spcPts val="0"/>
              </a:spcBef>
              <a:spcAft>
                <a:spcPts val="0"/>
              </a:spcAft>
              <a:buNone/>
            </a:pPr>
            <a:r>
              <a:t/>
            </a:r>
            <a:endParaRPr sz="700"/>
          </a:p>
        </p:txBody>
      </p:sp>
      <p:pic>
        <p:nvPicPr>
          <p:cNvPr id="437" name="Google Shape;437;p41"/>
          <p:cNvPicPr preferRelativeResize="0"/>
          <p:nvPr/>
        </p:nvPicPr>
        <p:blipFill>
          <a:blip r:embed="rId14">
            <a:alphaModFix/>
          </a:blip>
          <a:stretch>
            <a:fillRect/>
          </a:stretch>
        </p:blipFill>
        <p:spPr>
          <a:xfrm>
            <a:off x="4978025" y="1110350"/>
            <a:ext cx="4013576" cy="292281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42"/>
          <p:cNvSpPr/>
          <p:nvPr/>
        </p:nvSpPr>
        <p:spPr>
          <a:xfrm>
            <a:off x="542925" y="1370475"/>
            <a:ext cx="3543600" cy="3434100"/>
          </a:xfrm>
          <a:prstGeom prst="rect">
            <a:avLst/>
          </a:prstGeom>
          <a:solidFill>
            <a:srgbClr val="438086">
              <a:alpha val="16860"/>
            </a:srgbClr>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443" name="Google Shape;443;p42"/>
          <p:cNvSpPr/>
          <p:nvPr/>
        </p:nvSpPr>
        <p:spPr>
          <a:xfrm>
            <a:off x="4284000" y="1370475"/>
            <a:ext cx="4317000" cy="1680300"/>
          </a:xfrm>
          <a:prstGeom prst="rect">
            <a:avLst/>
          </a:prstGeom>
          <a:solidFill>
            <a:srgbClr val="438086">
              <a:alpha val="16860"/>
            </a:srgbClr>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sp>
        <p:nvSpPr>
          <p:cNvPr id="444" name="Google Shape;444;p42"/>
          <p:cNvSpPr txBox="1"/>
          <p:nvPr>
            <p:ph idx="1" type="body"/>
          </p:nvPr>
        </p:nvSpPr>
        <p:spPr>
          <a:xfrm>
            <a:off x="622950" y="1469900"/>
            <a:ext cx="3491700" cy="3243900"/>
          </a:xfrm>
          <a:prstGeom prst="rect">
            <a:avLst/>
          </a:prstGeom>
        </p:spPr>
        <p:txBody>
          <a:bodyPr anchorCtr="0" anchor="t" bIns="34275" lIns="68575" spcFirstLastPara="1" rIns="68575" wrap="square" tIns="34275">
            <a:normAutofit lnSpcReduction="20000"/>
          </a:bodyPr>
          <a:lstStyle/>
          <a:p>
            <a:pPr indent="0" lvl="0" marL="0" rtl="0" algn="l">
              <a:lnSpc>
                <a:spcPct val="150000"/>
              </a:lnSpc>
              <a:spcBef>
                <a:spcPts val="0"/>
              </a:spcBef>
              <a:spcAft>
                <a:spcPts val="0"/>
              </a:spcAft>
              <a:buNone/>
            </a:pPr>
            <a:r>
              <a:rPr b="1" lang="de" sz="1100">
                <a:latin typeface="Arial"/>
                <a:ea typeface="Arial"/>
                <a:cs typeface="Arial"/>
                <a:sym typeface="Arial"/>
              </a:rPr>
              <a:t>Vertex AI mit Gemini 2.5 Pro (mit Audio)</a:t>
            </a:r>
            <a:endParaRPr b="1" sz="1100">
              <a:latin typeface="Arial"/>
              <a:ea typeface="Arial"/>
              <a:cs typeface="Arial"/>
              <a:sym typeface="Arial"/>
            </a:endParaRPr>
          </a:p>
          <a:p>
            <a:pPr indent="-273050" lvl="0" marL="457200" rtl="0" algn="l">
              <a:lnSpc>
                <a:spcPct val="150000"/>
              </a:lnSpc>
              <a:spcBef>
                <a:spcPts val="1200"/>
              </a:spcBef>
              <a:spcAft>
                <a:spcPts val="0"/>
              </a:spcAft>
              <a:buClr>
                <a:schemeClr val="dk1"/>
              </a:buClr>
              <a:buSzPts val="700"/>
              <a:buFont typeface="Arial"/>
              <a:buChar char="●"/>
            </a:pPr>
            <a:r>
              <a:rPr b="1" lang="de" sz="700">
                <a:latin typeface="Arial"/>
                <a:ea typeface="Arial"/>
                <a:cs typeface="Arial"/>
                <a:sym typeface="Arial"/>
              </a:rPr>
              <a:t>Cloud Storage Kosten</a:t>
            </a:r>
            <a:r>
              <a:rPr lang="de" sz="700">
                <a:latin typeface="Arial"/>
                <a:ea typeface="Arial"/>
                <a:cs typeface="Arial"/>
                <a:sym typeface="Arial"/>
              </a:rPr>
              <a:t> (nur Speicherung): ca. </a:t>
            </a:r>
            <a:r>
              <a:rPr b="1" lang="de" sz="700">
                <a:latin typeface="Arial"/>
                <a:ea typeface="Arial"/>
                <a:cs typeface="Arial"/>
                <a:sym typeface="Arial"/>
              </a:rPr>
              <a:t>$0.026/GB</a:t>
            </a:r>
            <a:r>
              <a:rPr lang="de" sz="700">
                <a:latin typeface="Arial"/>
                <a:ea typeface="Arial"/>
                <a:cs typeface="Arial"/>
                <a:sym typeface="Arial"/>
              </a:rPr>
              <a:t> → ~</a:t>
            </a:r>
            <a:r>
              <a:rPr b="1" lang="de" sz="700">
                <a:latin typeface="Arial"/>
                <a:ea typeface="Arial"/>
                <a:cs typeface="Arial"/>
                <a:sym typeface="Arial"/>
              </a:rPr>
              <a:t>$0.03</a:t>
            </a:r>
            <a:endParaRPr b="1" sz="700">
              <a:latin typeface="Arial"/>
              <a:ea typeface="Arial"/>
              <a:cs typeface="Arial"/>
              <a:sym typeface="Arial"/>
            </a:endParaRPr>
          </a:p>
          <a:p>
            <a:pPr indent="-273050" lvl="0" marL="457200" rtl="0" algn="l">
              <a:lnSpc>
                <a:spcPct val="150000"/>
              </a:lnSpc>
              <a:spcBef>
                <a:spcPts val="1200"/>
              </a:spcBef>
              <a:spcAft>
                <a:spcPts val="0"/>
              </a:spcAft>
              <a:buClr>
                <a:schemeClr val="dk1"/>
              </a:buClr>
              <a:buSzPts val="700"/>
              <a:buFont typeface="Arial"/>
              <a:buChar char="●"/>
            </a:pPr>
            <a:r>
              <a:rPr b="1" lang="de" sz="700">
                <a:latin typeface="Arial"/>
                <a:ea typeface="Arial"/>
                <a:cs typeface="Arial"/>
                <a:sym typeface="Arial"/>
              </a:rPr>
              <a:t>Datentransfer: </a:t>
            </a:r>
            <a:r>
              <a:rPr lang="de" sz="700">
                <a:latin typeface="Arial"/>
                <a:ea typeface="Arial"/>
                <a:cs typeface="Arial"/>
                <a:sym typeface="Arial"/>
              </a:rPr>
              <a:t> $0.0085 pro GB × 2 (Upload + Nutzung) → </a:t>
            </a:r>
            <a:r>
              <a:rPr b="1" lang="de" sz="700">
                <a:latin typeface="Arial"/>
                <a:ea typeface="Arial"/>
                <a:cs typeface="Arial"/>
                <a:sym typeface="Arial"/>
              </a:rPr>
              <a:t>$0.017</a:t>
            </a:r>
            <a:endParaRPr b="1" sz="700">
              <a:latin typeface="Arial"/>
              <a:ea typeface="Arial"/>
              <a:cs typeface="Arial"/>
              <a:sym typeface="Arial"/>
            </a:endParaRPr>
          </a:p>
          <a:p>
            <a:pPr indent="-273050" lvl="0" marL="457200" rtl="0" algn="l">
              <a:lnSpc>
                <a:spcPct val="150000"/>
              </a:lnSpc>
              <a:spcBef>
                <a:spcPts val="1000"/>
              </a:spcBef>
              <a:spcAft>
                <a:spcPts val="0"/>
              </a:spcAft>
              <a:buClr>
                <a:schemeClr val="dk1"/>
              </a:buClr>
              <a:buSzPts val="700"/>
              <a:buFont typeface="Arial"/>
              <a:buChar char="●"/>
            </a:pPr>
            <a:r>
              <a:rPr b="1" lang="de" sz="700">
                <a:latin typeface="Arial"/>
                <a:ea typeface="Arial"/>
                <a:cs typeface="Arial"/>
                <a:sym typeface="Arial"/>
              </a:rPr>
              <a:t>Gemini 2.5 Pro – Video als Input</a:t>
            </a:r>
            <a:endParaRPr b="1" sz="700">
              <a:latin typeface="Arial"/>
              <a:ea typeface="Arial"/>
              <a:cs typeface="Arial"/>
              <a:sym typeface="Arial"/>
            </a:endParaRPr>
          </a:p>
          <a:p>
            <a:pPr indent="0" lvl="0" marL="457200" rtl="0" algn="l">
              <a:lnSpc>
                <a:spcPct val="150000"/>
              </a:lnSpc>
              <a:spcBef>
                <a:spcPts val="0"/>
              </a:spcBef>
              <a:spcAft>
                <a:spcPts val="0"/>
              </a:spcAft>
              <a:buNone/>
            </a:pPr>
            <a:r>
              <a:rPr lang="de" sz="700">
                <a:latin typeface="Arial"/>
                <a:ea typeface="Arial"/>
                <a:cs typeface="Arial"/>
                <a:sym typeface="Arial"/>
              </a:rPr>
              <a:t>(Video, 120 Min. @1GB = geschätzt ~1M Tokens):</a:t>
            </a:r>
            <a:br>
              <a:rPr lang="de" sz="700">
                <a:latin typeface="Arial"/>
                <a:ea typeface="Arial"/>
                <a:cs typeface="Arial"/>
                <a:sym typeface="Arial"/>
              </a:rPr>
            </a:br>
            <a:r>
              <a:rPr lang="de" sz="700">
                <a:latin typeface="Arial"/>
                <a:ea typeface="Arial"/>
                <a:cs typeface="Arial"/>
                <a:sym typeface="Arial"/>
              </a:rPr>
              <a:t> </a:t>
            </a:r>
            <a:r>
              <a:rPr lang="de" sz="700">
                <a:latin typeface="Arial"/>
                <a:ea typeface="Arial"/>
                <a:cs typeface="Arial"/>
                <a:sym typeface="Arial"/>
              </a:rPr>
              <a:t>→ </a:t>
            </a:r>
            <a:r>
              <a:rPr b="1" lang="de" sz="700">
                <a:latin typeface="Arial"/>
                <a:ea typeface="Arial"/>
                <a:cs typeface="Arial"/>
                <a:sym typeface="Arial"/>
              </a:rPr>
              <a:t>$1.25</a:t>
            </a:r>
            <a:r>
              <a:rPr lang="de" sz="700">
                <a:latin typeface="Arial"/>
                <a:ea typeface="Arial"/>
                <a:cs typeface="Arial"/>
                <a:sym typeface="Arial"/>
              </a:rPr>
              <a:t> pro 1 Mio. Tokens Eingabe</a:t>
            </a:r>
            <a:endParaRPr sz="700">
              <a:latin typeface="Arial"/>
              <a:ea typeface="Arial"/>
              <a:cs typeface="Arial"/>
              <a:sym typeface="Arial"/>
            </a:endParaRPr>
          </a:p>
          <a:p>
            <a:pPr indent="-273050" lvl="0" marL="457200" rtl="0" algn="l">
              <a:lnSpc>
                <a:spcPct val="150000"/>
              </a:lnSpc>
              <a:spcBef>
                <a:spcPts val="1200"/>
              </a:spcBef>
              <a:spcAft>
                <a:spcPts val="0"/>
              </a:spcAft>
              <a:buClr>
                <a:schemeClr val="dk1"/>
              </a:buClr>
              <a:buSzPts val="700"/>
              <a:buFont typeface="Arial"/>
              <a:buChar char="●"/>
            </a:pPr>
            <a:r>
              <a:rPr b="1" lang="de" sz="700">
                <a:latin typeface="Arial"/>
                <a:ea typeface="Arial"/>
                <a:cs typeface="Arial"/>
                <a:sym typeface="Arial"/>
              </a:rPr>
              <a:t>Gemini 2.5 Flash Audio-Eingabe</a:t>
            </a:r>
            <a:r>
              <a:rPr lang="de" sz="700">
                <a:latin typeface="Arial"/>
                <a:ea typeface="Arial"/>
                <a:cs typeface="Arial"/>
                <a:sym typeface="Arial"/>
              </a:rPr>
              <a:t>: $1.00/Mio Tokens</a:t>
            </a:r>
            <a:endParaRPr sz="700">
              <a:latin typeface="Arial"/>
              <a:ea typeface="Arial"/>
              <a:cs typeface="Arial"/>
              <a:sym typeface="Arial"/>
            </a:endParaRPr>
          </a:p>
          <a:p>
            <a:pPr indent="0" lvl="0" marL="457200" rtl="0" algn="l">
              <a:lnSpc>
                <a:spcPct val="100000"/>
              </a:lnSpc>
              <a:spcBef>
                <a:spcPts val="0"/>
              </a:spcBef>
              <a:spcAft>
                <a:spcPts val="0"/>
              </a:spcAft>
              <a:buNone/>
            </a:pPr>
            <a:r>
              <a:rPr lang="de" sz="700">
                <a:latin typeface="Arial"/>
                <a:ea typeface="Arial"/>
                <a:cs typeface="Arial"/>
                <a:sym typeface="Arial"/>
              </a:rPr>
              <a:t>→</a:t>
            </a:r>
            <a:r>
              <a:rPr lang="de" sz="700">
                <a:latin typeface="Arial"/>
                <a:ea typeface="Arial"/>
                <a:cs typeface="Arial"/>
                <a:sym typeface="Arial"/>
              </a:rPr>
              <a:t> Audio aus 120 Minuten = ca. 180.000 Wörter ≈ 250k Tokens</a:t>
            </a:r>
            <a:endParaRPr sz="700">
              <a:latin typeface="Arial"/>
              <a:ea typeface="Arial"/>
              <a:cs typeface="Arial"/>
              <a:sym typeface="Arial"/>
            </a:endParaRPr>
          </a:p>
          <a:p>
            <a:pPr indent="0" lvl="0" marL="457200" rtl="0" algn="l">
              <a:lnSpc>
                <a:spcPct val="100000"/>
              </a:lnSpc>
              <a:spcBef>
                <a:spcPts val="0"/>
              </a:spcBef>
              <a:spcAft>
                <a:spcPts val="0"/>
              </a:spcAft>
              <a:buNone/>
            </a:pPr>
            <a:r>
              <a:rPr lang="de" sz="700">
                <a:latin typeface="Arial"/>
                <a:ea typeface="Arial"/>
                <a:cs typeface="Arial"/>
                <a:sym typeface="Arial"/>
              </a:rPr>
              <a:t>→ Kosten: </a:t>
            </a:r>
            <a:r>
              <a:rPr b="1" lang="de" sz="700">
                <a:latin typeface="Arial"/>
                <a:ea typeface="Arial"/>
                <a:cs typeface="Arial"/>
                <a:sym typeface="Arial"/>
              </a:rPr>
              <a:t>~ $0.25</a:t>
            </a:r>
            <a:endParaRPr b="1" sz="700">
              <a:latin typeface="Arial"/>
              <a:ea typeface="Arial"/>
              <a:cs typeface="Arial"/>
              <a:sym typeface="Arial"/>
            </a:endParaRPr>
          </a:p>
          <a:p>
            <a:pPr indent="0" lvl="0" marL="457200" rtl="0" algn="l">
              <a:lnSpc>
                <a:spcPct val="100000"/>
              </a:lnSpc>
              <a:spcBef>
                <a:spcPts val="0"/>
              </a:spcBef>
              <a:spcAft>
                <a:spcPts val="0"/>
              </a:spcAft>
              <a:buNone/>
            </a:pPr>
            <a:r>
              <a:t/>
            </a:r>
            <a:endParaRPr b="1" sz="700">
              <a:latin typeface="Arial"/>
              <a:ea typeface="Arial"/>
              <a:cs typeface="Arial"/>
              <a:sym typeface="Arial"/>
            </a:endParaRPr>
          </a:p>
          <a:p>
            <a:pPr indent="0" lvl="0" marL="457200" rtl="0" algn="l">
              <a:lnSpc>
                <a:spcPct val="100000"/>
              </a:lnSpc>
              <a:spcBef>
                <a:spcPts val="0"/>
              </a:spcBef>
              <a:spcAft>
                <a:spcPts val="0"/>
              </a:spcAft>
              <a:buNone/>
            </a:pPr>
            <a:r>
              <a:t/>
            </a:r>
            <a:endParaRPr b="1" sz="700">
              <a:latin typeface="Arial"/>
              <a:ea typeface="Arial"/>
              <a:cs typeface="Arial"/>
              <a:sym typeface="Arial"/>
            </a:endParaRPr>
          </a:p>
          <a:p>
            <a:pPr indent="0" lvl="0" marL="0" rtl="0" algn="l">
              <a:spcBef>
                <a:spcPts val="200"/>
              </a:spcBef>
              <a:spcAft>
                <a:spcPts val="0"/>
              </a:spcAft>
              <a:buNone/>
            </a:pPr>
            <a:r>
              <a:rPr b="1" lang="de" sz="1100">
                <a:latin typeface="Arial"/>
                <a:ea typeface="Arial"/>
                <a:cs typeface="Arial"/>
                <a:sym typeface="Arial"/>
              </a:rPr>
              <a:t>Vertex AI Vision (kein Audio)</a:t>
            </a:r>
            <a:endParaRPr b="1" sz="1100">
              <a:latin typeface="Arial"/>
              <a:ea typeface="Arial"/>
              <a:cs typeface="Arial"/>
              <a:sym typeface="Arial"/>
            </a:endParaRPr>
          </a:p>
          <a:p>
            <a:pPr indent="0" lvl="0" marL="0" rtl="0" algn="l">
              <a:spcBef>
                <a:spcPts val="200"/>
              </a:spcBef>
              <a:spcAft>
                <a:spcPts val="0"/>
              </a:spcAft>
              <a:buNone/>
            </a:pPr>
            <a:r>
              <a:t/>
            </a:r>
            <a:endParaRPr b="1" sz="1100">
              <a:latin typeface="Arial"/>
              <a:ea typeface="Arial"/>
              <a:cs typeface="Arial"/>
              <a:sym typeface="Arial"/>
            </a:endParaRPr>
          </a:p>
          <a:p>
            <a:pPr indent="-273050" lvl="0" marL="457200" rtl="0" algn="l">
              <a:lnSpc>
                <a:spcPct val="150000"/>
              </a:lnSpc>
              <a:spcBef>
                <a:spcPts val="0"/>
              </a:spcBef>
              <a:spcAft>
                <a:spcPts val="0"/>
              </a:spcAft>
              <a:buClr>
                <a:schemeClr val="dk1"/>
              </a:buClr>
              <a:buSzPts val="700"/>
              <a:buFont typeface="Arial"/>
              <a:buChar char="•"/>
            </a:pPr>
            <a:r>
              <a:rPr b="1" lang="de" sz="700">
                <a:latin typeface="Arial"/>
                <a:ea typeface="Arial"/>
                <a:cs typeface="Arial"/>
                <a:sym typeface="Arial"/>
              </a:rPr>
              <a:t>Cloud Storage Kosten</a:t>
            </a:r>
            <a:r>
              <a:rPr lang="de" sz="700">
                <a:latin typeface="Arial"/>
                <a:ea typeface="Arial"/>
                <a:cs typeface="Arial"/>
                <a:sym typeface="Arial"/>
              </a:rPr>
              <a:t> (nur Speicherung): ca. </a:t>
            </a:r>
            <a:r>
              <a:rPr b="1" lang="de" sz="700">
                <a:latin typeface="Arial"/>
                <a:ea typeface="Arial"/>
                <a:cs typeface="Arial"/>
                <a:sym typeface="Arial"/>
              </a:rPr>
              <a:t>$0.026/GB</a:t>
            </a:r>
            <a:r>
              <a:rPr lang="de" sz="700">
                <a:latin typeface="Arial"/>
                <a:ea typeface="Arial"/>
                <a:cs typeface="Arial"/>
                <a:sym typeface="Arial"/>
              </a:rPr>
              <a:t> → ~</a:t>
            </a:r>
            <a:r>
              <a:rPr b="1" lang="de" sz="700">
                <a:latin typeface="Arial"/>
                <a:ea typeface="Arial"/>
                <a:cs typeface="Arial"/>
                <a:sym typeface="Arial"/>
              </a:rPr>
              <a:t>$0.03</a:t>
            </a:r>
            <a:endParaRPr b="1" sz="700">
              <a:latin typeface="Arial"/>
              <a:ea typeface="Arial"/>
              <a:cs typeface="Arial"/>
              <a:sym typeface="Arial"/>
            </a:endParaRPr>
          </a:p>
          <a:p>
            <a:pPr indent="-273050" lvl="0" marL="457200" rtl="0" algn="l">
              <a:lnSpc>
                <a:spcPct val="150000"/>
              </a:lnSpc>
              <a:spcBef>
                <a:spcPts val="1200"/>
              </a:spcBef>
              <a:spcAft>
                <a:spcPts val="0"/>
              </a:spcAft>
              <a:buClr>
                <a:schemeClr val="dk1"/>
              </a:buClr>
              <a:buSzPts val="700"/>
              <a:buFont typeface="Arial"/>
              <a:buChar char="•"/>
            </a:pPr>
            <a:r>
              <a:rPr b="1" lang="de" sz="700">
                <a:latin typeface="Arial"/>
                <a:ea typeface="Arial"/>
                <a:cs typeface="Arial"/>
                <a:sym typeface="Arial"/>
              </a:rPr>
              <a:t>Datentransfer: </a:t>
            </a:r>
            <a:r>
              <a:rPr lang="de" sz="700">
                <a:latin typeface="Arial"/>
                <a:ea typeface="Arial"/>
                <a:cs typeface="Arial"/>
                <a:sym typeface="Arial"/>
              </a:rPr>
              <a:t> $0.0085 pro GB × 2 (Upload + Nutzung) → </a:t>
            </a:r>
            <a:r>
              <a:rPr b="1" lang="de" sz="700">
                <a:latin typeface="Arial"/>
                <a:ea typeface="Arial"/>
                <a:cs typeface="Arial"/>
                <a:sym typeface="Arial"/>
              </a:rPr>
              <a:t>$0.017</a:t>
            </a:r>
            <a:endParaRPr b="1" sz="700">
              <a:latin typeface="Arial"/>
              <a:ea typeface="Arial"/>
              <a:cs typeface="Arial"/>
              <a:sym typeface="Arial"/>
            </a:endParaRPr>
          </a:p>
          <a:p>
            <a:pPr indent="0" lvl="0" marL="457200" rtl="0" algn="l">
              <a:lnSpc>
                <a:spcPct val="150000"/>
              </a:lnSpc>
              <a:spcBef>
                <a:spcPts val="0"/>
              </a:spcBef>
              <a:spcAft>
                <a:spcPts val="0"/>
              </a:spcAft>
              <a:buNone/>
            </a:pPr>
            <a:r>
              <a:t/>
            </a:r>
            <a:endParaRPr b="1" sz="700">
              <a:latin typeface="Arial"/>
              <a:ea typeface="Arial"/>
              <a:cs typeface="Arial"/>
              <a:sym typeface="Arial"/>
            </a:endParaRPr>
          </a:p>
          <a:p>
            <a:pPr indent="-273050" lvl="0" marL="457200" rtl="0" algn="l">
              <a:lnSpc>
                <a:spcPct val="150000"/>
              </a:lnSpc>
              <a:spcBef>
                <a:spcPts val="0"/>
              </a:spcBef>
              <a:spcAft>
                <a:spcPts val="0"/>
              </a:spcAft>
              <a:buClr>
                <a:schemeClr val="dk1"/>
              </a:buClr>
              <a:buSzPts val="700"/>
              <a:buFont typeface="Arial"/>
              <a:buChar char="•"/>
            </a:pPr>
            <a:r>
              <a:rPr b="1" lang="de" sz="700">
                <a:latin typeface="Arial"/>
                <a:ea typeface="Arial"/>
                <a:cs typeface="Arial"/>
                <a:sym typeface="Arial"/>
              </a:rPr>
              <a:t>Preis für Analyse (z. B. Objekterkennung):</a:t>
            </a:r>
            <a:endParaRPr b="1" sz="700">
              <a:latin typeface="Arial"/>
              <a:ea typeface="Arial"/>
              <a:cs typeface="Arial"/>
              <a:sym typeface="Arial"/>
            </a:endParaRPr>
          </a:p>
          <a:p>
            <a:pPr indent="457200" lvl="0" marL="0" rtl="0" algn="l">
              <a:spcBef>
                <a:spcPts val="200"/>
              </a:spcBef>
              <a:spcAft>
                <a:spcPts val="0"/>
              </a:spcAft>
              <a:buNone/>
            </a:pPr>
            <a:r>
              <a:rPr lang="de" sz="700">
                <a:latin typeface="Arial"/>
                <a:ea typeface="Arial"/>
                <a:cs typeface="Arial"/>
                <a:sym typeface="Arial"/>
              </a:rPr>
              <a:t>$0.10/Minute → </a:t>
            </a:r>
            <a:r>
              <a:rPr b="1" lang="de" sz="700">
                <a:latin typeface="Arial"/>
                <a:ea typeface="Arial"/>
                <a:cs typeface="Arial"/>
                <a:sym typeface="Arial"/>
              </a:rPr>
              <a:t>$12.00</a:t>
            </a:r>
            <a:r>
              <a:rPr lang="de" sz="700">
                <a:latin typeface="Arial"/>
                <a:ea typeface="Arial"/>
                <a:cs typeface="Arial"/>
                <a:sym typeface="Arial"/>
              </a:rPr>
              <a:t> für 120 Minuten</a:t>
            </a:r>
            <a:endParaRPr/>
          </a:p>
        </p:txBody>
      </p:sp>
      <p:graphicFrame>
        <p:nvGraphicFramePr>
          <p:cNvPr id="445" name="Google Shape;445;p42"/>
          <p:cNvGraphicFramePr/>
          <p:nvPr/>
        </p:nvGraphicFramePr>
        <p:xfrm>
          <a:off x="4421175" y="1394400"/>
          <a:ext cx="3000000" cy="3000000"/>
        </p:xfrm>
        <a:graphic>
          <a:graphicData uri="http://schemas.openxmlformats.org/drawingml/2006/table">
            <a:tbl>
              <a:tblPr>
                <a:noFill/>
                <a:tableStyleId>{BA45F573-9B29-47CA-AB3D-ED83CEF522B1}</a:tableStyleId>
              </a:tblPr>
              <a:tblGrid>
                <a:gridCol w="2816700"/>
                <a:gridCol w="1185725"/>
              </a:tblGrid>
              <a:tr h="299625">
                <a:tc gridSpan="2">
                  <a:txBody>
                    <a:bodyPr/>
                    <a:lstStyle/>
                    <a:p>
                      <a:pPr indent="0" lvl="0" marL="0" rtl="0" algn="l">
                        <a:lnSpc>
                          <a:spcPct val="115000"/>
                        </a:lnSpc>
                        <a:spcBef>
                          <a:spcPts val="0"/>
                        </a:spcBef>
                        <a:spcAft>
                          <a:spcPts val="0"/>
                        </a:spcAft>
                        <a:buNone/>
                      </a:pPr>
                      <a:r>
                        <a:rPr b="1" lang="de" sz="1200">
                          <a:solidFill>
                            <a:schemeClr val="dk1"/>
                          </a:solidFill>
                        </a:rPr>
                        <a:t>Beispiel: </a:t>
                      </a:r>
                      <a:r>
                        <a:rPr lang="de" sz="1200">
                          <a:solidFill>
                            <a:schemeClr val="dk1"/>
                          </a:solidFill>
                        </a:rPr>
                        <a:t>120 Minuten Video mit Audio, 1GB Daten</a:t>
                      </a:r>
                      <a:endParaRPr sz="1200"/>
                    </a:p>
                  </a:txBody>
                  <a:tcPr marT="91425" marB="91425" marR="91425" marL="91425">
                    <a:lnB cap="flat" cmpd="sng" w="9525">
                      <a:solidFill>
                        <a:srgbClr val="3F3F3F"/>
                      </a:solidFill>
                      <a:prstDash val="solid"/>
                      <a:round/>
                      <a:headEnd len="sm" w="sm" type="none"/>
                      <a:tailEnd len="sm" w="sm" type="none"/>
                    </a:lnB>
                  </a:tcPr>
                </a:tc>
                <a:tc hMerge="1"/>
              </a:tr>
              <a:tr h="285075">
                <a:tc>
                  <a:txBody>
                    <a:bodyPr/>
                    <a:lstStyle/>
                    <a:p>
                      <a:pPr indent="0" lvl="0" marL="0" rtl="0" algn="l">
                        <a:lnSpc>
                          <a:spcPct val="115000"/>
                        </a:lnSpc>
                        <a:spcBef>
                          <a:spcPts val="0"/>
                        </a:spcBef>
                        <a:spcAft>
                          <a:spcPts val="0"/>
                        </a:spcAft>
                        <a:buNone/>
                      </a:pPr>
                      <a:r>
                        <a:rPr b="1" lang="de" sz="1100"/>
                        <a:t>Variante: </a:t>
                      </a:r>
                      <a:endParaRPr sz="1100"/>
                    </a:p>
                  </a:txBody>
                  <a:tcPr marT="91425" marB="91425" marR="91425" marL="91425">
                    <a:lnL cap="flat" cmpd="sng" w="9525">
                      <a:solidFill>
                        <a:srgbClr val="3F3F3F"/>
                      </a:solidFill>
                      <a:prstDash val="solid"/>
                      <a:round/>
                      <a:headEnd len="sm" w="sm" type="none"/>
                      <a:tailEnd len="sm" w="sm" type="none"/>
                    </a:lnL>
                    <a:lnR cap="flat" cmpd="sng" w="9525">
                      <a:solidFill>
                        <a:srgbClr val="3F3F3F"/>
                      </a:solidFill>
                      <a:prstDash val="solid"/>
                      <a:round/>
                      <a:headEnd len="sm" w="sm" type="none"/>
                      <a:tailEnd len="sm" w="sm" type="none"/>
                    </a:lnR>
                    <a:lnT cap="flat" cmpd="sng" w="9525">
                      <a:solidFill>
                        <a:srgbClr val="3F3F3F"/>
                      </a:solidFill>
                      <a:prstDash val="solid"/>
                      <a:round/>
                      <a:headEnd len="sm" w="sm" type="none"/>
                      <a:tailEnd len="sm" w="sm" type="none"/>
                    </a:lnT>
                    <a:lnB cap="flat" cmpd="sng" w="9525">
                      <a:solidFill>
                        <a:srgbClr val="3F3F3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de" sz="1100"/>
                        <a:t>Preis ca.</a:t>
                      </a:r>
                      <a:endParaRPr b="1" sz="1100"/>
                    </a:p>
                  </a:txBody>
                  <a:tcPr marT="91425" marB="91425" marR="91425" marL="91425">
                    <a:lnL cap="flat" cmpd="sng" w="9525">
                      <a:solidFill>
                        <a:srgbClr val="3F3F3F"/>
                      </a:solidFill>
                      <a:prstDash val="solid"/>
                      <a:round/>
                      <a:headEnd len="sm" w="sm" type="none"/>
                      <a:tailEnd len="sm" w="sm" type="none"/>
                    </a:lnL>
                    <a:lnR cap="flat" cmpd="sng" w="9525">
                      <a:solidFill>
                        <a:srgbClr val="3F3F3F"/>
                      </a:solidFill>
                      <a:prstDash val="solid"/>
                      <a:round/>
                      <a:headEnd len="sm" w="sm" type="none"/>
                      <a:tailEnd len="sm" w="sm" type="none"/>
                    </a:lnR>
                    <a:lnT cap="flat" cmpd="sng" w="9525">
                      <a:solidFill>
                        <a:srgbClr val="3F3F3F"/>
                      </a:solidFill>
                      <a:prstDash val="solid"/>
                      <a:round/>
                      <a:headEnd len="sm" w="sm" type="none"/>
                      <a:tailEnd len="sm" w="sm" type="none"/>
                    </a:lnT>
                    <a:lnB cap="flat" cmpd="sng" w="9525">
                      <a:solidFill>
                        <a:srgbClr val="3F3F3F"/>
                      </a:solidFill>
                      <a:prstDash val="solid"/>
                      <a:round/>
                      <a:headEnd len="sm" w="sm" type="none"/>
                      <a:tailEnd len="sm" w="sm" type="none"/>
                    </a:lnB>
                  </a:tcPr>
                </a:tc>
              </a:tr>
              <a:tr h="270525">
                <a:tc>
                  <a:txBody>
                    <a:bodyPr/>
                    <a:lstStyle/>
                    <a:p>
                      <a:pPr indent="0" lvl="0" marL="0" rtl="0" algn="l">
                        <a:spcBef>
                          <a:spcPts val="0"/>
                        </a:spcBef>
                        <a:spcAft>
                          <a:spcPts val="0"/>
                        </a:spcAft>
                        <a:buNone/>
                      </a:pPr>
                      <a:r>
                        <a:rPr lang="de" sz="1100"/>
                        <a:t>Gemini 2.5 Pro</a:t>
                      </a:r>
                      <a:endParaRPr sz="1100"/>
                    </a:p>
                  </a:txBody>
                  <a:tcPr marT="91425" marB="91425" marR="91425" marL="91425">
                    <a:lnL cap="flat" cmpd="sng" w="9525">
                      <a:solidFill>
                        <a:srgbClr val="3F3F3F"/>
                      </a:solidFill>
                      <a:prstDash val="solid"/>
                      <a:round/>
                      <a:headEnd len="sm" w="sm" type="none"/>
                      <a:tailEnd len="sm" w="sm" type="none"/>
                    </a:lnL>
                    <a:lnR cap="flat" cmpd="sng" w="9525">
                      <a:solidFill>
                        <a:srgbClr val="3F3F3F"/>
                      </a:solidFill>
                      <a:prstDash val="solid"/>
                      <a:round/>
                      <a:headEnd len="sm" w="sm" type="none"/>
                      <a:tailEnd len="sm" w="sm" type="none"/>
                    </a:lnR>
                    <a:lnT cap="flat" cmpd="sng" w="9525">
                      <a:solidFill>
                        <a:srgbClr val="3F3F3F"/>
                      </a:solidFill>
                      <a:prstDash val="solid"/>
                      <a:round/>
                      <a:headEnd len="sm" w="sm" type="none"/>
                      <a:tailEnd len="sm" w="sm" type="none"/>
                    </a:lnT>
                    <a:lnB cap="flat" cmpd="sng" w="9525">
                      <a:solidFill>
                        <a:srgbClr val="3F3F3F"/>
                      </a:solidFill>
                      <a:prstDash val="solid"/>
                      <a:round/>
                      <a:headEnd len="sm" w="sm" type="none"/>
                      <a:tailEnd len="sm" w="sm" type="none"/>
                    </a:lnB>
                  </a:tcPr>
                </a:tc>
                <a:tc>
                  <a:txBody>
                    <a:bodyPr/>
                    <a:lstStyle/>
                    <a:p>
                      <a:pPr indent="0" lvl="0" marL="0" rtl="0" algn="l">
                        <a:spcBef>
                          <a:spcPts val="0"/>
                        </a:spcBef>
                        <a:spcAft>
                          <a:spcPts val="0"/>
                        </a:spcAft>
                        <a:buNone/>
                      </a:pPr>
                      <a:r>
                        <a:rPr lang="de" sz="1100"/>
                        <a:t>~ $1.55</a:t>
                      </a:r>
                      <a:endParaRPr sz="1100"/>
                    </a:p>
                  </a:txBody>
                  <a:tcPr marT="91425" marB="91425" marR="91425" marL="91425">
                    <a:lnL cap="flat" cmpd="sng" w="9525">
                      <a:solidFill>
                        <a:srgbClr val="3F3F3F"/>
                      </a:solidFill>
                      <a:prstDash val="solid"/>
                      <a:round/>
                      <a:headEnd len="sm" w="sm" type="none"/>
                      <a:tailEnd len="sm" w="sm" type="none"/>
                    </a:lnL>
                    <a:lnR cap="flat" cmpd="sng" w="9525">
                      <a:solidFill>
                        <a:srgbClr val="3F3F3F"/>
                      </a:solidFill>
                      <a:prstDash val="solid"/>
                      <a:round/>
                      <a:headEnd len="sm" w="sm" type="none"/>
                      <a:tailEnd len="sm" w="sm" type="none"/>
                    </a:lnR>
                    <a:lnT cap="flat" cmpd="sng" w="9525">
                      <a:solidFill>
                        <a:srgbClr val="3F3F3F"/>
                      </a:solidFill>
                      <a:prstDash val="solid"/>
                      <a:round/>
                      <a:headEnd len="sm" w="sm" type="none"/>
                      <a:tailEnd len="sm" w="sm" type="none"/>
                    </a:lnT>
                    <a:lnB cap="flat" cmpd="sng" w="9525">
                      <a:solidFill>
                        <a:srgbClr val="3F3F3F"/>
                      </a:solidFill>
                      <a:prstDash val="solid"/>
                      <a:round/>
                      <a:headEnd len="sm" w="sm" type="none"/>
                      <a:tailEnd len="sm" w="sm" type="none"/>
                    </a:lnB>
                  </a:tcPr>
                </a:tc>
              </a:tr>
              <a:tr h="270525">
                <a:tc>
                  <a:txBody>
                    <a:bodyPr/>
                    <a:lstStyle/>
                    <a:p>
                      <a:pPr indent="0" lvl="0" marL="0" rtl="0" algn="l">
                        <a:spcBef>
                          <a:spcPts val="0"/>
                        </a:spcBef>
                        <a:spcAft>
                          <a:spcPts val="0"/>
                        </a:spcAft>
                        <a:buNone/>
                      </a:pPr>
                      <a:r>
                        <a:rPr lang="de" sz="1100">
                          <a:solidFill>
                            <a:srgbClr val="888888"/>
                          </a:solidFill>
                        </a:rPr>
                        <a:t>Vision-API-Alternative </a:t>
                      </a:r>
                      <a:endParaRPr sz="1100">
                        <a:solidFill>
                          <a:srgbClr val="888888"/>
                        </a:solidFill>
                      </a:endParaRPr>
                    </a:p>
                  </a:txBody>
                  <a:tcPr marT="91425" marB="91425" marR="91425" marL="91425">
                    <a:lnL cap="flat" cmpd="sng" w="9525">
                      <a:solidFill>
                        <a:srgbClr val="3F3F3F"/>
                      </a:solidFill>
                      <a:prstDash val="solid"/>
                      <a:round/>
                      <a:headEnd len="sm" w="sm" type="none"/>
                      <a:tailEnd len="sm" w="sm" type="none"/>
                    </a:lnL>
                    <a:lnR cap="flat" cmpd="sng" w="9525">
                      <a:solidFill>
                        <a:srgbClr val="3F3F3F"/>
                      </a:solidFill>
                      <a:prstDash val="solid"/>
                      <a:round/>
                      <a:headEnd len="sm" w="sm" type="none"/>
                      <a:tailEnd len="sm" w="sm" type="none"/>
                    </a:lnR>
                    <a:lnT cap="flat" cmpd="sng" w="9525">
                      <a:solidFill>
                        <a:srgbClr val="3F3F3F"/>
                      </a:solidFill>
                      <a:prstDash val="solid"/>
                      <a:round/>
                      <a:headEnd len="sm" w="sm" type="none"/>
                      <a:tailEnd len="sm" w="sm" type="none"/>
                    </a:lnT>
                    <a:lnB cap="flat" cmpd="sng" w="9525">
                      <a:solidFill>
                        <a:srgbClr val="3F3F3F"/>
                      </a:solidFill>
                      <a:prstDash val="solid"/>
                      <a:round/>
                      <a:headEnd len="sm" w="sm" type="none"/>
                      <a:tailEnd len="sm" w="sm" type="none"/>
                    </a:lnB>
                  </a:tcPr>
                </a:tc>
                <a:tc>
                  <a:txBody>
                    <a:bodyPr/>
                    <a:lstStyle/>
                    <a:p>
                      <a:pPr indent="0" lvl="0" marL="0" rtl="0" algn="l">
                        <a:spcBef>
                          <a:spcPts val="0"/>
                        </a:spcBef>
                        <a:spcAft>
                          <a:spcPts val="0"/>
                        </a:spcAft>
                        <a:buNone/>
                      </a:pPr>
                      <a:r>
                        <a:rPr lang="de" sz="1100">
                          <a:solidFill>
                            <a:srgbClr val="888888"/>
                          </a:solidFill>
                        </a:rPr>
                        <a:t>~ $12.05</a:t>
                      </a:r>
                      <a:endParaRPr sz="1100">
                        <a:solidFill>
                          <a:srgbClr val="888888"/>
                        </a:solidFill>
                      </a:endParaRPr>
                    </a:p>
                  </a:txBody>
                  <a:tcPr marT="91425" marB="91425" marR="91425" marL="91425">
                    <a:lnL cap="flat" cmpd="sng" w="9525">
                      <a:solidFill>
                        <a:srgbClr val="3F3F3F"/>
                      </a:solidFill>
                      <a:prstDash val="solid"/>
                      <a:round/>
                      <a:headEnd len="sm" w="sm" type="none"/>
                      <a:tailEnd len="sm" w="sm" type="none"/>
                    </a:lnL>
                    <a:lnR cap="flat" cmpd="sng" w="9525">
                      <a:solidFill>
                        <a:srgbClr val="3F3F3F"/>
                      </a:solidFill>
                      <a:prstDash val="solid"/>
                      <a:round/>
                      <a:headEnd len="sm" w="sm" type="none"/>
                      <a:tailEnd len="sm" w="sm" type="none"/>
                    </a:lnR>
                    <a:lnT cap="flat" cmpd="sng" w="9525">
                      <a:solidFill>
                        <a:srgbClr val="3F3F3F"/>
                      </a:solidFill>
                      <a:prstDash val="solid"/>
                      <a:round/>
                      <a:headEnd len="sm" w="sm" type="none"/>
                      <a:tailEnd len="sm" w="sm" type="none"/>
                    </a:lnT>
                    <a:lnB cap="flat" cmpd="sng" w="9525">
                      <a:solidFill>
                        <a:srgbClr val="3F3F3F"/>
                      </a:solidFill>
                      <a:prstDash val="solid"/>
                      <a:round/>
                      <a:headEnd len="sm" w="sm" type="none"/>
                      <a:tailEnd len="sm" w="sm" type="none"/>
                    </a:lnB>
                  </a:tcPr>
                </a:tc>
              </a:tr>
            </a:tbl>
          </a:graphicData>
        </a:graphic>
      </p:graphicFrame>
      <p:sp>
        <p:nvSpPr>
          <p:cNvPr id="446" name="Google Shape;446;p42"/>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lang="de" sz="1500">
                <a:solidFill>
                  <a:schemeClr val="dk1"/>
                </a:solidFill>
                <a:latin typeface="Arial"/>
                <a:ea typeface="Arial"/>
                <a:cs typeface="Arial"/>
                <a:sym typeface="Arial"/>
              </a:rPr>
              <a:t>4️⃣</a:t>
            </a:r>
            <a:r>
              <a:rPr b="1" i="0" lang="de" sz="1500" u="none" cap="none" strike="noStrike">
                <a:solidFill>
                  <a:schemeClr val="dk1"/>
                </a:solidFill>
                <a:latin typeface="Arial"/>
                <a:ea typeface="Arial"/>
                <a:cs typeface="Arial"/>
                <a:sym typeface="Arial"/>
              </a:rPr>
              <a:t> </a:t>
            </a:r>
            <a:r>
              <a:rPr lang="de" sz="1700"/>
              <a:t>Kostenerwartungen pro 120 Minuten, 1GB Video</a:t>
            </a:r>
            <a:endParaRPr b="1" sz="1500">
              <a:solidFill>
                <a:schemeClr val="dk1"/>
              </a:solidFill>
              <a:latin typeface="Arial"/>
              <a:ea typeface="Arial"/>
              <a:cs typeface="Arial"/>
              <a:sym typeface="Arial"/>
            </a:endParaRPr>
          </a:p>
        </p:txBody>
      </p:sp>
      <p:graphicFrame>
        <p:nvGraphicFramePr>
          <p:cNvPr id="447" name="Google Shape;447;p42"/>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448" name="Google Shape;448;p42"/>
          <p:cNvSpPr/>
          <p:nvPr/>
        </p:nvSpPr>
        <p:spPr>
          <a:xfrm>
            <a:off x="4284000" y="3124275"/>
            <a:ext cx="4317000" cy="1680300"/>
          </a:xfrm>
          <a:prstGeom prst="rect">
            <a:avLst/>
          </a:prstGeom>
          <a:solidFill>
            <a:srgbClr val="438086">
              <a:alpha val="16860"/>
            </a:srgbClr>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aphicFrame>
        <p:nvGraphicFramePr>
          <p:cNvPr id="449" name="Google Shape;449;p42"/>
          <p:cNvGraphicFramePr/>
          <p:nvPr/>
        </p:nvGraphicFramePr>
        <p:xfrm>
          <a:off x="4421175" y="3218325"/>
          <a:ext cx="3000000" cy="3000000"/>
        </p:xfrm>
        <a:graphic>
          <a:graphicData uri="http://schemas.openxmlformats.org/drawingml/2006/table">
            <a:tbl>
              <a:tblPr>
                <a:noFill/>
                <a:tableStyleId>{BA45F573-9B29-47CA-AB3D-ED83CEF522B1}</a:tableStyleId>
              </a:tblPr>
              <a:tblGrid>
                <a:gridCol w="2816700"/>
                <a:gridCol w="1185725"/>
              </a:tblGrid>
              <a:tr h="299625">
                <a:tc gridSpan="2">
                  <a:txBody>
                    <a:bodyPr/>
                    <a:lstStyle/>
                    <a:p>
                      <a:pPr indent="0" lvl="0" marL="0" rtl="0" algn="l">
                        <a:lnSpc>
                          <a:spcPct val="115000"/>
                        </a:lnSpc>
                        <a:spcBef>
                          <a:spcPts val="0"/>
                        </a:spcBef>
                        <a:spcAft>
                          <a:spcPts val="0"/>
                        </a:spcAft>
                        <a:buNone/>
                      </a:pPr>
                      <a:r>
                        <a:rPr b="1" lang="de" sz="1200">
                          <a:solidFill>
                            <a:schemeClr val="dk1"/>
                          </a:solidFill>
                        </a:rPr>
                        <a:t>Einzelbildauswertung (bei 1 Bilde je Sekunde):</a:t>
                      </a:r>
                      <a:r>
                        <a:rPr b="1" lang="de" sz="1200">
                          <a:solidFill>
                            <a:schemeClr val="dk1"/>
                          </a:solidFill>
                        </a:rPr>
                        <a:t> </a:t>
                      </a:r>
                      <a:endParaRPr b="1"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a:p>
                      <a:pPr indent="0" lvl="0" marL="0" rtl="0" algn="l">
                        <a:lnSpc>
                          <a:spcPct val="115000"/>
                        </a:lnSpc>
                        <a:spcBef>
                          <a:spcPts val="0"/>
                        </a:spcBef>
                        <a:spcAft>
                          <a:spcPts val="0"/>
                        </a:spcAft>
                        <a:buNone/>
                      </a:pPr>
                      <a:r>
                        <a:rPr lang="de" sz="1200">
                          <a:solidFill>
                            <a:schemeClr val="dk1"/>
                          </a:solidFill>
                        </a:rPr>
                        <a:t>120 Minuten = 7.200 Sekunden = 7.200 Einzelbilder</a:t>
                      </a:r>
                      <a:endParaRPr sz="1200">
                        <a:solidFill>
                          <a:schemeClr val="dk1"/>
                        </a:solidFill>
                      </a:endParaRPr>
                    </a:p>
                  </a:txBody>
                  <a:tcPr marT="91425" marB="91425" marR="91425" marL="91425">
                    <a:lnB cap="flat" cmpd="sng" w="9525">
                      <a:solidFill>
                        <a:srgbClr val="3F3F3F"/>
                      </a:solidFill>
                      <a:prstDash val="solid"/>
                      <a:round/>
                      <a:headEnd len="sm" w="sm" type="none"/>
                      <a:tailEnd len="sm" w="sm" type="none"/>
                    </a:lnB>
                  </a:tcPr>
                </a:tc>
                <a:tc hMerge="1"/>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3"/>
          <p:cNvSpPr/>
          <p:nvPr/>
        </p:nvSpPr>
        <p:spPr>
          <a:xfrm>
            <a:off x="305525" y="1116175"/>
            <a:ext cx="4520100" cy="4027200"/>
          </a:xfrm>
          <a:prstGeom prst="rect">
            <a:avLst/>
          </a:prstGeom>
          <a:solidFill>
            <a:schemeClr val="lt1"/>
          </a:solidFill>
          <a:ln cap="flat" cmpd="sng" w="19050">
            <a:solidFill>
              <a:srgbClr val="438086"/>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Georgia"/>
              <a:ea typeface="Georgia"/>
              <a:cs typeface="Georgia"/>
              <a:sym typeface="Georgia"/>
            </a:endParaRPr>
          </a:p>
        </p:txBody>
      </p:sp>
      <p:graphicFrame>
        <p:nvGraphicFramePr>
          <p:cNvPr id="456" name="Google Shape;456;p43"/>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457" name="Google Shape;457;p43"/>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lang="de" sz="1500">
                <a:solidFill>
                  <a:schemeClr val="dk1"/>
                </a:solidFill>
                <a:latin typeface="Arial"/>
                <a:ea typeface="Arial"/>
                <a:cs typeface="Arial"/>
                <a:sym typeface="Arial"/>
              </a:rPr>
              <a:t>4️⃣</a:t>
            </a:r>
            <a:r>
              <a:rPr b="1" i="0" lang="de" sz="1500" u="none" cap="none" strike="noStrike">
                <a:solidFill>
                  <a:schemeClr val="dk1"/>
                </a:solidFill>
                <a:latin typeface="Arial"/>
                <a:ea typeface="Arial"/>
                <a:cs typeface="Arial"/>
                <a:sym typeface="Arial"/>
              </a:rPr>
              <a:t> OpenSource</a:t>
            </a:r>
            <a:r>
              <a:rPr b="1" lang="de" sz="1500">
                <a:solidFill>
                  <a:schemeClr val="dk1"/>
                </a:solidFill>
                <a:latin typeface="Arial"/>
                <a:ea typeface="Arial"/>
                <a:cs typeface="Arial"/>
                <a:sym typeface="Arial"/>
              </a:rPr>
              <a:t>: </a:t>
            </a:r>
            <a:r>
              <a:rPr b="1" lang="de" sz="1500">
                <a:solidFill>
                  <a:schemeClr val="dk1"/>
                </a:solidFill>
                <a:latin typeface="Arial"/>
                <a:ea typeface="Arial"/>
                <a:cs typeface="Arial"/>
                <a:sym typeface="Arial"/>
              </a:rPr>
              <a:t>OpenCV als Plattform für visuelle und akustische Analyse</a:t>
            </a:r>
            <a:endParaRPr b="1" sz="1500">
              <a:latin typeface="Arial"/>
              <a:ea typeface="Arial"/>
              <a:cs typeface="Arial"/>
              <a:sym typeface="Arial"/>
            </a:endParaRPr>
          </a:p>
        </p:txBody>
      </p:sp>
      <p:sp>
        <p:nvSpPr>
          <p:cNvPr id="458" name="Google Shape;458;p43"/>
          <p:cNvSpPr txBox="1"/>
          <p:nvPr/>
        </p:nvSpPr>
        <p:spPr>
          <a:xfrm>
            <a:off x="1306275" y="1157925"/>
            <a:ext cx="3468000" cy="3763500"/>
          </a:xfrm>
          <a:prstGeom prst="rect">
            <a:avLst/>
          </a:prstGeom>
          <a:noFill/>
          <a:ln>
            <a:noFill/>
          </a:ln>
        </p:spPr>
        <p:txBody>
          <a:bodyPr anchorCtr="0" anchor="t" bIns="34275" lIns="90000" spcFirstLastPara="1" rIns="68575" wrap="square" tIns="34275">
            <a:spAutoFit/>
          </a:bodyPr>
          <a:lstStyle/>
          <a:p>
            <a:pPr indent="0" lvl="0" marL="0" marR="0" rtl="0" algn="l">
              <a:spcBef>
                <a:spcPts val="0"/>
              </a:spcBef>
              <a:spcAft>
                <a:spcPts val="0"/>
              </a:spcAft>
              <a:buClr>
                <a:schemeClr val="dk1"/>
              </a:buClr>
              <a:buSzPts val="900"/>
              <a:buFont typeface="Arial"/>
              <a:buNone/>
            </a:pPr>
            <a:r>
              <a:rPr b="1" lang="de" sz="600">
                <a:solidFill>
                  <a:schemeClr val="dk1"/>
                </a:solidFill>
                <a:latin typeface="Arial"/>
                <a:ea typeface="Arial"/>
                <a:cs typeface="Arial"/>
                <a:sym typeface="Arial"/>
              </a:rPr>
              <a:t>OpenSource Software</a:t>
            </a:r>
            <a:endParaRPr sz="600"/>
          </a:p>
          <a:p>
            <a:pPr indent="0" lvl="0" marL="0" marR="0" rtl="0" algn="l">
              <a:spcBef>
                <a:spcPts val="0"/>
              </a:spcBef>
              <a:spcAft>
                <a:spcPts val="0"/>
              </a:spcAft>
              <a:buClr>
                <a:schemeClr val="dk1"/>
              </a:buClr>
              <a:buSzPts val="900"/>
              <a:buFont typeface="Georgia"/>
              <a:buNone/>
            </a:pPr>
            <a:r>
              <a:t/>
            </a:r>
            <a:endParaRPr sz="600">
              <a:solidFill>
                <a:schemeClr val="dk1"/>
              </a:solidFill>
              <a:latin typeface="Arial"/>
              <a:ea typeface="Arial"/>
              <a:cs typeface="Arial"/>
              <a:sym typeface="Arial"/>
            </a:endParaRPr>
          </a:p>
          <a:p>
            <a:pPr indent="-190500" lvl="0" marL="215900" marR="0" rtl="0" algn="l">
              <a:spcBef>
                <a:spcPts val="0"/>
              </a:spcBef>
              <a:spcAft>
                <a:spcPts val="0"/>
              </a:spcAft>
              <a:buClr>
                <a:schemeClr val="dk1"/>
              </a:buClr>
              <a:buSzPts val="600"/>
              <a:buFont typeface="Noto Sans Symbols"/>
              <a:buChar char="▪"/>
            </a:pPr>
            <a:r>
              <a:rPr b="1" lang="de" sz="600">
                <a:solidFill>
                  <a:schemeClr val="dk1"/>
                </a:solidFill>
              </a:rPr>
              <a:t>OpenCV </a:t>
            </a:r>
            <a:r>
              <a:rPr lang="de" sz="600">
                <a:solidFill>
                  <a:schemeClr val="dk1"/>
                </a:solidFill>
                <a:latin typeface="Arial"/>
                <a:ea typeface="Arial"/>
                <a:cs typeface="Arial"/>
                <a:sym typeface="Arial"/>
              </a:rPr>
              <a:t>Plattform </a:t>
            </a:r>
            <a:r>
              <a:rPr lang="de" sz="600">
                <a:solidFill>
                  <a:schemeClr val="dk1"/>
                </a:solidFill>
              </a:rPr>
              <a:t>/ </a:t>
            </a:r>
            <a:r>
              <a:rPr lang="de" sz="600">
                <a:solidFill>
                  <a:schemeClr val="dk1"/>
                </a:solidFill>
                <a:latin typeface="Arial"/>
                <a:ea typeface="Arial"/>
                <a:cs typeface="Arial"/>
                <a:sym typeface="Arial"/>
              </a:rPr>
              <a:t>Framew</a:t>
            </a:r>
            <a:r>
              <a:rPr lang="de" sz="600">
                <a:solidFill>
                  <a:schemeClr val="dk1"/>
                </a:solidFill>
              </a:rPr>
              <a:t>ork</a:t>
            </a:r>
            <a:endParaRPr sz="600">
              <a:solidFill>
                <a:schemeClr val="dk1"/>
              </a:solidFill>
              <a:latin typeface="Arial"/>
              <a:ea typeface="Arial"/>
              <a:cs typeface="Arial"/>
              <a:sym typeface="Arial"/>
            </a:endParaRPr>
          </a:p>
          <a:p>
            <a:pPr indent="-190500" lvl="1" marL="558800" marR="0" rtl="0" algn="l">
              <a:spcBef>
                <a:spcPts val="0"/>
              </a:spcBef>
              <a:spcAft>
                <a:spcPts val="0"/>
              </a:spcAft>
              <a:buClr>
                <a:schemeClr val="dk1"/>
              </a:buClr>
              <a:buSzPts val="600"/>
              <a:buFont typeface="Noto Sans Symbols"/>
              <a:buChar char="▪"/>
            </a:pPr>
            <a:r>
              <a:rPr lang="de" sz="600">
                <a:solidFill>
                  <a:schemeClr val="dk1"/>
                </a:solidFill>
              </a:rPr>
              <a:t>Open Source</a:t>
            </a:r>
            <a:r>
              <a:rPr b="0" i="0" lang="de" sz="600" u="none" cap="none" strike="noStrike">
                <a:solidFill>
                  <a:schemeClr val="dk1"/>
                </a:solidFill>
                <a:latin typeface="Arial"/>
                <a:ea typeface="Arial"/>
                <a:cs typeface="Arial"/>
                <a:sym typeface="Arial"/>
              </a:rPr>
              <a:t> Software für Computer Vision</a:t>
            </a:r>
            <a:r>
              <a:rPr lang="de" sz="600">
                <a:solidFill>
                  <a:schemeClr val="dk1"/>
                </a:solidFill>
              </a:rPr>
              <a:t>,</a:t>
            </a:r>
            <a:r>
              <a:rPr b="0" i="0" lang="de" sz="600" u="none" cap="none" strike="noStrike">
                <a:solidFill>
                  <a:schemeClr val="dk1"/>
                </a:solidFill>
                <a:latin typeface="Arial"/>
                <a:ea typeface="Arial"/>
                <a:cs typeface="Arial"/>
                <a:sym typeface="Arial"/>
              </a:rPr>
              <a:t> ML und begrenzt auch Audio </a:t>
            </a:r>
            <a:endParaRPr sz="600"/>
          </a:p>
          <a:p>
            <a:pPr indent="-190500" lvl="1" marL="558800" marR="0" rtl="0" algn="l">
              <a:spcBef>
                <a:spcPts val="0"/>
              </a:spcBef>
              <a:spcAft>
                <a:spcPts val="0"/>
              </a:spcAft>
              <a:buClr>
                <a:schemeClr val="dk1"/>
              </a:buClr>
              <a:buSzPts val="600"/>
              <a:buFont typeface="Noto Sans Symbols"/>
              <a:buChar char="▪"/>
            </a:pPr>
            <a:r>
              <a:rPr b="0" i="0" lang="de" sz="600" u="none" cap="none" strike="noStrike">
                <a:solidFill>
                  <a:schemeClr val="dk1"/>
                </a:solidFill>
                <a:latin typeface="Arial"/>
                <a:ea typeface="Arial"/>
                <a:cs typeface="Arial"/>
                <a:sym typeface="Arial"/>
              </a:rPr>
              <a:t>hohe Marktdurchdringung, </a:t>
            </a:r>
            <a:r>
              <a:rPr lang="de" sz="600">
                <a:solidFill>
                  <a:schemeClr val="dk1"/>
                </a:solidFill>
              </a:rPr>
              <a:t>sehr große Community</a:t>
            </a:r>
            <a:endParaRPr sz="600"/>
          </a:p>
          <a:p>
            <a:pPr indent="-190500" lvl="1" marL="558800" marR="0" rtl="0" algn="l">
              <a:spcBef>
                <a:spcPts val="0"/>
              </a:spcBef>
              <a:spcAft>
                <a:spcPts val="0"/>
              </a:spcAft>
              <a:buClr>
                <a:schemeClr val="dk1"/>
              </a:buClr>
              <a:buSzPts val="600"/>
              <a:buFont typeface="Noto Sans Symbols"/>
              <a:buChar char="▪"/>
            </a:pPr>
            <a:r>
              <a:rPr b="0" i="0" lang="de" sz="600" u="none" cap="none" strike="noStrike">
                <a:solidFill>
                  <a:schemeClr val="dk1"/>
                </a:solidFill>
                <a:latin typeface="Arial"/>
                <a:ea typeface="Arial"/>
                <a:cs typeface="Arial"/>
                <a:sym typeface="Arial"/>
              </a:rPr>
              <a:t>Vorteil: Häufig eingesetzt, viele </a:t>
            </a:r>
            <a:r>
              <a:rPr lang="de" sz="600">
                <a:solidFill>
                  <a:schemeClr val="dk1"/>
                </a:solidFill>
              </a:rPr>
              <a:t>unterstützte</a:t>
            </a:r>
            <a:r>
              <a:rPr b="0" i="0" lang="de" sz="600" u="none" cap="none" strike="noStrike">
                <a:solidFill>
                  <a:schemeClr val="dk1"/>
                </a:solidFill>
                <a:latin typeface="Arial"/>
                <a:ea typeface="Arial"/>
                <a:cs typeface="Arial"/>
                <a:sym typeface="Arial"/>
              </a:rPr>
              <a:t> </a:t>
            </a:r>
            <a:r>
              <a:rPr lang="de" sz="600">
                <a:solidFill>
                  <a:schemeClr val="dk1"/>
                </a:solidFill>
              </a:rPr>
              <a:t>Programmiersprachen, optional als Cloud-Anwendung, </a:t>
            </a:r>
            <a:r>
              <a:rPr b="1" lang="de" sz="600">
                <a:solidFill>
                  <a:schemeClr val="dk1"/>
                </a:solidFill>
              </a:rPr>
              <a:t>gute Basis für Vorverarbeitung, z.B. Videoschnitt</a:t>
            </a:r>
            <a:endParaRPr b="1" sz="600"/>
          </a:p>
          <a:p>
            <a:pPr indent="0" lvl="1" marL="342900" marR="0" rtl="0" algn="l">
              <a:spcBef>
                <a:spcPts val="0"/>
              </a:spcBef>
              <a:spcAft>
                <a:spcPts val="0"/>
              </a:spcAft>
              <a:buNone/>
            </a:pPr>
            <a:r>
              <a:t/>
            </a:r>
            <a:endParaRPr b="0" i="0" sz="600" u="none" cap="none" strike="noStrike">
              <a:solidFill>
                <a:schemeClr val="dk1"/>
              </a:solidFill>
              <a:latin typeface="Arial"/>
              <a:ea typeface="Arial"/>
              <a:cs typeface="Arial"/>
              <a:sym typeface="Arial"/>
            </a:endParaRPr>
          </a:p>
          <a:p>
            <a:pPr indent="-190500" lvl="0" marL="215900" marR="0" rtl="0" algn="l">
              <a:spcBef>
                <a:spcPts val="0"/>
              </a:spcBef>
              <a:spcAft>
                <a:spcPts val="0"/>
              </a:spcAft>
              <a:buClr>
                <a:schemeClr val="dk1"/>
              </a:buClr>
              <a:buSzPts val="600"/>
              <a:buFont typeface="Noto Sans Symbols"/>
              <a:buChar char="▪"/>
            </a:pPr>
            <a:r>
              <a:rPr b="1" lang="de" sz="600">
                <a:solidFill>
                  <a:schemeClr val="dk1"/>
                </a:solidFill>
              </a:rPr>
              <a:t>Tesseract </a:t>
            </a:r>
            <a:r>
              <a:rPr lang="de" sz="600">
                <a:solidFill>
                  <a:schemeClr val="dk1"/>
                </a:solidFill>
                <a:latin typeface="Arial"/>
                <a:ea typeface="Arial"/>
                <a:cs typeface="Arial"/>
                <a:sym typeface="Arial"/>
              </a:rPr>
              <a:t>OCR Engine</a:t>
            </a:r>
            <a:endParaRPr sz="600"/>
          </a:p>
          <a:p>
            <a:pPr indent="-190500" lvl="1" marL="558800" marR="0" rtl="0" algn="l">
              <a:spcBef>
                <a:spcPts val="0"/>
              </a:spcBef>
              <a:spcAft>
                <a:spcPts val="0"/>
              </a:spcAft>
              <a:buClr>
                <a:schemeClr val="dk1"/>
              </a:buClr>
              <a:buSzPts val="600"/>
              <a:buFont typeface="Noto Sans Symbols"/>
              <a:buChar char="▪"/>
            </a:pPr>
            <a:r>
              <a:rPr b="0" i="0" lang="de" sz="600" u="none" cap="none" strike="noStrike">
                <a:solidFill>
                  <a:schemeClr val="dk1"/>
                </a:solidFill>
                <a:latin typeface="Arial"/>
                <a:ea typeface="Arial"/>
                <a:cs typeface="Arial"/>
                <a:sym typeface="Arial"/>
              </a:rPr>
              <a:t>Einfach zu verwenden</a:t>
            </a:r>
            <a:endParaRPr sz="600"/>
          </a:p>
          <a:p>
            <a:pPr indent="-190500" lvl="1" marL="558800" marR="0" rtl="0" algn="l">
              <a:spcBef>
                <a:spcPts val="0"/>
              </a:spcBef>
              <a:spcAft>
                <a:spcPts val="0"/>
              </a:spcAft>
              <a:buClr>
                <a:schemeClr val="dk1"/>
              </a:buClr>
              <a:buSzPts val="600"/>
              <a:buFont typeface="Noto Sans Symbols"/>
              <a:buChar char="▪"/>
            </a:pPr>
            <a:r>
              <a:rPr b="0" i="0" lang="de" sz="600" u="none" cap="none" strike="noStrike">
                <a:solidFill>
                  <a:schemeClr val="dk1"/>
                </a:solidFill>
                <a:latin typeface="Arial"/>
                <a:ea typeface="Arial"/>
                <a:cs typeface="Arial"/>
                <a:sym typeface="Arial"/>
              </a:rPr>
              <a:t>Geringer Automatisierungsgrad – Keine autom. Extraktion</a:t>
            </a:r>
            <a:endParaRPr b="0" i="0" sz="600" u="none" cap="none" strike="noStrike">
              <a:solidFill>
                <a:schemeClr val="dk1"/>
              </a:solidFill>
              <a:latin typeface="Arial"/>
              <a:ea typeface="Arial"/>
              <a:cs typeface="Arial"/>
              <a:sym typeface="Arial"/>
            </a:endParaRPr>
          </a:p>
          <a:p>
            <a:pPr indent="-190500" lvl="1" marL="558800" marR="0" rtl="0" algn="l">
              <a:spcBef>
                <a:spcPts val="0"/>
              </a:spcBef>
              <a:spcAft>
                <a:spcPts val="0"/>
              </a:spcAft>
              <a:buClr>
                <a:schemeClr val="dk1"/>
              </a:buClr>
              <a:buSzPts val="600"/>
              <a:buChar char="▪"/>
            </a:pPr>
            <a:r>
              <a:rPr lang="de" sz="600">
                <a:solidFill>
                  <a:schemeClr val="dk1"/>
                </a:solidFill>
              </a:rPr>
              <a:t>Einsatz z.B. zum lesen von Untertiteln/Schildern/Briefen</a:t>
            </a:r>
            <a:endParaRPr sz="600">
              <a:solidFill>
                <a:schemeClr val="dk1"/>
              </a:solidFill>
            </a:endParaRPr>
          </a:p>
          <a:p>
            <a:pPr indent="0" lvl="1" marL="342900" marR="0" rtl="0" algn="l">
              <a:spcBef>
                <a:spcPts val="0"/>
              </a:spcBef>
              <a:spcAft>
                <a:spcPts val="0"/>
              </a:spcAft>
              <a:buNone/>
            </a:pPr>
            <a:r>
              <a:t/>
            </a:r>
            <a:endParaRPr b="0" i="0" sz="600" u="none" cap="none" strike="noStrike">
              <a:solidFill>
                <a:schemeClr val="dk1"/>
              </a:solidFill>
              <a:latin typeface="Arial"/>
              <a:ea typeface="Arial"/>
              <a:cs typeface="Arial"/>
              <a:sym typeface="Arial"/>
            </a:endParaRPr>
          </a:p>
          <a:p>
            <a:pPr indent="-190500" lvl="0" marL="215900" marR="0" rtl="0" algn="l">
              <a:spcBef>
                <a:spcPts val="0"/>
              </a:spcBef>
              <a:spcAft>
                <a:spcPts val="0"/>
              </a:spcAft>
              <a:buClr>
                <a:schemeClr val="dk1"/>
              </a:buClr>
              <a:buSzPts val="600"/>
              <a:buFont typeface="Noto Sans Symbols"/>
              <a:buChar char="▪"/>
            </a:pPr>
            <a:r>
              <a:rPr b="1" lang="de" sz="600">
                <a:solidFill>
                  <a:schemeClr val="dk1"/>
                </a:solidFill>
              </a:rPr>
              <a:t>YOLO</a:t>
            </a:r>
            <a:r>
              <a:rPr lang="de" sz="600">
                <a:solidFill>
                  <a:schemeClr val="dk1"/>
                </a:solidFill>
                <a:latin typeface="Arial"/>
                <a:ea typeface="Arial"/>
                <a:cs typeface="Arial"/>
                <a:sym typeface="Arial"/>
              </a:rPr>
              <a:t> (You </a:t>
            </a:r>
            <a:r>
              <a:rPr lang="de" sz="600">
                <a:solidFill>
                  <a:schemeClr val="dk1"/>
                </a:solidFill>
              </a:rPr>
              <a:t>O</a:t>
            </a:r>
            <a:r>
              <a:rPr lang="de" sz="600">
                <a:solidFill>
                  <a:schemeClr val="dk1"/>
                </a:solidFill>
                <a:latin typeface="Arial"/>
                <a:ea typeface="Arial"/>
                <a:cs typeface="Arial"/>
                <a:sym typeface="Arial"/>
              </a:rPr>
              <a:t>nly </a:t>
            </a:r>
            <a:r>
              <a:rPr lang="de" sz="600">
                <a:solidFill>
                  <a:schemeClr val="dk1"/>
                </a:solidFill>
              </a:rPr>
              <a:t>Look Once) </a:t>
            </a:r>
            <a:r>
              <a:rPr lang="de" sz="600">
                <a:solidFill>
                  <a:schemeClr val="dk1"/>
                </a:solidFill>
                <a:latin typeface="Arial"/>
                <a:ea typeface="Arial"/>
                <a:cs typeface="Arial"/>
                <a:sym typeface="Arial"/>
              </a:rPr>
              <a:t>Objekt</a:t>
            </a:r>
            <a:r>
              <a:rPr lang="de" sz="600">
                <a:solidFill>
                  <a:schemeClr val="dk1"/>
                </a:solidFill>
              </a:rPr>
              <a:t>detektion</a:t>
            </a:r>
            <a:endParaRPr sz="600"/>
          </a:p>
          <a:p>
            <a:pPr indent="-190500" lvl="1" marL="558800" marR="0" rtl="0" algn="l">
              <a:spcBef>
                <a:spcPts val="0"/>
              </a:spcBef>
              <a:spcAft>
                <a:spcPts val="0"/>
              </a:spcAft>
              <a:buClr>
                <a:schemeClr val="dk1"/>
              </a:buClr>
              <a:buSzPts val="600"/>
              <a:buFont typeface="Noto Sans Symbols"/>
              <a:buChar char="▪"/>
            </a:pPr>
            <a:r>
              <a:rPr b="0" i="0" lang="de" sz="600" u="none" cap="none" strike="noStrike">
                <a:solidFill>
                  <a:schemeClr val="dk1"/>
                </a:solidFill>
                <a:latin typeface="Arial"/>
                <a:ea typeface="Arial"/>
                <a:cs typeface="Arial"/>
                <a:sym typeface="Arial"/>
              </a:rPr>
              <a:t>Objekterkennung, Objektsegmentierung</a:t>
            </a:r>
            <a:endParaRPr sz="600">
              <a:solidFill>
                <a:schemeClr val="dk1"/>
              </a:solidFill>
            </a:endParaRPr>
          </a:p>
          <a:p>
            <a:pPr indent="-190500" lvl="1" marL="558800" marR="0" rtl="0" algn="l">
              <a:spcBef>
                <a:spcPts val="0"/>
              </a:spcBef>
              <a:spcAft>
                <a:spcPts val="0"/>
              </a:spcAft>
              <a:buClr>
                <a:schemeClr val="dk1"/>
              </a:buClr>
              <a:buSzPts val="600"/>
              <a:buFont typeface="Noto Sans Symbols"/>
              <a:buChar char="▪"/>
            </a:pPr>
            <a:r>
              <a:rPr b="0" i="0" lang="de" sz="600" u="none" cap="none" strike="noStrike">
                <a:solidFill>
                  <a:schemeClr val="dk1"/>
                </a:solidFill>
                <a:latin typeface="Arial"/>
                <a:ea typeface="Arial"/>
                <a:cs typeface="Arial"/>
                <a:sym typeface="Arial"/>
              </a:rPr>
              <a:t>Mittelmäßig großer Aufwand bei der Implementierung und Auswertung</a:t>
            </a:r>
            <a:endParaRPr b="0" i="0" sz="600" u="none" cap="none" strike="noStrike">
              <a:solidFill>
                <a:schemeClr val="dk1"/>
              </a:solidFill>
              <a:latin typeface="Arial"/>
              <a:ea typeface="Arial"/>
              <a:cs typeface="Arial"/>
              <a:sym typeface="Arial"/>
            </a:endParaRPr>
          </a:p>
          <a:p>
            <a:pPr indent="-190500" lvl="1" marL="558800" marR="0" rtl="0" algn="l">
              <a:spcBef>
                <a:spcPts val="0"/>
              </a:spcBef>
              <a:spcAft>
                <a:spcPts val="0"/>
              </a:spcAft>
              <a:buClr>
                <a:schemeClr val="dk1"/>
              </a:buClr>
              <a:buSzPts val="600"/>
              <a:buChar char="▪"/>
            </a:pPr>
            <a:r>
              <a:rPr lang="de" sz="600">
                <a:solidFill>
                  <a:schemeClr val="dk1"/>
                </a:solidFill>
              </a:rPr>
              <a:t>Gut für Vorverarbeitung</a:t>
            </a:r>
            <a:endParaRPr sz="600">
              <a:solidFill>
                <a:schemeClr val="dk1"/>
              </a:solidFill>
            </a:endParaRPr>
          </a:p>
          <a:p>
            <a:pPr indent="-190500" lvl="1" marL="558800" marR="0" rtl="0" algn="l">
              <a:spcBef>
                <a:spcPts val="0"/>
              </a:spcBef>
              <a:spcAft>
                <a:spcPts val="0"/>
              </a:spcAft>
              <a:buClr>
                <a:schemeClr val="dk1"/>
              </a:buClr>
              <a:buSzPts val="600"/>
              <a:buChar char="▪"/>
            </a:pPr>
            <a:r>
              <a:rPr lang="de" sz="600">
                <a:solidFill>
                  <a:schemeClr val="dk1"/>
                </a:solidFill>
              </a:rPr>
              <a:t>Keine Landmarken oder Szenenerkennung</a:t>
            </a:r>
            <a:endParaRPr sz="600">
              <a:solidFill>
                <a:schemeClr val="dk1"/>
              </a:solidFill>
            </a:endParaRPr>
          </a:p>
          <a:p>
            <a:pPr indent="-152400" lvl="1" marL="558800" marR="0" rtl="0" algn="l">
              <a:spcBef>
                <a:spcPts val="0"/>
              </a:spcBef>
              <a:spcAft>
                <a:spcPts val="0"/>
              </a:spcAft>
              <a:buClr>
                <a:schemeClr val="dk1"/>
              </a:buClr>
              <a:buSzPts val="900"/>
              <a:buFont typeface="Noto Sans Symbols"/>
              <a:buNone/>
            </a:pPr>
            <a:r>
              <a:t/>
            </a:r>
            <a:endParaRPr b="0" i="0" sz="600" u="none" cap="none" strike="noStrike">
              <a:solidFill>
                <a:schemeClr val="dk1"/>
              </a:solidFill>
              <a:latin typeface="Arial"/>
              <a:ea typeface="Arial"/>
              <a:cs typeface="Arial"/>
              <a:sym typeface="Arial"/>
            </a:endParaRPr>
          </a:p>
          <a:p>
            <a:pPr indent="-190500" lvl="0" marL="215900" marR="0" rtl="0" algn="l">
              <a:spcBef>
                <a:spcPts val="0"/>
              </a:spcBef>
              <a:spcAft>
                <a:spcPts val="0"/>
              </a:spcAft>
              <a:buClr>
                <a:schemeClr val="dk1"/>
              </a:buClr>
              <a:buSzPts val="600"/>
              <a:buFont typeface="Noto Sans Symbols"/>
              <a:buChar char="▪"/>
            </a:pPr>
            <a:r>
              <a:rPr b="1" lang="de" sz="600">
                <a:solidFill>
                  <a:schemeClr val="dk1"/>
                </a:solidFill>
              </a:rPr>
              <a:t>CascadeClassifier </a:t>
            </a:r>
            <a:r>
              <a:rPr lang="de" sz="600">
                <a:solidFill>
                  <a:schemeClr val="dk1"/>
                </a:solidFill>
              </a:rPr>
              <a:t>(OpenCV Modul)</a:t>
            </a:r>
            <a:endParaRPr sz="600">
              <a:solidFill>
                <a:schemeClr val="dk1"/>
              </a:solidFill>
            </a:endParaRPr>
          </a:p>
          <a:p>
            <a:pPr indent="-190500" lvl="1" marL="558800" marR="0" rtl="0" algn="l">
              <a:spcBef>
                <a:spcPts val="0"/>
              </a:spcBef>
              <a:spcAft>
                <a:spcPts val="0"/>
              </a:spcAft>
              <a:buClr>
                <a:schemeClr val="dk1"/>
              </a:buClr>
              <a:buSzPts val="600"/>
              <a:buFont typeface="Noto Sans Symbols"/>
              <a:buChar char="▪"/>
            </a:pPr>
            <a:r>
              <a:rPr b="0" i="0" lang="de" sz="600" u="none" cap="none" strike="noStrike">
                <a:solidFill>
                  <a:schemeClr val="dk1"/>
                </a:solidFill>
                <a:latin typeface="Arial"/>
                <a:ea typeface="Arial"/>
                <a:cs typeface="Arial"/>
                <a:sym typeface="Arial"/>
              </a:rPr>
              <a:t>Kann z.B. für Gesichts(wieder)erkennung genutzt werden</a:t>
            </a:r>
            <a:endParaRPr b="0" i="0" sz="600" u="none" cap="none" strike="noStrike">
              <a:solidFill>
                <a:schemeClr val="dk1"/>
              </a:solidFill>
              <a:latin typeface="Arial"/>
              <a:ea typeface="Arial"/>
              <a:cs typeface="Arial"/>
              <a:sym typeface="Arial"/>
            </a:endParaRPr>
          </a:p>
          <a:p>
            <a:pPr indent="-190500" lvl="1" marL="558800" marR="0" rtl="0" algn="l">
              <a:spcBef>
                <a:spcPts val="0"/>
              </a:spcBef>
              <a:spcAft>
                <a:spcPts val="0"/>
              </a:spcAft>
              <a:buClr>
                <a:schemeClr val="dk1"/>
              </a:buClr>
              <a:buSzPts val="600"/>
              <a:buChar char="▪"/>
            </a:pPr>
            <a:r>
              <a:rPr lang="de" sz="600">
                <a:solidFill>
                  <a:schemeClr val="dk1"/>
                </a:solidFill>
              </a:rPr>
              <a:t>Optional auch für </a:t>
            </a:r>
            <a:r>
              <a:rPr lang="de" sz="600">
                <a:solidFill>
                  <a:schemeClr val="dk1"/>
                </a:solidFill>
              </a:rPr>
              <a:t>Objekte-Wiedererkennung</a:t>
            </a:r>
            <a:r>
              <a:rPr lang="de" sz="600">
                <a:solidFill>
                  <a:schemeClr val="dk1"/>
                </a:solidFill>
              </a:rPr>
              <a:t> (alternativ: </a:t>
            </a:r>
            <a:endParaRPr sz="600">
              <a:solidFill>
                <a:schemeClr val="dk1"/>
              </a:solidFill>
            </a:endParaRPr>
          </a:p>
          <a:p>
            <a:pPr indent="-190500" lvl="1" marL="558800" marR="0" rtl="0" algn="l">
              <a:spcBef>
                <a:spcPts val="0"/>
              </a:spcBef>
              <a:spcAft>
                <a:spcPts val="0"/>
              </a:spcAft>
              <a:buClr>
                <a:schemeClr val="dk1"/>
              </a:buClr>
              <a:buSzPts val="600"/>
              <a:buFont typeface="Noto Sans Symbols"/>
              <a:buChar char="▪"/>
            </a:pPr>
            <a:r>
              <a:rPr b="0" i="0" lang="de" sz="600" u="none" cap="none" strike="noStrike">
                <a:solidFill>
                  <a:schemeClr val="dk1"/>
                </a:solidFill>
                <a:latin typeface="Arial"/>
                <a:ea typeface="Arial"/>
                <a:cs typeface="Arial"/>
                <a:sym typeface="Arial"/>
              </a:rPr>
              <a:t>Einfach trainierbar</a:t>
            </a:r>
            <a:endParaRPr sz="600">
              <a:solidFill>
                <a:schemeClr val="dk1"/>
              </a:solidFill>
            </a:endParaRPr>
          </a:p>
          <a:p>
            <a:pPr indent="0" lvl="0" marL="457200" marR="0" rtl="0" algn="l">
              <a:spcBef>
                <a:spcPts val="0"/>
              </a:spcBef>
              <a:spcAft>
                <a:spcPts val="0"/>
              </a:spcAft>
              <a:buNone/>
            </a:pPr>
            <a:r>
              <a:t/>
            </a:r>
            <a:endParaRPr b="1" sz="600">
              <a:solidFill>
                <a:schemeClr val="dk1"/>
              </a:solidFill>
            </a:endParaRPr>
          </a:p>
          <a:p>
            <a:pPr indent="-218099" lvl="0" marL="224999" marR="0" rtl="0" algn="l">
              <a:spcBef>
                <a:spcPts val="0"/>
              </a:spcBef>
              <a:spcAft>
                <a:spcPts val="0"/>
              </a:spcAft>
              <a:buClr>
                <a:schemeClr val="dk1"/>
              </a:buClr>
              <a:buSzPts val="600"/>
              <a:buFont typeface="Noto Sans Symbols"/>
              <a:buChar char="▪"/>
            </a:pPr>
            <a:r>
              <a:rPr b="1" lang="de" sz="600">
                <a:solidFill>
                  <a:schemeClr val="dk1"/>
                </a:solidFill>
              </a:rPr>
              <a:t>MediaPipe Holistic (Google Framework)</a:t>
            </a:r>
            <a:endParaRPr b="1" sz="600">
              <a:solidFill>
                <a:schemeClr val="dk1"/>
              </a:solidFill>
            </a:endParaRPr>
          </a:p>
          <a:p>
            <a:pPr indent="-218099" lvl="1" marL="540000" marR="0" rtl="0" algn="l">
              <a:spcBef>
                <a:spcPts val="0"/>
              </a:spcBef>
              <a:spcAft>
                <a:spcPts val="0"/>
              </a:spcAft>
              <a:buClr>
                <a:schemeClr val="dk1"/>
              </a:buClr>
              <a:buSzPts val="600"/>
              <a:buChar char="▪"/>
            </a:pPr>
            <a:r>
              <a:rPr lang="de" sz="600">
                <a:solidFill>
                  <a:schemeClr val="dk1"/>
                </a:solidFill>
              </a:rPr>
              <a:t>Kombiniert Ganzkörper-, Gesichts- und Handtracking – ideal für Bewegungsanalyse, Gestenerkennung und Animationen.</a:t>
            </a:r>
            <a:endParaRPr sz="600">
              <a:solidFill>
                <a:schemeClr val="dk1"/>
              </a:solidFill>
            </a:endParaRPr>
          </a:p>
          <a:p>
            <a:pPr indent="-218099" lvl="0" marL="540000" marR="0" rtl="0" algn="l">
              <a:spcBef>
                <a:spcPts val="0"/>
              </a:spcBef>
              <a:spcAft>
                <a:spcPts val="0"/>
              </a:spcAft>
              <a:buClr>
                <a:schemeClr val="dk1"/>
              </a:buClr>
              <a:buSzPts val="600"/>
              <a:buChar char="▪"/>
            </a:pPr>
            <a:r>
              <a:rPr lang="de" sz="600">
                <a:solidFill>
                  <a:schemeClr val="dk1"/>
                </a:solidFill>
              </a:rPr>
              <a:t>Pose / Hands / Face Mesh: Pipelines für Körperbereiche mit hoher Genauigkeit</a:t>
            </a:r>
            <a:endParaRPr sz="600">
              <a:solidFill>
                <a:schemeClr val="dk1"/>
              </a:solidFill>
            </a:endParaRPr>
          </a:p>
          <a:p>
            <a:pPr indent="0" lvl="0" marL="457200" marR="0" rtl="0" algn="l">
              <a:spcBef>
                <a:spcPts val="0"/>
              </a:spcBef>
              <a:spcAft>
                <a:spcPts val="0"/>
              </a:spcAft>
              <a:buNone/>
            </a:pPr>
            <a:r>
              <a:t/>
            </a:r>
            <a:endParaRPr b="1" i="1" sz="600">
              <a:solidFill>
                <a:schemeClr val="dk1"/>
              </a:solidFill>
            </a:endParaRPr>
          </a:p>
          <a:p>
            <a:pPr indent="-218099" lvl="0" marL="224999" marR="0" rtl="0" algn="l">
              <a:spcBef>
                <a:spcPts val="0"/>
              </a:spcBef>
              <a:spcAft>
                <a:spcPts val="0"/>
              </a:spcAft>
              <a:buClr>
                <a:schemeClr val="dk1"/>
              </a:buClr>
              <a:buSzPts val="600"/>
              <a:buChar char="▪"/>
            </a:pPr>
            <a:r>
              <a:rPr b="1" i="1" lang="de" sz="600">
                <a:solidFill>
                  <a:schemeClr val="dk1"/>
                </a:solidFill>
              </a:rPr>
              <a:t>MediaPipe Audio: </a:t>
            </a:r>
            <a:r>
              <a:rPr lang="de" sz="600">
                <a:solidFill>
                  <a:schemeClr val="dk1"/>
                </a:solidFill>
              </a:rPr>
              <a:t>Tools für Sprachverarbeitung, Audio-Klassifikation und Geräuscherkennung (z.B. Yamnet Modell)</a:t>
            </a:r>
            <a:endParaRPr sz="600">
              <a:solidFill>
                <a:schemeClr val="dk1"/>
              </a:solidFill>
            </a:endParaRPr>
          </a:p>
          <a:p>
            <a:pPr indent="-152400" lvl="1" marL="558800" marR="0" rtl="0" algn="l">
              <a:spcBef>
                <a:spcPts val="0"/>
              </a:spcBef>
              <a:spcAft>
                <a:spcPts val="0"/>
              </a:spcAft>
              <a:buClr>
                <a:schemeClr val="dk1"/>
              </a:buClr>
              <a:buSzPts val="900"/>
              <a:buFont typeface="Noto Sans Symbols"/>
              <a:buNone/>
            </a:pPr>
            <a:r>
              <a:t/>
            </a:r>
            <a:endParaRPr b="0" i="0" sz="600" u="none" cap="none" strike="noStrike">
              <a:solidFill>
                <a:schemeClr val="dk1"/>
              </a:solidFill>
              <a:latin typeface="Arial"/>
              <a:ea typeface="Arial"/>
              <a:cs typeface="Arial"/>
              <a:sym typeface="Arial"/>
            </a:endParaRPr>
          </a:p>
          <a:p>
            <a:pPr indent="-190500" lvl="0" marL="215900" marR="0" rtl="0" algn="l">
              <a:spcBef>
                <a:spcPts val="0"/>
              </a:spcBef>
              <a:spcAft>
                <a:spcPts val="0"/>
              </a:spcAft>
              <a:buClr>
                <a:schemeClr val="dk1"/>
              </a:buClr>
              <a:buSzPts val="600"/>
              <a:buFont typeface="Noto Sans Symbols"/>
              <a:buChar char="▪"/>
            </a:pPr>
            <a:r>
              <a:rPr lang="de" sz="600">
                <a:solidFill>
                  <a:schemeClr val="dk1"/>
                </a:solidFill>
              </a:rPr>
              <a:t>Modulweise möglich</a:t>
            </a:r>
            <a:endParaRPr sz="600">
              <a:solidFill>
                <a:schemeClr val="dk1"/>
              </a:solidFill>
            </a:endParaRPr>
          </a:p>
          <a:p>
            <a:pPr indent="0" lvl="0" marL="457200" marR="0" rtl="0" algn="l">
              <a:spcBef>
                <a:spcPts val="0"/>
              </a:spcBef>
              <a:spcAft>
                <a:spcPts val="0"/>
              </a:spcAft>
              <a:buNone/>
            </a:pPr>
            <a:r>
              <a:t/>
            </a:r>
            <a:endParaRPr sz="600">
              <a:solidFill>
                <a:schemeClr val="dk1"/>
              </a:solidFill>
            </a:endParaRPr>
          </a:p>
          <a:p>
            <a:pPr indent="-190500" lvl="0" marL="215900" marR="0" rtl="0" algn="l">
              <a:spcBef>
                <a:spcPts val="0"/>
              </a:spcBef>
              <a:spcAft>
                <a:spcPts val="0"/>
              </a:spcAft>
              <a:buClr>
                <a:schemeClr val="dk1"/>
              </a:buClr>
              <a:buSzPts val="600"/>
              <a:buFont typeface="Noto Sans Symbols"/>
              <a:buChar char="▪"/>
            </a:pPr>
            <a:r>
              <a:rPr lang="de" sz="600">
                <a:solidFill>
                  <a:schemeClr val="dk1"/>
                </a:solidFill>
                <a:latin typeface="Arial"/>
                <a:ea typeface="Arial"/>
                <a:cs typeface="Arial"/>
                <a:sym typeface="Arial"/>
              </a:rPr>
              <a:t>Kompatibel mit weiteren ML Modulen, z.B. mit </a:t>
            </a:r>
            <a:r>
              <a:rPr lang="de" sz="600">
                <a:solidFill>
                  <a:schemeClr val="dk1"/>
                </a:solidFill>
              </a:rPr>
              <a:t>Tensor Flow</a:t>
            </a:r>
            <a:r>
              <a:rPr lang="de" sz="600">
                <a:solidFill>
                  <a:schemeClr val="dk1"/>
                </a:solidFill>
                <a:latin typeface="Arial"/>
                <a:ea typeface="Arial"/>
                <a:cs typeface="Arial"/>
                <a:sym typeface="Arial"/>
              </a:rPr>
              <a:t>, </a:t>
            </a:r>
            <a:r>
              <a:rPr lang="de" sz="600">
                <a:solidFill>
                  <a:schemeClr val="dk1"/>
                </a:solidFill>
              </a:rPr>
              <a:t>Py Torch</a:t>
            </a:r>
            <a:r>
              <a:rPr lang="de" sz="600">
                <a:solidFill>
                  <a:schemeClr val="dk1"/>
                </a:solidFill>
                <a:latin typeface="Arial"/>
                <a:ea typeface="Arial"/>
                <a:cs typeface="Arial"/>
                <a:sym typeface="Arial"/>
              </a:rPr>
              <a:t> etc.</a:t>
            </a:r>
            <a:endParaRPr sz="600"/>
          </a:p>
          <a:p>
            <a:pPr indent="-266700" lvl="1" marL="540000" marR="0" rtl="0" algn="l">
              <a:spcBef>
                <a:spcPts val="0"/>
              </a:spcBef>
              <a:spcAft>
                <a:spcPts val="0"/>
              </a:spcAft>
              <a:buClr>
                <a:schemeClr val="dk1"/>
              </a:buClr>
              <a:buSzPts val="600"/>
              <a:buFont typeface="Noto Sans Symbols"/>
              <a:buChar char="▪"/>
            </a:pPr>
            <a:r>
              <a:rPr lang="de" sz="600">
                <a:solidFill>
                  <a:schemeClr val="dk1"/>
                </a:solidFill>
                <a:latin typeface="Arial"/>
                <a:ea typeface="Arial"/>
                <a:cs typeface="Arial"/>
                <a:sym typeface="Arial"/>
              </a:rPr>
              <a:t>Vorteil: Kostenfreie Software</a:t>
            </a:r>
            <a:r>
              <a:rPr lang="de" sz="600">
                <a:solidFill>
                  <a:schemeClr val="dk1"/>
                </a:solidFill>
              </a:rPr>
              <a:t>, oft auch kommerziell nutzbar</a:t>
            </a:r>
            <a:endParaRPr sz="600">
              <a:solidFill>
                <a:schemeClr val="dk1"/>
              </a:solidFill>
              <a:latin typeface="Arial"/>
              <a:ea typeface="Arial"/>
              <a:cs typeface="Arial"/>
              <a:sym typeface="Arial"/>
            </a:endParaRPr>
          </a:p>
          <a:p>
            <a:pPr indent="-266700" lvl="1" marL="540000" marR="0" rtl="0" algn="l">
              <a:spcBef>
                <a:spcPts val="0"/>
              </a:spcBef>
              <a:spcAft>
                <a:spcPts val="0"/>
              </a:spcAft>
              <a:buClr>
                <a:schemeClr val="dk1"/>
              </a:buClr>
              <a:buSzPts val="600"/>
              <a:buFont typeface="Noto Sans Symbols"/>
              <a:buChar char="▪"/>
            </a:pPr>
            <a:r>
              <a:rPr lang="de" sz="600">
                <a:solidFill>
                  <a:schemeClr val="dk1"/>
                </a:solidFill>
                <a:latin typeface="Arial"/>
                <a:ea typeface="Arial"/>
                <a:cs typeface="Arial"/>
                <a:sym typeface="Arial"/>
              </a:rPr>
              <a:t>Nachteil: Hoher Aufwand, geringer Automatisierungsgrad</a:t>
            </a:r>
            <a:endParaRPr sz="600">
              <a:solidFill>
                <a:schemeClr val="dk1"/>
              </a:solidFill>
              <a:latin typeface="Arial"/>
              <a:ea typeface="Arial"/>
              <a:cs typeface="Arial"/>
              <a:sym typeface="Arial"/>
            </a:endParaRPr>
          </a:p>
          <a:p>
            <a:pPr indent="0" lvl="0" marL="914400" marR="0" rtl="0" algn="l">
              <a:spcBef>
                <a:spcPts val="0"/>
              </a:spcBef>
              <a:spcAft>
                <a:spcPts val="0"/>
              </a:spcAft>
              <a:buNone/>
            </a:pPr>
            <a:r>
              <a:t/>
            </a:r>
            <a:endParaRPr sz="600">
              <a:solidFill>
                <a:schemeClr val="dk1"/>
              </a:solidFill>
            </a:endParaRPr>
          </a:p>
          <a:p>
            <a:pPr indent="-266700" lvl="0" marL="269999" marR="0" rtl="0" algn="l">
              <a:spcBef>
                <a:spcPts val="0"/>
              </a:spcBef>
              <a:spcAft>
                <a:spcPts val="0"/>
              </a:spcAft>
              <a:buClr>
                <a:schemeClr val="dk1"/>
              </a:buClr>
              <a:buSzPts val="600"/>
              <a:buChar char="▪"/>
            </a:pPr>
            <a:r>
              <a:rPr lang="de" sz="600">
                <a:solidFill>
                  <a:schemeClr val="dk1"/>
                </a:solidFill>
              </a:rPr>
              <a:t>Zeitaufwändig: Umfangreiche Einarbeitung in alle Bibliotheken notwendig. </a:t>
            </a:r>
            <a:endParaRPr sz="600">
              <a:solidFill>
                <a:schemeClr val="dk1"/>
              </a:solidFill>
            </a:endParaRPr>
          </a:p>
          <a:p>
            <a:pPr indent="-266700" lvl="0" marL="269999" marR="0" rtl="0" algn="l">
              <a:spcBef>
                <a:spcPts val="0"/>
              </a:spcBef>
              <a:spcAft>
                <a:spcPts val="0"/>
              </a:spcAft>
              <a:buClr>
                <a:schemeClr val="dk1"/>
              </a:buClr>
              <a:buSzPts val="600"/>
              <a:buChar char="▪"/>
            </a:pPr>
            <a:r>
              <a:rPr lang="de" sz="600">
                <a:solidFill>
                  <a:schemeClr val="dk1"/>
                </a:solidFill>
              </a:rPr>
              <a:t>Verknüpfung vieler Module erfordert mehr Planung, Test und Abstimmung</a:t>
            </a:r>
            <a:endParaRPr sz="600">
              <a:solidFill>
                <a:schemeClr val="dk1"/>
              </a:solidFill>
            </a:endParaRPr>
          </a:p>
        </p:txBody>
      </p:sp>
      <p:pic>
        <p:nvPicPr>
          <p:cNvPr id="459" name="Google Shape;459;p43"/>
          <p:cNvPicPr preferRelativeResize="0"/>
          <p:nvPr/>
        </p:nvPicPr>
        <p:blipFill rotWithShape="1">
          <a:blip r:embed="rId3">
            <a:alphaModFix/>
          </a:blip>
          <a:srcRect b="21401" l="3136" r="7228" t="16122"/>
          <a:stretch/>
        </p:blipFill>
        <p:spPr>
          <a:xfrm>
            <a:off x="4986900" y="1116176"/>
            <a:ext cx="1723291" cy="2103650"/>
          </a:xfrm>
          <a:prstGeom prst="rect">
            <a:avLst/>
          </a:prstGeom>
          <a:noFill/>
          <a:ln>
            <a:noFill/>
          </a:ln>
        </p:spPr>
      </p:pic>
      <p:sp>
        <p:nvSpPr>
          <p:cNvPr id="460" name="Google Shape;460;p43"/>
          <p:cNvSpPr txBox="1"/>
          <p:nvPr/>
        </p:nvSpPr>
        <p:spPr>
          <a:xfrm>
            <a:off x="342950" y="1300300"/>
            <a:ext cx="9051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de" sz="600">
                <a:solidFill>
                  <a:schemeClr val="dk1"/>
                </a:solidFill>
              </a:rPr>
              <a:t>Technologischer Überblick</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Text-, Bild-, Video-, Audio-Analyse</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Integration &amp; Umsetzung</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Tests</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Anpassbarkeit</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rPr b="1" lang="de" sz="600">
                <a:solidFill>
                  <a:schemeClr val="dk1"/>
                </a:solidFill>
              </a:rPr>
              <a:t>Einarbeitung</a:t>
            </a:r>
            <a:endParaRPr b="1" sz="600">
              <a:solidFill>
                <a:schemeClr val="dk1"/>
              </a:solidFill>
            </a:endParaRPr>
          </a:p>
          <a:p>
            <a:pPr indent="0" lvl="0" marL="0" rtl="0" algn="l">
              <a:spcBef>
                <a:spcPts val="0"/>
              </a:spcBef>
              <a:spcAft>
                <a:spcPts val="0"/>
              </a:spcAft>
              <a:buNone/>
            </a:pPr>
            <a:r>
              <a:t/>
            </a:r>
            <a:endParaRPr b="1" sz="600">
              <a:solidFill>
                <a:schemeClr val="dk1"/>
              </a:solidFill>
            </a:endParaRPr>
          </a:p>
          <a:p>
            <a:pPr indent="0" lvl="0" marL="0" rtl="0" algn="l">
              <a:spcBef>
                <a:spcPts val="0"/>
              </a:spcBef>
              <a:spcAft>
                <a:spcPts val="0"/>
              </a:spcAft>
              <a:buNone/>
            </a:pPr>
            <a:r>
              <a:t/>
            </a:r>
            <a:endParaRPr b="1" sz="600">
              <a:solidFill>
                <a:schemeClr val="dk1"/>
              </a:solidFill>
            </a:endParaRPr>
          </a:p>
        </p:txBody>
      </p:sp>
      <p:pic>
        <p:nvPicPr>
          <p:cNvPr id="461" name="Google Shape;461;p43"/>
          <p:cNvPicPr preferRelativeResize="0"/>
          <p:nvPr/>
        </p:nvPicPr>
        <p:blipFill>
          <a:blip r:embed="rId4">
            <a:alphaModFix/>
          </a:blip>
          <a:stretch>
            <a:fillRect/>
          </a:stretch>
        </p:blipFill>
        <p:spPr>
          <a:xfrm>
            <a:off x="4162774" y="3341475"/>
            <a:ext cx="611500" cy="142200"/>
          </a:xfrm>
          <a:prstGeom prst="rect">
            <a:avLst/>
          </a:prstGeom>
          <a:noFill/>
          <a:ln>
            <a:noFill/>
          </a:ln>
        </p:spPr>
      </p:pic>
      <p:grpSp>
        <p:nvGrpSpPr>
          <p:cNvPr id="462" name="Google Shape;462;p43"/>
          <p:cNvGrpSpPr/>
          <p:nvPr/>
        </p:nvGrpSpPr>
        <p:grpSpPr>
          <a:xfrm>
            <a:off x="6808025" y="1116175"/>
            <a:ext cx="2187375" cy="2365250"/>
            <a:chOff x="6808025" y="1116175"/>
            <a:chExt cx="2187375" cy="2365250"/>
          </a:xfrm>
        </p:grpSpPr>
        <p:sp>
          <p:nvSpPr>
            <p:cNvPr id="463" name="Google Shape;463;p43"/>
            <p:cNvSpPr txBox="1"/>
            <p:nvPr/>
          </p:nvSpPr>
          <p:spPr>
            <a:xfrm>
              <a:off x="6808025" y="3219825"/>
              <a:ext cx="21873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500"/>
                <a:t>Quelle: </a:t>
              </a:r>
              <a:r>
                <a:rPr lang="de" sz="500"/>
                <a:t>https://www.youtube.com/watch?v=Lo-0q6l0btA</a:t>
              </a:r>
              <a:endParaRPr sz="500"/>
            </a:p>
          </p:txBody>
        </p:sp>
        <p:pic>
          <p:nvPicPr>
            <p:cNvPr id="464" name="Google Shape;464;p43"/>
            <p:cNvPicPr preferRelativeResize="0"/>
            <p:nvPr/>
          </p:nvPicPr>
          <p:blipFill>
            <a:blip r:embed="rId5">
              <a:alphaModFix/>
            </a:blip>
            <a:stretch>
              <a:fillRect/>
            </a:stretch>
          </p:blipFill>
          <p:spPr>
            <a:xfrm>
              <a:off x="6808032" y="1116175"/>
              <a:ext cx="2187369" cy="2103651"/>
            </a:xfrm>
            <a:prstGeom prst="rect">
              <a:avLst/>
            </a:prstGeom>
            <a:noFill/>
            <a:ln>
              <a:noFill/>
            </a:ln>
          </p:spPr>
        </p:pic>
      </p:grpSp>
      <p:pic>
        <p:nvPicPr>
          <p:cNvPr id="465" name="Google Shape;465;p43"/>
          <p:cNvPicPr preferRelativeResize="0"/>
          <p:nvPr/>
        </p:nvPicPr>
        <p:blipFill>
          <a:blip r:embed="rId6">
            <a:alphaModFix/>
          </a:blip>
          <a:stretch>
            <a:fillRect/>
          </a:stretch>
        </p:blipFill>
        <p:spPr>
          <a:xfrm>
            <a:off x="4217050" y="1197075"/>
            <a:ext cx="502950" cy="251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44"/>
          <p:cNvSpPr txBox="1"/>
          <p:nvPr/>
        </p:nvSpPr>
        <p:spPr>
          <a:xfrm>
            <a:off x="5481300" y="2201850"/>
            <a:ext cx="3528600" cy="2729400"/>
          </a:xfrm>
          <a:prstGeom prst="rect">
            <a:avLst/>
          </a:prstGeom>
          <a:solidFill>
            <a:srgbClr val="328D96">
              <a:alpha val="24710"/>
            </a:srgbClr>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800">
              <a:solidFill>
                <a:schemeClr val="dk1"/>
              </a:solidFill>
            </a:endParaRPr>
          </a:p>
        </p:txBody>
      </p:sp>
      <p:graphicFrame>
        <p:nvGraphicFramePr>
          <p:cNvPr id="472" name="Google Shape;472;p44"/>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473" name="Google Shape;473;p44"/>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lang="de" sz="1500">
                <a:solidFill>
                  <a:schemeClr val="dk1"/>
                </a:solidFill>
                <a:latin typeface="Arial"/>
                <a:ea typeface="Arial"/>
                <a:cs typeface="Arial"/>
                <a:sym typeface="Arial"/>
              </a:rPr>
              <a:t>4️⃣</a:t>
            </a:r>
            <a:r>
              <a:rPr b="1" i="0" lang="de" sz="1500" u="none" cap="none" strike="noStrike">
                <a:solidFill>
                  <a:schemeClr val="dk1"/>
                </a:solidFill>
                <a:latin typeface="Arial"/>
                <a:ea typeface="Arial"/>
                <a:cs typeface="Arial"/>
                <a:sym typeface="Arial"/>
              </a:rPr>
              <a:t> Mögliche OpenSource - Beisp</a:t>
            </a:r>
            <a:r>
              <a:rPr b="1" lang="de" sz="1500">
                <a:solidFill>
                  <a:schemeClr val="dk1"/>
                </a:solidFill>
                <a:latin typeface="Arial"/>
                <a:ea typeface="Arial"/>
                <a:cs typeface="Arial"/>
                <a:sym typeface="Arial"/>
              </a:rPr>
              <a:t>iel einer </a:t>
            </a:r>
            <a:r>
              <a:rPr b="1" lang="de" sz="1500">
                <a:solidFill>
                  <a:schemeClr val="dk1"/>
                </a:solidFill>
                <a:latin typeface="Arial"/>
                <a:ea typeface="Arial"/>
                <a:cs typeface="Arial"/>
                <a:sym typeface="Arial"/>
              </a:rPr>
              <a:t>Projektstruktur</a:t>
            </a:r>
            <a:r>
              <a:rPr b="1" lang="de" sz="1500">
                <a:solidFill>
                  <a:schemeClr val="dk1"/>
                </a:solidFill>
                <a:latin typeface="Arial"/>
                <a:ea typeface="Arial"/>
                <a:cs typeface="Arial"/>
                <a:sym typeface="Arial"/>
              </a:rPr>
              <a:t> für visuelle Daten</a:t>
            </a:r>
            <a:endParaRPr b="1" sz="1500">
              <a:latin typeface="Arial"/>
              <a:ea typeface="Arial"/>
              <a:cs typeface="Arial"/>
              <a:sym typeface="Arial"/>
            </a:endParaRPr>
          </a:p>
        </p:txBody>
      </p:sp>
      <p:sp>
        <p:nvSpPr>
          <p:cNvPr id="474" name="Google Shape;474;p44"/>
          <p:cNvSpPr/>
          <p:nvPr/>
        </p:nvSpPr>
        <p:spPr>
          <a:xfrm>
            <a:off x="7539375" y="2773050"/>
            <a:ext cx="1403700" cy="5307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t>Landmarken Erkennung und Verknüpfung</a:t>
            </a:r>
            <a:endParaRPr sz="800"/>
          </a:p>
          <a:p>
            <a:pPr indent="0" lvl="0" marL="0" rtl="0" algn="ctr">
              <a:spcBef>
                <a:spcPts val="0"/>
              </a:spcBef>
              <a:spcAft>
                <a:spcPts val="0"/>
              </a:spcAft>
              <a:buNone/>
            </a:pPr>
            <a:r>
              <a:rPr lang="de" sz="800"/>
              <a:t>(z.B. </a:t>
            </a:r>
            <a:r>
              <a:rPr lang="de" sz="800"/>
              <a:t>Eiffelturm</a:t>
            </a:r>
            <a:r>
              <a:rPr lang="de" sz="800"/>
              <a:t> = Paris)</a:t>
            </a:r>
            <a:endParaRPr sz="800"/>
          </a:p>
        </p:txBody>
      </p:sp>
      <p:sp>
        <p:nvSpPr>
          <p:cNvPr id="475" name="Google Shape;475;p44"/>
          <p:cNvSpPr/>
          <p:nvPr/>
        </p:nvSpPr>
        <p:spPr>
          <a:xfrm>
            <a:off x="7539475" y="2327050"/>
            <a:ext cx="1403700" cy="3885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de" sz="800"/>
              <a:t>Elemente für Gesamtstory </a:t>
            </a:r>
            <a:endParaRPr sz="800"/>
          </a:p>
        </p:txBody>
      </p:sp>
      <p:sp>
        <p:nvSpPr>
          <p:cNvPr id="476" name="Google Shape;476;p44"/>
          <p:cNvSpPr txBox="1"/>
          <p:nvPr/>
        </p:nvSpPr>
        <p:spPr>
          <a:xfrm>
            <a:off x="5520975" y="2244475"/>
            <a:ext cx="2018400" cy="113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de" sz="900">
                <a:solidFill>
                  <a:schemeClr val="dk1"/>
                </a:solidFill>
              </a:rPr>
              <a:t>Mit OpenCV kann ein </a:t>
            </a:r>
            <a:r>
              <a:rPr lang="de" sz="900">
                <a:solidFill>
                  <a:schemeClr val="dk1"/>
                </a:solidFill>
              </a:rPr>
              <a:t>vielfältiges</a:t>
            </a:r>
            <a:r>
              <a:rPr lang="de" sz="900">
                <a:solidFill>
                  <a:schemeClr val="dk1"/>
                </a:solidFill>
              </a:rPr>
              <a:t> Modell, mit allen Freiheiten der Ergänzung, zu geringen Betriebskosten, aufgebaut werden. Der Aufwand in die Einarbeitung vieler einzelner Module sollte nicht unterschätzt werden.</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sz="900">
              <a:solidFill>
                <a:schemeClr val="dk1"/>
              </a:solidFill>
            </a:endParaRPr>
          </a:p>
        </p:txBody>
      </p:sp>
      <p:grpSp>
        <p:nvGrpSpPr>
          <p:cNvPr id="477" name="Google Shape;477;p44"/>
          <p:cNvGrpSpPr/>
          <p:nvPr/>
        </p:nvGrpSpPr>
        <p:grpSpPr>
          <a:xfrm>
            <a:off x="1415150" y="1210130"/>
            <a:ext cx="3858750" cy="3840295"/>
            <a:chOff x="60075" y="1270530"/>
            <a:chExt cx="3858750" cy="3840295"/>
          </a:xfrm>
        </p:grpSpPr>
        <p:sp>
          <p:nvSpPr>
            <p:cNvPr id="478" name="Google Shape;478;p44"/>
            <p:cNvSpPr/>
            <p:nvPr/>
          </p:nvSpPr>
          <p:spPr>
            <a:xfrm>
              <a:off x="60075" y="2783850"/>
              <a:ext cx="992400" cy="3885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479" name="Google Shape;479;p44"/>
            <p:cNvSpPr/>
            <p:nvPr/>
          </p:nvSpPr>
          <p:spPr>
            <a:xfrm>
              <a:off x="1322913" y="1336200"/>
              <a:ext cx="1272900" cy="3885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pic>
          <p:nvPicPr>
            <p:cNvPr id="480" name="Google Shape;480;p44"/>
            <p:cNvPicPr preferRelativeResize="0"/>
            <p:nvPr/>
          </p:nvPicPr>
          <p:blipFill>
            <a:blip r:embed="rId3">
              <a:alphaModFix/>
            </a:blip>
            <a:stretch>
              <a:fillRect/>
            </a:stretch>
          </p:blipFill>
          <p:spPr>
            <a:xfrm>
              <a:off x="124275" y="2762100"/>
              <a:ext cx="864000" cy="432000"/>
            </a:xfrm>
            <a:prstGeom prst="rect">
              <a:avLst/>
            </a:prstGeom>
            <a:noFill/>
            <a:ln>
              <a:noFill/>
            </a:ln>
          </p:spPr>
        </p:pic>
        <p:pic>
          <p:nvPicPr>
            <p:cNvPr id="481" name="Google Shape;481;p44"/>
            <p:cNvPicPr preferRelativeResize="0"/>
            <p:nvPr/>
          </p:nvPicPr>
          <p:blipFill rotWithShape="1">
            <a:blip r:embed="rId4">
              <a:alphaModFix/>
            </a:blip>
            <a:srcRect b="28550" l="6832" r="7755" t="29872"/>
            <a:stretch/>
          </p:blipFill>
          <p:spPr>
            <a:xfrm>
              <a:off x="1701057" y="1401550"/>
              <a:ext cx="516611" cy="251475"/>
            </a:xfrm>
            <a:prstGeom prst="rect">
              <a:avLst/>
            </a:prstGeom>
            <a:noFill/>
            <a:ln>
              <a:noFill/>
            </a:ln>
          </p:spPr>
        </p:pic>
        <p:sp>
          <p:nvSpPr>
            <p:cNvPr id="482" name="Google Shape;482;p44"/>
            <p:cNvSpPr txBox="1"/>
            <p:nvPr/>
          </p:nvSpPr>
          <p:spPr>
            <a:xfrm>
              <a:off x="1733900" y="2100363"/>
              <a:ext cx="636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800"/>
                <a:t>YOLO</a:t>
              </a:r>
              <a:endParaRPr sz="800"/>
            </a:p>
          </p:txBody>
        </p:sp>
        <p:sp>
          <p:nvSpPr>
            <p:cNvPr id="483" name="Google Shape;483;p44"/>
            <p:cNvSpPr txBox="1"/>
            <p:nvPr/>
          </p:nvSpPr>
          <p:spPr>
            <a:xfrm>
              <a:off x="1378275" y="3610688"/>
              <a:ext cx="11289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800"/>
                <a:t>CascadeClassifier</a:t>
              </a:r>
              <a:endParaRPr sz="800"/>
            </a:p>
          </p:txBody>
        </p:sp>
        <p:grpSp>
          <p:nvGrpSpPr>
            <p:cNvPr id="484" name="Google Shape;484;p44"/>
            <p:cNvGrpSpPr/>
            <p:nvPr/>
          </p:nvGrpSpPr>
          <p:grpSpPr>
            <a:xfrm>
              <a:off x="1369588" y="2824200"/>
              <a:ext cx="1212825" cy="307800"/>
              <a:chOff x="3437500" y="2154700"/>
              <a:chExt cx="1212825" cy="307800"/>
            </a:xfrm>
          </p:grpSpPr>
          <p:pic>
            <p:nvPicPr>
              <p:cNvPr id="485" name="Google Shape;485;p44"/>
              <p:cNvPicPr preferRelativeResize="0"/>
              <p:nvPr/>
            </p:nvPicPr>
            <p:blipFill>
              <a:blip r:embed="rId5">
                <a:alphaModFix/>
              </a:blip>
              <a:stretch>
                <a:fillRect/>
              </a:stretch>
            </p:blipFill>
            <p:spPr>
              <a:xfrm>
                <a:off x="3437500" y="2237500"/>
                <a:ext cx="611500" cy="142200"/>
              </a:xfrm>
              <a:prstGeom prst="rect">
                <a:avLst/>
              </a:prstGeom>
              <a:noFill/>
              <a:ln>
                <a:noFill/>
              </a:ln>
            </p:spPr>
          </p:pic>
          <p:sp>
            <p:nvSpPr>
              <p:cNvPr id="486" name="Google Shape;486;p44"/>
              <p:cNvSpPr txBox="1"/>
              <p:nvPr/>
            </p:nvSpPr>
            <p:spPr>
              <a:xfrm>
                <a:off x="4089025" y="2154700"/>
                <a:ext cx="5613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800"/>
                  <a:t>Holestic</a:t>
                </a:r>
                <a:endParaRPr sz="800"/>
              </a:p>
            </p:txBody>
          </p:sp>
        </p:grpSp>
        <p:grpSp>
          <p:nvGrpSpPr>
            <p:cNvPr id="487" name="Google Shape;487;p44"/>
            <p:cNvGrpSpPr/>
            <p:nvPr/>
          </p:nvGrpSpPr>
          <p:grpSpPr>
            <a:xfrm>
              <a:off x="1336313" y="4365850"/>
              <a:ext cx="1212825" cy="307800"/>
              <a:chOff x="3437500" y="2383300"/>
              <a:chExt cx="1212825" cy="307800"/>
            </a:xfrm>
          </p:grpSpPr>
          <p:pic>
            <p:nvPicPr>
              <p:cNvPr id="488" name="Google Shape;488;p44"/>
              <p:cNvPicPr preferRelativeResize="0"/>
              <p:nvPr/>
            </p:nvPicPr>
            <p:blipFill>
              <a:blip r:embed="rId5">
                <a:alphaModFix/>
              </a:blip>
              <a:stretch>
                <a:fillRect/>
              </a:stretch>
            </p:blipFill>
            <p:spPr>
              <a:xfrm>
                <a:off x="3437500" y="2466100"/>
                <a:ext cx="611500" cy="142200"/>
              </a:xfrm>
              <a:prstGeom prst="rect">
                <a:avLst/>
              </a:prstGeom>
              <a:noFill/>
              <a:ln>
                <a:noFill/>
              </a:ln>
            </p:spPr>
          </p:pic>
          <p:sp>
            <p:nvSpPr>
              <p:cNvPr id="489" name="Google Shape;489;p44"/>
              <p:cNvSpPr txBox="1"/>
              <p:nvPr/>
            </p:nvSpPr>
            <p:spPr>
              <a:xfrm>
                <a:off x="4089025" y="2383300"/>
                <a:ext cx="5613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800"/>
                  <a:t>Audio</a:t>
                </a:r>
                <a:endParaRPr sz="800"/>
              </a:p>
            </p:txBody>
          </p:sp>
        </p:grpSp>
        <p:sp>
          <p:nvSpPr>
            <p:cNvPr id="490" name="Google Shape;490;p44"/>
            <p:cNvSpPr/>
            <p:nvPr/>
          </p:nvSpPr>
          <p:spPr>
            <a:xfrm>
              <a:off x="1322913" y="2060025"/>
              <a:ext cx="1272900" cy="3885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491" name="Google Shape;491;p44"/>
            <p:cNvSpPr/>
            <p:nvPr/>
          </p:nvSpPr>
          <p:spPr>
            <a:xfrm>
              <a:off x="1322913" y="2783850"/>
              <a:ext cx="1272900" cy="3885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492" name="Google Shape;492;p44"/>
            <p:cNvSpPr/>
            <p:nvPr/>
          </p:nvSpPr>
          <p:spPr>
            <a:xfrm>
              <a:off x="1322913" y="3574850"/>
              <a:ext cx="1272900" cy="3885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493" name="Google Shape;493;p44"/>
            <p:cNvSpPr/>
            <p:nvPr/>
          </p:nvSpPr>
          <p:spPr>
            <a:xfrm>
              <a:off x="1322913" y="4303175"/>
              <a:ext cx="1272900" cy="3885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cxnSp>
          <p:nvCxnSpPr>
            <p:cNvPr id="494" name="Google Shape;494;p44"/>
            <p:cNvCxnSpPr>
              <a:stCxn id="478" idx="3"/>
              <a:endCxn id="491" idx="1"/>
            </p:cNvCxnSpPr>
            <p:nvPr/>
          </p:nvCxnSpPr>
          <p:spPr>
            <a:xfrm>
              <a:off x="1052475" y="2978100"/>
              <a:ext cx="270300" cy="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44"/>
            <p:cNvCxnSpPr>
              <a:stCxn id="478" idx="3"/>
              <a:endCxn id="479" idx="1"/>
            </p:cNvCxnSpPr>
            <p:nvPr/>
          </p:nvCxnSpPr>
          <p:spPr>
            <a:xfrm flipH="1" rot="10800000">
              <a:off x="1052475" y="1530600"/>
              <a:ext cx="270300" cy="14475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44"/>
            <p:cNvCxnSpPr>
              <a:stCxn id="478" idx="3"/>
              <a:endCxn id="490" idx="1"/>
            </p:cNvCxnSpPr>
            <p:nvPr/>
          </p:nvCxnSpPr>
          <p:spPr>
            <a:xfrm flipH="1" rot="10800000">
              <a:off x="1052475" y="2254200"/>
              <a:ext cx="270300" cy="723900"/>
            </a:xfrm>
            <a:prstGeom prst="straightConnector1">
              <a:avLst/>
            </a:prstGeom>
            <a:noFill/>
            <a:ln cap="flat" cmpd="sng" w="9525">
              <a:solidFill>
                <a:schemeClr val="dk2"/>
              </a:solidFill>
              <a:prstDash val="solid"/>
              <a:round/>
              <a:headEnd len="med" w="med" type="none"/>
              <a:tailEnd len="med" w="med" type="none"/>
            </a:ln>
          </p:spPr>
        </p:cxnSp>
        <p:cxnSp>
          <p:nvCxnSpPr>
            <p:cNvPr id="497" name="Google Shape;497;p44"/>
            <p:cNvCxnSpPr>
              <a:stCxn id="478" idx="3"/>
              <a:endCxn id="492" idx="1"/>
            </p:cNvCxnSpPr>
            <p:nvPr/>
          </p:nvCxnSpPr>
          <p:spPr>
            <a:xfrm>
              <a:off x="1052475" y="2978100"/>
              <a:ext cx="270300" cy="791100"/>
            </a:xfrm>
            <a:prstGeom prst="straightConnector1">
              <a:avLst/>
            </a:prstGeom>
            <a:noFill/>
            <a:ln cap="flat" cmpd="sng" w="9525">
              <a:solidFill>
                <a:schemeClr val="dk2"/>
              </a:solidFill>
              <a:prstDash val="solid"/>
              <a:round/>
              <a:headEnd len="med" w="med" type="none"/>
              <a:tailEnd len="med" w="med" type="none"/>
            </a:ln>
          </p:spPr>
        </p:cxnSp>
        <p:cxnSp>
          <p:nvCxnSpPr>
            <p:cNvPr id="498" name="Google Shape;498;p44"/>
            <p:cNvCxnSpPr>
              <a:stCxn id="478" idx="3"/>
              <a:endCxn id="493" idx="1"/>
            </p:cNvCxnSpPr>
            <p:nvPr/>
          </p:nvCxnSpPr>
          <p:spPr>
            <a:xfrm>
              <a:off x="1052475" y="2978100"/>
              <a:ext cx="270300" cy="1519200"/>
            </a:xfrm>
            <a:prstGeom prst="straightConnector1">
              <a:avLst/>
            </a:prstGeom>
            <a:noFill/>
            <a:ln cap="flat" cmpd="sng" w="9525">
              <a:solidFill>
                <a:schemeClr val="dk2"/>
              </a:solidFill>
              <a:prstDash val="solid"/>
              <a:round/>
              <a:headEnd len="med" w="med" type="none"/>
              <a:tailEnd len="med" w="med" type="none"/>
            </a:ln>
          </p:spPr>
        </p:cxnSp>
        <p:sp>
          <p:nvSpPr>
            <p:cNvPr id="499" name="Google Shape;499;p44"/>
            <p:cNvSpPr/>
            <p:nvPr/>
          </p:nvSpPr>
          <p:spPr>
            <a:xfrm>
              <a:off x="2645925" y="1270530"/>
              <a:ext cx="1272900" cy="1632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solidFill>
                    <a:srgbClr val="414141"/>
                  </a:solidFill>
                </a:rPr>
                <a:t>Texte (Notiz, Brief)</a:t>
              </a:r>
              <a:endParaRPr sz="800">
                <a:solidFill>
                  <a:srgbClr val="414141"/>
                </a:solidFill>
              </a:endParaRPr>
            </a:p>
          </p:txBody>
        </p:sp>
        <p:sp>
          <p:nvSpPr>
            <p:cNvPr id="500" name="Google Shape;500;p44"/>
            <p:cNvSpPr/>
            <p:nvPr/>
          </p:nvSpPr>
          <p:spPr>
            <a:xfrm>
              <a:off x="2645925" y="1464980"/>
              <a:ext cx="1272900" cy="1632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solidFill>
                    <a:srgbClr val="414141"/>
                  </a:solidFill>
                </a:rPr>
                <a:t>Schilder (Orte)</a:t>
              </a:r>
              <a:endParaRPr sz="800">
                <a:solidFill>
                  <a:srgbClr val="414141"/>
                </a:solidFill>
              </a:endParaRPr>
            </a:p>
          </p:txBody>
        </p:sp>
        <p:sp>
          <p:nvSpPr>
            <p:cNvPr id="501" name="Google Shape;501;p44"/>
            <p:cNvSpPr/>
            <p:nvPr/>
          </p:nvSpPr>
          <p:spPr>
            <a:xfrm>
              <a:off x="2645925" y="1659443"/>
              <a:ext cx="1272900" cy="1632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solidFill>
                    <a:srgbClr val="414141"/>
                  </a:solidFill>
                </a:rPr>
                <a:t>Aufschriften (Polizei)</a:t>
              </a:r>
              <a:endParaRPr sz="800">
                <a:solidFill>
                  <a:srgbClr val="414141"/>
                </a:solidFill>
              </a:endParaRPr>
            </a:p>
          </p:txBody>
        </p:sp>
        <p:sp>
          <p:nvSpPr>
            <p:cNvPr id="502" name="Google Shape;502;p44"/>
            <p:cNvSpPr/>
            <p:nvPr/>
          </p:nvSpPr>
          <p:spPr>
            <a:xfrm>
              <a:off x="2645925" y="2035128"/>
              <a:ext cx="1272900" cy="2514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solidFill>
                    <a:srgbClr val="414141"/>
                  </a:solidFill>
                </a:rPr>
                <a:t>Objekte z.B. Katze, Waffe, Instrument, Auto</a:t>
              </a:r>
              <a:endParaRPr sz="800">
                <a:solidFill>
                  <a:srgbClr val="414141"/>
                </a:solidFill>
              </a:endParaRPr>
            </a:p>
          </p:txBody>
        </p:sp>
        <p:sp>
          <p:nvSpPr>
            <p:cNvPr id="503" name="Google Shape;503;p44"/>
            <p:cNvSpPr/>
            <p:nvPr/>
          </p:nvSpPr>
          <p:spPr>
            <a:xfrm>
              <a:off x="2645925" y="2310218"/>
              <a:ext cx="1272900" cy="1632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solidFill>
                    <a:srgbClr val="414141"/>
                  </a:solidFill>
                </a:rPr>
                <a:t>Zählung z.B. Personen</a:t>
              </a:r>
              <a:endParaRPr sz="800">
                <a:solidFill>
                  <a:srgbClr val="414141"/>
                </a:solidFill>
              </a:endParaRPr>
            </a:p>
          </p:txBody>
        </p:sp>
        <p:sp>
          <p:nvSpPr>
            <p:cNvPr id="504" name="Google Shape;504;p44"/>
            <p:cNvSpPr/>
            <p:nvPr/>
          </p:nvSpPr>
          <p:spPr>
            <a:xfrm>
              <a:off x="2629250" y="2643055"/>
              <a:ext cx="1272900" cy="2514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de" sz="800">
                  <a:solidFill>
                    <a:srgbClr val="414141"/>
                  </a:solidFill>
                </a:rPr>
                <a:t>Posen (sitzend, stehend, Hände hoch,..</a:t>
              </a:r>
              <a:endParaRPr sz="800">
                <a:solidFill>
                  <a:srgbClr val="414141"/>
                </a:solidFill>
              </a:endParaRPr>
            </a:p>
          </p:txBody>
        </p:sp>
        <p:sp>
          <p:nvSpPr>
            <p:cNvPr id="505" name="Google Shape;505;p44"/>
            <p:cNvSpPr/>
            <p:nvPr/>
          </p:nvSpPr>
          <p:spPr>
            <a:xfrm>
              <a:off x="2629250" y="2932980"/>
              <a:ext cx="1272900" cy="2514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de" sz="800">
                  <a:solidFill>
                    <a:srgbClr val="414141"/>
                  </a:solidFill>
                </a:rPr>
                <a:t>Finger (Zählen, Zeigen, Faust)</a:t>
              </a:r>
              <a:endParaRPr sz="800">
                <a:solidFill>
                  <a:srgbClr val="414141"/>
                </a:solidFill>
              </a:endParaRPr>
            </a:p>
          </p:txBody>
        </p:sp>
        <p:sp>
          <p:nvSpPr>
            <p:cNvPr id="506" name="Google Shape;506;p44"/>
            <p:cNvSpPr/>
            <p:nvPr/>
          </p:nvSpPr>
          <p:spPr>
            <a:xfrm>
              <a:off x="2629250" y="3222818"/>
              <a:ext cx="1272900" cy="1632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de" sz="800">
                  <a:solidFill>
                    <a:srgbClr val="414141"/>
                  </a:solidFill>
                </a:rPr>
                <a:t>Bewegungen</a:t>
              </a:r>
              <a:endParaRPr sz="800">
                <a:solidFill>
                  <a:srgbClr val="414141"/>
                </a:solidFill>
              </a:endParaRPr>
            </a:p>
          </p:txBody>
        </p:sp>
        <p:sp>
          <p:nvSpPr>
            <p:cNvPr id="507" name="Google Shape;507;p44"/>
            <p:cNvSpPr/>
            <p:nvPr/>
          </p:nvSpPr>
          <p:spPr>
            <a:xfrm>
              <a:off x="2629250" y="3517805"/>
              <a:ext cx="1272900" cy="2514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de" sz="800">
                  <a:solidFill>
                    <a:srgbClr val="414141"/>
                  </a:solidFill>
                </a:rPr>
                <a:t>Personen wiedererkennen</a:t>
              </a:r>
              <a:endParaRPr sz="800">
                <a:solidFill>
                  <a:srgbClr val="414141"/>
                </a:solidFill>
              </a:endParaRPr>
            </a:p>
          </p:txBody>
        </p:sp>
        <p:sp>
          <p:nvSpPr>
            <p:cNvPr id="508" name="Google Shape;508;p44"/>
            <p:cNvSpPr/>
            <p:nvPr/>
          </p:nvSpPr>
          <p:spPr>
            <a:xfrm>
              <a:off x="2629250" y="3811905"/>
              <a:ext cx="1272900" cy="2514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de" sz="800">
                  <a:solidFill>
                    <a:srgbClr val="414141"/>
                  </a:solidFill>
                </a:rPr>
                <a:t>Objekte </a:t>
              </a:r>
              <a:r>
                <a:rPr lang="de" sz="800">
                  <a:solidFill>
                    <a:srgbClr val="414141"/>
                  </a:solidFill>
                </a:rPr>
                <a:t>wiedererkennen</a:t>
              </a:r>
              <a:endParaRPr sz="800">
                <a:solidFill>
                  <a:srgbClr val="414141"/>
                </a:solidFill>
              </a:endParaRPr>
            </a:p>
          </p:txBody>
        </p:sp>
        <p:sp>
          <p:nvSpPr>
            <p:cNvPr id="509" name="Google Shape;509;p44"/>
            <p:cNvSpPr/>
            <p:nvPr/>
          </p:nvSpPr>
          <p:spPr>
            <a:xfrm>
              <a:off x="2629250" y="4192130"/>
              <a:ext cx="1272900" cy="2514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de" sz="800">
                  <a:solidFill>
                    <a:srgbClr val="414141"/>
                  </a:solidFill>
                </a:rPr>
                <a:t>Geräusche erkennen für Story Relevanz</a:t>
              </a:r>
              <a:endParaRPr sz="800">
                <a:solidFill>
                  <a:srgbClr val="414141"/>
                </a:solidFill>
              </a:endParaRPr>
            </a:p>
          </p:txBody>
        </p:sp>
        <p:sp>
          <p:nvSpPr>
            <p:cNvPr id="510" name="Google Shape;510;p44"/>
            <p:cNvSpPr/>
            <p:nvPr/>
          </p:nvSpPr>
          <p:spPr>
            <a:xfrm>
              <a:off x="2629250" y="4489180"/>
              <a:ext cx="1272900" cy="2514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de" sz="800">
                  <a:solidFill>
                    <a:srgbClr val="414141"/>
                  </a:solidFill>
                </a:rPr>
                <a:t>Pausen E</a:t>
              </a:r>
              <a:r>
                <a:rPr lang="de" sz="800">
                  <a:solidFill>
                    <a:srgbClr val="414141"/>
                  </a:solidFill>
                </a:rPr>
                <a:t>rkennung - Einsprechzeiten erk.</a:t>
              </a:r>
              <a:endParaRPr sz="800">
                <a:solidFill>
                  <a:srgbClr val="414141"/>
                </a:solidFill>
              </a:endParaRPr>
            </a:p>
          </p:txBody>
        </p:sp>
        <p:sp>
          <p:nvSpPr>
            <p:cNvPr id="511" name="Google Shape;511;p44"/>
            <p:cNvSpPr/>
            <p:nvPr/>
          </p:nvSpPr>
          <p:spPr>
            <a:xfrm>
              <a:off x="1339575" y="4803025"/>
              <a:ext cx="1272900" cy="3078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solidFill>
                    <a:srgbClr val="414141"/>
                  </a:solidFill>
                </a:rPr>
                <a:t>… (Speicher, Datenbank,..)</a:t>
              </a:r>
              <a:endParaRPr sz="800">
                <a:solidFill>
                  <a:srgbClr val="414141"/>
                </a:solidFill>
              </a:endParaRPr>
            </a:p>
          </p:txBody>
        </p:sp>
        <p:cxnSp>
          <p:nvCxnSpPr>
            <p:cNvPr id="512" name="Google Shape;512;p44"/>
            <p:cNvCxnSpPr>
              <a:stCxn id="478" idx="3"/>
              <a:endCxn id="511" idx="1"/>
            </p:cNvCxnSpPr>
            <p:nvPr/>
          </p:nvCxnSpPr>
          <p:spPr>
            <a:xfrm>
              <a:off x="1052475" y="2978100"/>
              <a:ext cx="287100" cy="1978800"/>
            </a:xfrm>
            <a:prstGeom prst="straightConnector1">
              <a:avLst/>
            </a:prstGeom>
            <a:noFill/>
            <a:ln cap="flat" cmpd="sng" w="9525">
              <a:solidFill>
                <a:schemeClr val="dk2"/>
              </a:solidFill>
              <a:prstDash val="solid"/>
              <a:round/>
              <a:headEnd len="med" w="med" type="none"/>
              <a:tailEnd len="med" w="med" type="none"/>
            </a:ln>
          </p:spPr>
        </p:cxnSp>
      </p:grpSp>
      <p:pic>
        <p:nvPicPr>
          <p:cNvPr id="513" name="Google Shape;513;p44"/>
          <p:cNvPicPr preferRelativeResize="0"/>
          <p:nvPr/>
        </p:nvPicPr>
        <p:blipFill rotWithShape="1">
          <a:blip r:embed="rId6">
            <a:alphaModFix/>
          </a:blip>
          <a:srcRect b="0" l="0" r="0" t="0"/>
          <a:stretch/>
        </p:blipFill>
        <p:spPr>
          <a:xfrm>
            <a:off x="113400" y="2712926"/>
            <a:ext cx="488175" cy="463650"/>
          </a:xfrm>
          <a:prstGeom prst="rect">
            <a:avLst/>
          </a:prstGeom>
          <a:noFill/>
          <a:ln>
            <a:noFill/>
          </a:ln>
        </p:spPr>
      </p:pic>
      <p:grpSp>
        <p:nvGrpSpPr>
          <p:cNvPr id="514" name="Google Shape;514;p44"/>
          <p:cNvGrpSpPr/>
          <p:nvPr/>
        </p:nvGrpSpPr>
        <p:grpSpPr>
          <a:xfrm>
            <a:off x="733223" y="2548308"/>
            <a:ext cx="488176" cy="792881"/>
            <a:chOff x="6812601" y="4862280"/>
            <a:chExt cx="650902" cy="1057175"/>
          </a:xfrm>
        </p:grpSpPr>
        <p:pic>
          <p:nvPicPr>
            <p:cNvPr id="515" name="Google Shape;515;p44"/>
            <p:cNvPicPr preferRelativeResize="0"/>
            <p:nvPr/>
          </p:nvPicPr>
          <p:blipFill rotWithShape="1">
            <a:blip r:embed="rId7">
              <a:alphaModFix/>
            </a:blip>
            <a:srcRect b="0" l="0" r="0" t="0"/>
            <a:stretch/>
          </p:blipFill>
          <p:spPr>
            <a:xfrm>
              <a:off x="6819540" y="4862280"/>
              <a:ext cx="325853" cy="320977"/>
            </a:xfrm>
            <a:prstGeom prst="rect">
              <a:avLst/>
            </a:prstGeom>
            <a:noFill/>
            <a:ln>
              <a:noFill/>
            </a:ln>
          </p:spPr>
        </p:pic>
        <p:pic>
          <p:nvPicPr>
            <p:cNvPr id="516" name="Google Shape;516;p44"/>
            <p:cNvPicPr preferRelativeResize="0"/>
            <p:nvPr/>
          </p:nvPicPr>
          <p:blipFill rotWithShape="1">
            <a:blip r:embed="rId7">
              <a:alphaModFix/>
            </a:blip>
            <a:srcRect b="0" l="0" r="0" t="0"/>
            <a:stretch/>
          </p:blipFill>
          <p:spPr>
            <a:xfrm>
              <a:off x="7131515" y="4862280"/>
              <a:ext cx="325853" cy="320977"/>
            </a:xfrm>
            <a:prstGeom prst="rect">
              <a:avLst/>
            </a:prstGeom>
            <a:noFill/>
            <a:ln>
              <a:noFill/>
            </a:ln>
          </p:spPr>
        </p:pic>
        <p:pic>
          <p:nvPicPr>
            <p:cNvPr id="517" name="Google Shape;517;p44"/>
            <p:cNvPicPr preferRelativeResize="0"/>
            <p:nvPr/>
          </p:nvPicPr>
          <p:blipFill rotWithShape="1">
            <a:blip r:embed="rId7">
              <a:alphaModFix/>
            </a:blip>
            <a:srcRect b="0" l="0" r="0" t="0"/>
            <a:stretch/>
          </p:blipFill>
          <p:spPr>
            <a:xfrm>
              <a:off x="6812601" y="5183257"/>
              <a:ext cx="325853" cy="320977"/>
            </a:xfrm>
            <a:prstGeom prst="rect">
              <a:avLst/>
            </a:prstGeom>
            <a:noFill/>
            <a:ln>
              <a:noFill/>
            </a:ln>
          </p:spPr>
        </p:pic>
        <p:pic>
          <p:nvPicPr>
            <p:cNvPr id="518" name="Google Shape;518;p44"/>
            <p:cNvPicPr preferRelativeResize="0"/>
            <p:nvPr/>
          </p:nvPicPr>
          <p:blipFill rotWithShape="1">
            <a:blip r:embed="rId7">
              <a:alphaModFix/>
            </a:blip>
            <a:srcRect b="0" l="0" r="0" t="0"/>
            <a:stretch/>
          </p:blipFill>
          <p:spPr>
            <a:xfrm>
              <a:off x="7137650" y="5186908"/>
              <a:ext cx="325853" cy="320977"/>
            </a:xfrm>
            <a:prstGeom prst="rect">
              <a:avLst/>
            </a:prstGeom>
            <a:noFill/>
            <a:ln>
              <a:noFill/>
            </a:ln>
          </p:spPr>
        </p:pic>
        <p:pic>
          <p:nvPicPr>
            <p:cNvPr id="519" name="Google Shape;519;p44"/>
            <p:cNvPicPr preferRelativeResize="0"/>
            <p:nvPr/>
          </p:nvPicPr>
          <p:blipFill rotWithShape="1">
            <a:blip r:embed="rId8">
              <a:alphaModFix/>
            </a:blip>
            <a:srcRect b="0" l="0" r="0" t="0"/>
            <a:stretch/>
          </p:blipFill>
          <p:spPr>
            <a:xfrm>
              <a:off x="6906039" y="5516690"/>
              <a:ext cx="450952" cy="402765"/>
            </a:xfrm>
            <a:prstGeom prst="rect">
              <a:avLst/>
            </a:prstGeom>
            <a:noFill/>
            <a:ln>
              <a:noFill/>
            </a:ln>
          </p:spPr>
        </p:pic>
      </p:grpSp>
      <p:grpSp>
        <p:nvGrpSpPr>
          <p:cNvPr id="520" name="Google Shape;520;p44"/>
          <p:cNvGrpSpPr/>
          <p:nvPr/>
        </p:nvGrpSpPr>
        <p:grpSpPr>
          <a:xfrm>
            <a:off x="5527162" y="1206061"/>
            <a:ext cx="1803080" cy="667205"/>
            <a:chOff x="4161825" y="4015623"/>
            <a:chExt cx="2186346" cy="792876"/>
          </a:xfrm>
        </p:grpSpPr>
        <p:pic>
          <p:nvPicPr>
            <p:cNvPr id="521" name="Google Shape;521;p44"/>
            <p:cNvPicPr preferRelativeResize="0"/>
            <p:nvPr/>
          </p:nvPicPr>
          <p:blipFill rotWithShape="1">
            <a:blip r:embed="rId9">
              <a:alphaModFix/>
            </a:blip>
            <a:srcRect b="28435" l="11499" r="10800" t="23749"/>
            <a:stretch/>
          </p:blipFill>
          <p:spPr>
            <a:xfrm>
              <a:off x="4161825" y="4015623"/>
              <a:ext cx="2186346" cy="792876"/>
            </a:xfrm>
            <a:prstGeom prst="rect">
              <a:avLst/>
            </a:prstGeom>
            <a:noFill/>
            <a:ln>
              <a:noFill/>
            </a:ln>
          </p:spPr>
        </p:pic>
        <p:pic>
          <p:nvPicPr>
            <p:cNvPr id="522" name="Google Shape;522;p44"/>
            <p:cNvPicPr preferRelativeResize="0"/>
            <p:nvPr/>
          </p:nvPicPr>
          <p:blipFill rotWithShape="1">
            <a:blip r:embed="rId10">
              <a:alphaModFix/>
            </a:blip>
            <a:srcRect b="0" l="0" r="0" t="0"/>
            <a:stretch/>
          </p:blipFill>
          <p:spPr>
            <a:xfrm>
              <a:off x="4383900" y="4069731"/>
              <a:ext cx="128253" cy="163200"/>
            </a:xfrm>
            <a:prstGeom prst="rect">
              <a:avLst/>
            </a:prstGeom>
            <a:noFill/>
            <a:ln>
              <a:noFill/>
            </a:ln>
          </p:spPr>
        </p:pic>
        <p:pic>
          <p:nvPicPr>
            <p:cNvPr id="523" name="Google Shape;523;p44"/>
            <p:cNvPicPr preferRelativeResize="0"/>
            <p:nvPr/>
          </p:nvPicPr>
          <p:blipFill rotWithShape="1">
            <a:blip r:embed="rId10">
              <a:alphaModFix/>
            </a:blip>
            <a:srcRect b="0" l="0" r="0" t="0"/>
            <a:stretch/>
          </p:blipFill>
          <p:spPr>
            <a:xfrm>
              <a:off x="4768475" y="4069731"/>
              <a:ext cx="128253" cy="163200"/>
            </a:xfrm>
            <a:prstGeom prst="rect">
              <a:avLst/>
            </a:prstGeom>
            <a:noFill/>
            <a:ln>
              <a:noFill/>
            </a:ln>
          </p:spPr>
        </p:pic>
        <p:pic>
          <p:nvPicPr>
            <p:cNvPr id="524" name="Google Shape;524;p44"/>
            <p:cNvPicPr preferRelativeResize="0"/>
            <p:nvPr/>
          </p:nvPicPr>
          <p:blipFill rotWithShape="1">
            <a:blip r:embed="rId10">
              <a:alphaModFix/>
            </a:blip>
            <a:srcRect b="0" l="0" r="0" t="0"/>
            <a:stretch/>
          </p:blipFill>
          <p:spPr>
            <a:xfrm>
              <a:off x="5190863" y="4069731"/>
              <a:ext cx="128253" cy="163200"/>
            </a:xfrm>
            <a:prstGeom prst="rect">
              <a:avLst/>
            </a:prstGeom>
            <a:noFill/>
            <a:ln>
              <a:noFill/>
            </a:ln>
          </p:spPr>
        </p:pic>
        <p:pic>
          <p:nvPicPr>
            <p:cNvPr id="525" name="Google Shape;525;p44"/>
            <p:cNvPicPr preferRelativeResize="0"/>
            <p:nvPr/>
          </p:nvPicPr>
          <p:blipFill rotWithShape="1">
            <a:blip r:embed="rId10">
              <a:alphaModFix/>
            </a:blip>
            <a:srcRect b="0" l="0" r="0" t="0"/>
            <a:stretch/>
          </p:blipFill>
          <p:spPr>
            <a:xfrm>
              <a:off x="5589600" y="4069731"/>
              <a:ext cx="128253" cy="163200"/>
            </a:xfrm>
            <a:prstGeom prst="rect">
              <a:avLst/>
            </a:prstGeom>
            <a:noFill/>
            <a:ln>
              <a:noFill/>
            </a:ln>
          </p:spPr>
        </p:pic>
        <p:pic>
          <p:nvPicPr>
            <p:cNvPr id="526" name="Google Shape;526;p44"/>
            <p:cNvPicPr preferRelativeResize="0"/>
            <p:nvPr/>
          </p:nvPicPr>
          <p:blipFill rotWithShape="1">
            <a:blip r:embed="rId10">
              <a:alphaModFix/>
            </a:blip>
            <a:srcRect b="0" l="0" r="0" t="0"/>
            <a:stretch/>
          </p:blipFill>
          <p:spPr>
            <a:xfrm>
              <a:off x="5997825" y="4069731"/>
              <a:ext cx="128253" cy="163200"/>
            </a:xfrm>
            <a:prstGeom prst="rect">
              <a:avLst/>
            </a:prstGeom>
            <a:noFill/>
            <a:ln>
              <a:noFill/>
            </a:ln>
          </p:spPr>
        </p:pic>
      </p:grpSp>
      <p:sp>
        <p:nvSpPr>
          <p:cNvPr id="527" name="Google Shape;527;p44"/>
          <p:cNvSpPr txBox="1"/>
          <p:nvPr/>
        </p:nvSpPr>
        <p:spPr>
          <a:xfrm>
            <a:off x="5520975" y="3361250"/>
            <a:ext cx="34890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de" sz="900">
                <a:solidFill>
                  <a:schemeClr val="dk1"/>
                </a:solidFill>
              </a:rPr>
              <a:t>Die Detektion und Auswertung bekannter Szenen und Schauplätze (Landmarken) kann den Hörer mit der Szene schnell vertraut machen (z.B. Hamburger Hafen oder Eiffelturm).</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rPr lang="de" sz="900">
                <a:solidFill>
                  <a:schemeClr val="dk1"/>
                </a:solidFill>
              </a:rPr>
              <a:t>Möglichkeiten einer detaillierten Bild- &amp; Sequenzauswertung sind gegeben und können durch KI Modelle erweitert werden.</a:t>
            </a:r>
            <a:endParaRPr sz="900">
              <a:solidFill>
                <a:schemeClr val="dk1"/>
              </a:solidFill>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rPr lang="de" sz="900">
                <a:solidFill>
                  <a:schemeClr val="dk1"/>
                </a:solidFill>
              </a:rPr>
              <a:t>Ein LLM Modell für die Zusammenfassung der Story, Generierung eines Storyboards und auffinden relevanter Story-Merkmale bietet eine maßgebliche Unterstützung.</a:t>
            </a:r>
            <a:endParaRPr sz="900">
              <a:solidFill>
                <a:schemeClr val="dk1"/>
              </a:solidFill>
            </a:endParaRPr>
          </a:p>
        </p:txBody>
      </p:sp>
      <p:sp>
        <p:nvSpPr>
          <p:cNvPr id="528" name="Google Shape;528;p44"/>
          <p:cNvSpPr/>
          <p:nvPr/>
        </p:nvSpPr>
        <p:spPr>
          <a:xfrm>
            <a:off x="613550" y="2548300"/>
            <a:ext cx="107700" cy="7050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529" name="Google Shape;529;p44"/>
          <p:cNvSpPr/>
          <p:nvPr/>
        </p:nvSpPr>
        <p:spPr>
          <a:xfrm>
            <a:off x="1264425" y="2548300"/>
            <a:ext cx="107700" cy="7050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530" name="Google Shape;530;p44"/>
          <p:cNvSpPr/>
          <p:nvPr/>
        </p:nvSpPr>
        <p:spPr>
          <a:xfrm>
            <a:off x="5319825" y="1161175"/>
            <a:ext cx="161400" cy="3889200"/>
          </a:xfrm>
          <a:prstGeom prst="rightBrace">
            <a:avLst>
              <a:gd fmla="val 50000" name="adj1"/>
              <a:gd fmla="val 9767"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Georgia"/>
              <a:ea typeface="Georgia"/>
              <a:cs typeface="Georgia"/>
              <a:sym typeface="Georgia"/>
            </a:endParaRPr>
          </a:p>
        </p:txBody>
      </p:sp>
      <p:sp>
        <p:nvSpPr>
          <p:cNvPr id="531" name="Google Shape;531;p44"/>
          <p:cNvSpPr/>
          <p:nvPr/>
        </p:nvSpPr>
        <p:spPr>
          <a:xfrm rot="-5400000">
            <a:off x="7000300" y="1458063"/>
            <a:ext cx="1119300" cy="1632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solidFill>
                  <a:srgbClr val="414141"/>
                </a:solidFill>
              </a:rPr>
              <a:t>Editor</a:t>
            </a:r>
            <a:endParaRPr sz="800">
              <a:solidFill>
                <a:srgbClr val="414141"/>
              </a:solidFill>
            </a:endParaRPr>
          </a:p>
        </p:txBody>
      </p:sp>
      <p:sp>
        <p:nvSpPr>
          <p:cNvPr id="532" name="Google Shape;532;p44"/>
          <p:cNvSpPr/>
          <p:nvPr/>
        </p:nvSpPr>
        <p:spPr>
          <a:xfrm rot="-5400000">
            <a:off x="7311600" y="1458063"/>
            <a:ext cx="1119300" cy="1632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solidFill>
                  <a:srgbClr val="414141"/>
                </a:solidFill>
              </a:rPr>
              <a:t>Speicher</a:t>
            </a:r>
            <a:endParaRPr sz="800">
              <a:solidFill>
                <a:srgbClr val="414141"/>
              </a:solidFill>
            </a:endParaRPr>
          </a:p>
        </p:txBody>
      </p:sp>
      <p:sp>
        <p:nvSpPr>
          <p:cNvPr id="533" name="Google Shape;533;p44"/>
          <p:cNvSpPr/>
          <p:nvPr/>
        </p:nvSpPr>
        <p:spPr>
          <a:xfrm rot="-5400000">
            <a:off x="7622900" y="1458063"/>
            <a:ext cx="1119300" cy="1632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solidFill>
                  <a:srgbClr val="414141"/>
                </a:solidFill>
              </a:rPr>
              <a:t>Audio einfügen</a:t>
            </a:r>
            <a:endParaRPr sz="800">
              <a:solidFill>
                <a:srgbClr val="414141"/>
              </a:solidFill>
            </a:endParaRPr>
          </a:p>
        </p:txBody>
      </p:sp>
      <p:sp>
        <p:nvSpPr>
          <p:cNvPr id="534" name="Google Shape;534;p44"/>
          <p:cNvSpPr/>
          <p:nvPr/>
        </p:nvSpPr>
        <p:spPr>
          <a:xfrm rot="-5400000">
            <a:off x="7934200" y="1458063"/>
            <a:ext cx="1119300" cy="1632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solidFill>
                  <a:srgbClr val="414141"/>
                </a:solidFill>
              </a:rPr>
              <a:t>Konvertieren</a:t>
            </a:r>
            <a:endParaRPr sz="800">
              <a:solidFill>
                <a:srgbClr val="414141"/>
              </a:solidFill>
            </a:endParaRPr>
          </a:p>
        </p:txBody>
      </p:sp>
      <p:sp>
        <p:nvSpPr>
          <p:cNvPr id="535" name="Google Shape;535;p44"/>
          <p:cNvSpPr/>
          <p:nvPr/>
        </p:nvSpPr>
        <p:spPr>
          <a:xfrm rot="-5400000">
            <a:off x="8245500" y="1458063"/>
            <a:ext cx="1119300" cy="163200"/>
          </a:xfrm>
          <a:prstGeom prst="roundRect">
            <a:avLst>
              <a:gd fmla="val 16667" name="adj"/>
            </a:avLst>
          </a:prstGeom>
          <a:solidFill>
            <a:srgbClr val="FFFFFF">
              <a:alpha val="2000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de" sz="800">
                <a:solidFill>
                  <a:srgbClr val="414141"/>
                </a:solidFill>
              </a:rPr>
              <a:t>Freigeben</a:t>
            </a:r>
            <a:endParaRPr sz="800">
              <a:solidFill>
                <a:srgbClr val="414141"/>
              </a:solidFill>
            </a:endParaRPr>
          </a:p>
        </p:txBody>
      </p:sp>
      <p:cxnSp>
        <p:nvCxnSpPr>
          <p:cNvPr id="536" name="Google Shape;536;p44"/>
          <p:cNvCxnSpPr>
            <a:stCxn id="521" idx="3"/>
            <a:endCxn id="531" idx="0"/>
          </p:cNvCxnSpPr>
          <p:nvPr/>
        </p:nvCxnSpPr>
        <p:spPr>
          <a:xfrm>
            <a:off x="7330241" y="1539664"/>
            <a:ext cx="148200" cy="0"/>
          </a:xfrm>
          <a:prstGeom prst="straightConnector1">
            <a:avLst/>
          </a:prstGeom>
          <a:noFill/>
          <a:ln cap="flat" cmpd="sng" w="9525">
            <a:solidFill>
              <a:schemeClr val="dk2"/>
            </a:solidFill>
            <a:prstDash val="solid"/>
            <a:round/>
            <a:headEnd len="med" w="med" type="none"/>
            <a:tailEnd len="med" w="med" type="none"/>
          </a:ln>
        </p:spPr>
      </p:cxnSp>
      <p:cxnSp>
        <p:nvCxnSpPr>
          <p:cNvPr id="537" name="Google Shape;537;p44"/>
          <p:cNvCxnSpPr>
            <a:stCxn id="531" idx="2"/>
            <a:endCxn id="532" idx="0"/>
          </p:cNvCxnSpPr>
          <p:nvPr/>
        </p:nvCxnSpPr>
        <p:spPr>
          <a:xfrm>
            <a:off x="7641550" y="1539663"/>
            <a:ext cx="148200" cy="0"/>
          </a:xfrm>
          <a:prstGeom prst="straightConnector1">
            <a:avLst/>
          </a:prstGeom>
          <a:noFill/>
          <a:ln cap="flat" cmpd="sng" w="9525">
            <a:solidFill>
              <a:schemeClr val="dk2"/>
            </a:solidFill>
            <a:prstDash val="solid"/>
            <a:round/>
            <a:headEnd len="med" w="med" type="none"/>
            <a:tailEnd len="med" w="med" type="none"/>
          </a:ln>
        </p:spPr>
      </p:cxnSp>
      <p:cxnSp>
        <p:nvCxnSpPr>
          <p:cNvPr id="538" name="Google Shape;538;p44"/>
          <p:cNvCxnSpPr>
            <a:stCxn id="532" idx="2"/>
            <a:endCxn id="533" idx="0"/>
          </p:cNvCxnSpPr>
          <p:nvPr/>
        </p:nvCxnSpPr>
        <p:spPr>
          <a:xfrm>
            <a:off x="7952850" y="1539663"/>
            <a:ext cx="148200" cy="0"/>
          </a:xfrm>
          <a:prstGeom prst="straightConnector1">
            <a:avLst/>
          </a:prstGeom>
          <a:noFill/>
          <a:ln cap="flat" cmpd="sng" w="9525">
            <a:solidFill>
              <a:schemeClr val="dk2"/>
            </a:solidFill>
            <a:prstDash val="solid"/>
            <a:round/>
            <a:headEnd len="med" w="med" type="none"/>
            <a:tailEnd len="med" w="med" type="none"/>
          </a:ln>
        </p:spPr>
      </p:cxnSp>
      <p:cxnSp>
        <p:nvCxnSpPr>
          <p:cNvPr id="539" name="Google Shape;539;p44"/>
          <p:cNvCxnSpPr>
            <a:stCxn id="533" idx="2"/>
            <a:endCxn id="534" idx="0"/>
          </p:cNvCxnSpPr>
          <p:nvPr/>
        </p:nvCxnSpPr>
        <p:spPr>
          <a:xfrm>
            <a:off x="8264150" y="1539663"/>
            <a:ext cx="148200" cy="0"/>
          </a:xfrm>
          <a:prstGeom prst="straightConnector1">
            <a:avLst/>
          </a:prstGeom>
          <a:noFill/>
          <a:ln cap="flat" cmpd="sng" w="9525">
            <a:solidFill>
              <a:schemeClr val="dk2"/>
            </a:solidFill>
            <a:prstDash val="solid"/>
            <a:round/>
            <a:headEnd len="med" w="med" type="none"/>
            <a:tailEnd len="med" w="med" type="none"/>
          </a:ln>
        </p:spPr>
      </p:cxnSp>
      <p:cxnSp>
        <p:nvCxnSpPr>
          <p:cNvPr id="540" name="Google Shape;540;p44"/>
          <p:cNvCxnSpPr>
            <a:stCxn id="534" idx="2"/>
            <a:endCxn id="535" idx="0"/>
          </p:cNvCxnSpPr>
          <p:nvPr/>
        </p:nvCxnSpPr>
        <p:spPr>
          <a:xfrm>
            <a:off x="8575450" y="1539663"/>
            <a:ext cx="1482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graphicFrame>
        <p:nvGraphicFramePr>
          <p:cNvPr id="545" name="Google Shape;545;p45"/>
          <p:cNvGraphicFramePr/>
          <p:nvPr/>
        </p:nvGraphicFramePr>
        <p:xfrm>
          <a:off x="181825" y="1188541"/>
          <a:ext cx="3000000" cy="3000000"/>
        </p:xfrm>
        <a:graphic>
          <a:graphicData uri="http://schemas.openxmlformats.org/drawingml/2006/table">
            <a:tbl>
              <a:tblPr bandRow="1" firstRow="1">
                <a:noFill/>
                <a:tableStyleId>{A9287C5E-F899-4508-8DEB-B1986BAB9A59}</a:tableStyleId>
              </a:tblPr>
              <a:tblGrid>
                <a:gridCol w="815375"/>
                <a:gridCol w="733850"/>
                <a:gridCol w="811825"/>
                <a:gridCol w="729200"/>
                <a:gridCol w="813325"/>
                <a:gridCol w="813325"/>
                <a:gridCol w="752950"/>
                <a:gridCol w="1053150"/>
                <a:gridCol w="1121175"/>
                <a:gridCol w="1121175"/>
              </a:tblGrid>
              <a:tr h="278125">
                <a:tc>
                  <a:txBody>
                    <a:bodyPr/>
                    <a:lstStyle/>
                    <a:p>
                      <a:pPr indent="0" lvl="0" marL="0" marR="0" rtl="0" algn="l">
                        <a:spcBef>
                          <a:spcPts val="0"/>
                        </a:spcBef>
                        <a:spcAft>
                          <a:spcPts val="0"/>
                        </a:spcAft>
                        <a:buNone/>
                      </a:pPr>
                      <a:r>
                        <a:rPr lang="de" sz="800">
                          <a:latin typeface="Arial"/>
                          <a:ea typeface="Arial"/>
                          <a:cs typeface="Arial"/>
                          <a:sym typeface="Arial"/>
                        </a:rPr>
                        <a:t>Merkmal</a:t>
                      </a:r>
                      <a:endParaRPr sz="1100"/>
                    </a:p>
                  </a:txBody>
                  <a:tcPr marT="34300" marB="34300" marR="68600" marL="68600">
                    <a:solidFill>
                      <a:srgbClr val="438086"/>
                    </a:solidFill>
                  </a:tcPr>
                </a:tc>
                <a:tc>
                  <a:txBody>
                    <a:bodyPr/>
                    <a:lstStyle/>
                    <a:p>
                      <a:pPr indent="0" lvl="0" marL="0" marR="0" rtl="0" algn="l">
                        <a:spcBef>
                          <a:spcPts val="0"/>
                        </a:spcBef>
                        <a:spcAft>
                          <a:spcPts val="0"/>
                        </a:spcAft>
                        <a:buNone/>
                      </a:pPr>
                      <a:r>
                        <a:rPr lang="de" sz="800">
                          <a:latin typeface="Arial"/>
                          <a:ea typeface="Arial"/>
                          <a:cs typeface="Arial"/>
                          <a:sym typeface="Arial"/>
                        </a:rPr>
                        <a:t>Unterlagen</a:t>
                      </a:r>
                      <a:endParaRPr sz="1100"/>
                    </a:p>
                  </a:txBody>
                  <a:tcPr marT="34300" marB="34300" marR="68600" marL="68600">
                    <a:solidFill>
                      <a:srgbClr val="438086"/>
                    </a:solidFill>
                  </a:tcPr>
                </a:tc>
                <a:tc>
                  <a:txBody>
                    <a:bodyPr/>
                    <a:lstStyle/>
                    <a:p>
                      <a:pPr indent="0" lvl="0" marL="0" marR="0" rtl="0" algn="l">
                        <a:spcBef>
                          <a:spcPts val="0"/>
                        </a:spcBef>
                        <a:spcAft>
                          <a:spcPts val="0"/>
                        </a:spcAft>
                        <a:buNone/>
                      </a:pPr>
                      <a:r>
                        <a:rPr lang="de" sz="800">
                          <a:latin typeface="Arial"/>
                          <a:ea typeface="Arial"/>
                          <a:cs typeface="Arial"/>
                          <a:sym typeface="Arial"/>
                        </a:rPr>
                        <a:t>Einarbeitung</a:t>
                      </a:r>
                      <a:endParaRPr sz="1100"/>
                    </a:p>
                  </a:txBody>
                  <a:tcPr marT="34300" marB="34300" marR="68600" marL="68600">
                    <a:solidFill>
                      <a:srgbClr val="438086"/>
                    </a:solidFill>
                  </a:tcPr>
                </a:tc>
                <a:tc>
                  <a:txBody>
                    <a:bodyPr/>
                    <a:lstStyle/>
                    <a:p>
                      <a:pPr indent="0" lvl="0" marL="0" marR="0" rtl="0" algn="l">
                        <a:spcBef>
                          <a:spcPts val="0"/>
                        </a:spcBef>
                        <a:spcAft>
                          <a:spcPts val="0"/>
                        </a:spcAft>
                        <a:buNone/>
                      </a:pPr>
                      <a:r>
                        <a:rPr lang="de" sz="800">
                          <a:latin typeface="Arial"/>
                          <a:ea typeface="Arial"/>
                          <a:cs typeface="Arial"/>
                          <a:sym typeface="Arial"/>
                        </a:rPr>
                        <a:t>Tests</a:t>
                      </a:r>
                      <a:endParaRPr sz="1100"/>
                    </a:p>
                  </a:txBody>
                  <a:tcPr marT="34300" marB="34300" marR="68600" marL="68600">
                    <a:solidFill>
                      <a:srgbClr val="438086"/>
                    </a:solidFill>
                  </a:tcPr>
                </a:tc>
                <a:tc>
                  <a:txBody>
                    <a:bodyPr/>
                    <a:lstStyle/>
                    <a:p>
                      <a:pPr indent="0" lvl="0" marL="0" marR="0" rtl="0" algn="l">
                        <a:spcBef>
                          <a:spcPts val="0"/>
                        </a:spcBef>
                        <a:spcAft>
                          <a:spcPts val="0"/>
                        </a:spcAft>
                        <a:buNone/>
                      </a:pPr>
                      <a:r>
                        <a:rPr lang="de" sz="800">
                          <a:latin typeface="Arial"/>
                          <a:ea typeface="Arial"/>
                          <a:cs typeface="Arial"/>
                          <a:sym typeface="Arial"/>
                        </a:rPr>
                        <a:t>Skalierbarkeit</a:t>
                      </a:r>
                      <a:endParaRPr sz="1100"/>
                    </a:p>
                  </a:txBody>
                  <a:tcPr marT="34300" marB="34300" marR="68600" marL="68600">
                    <a:solidFill>
                      <a:srgbClr val="438086"/>
                    </a:solidFill>
                  </a:tcPr>
                </a:tc>
                <a:tc>
                  <a:txBody>
                    <a:bodyPr/>
                    <a:lstStyle/>
                    <a:p>
                      <a:pPr indent="0" lvl="0" marL="0" marR="0" rtl="0" algn="l">
                        <a:lnSpc>
                          <a:spcPct val="100000"/>
                        </a:lnSpc>
                        <a:spcBef>
                          <a:spcPts val="0"/>
                        </a:spcBef>
                        <a:spcAft>
                          <a:spcPts val="0"/>
                        </a:spcAft>
                        <a:buClr>
                          <a:schemeClr val="dk1"/>
                        </a:buClr>
                        <a:buSzPts val="800"/>
                        <a:buFont typeface="Arial"/>
                        <a:buNone/>
                      </a:pPr>
                      <a:r>
                        <a:rPr lang="de" sz="800">
                          <a:latin typeface="Arial"/>
                          <a:ea typeface="Arial"/>
                          <a:cs typeface="Arial"/>
                          <a:sym typeface="Arial"/>
                        </a:rPr>
                        <a:t>Komplexität</a:t>
                      </a:r>
                      <a:endParaRPr sz="1100"/>
                    </a:p>
                    <a:p>
                      <a:pPr indent="0" lvl="0" marL="0" marR="0" rtl="0" algn="l">
                        <a:spcBef>
                          <a:spcPts val="0"/>
                        </a:spcBef>
                        <a:spcAft>
                          <a:spcPts val="0"/>
                        </a:spcAft>
                        <a:buNone/>
                      </a:pPr>
                      <a:r>
                        <a:t/>
                      </a:r>
                      <a:endParaRPr sz="800">
                        <a:latin typeface="Arial"/>
                        <a:ea typeface="Arial"/>
                        <a:cs typeface="Arial"/>
                        <a:sym typeface="Arial"/>
                      </a:endParaRPr>
                    </a:p>
                  </a:txBody>
                  <a:tcPr marT="34300" marB="34300" marR="68600" marL="68600">
                    <a:solidFill>
                      <a:srgbClr val="438086"/>
                    </a:solidFill>
                  </a:tcPr>
                </a:tc>
                <a:tc>
                  <a:txBody>
                    <a:bodyPr/>
                    <a:lstStyle/>
                    <a:p>
                      <a:pPr indent="0" lvl="0" marL="0" marR="0" rtl="0" algn="l">
                        <a:lnSpc>
                          <a:spcPct val="100000"/>
                        </a:lnSpc>
                        <a:spcBef>
                          <a:spcPts val="0"/>
                        </a:spcBef>
                        <a:spcAft>
                          <a:spcPts val="0"/>
                        </a:spcAft>
                        <a:buClr>
                          <a:schemeClr val="dk1"/>
                        </a:buClr>
                        <a:buSzPts val="800"/>
                        <a:buFont typeface="Arial"/>
                        <a:buNone/>
                      </a:pPr>
                      <a:r>
                        <a:rPr lang="de" sz="800">
                          <a:latin typeface="Arial"/>
                          <a:ea typeface="Arial"/>
                          <a:cs typeface="Arial"/>
                          <a:sym typeface="Arial"/>
                        </a:rPr>
                        <a:t>Anpassungsfähig</a:t>
                      </a:r>
                      <a:endParaRPr sz="800">
                        <a:latin typeface="Arial"/>
                        <a:ea typeface="Arial"/>
                        <a:cs typeface="Arial"/>
                        <a:sym typeface="Arial"/>
                      </a:endParaRPr>
                    </a:p>
                  </a:txBody>
                  <a:tcPr marT="34300" marB="34300" marR="68600" marL="68600">
                    <a:solidFill>
                      <a:srgbClr val="438086"/>
                    </a:solidFill>
                  </a:tcPr>
                </a:tc>
                <a:tc>
                  <a:txBody>
                    <a:bodyPr/>
                    <a:lstStyle/>
                    <a:p>
                      <a:pPr indent="0" lvl="0" marL="0" marR="0" rtl="0" algn="l">
                        <a:spcBef>
                          <a:spcPts val="0"/>
                        </a:spcBef>
                        <a:spcAft>
                          <a:spcPts val="0"/>
                        </a:spcAft>
                        <a:buNone/>
                      </a:pPr>
                      <a:r>
                        <a:rPr lang="de" sz="800">
                          <a:latin typeface="Arial"/>
                          <a:ea typeface="Arial"/>
                          <a:cs typeface="Arial"/>
                          <a:sym typeface="Arial"/>
                        </a:rPr>
                        <a:t>Flexibilität</a:t>
                      </a:r>
                      <a:endParaRPr sz="1100"/>
                    </a:p>
                  </a:txBody>
                  <a:tcPr marT="34300" marB="34300" marR="68600" marL="68600">
                    <a:solidFill>
                      <a:srgbClr val="438086"/>
                    </a:solidFill>
                  </a:tcPr>
                </a:tc>
                <a:tc>
                  <a:txBody>
                    <a:bodyPr/>
                    <a:lstStyle/>
                    <a:p>
                      <a:pPr indent="0" lvl="0" marL="0" marR="0" rtl="0" algn="l">
                        <a:spcBef>
                          <a:spcPts val="0"/>
                        </a:spcBef>
                        <a:spcAft>
                          <a:spcPts val="0"/>
                        </a:spcAft>
                        <a:buNone/>
                      </a:pPr>
                      <a:r>
                        <a:rPr lang="de" sz="800">
                          <a:latin typeface="Arial"/>
                          <a:ea typeface="Arial"/>
                          <a:cs typeface="Arial"/>
                          <a:sym typeface="Arial"/>
                        </a:rPr>
                        <a:t>Langfristigkeit</a:t>
                      </a:r>
                      <a:endParaRPr sz="1100"/>
                    </a:p>
                  </a:txBody>
                  <a:tcPr marT="34300" marB="34300" marR="68600" marL="68600">
                    <a:solidFill>
                      <a:srgbClr val="438086"/>
                    </a:solidFill>
                  </a:tcPr>
                </a:tc>
                <a:tc>
                  <a:txBody>
                    <a:bodyPr/>
                    <a:lstStyle/>
                    <a:p>
                      <a:pPr indent="0" lvl="0" marL="0" marR="0" rtl="0" algn="l">
                        <a:spcBef>
                          <a:spcPts val="0"/>
                        </a:spcBef>
                        <a:spcAft>
                          <a:spcPts val="0"/>
                        </a:spcAft>
                        <a:buNone/>
                      </a:pPr>
                      <a:r>
                        <a:rPr lang="de" sz="800">
                          <a:latin typeface="Arial"/>
                          <a:ea typeface="Arial"/>
                          <a:cs typeface="Arial"/>
                          <a:sym typeface="Arial"/>
                        </a:rPr>
                        <a:t>Kosten</a:t>
                      </a:r>
                      <a:endParaRPr sz="1100"/>
                    </a:p>
                  </a:txBody>
                  <a:tcPr marT="34300" marB="34300" marR="68600" marL="68600">
                    <a:solidFill>
                      <a:srgbClr val="438086"/>
                    </a:solidFill>
                  </a:tcPr>
                </a:tc>
              </a:tr>
              <a:tr h="278125">
                <a:tc>
                  <a:txBody>
                    <a:bodyPr/>
                    <a:lstStyle/>
                    <a:p>
                      <a:pPr indent="0" lvl="0" marL="0" marR="0" rtl="0" algn="l">
                        <a:spcBef>
                          <a:spcPts val="0"/>
                        </a:spcBef>
                        <a:spcAft>
                          <a:spcPts val="0"/>
                        </a:spcAft>
                        <a:buNone/>
                      </a:pPr>
                      <a:r>
                        <a:rPr lang="de" sz="700">
                          <a:latin typeface="Arial"/>
                          <a:ea typeface="Arial"/>
                          <a:cs typeface="Arial"/>
                          <a:sym typeface="Arial"/>
                        </a:rPr>
                        <a:t>Vertex AI</a:t>
                      </a:r>
                      <a:endParaRPr sz="700">
                        <a:latin typeface="Arial"/>
                        <a:ea typeface="Arial"/>
                        <a:cs typeface="Arial"/>
                        <a:sym typeface="Arial"/>
                      </a:endParaRPr>
                    </a:p>
                    <a:p>
                      <a:pPr indent="0" lvl="0" marL="0" marR="0" rtl="0" algn="l">
                        <a:spcBef>
                          <a:spcPts val="0"/>
                        </a:spcBef>
                        <a:spcAft>
                          <a:spcPts val="0"/>
                        </a:spcAft>
                        <a:buNone/>
                      </a:pPr>
                      <a:r>
                        <a:rPr lang="de" sz="700">
                          <a:latin typeface="Arial"/>
                          <a:ea typeface="Arial"/>
                          <a:cs typeface="Arial"/>
                          <a:sym typeface="Arial"/>
                        </a:rPr>
                        <a:t>(Platform)</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CloudSkillBoost und Community</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Viele Beispiel</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CloudSkillBoost, 300$ frei pAcc</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Google Cloud Optionen mit Verbindungen zu u.a. 3.Anbietern, Load Balancing</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Einfacher Einstieg, vielfältige Möglichkeiten</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Eigene Skripte, Eigene Trainingsdaten</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C++, C#, Python, Go, ..</a:t>
                      </a:r>
                      <a:endParaRPr sz="700">
                        <a:latin typeface="Arial"/>
                        <a:ea typeface="Arial"/>
                        <a:cs typeface="Arial"/>
                        <a:sym typeface="Arial"/>
                      </a:endParaRPr>
                    </a:p>
                    <a:p>
                      <a:pPr indent="0" lvl="0" marL="0" marR="0" rtl="0" algn="l">
                        <a:spcBef>
                          <a:spcPts val="0"/>
                        </a:spcBef>
                        <a:spcAft>
                          <a:spcPts val="0"/>
                        </a:spcAft>
                        <a:buNone/>
                      </a:pPr>
                      <a:r>
                        <a:rPr lang="de" sz="700">
                          <a:latin typeface="Arial"/>
                          <a:ea typeface="Arial"/>
                          <a:cs typeface="Arial"/>
                          <a:sym typeface="Arial"/>
                        </a:rPr>
                        <a:t>Cloud oder lokale Software per API Zugriffe, eigene und 3. Anbieter Modelle</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Google Cloud verspricht langfristige Wartung</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Vertex AI kann so konfiguriert werden, dass Kosten nur bei Nutzung anfallen</a:t>
                      </a:r>
                      <a:endParaRPr sz="700">
                        <a:latin typeface="Arial"/>
                        <a:ea typeface="Arial"/>
                        <a:cs typeface="Arial"/>
                        <a:sym typeface="Arial"/>
                      </a:endParaRPr>
                    </a:p>
                  </a:txBody>
                  <a:tcPr marT="34300" marB="34300" marR="68600" marL="68600">
                    <a:solidFill>
                      <a:srgbClr val="328D96">
                        <a:alpha val="24710"/>
                      </a:srgbClr>
                    </a:solidFill>
                  </a:tcPr>
                </a:tc>
              </a:tr>
              <a:tr h="278125">
                <a:tc>
                  <a:txBody>
                    <a:bodyPr/>
                    <a:lstStyle/>
                    <a:p>
                      <a:pPr indent="0" lvl="0" marL="0" marR="0" rtl="0" algn="l">
                        <a:spcBef>
                          <a:spcPts val="0"/>
                        </a:spcBef>
                        <a:spcAft>
                          <a:spcPts val="0"/>
                        </a:spcAft>
                        <a:buNone/>
                      </a:pPr>
                      <a:r>
                        <a:rPr lang="de" sz="700">
                          <a:latin typeface="Arial"/>
                          <a:ea typeface="Arial"/>
                          <a:cs typeface="Arial"/>
                          <a:sym typeface="Arial"/>
                        </a:rPr>
                        <a:t>Vertex AI </a:t>
                      </a:r>
                      <a:r>
                        <a:rPr lang="de" sz="700">
                          <a:latin typeface="Arial"/>
                          <a:ea typeface="Arial"/>
                          <a:cs typeface="Arial"/>
                          <a:sym typeface="Arial"/>
                        </a:rPr>
                        <a:t>Gemini (ab 1.5 Pro)</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lnSpc>
                          <a:spcPct val="100000"/>
                        </a:lnSpc>
                        <a:spcBef>
                          <a:spcPts val="0"/>
                        </a:spcBef>
                        <a:spcAft>
                          <a:spcPts val="0"/>
                        </a:spcAft>
                        <a:buNone/>
                      </a:pPr>
                      <a:r>
                        <a:rPr lang="de" sz="700">
                          <a:latin typeface="Arial"/>
                          <a:ea typeface="Arial"/>
                          <a:cs typeface="Arial"/>
                          <a:sym typeface="Arial"/>
                        </a:rPr>
                        <a:t>„</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lnSpc>
                          <a:spcPct val="100000"/>
                        </a:lnSpc>
                        <a:spcBef>
                          <a:spcPts val="0"/>
                        </a:spcBef>
                        <a:spcAft>
                          <a:spcPts val="0"/>
                        </a:spcAft>
                        <a:buNone/>
                      </a:pPr>
                      <a:r>
                        <a:rPr lang="de" sz="700">
                          <a:latin typeface="Arial"/>
                          <a:ea typeface="Arial"/>
                          <a:cs typeface="Arial"/>
                          <a:sym typeface="Arial"/>
                        </a:rPr>
                        <a:t>„</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lnSpc>
                          <a:spcPct val="100000"/>
                        </a:lnSpc>
                        <a:spcBef>
                          <a:spcPts val="0"/>
                        </a:spcBef>
                        <a:spcAft>
                          <a:spcPts val="0"/>
                        </a:spcAft>
                        <a:buClr>
                          <a:srgbClr val="000000"/>
                        </a:buClr>
                        <a:buFont typeface="Arial"/>
                        <a:buNone/>
                      </a:pPr>
                      <a:r>
                        <a:rPr lang="de" sz="700">
                          <a:latin typeface="Arial"/>
                          <a:ea typeface="Arial"/>
                          <a:cs typeface="Arial"/>
                          <a:sym typeface="Arial"/>
                        </a:rPr>
                        <a:t>z.B. Chatbot  in der Cloud vor Weiterentwicklung</a:t>
                      </a:r>
                      <a:endParaRPr sz="700">
                        <a:latin typeface="Arial"/>
                        <a:ea typeface="Arial"/>
                        <a:cs typeface="Arial"/>
                        <a:sym typeface="Arial"/>
                      </a:endParaRPr>
                    </a:p>
                    <a:p>
                      <a:pPr indent="0" lvl="0" marL="0" marR="0" rtl="0" algn="l">
                        <a:lnSpc>
                          <a:spcPct val="100000"/>
                        </a:lnSpc>
                        <a:spcBef>
                          <a:spcPts val="0"/>
                        </a:spcBef>
                        <a:spcAft>
                          <a:spcPts val="0"/>
                        </a:spcAft>
                        <a:buNone/>
                      </a:pPr>
                      <a:r>
                        <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lnSpc>
                          <a:spcPct val="100000"/>
                        </a:lnSpc>
                        <a:spcBef>
                          <a:spcPts val="0"/>
                        </a:spcBef>
                        <a:spcAft>
                          <a:spcPts val="0"/>
                        </a:spcAft>
                        <a:buNone/>
                      </a:pPr>
                      <a:r>
                        <a:rPr lang="de" sz="700">
                          <a:latin typeface="Arial"/>
                          <a:ea typeface="Arial"/>
                          <a:cs typeface="Arial"/>
                          <a:sym typeface="Arial"/>
                        </a:rPr>
                        <a:t>Modellwechsel auf neue Modelle möglich, optional Load Balancing für Kontent denkbar</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lnSpc>
                          <a:spcPct val="100000"/>
                        </a:lnSpc>
                        <a:spcBef>
                          <a:spcPts val="0"/>
                        </a:spcBef>
                        <a:spcAft>
                          <a:spcPts val="0"/>
                        </a:spcAft>
                        <a:buNone/>
                      </a:pPr>
                      <a:r>
                        <a:rPr lang="de" sz="700">
                          <a:latin typeface="Arial"/>
                          <a:ea typeface="Arial"/>
                          <a:cs typeface="Arial"/>
                          <a:sym typeface="Arial"/>
                        </a:rPr>
                        <a:t>Out of the box - parametrierbar </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lnSpc>
                          <a:spcPct val="100000"/>
                        </a:lnSpc>
                        <a:spcBef>
                          <a:spcPts val="0"/>
                        </a:spcBef>
                        <a:spcAft>
                          <a:spcPts val="0"/>
                        </a:spcAft>
                        <a:buNone/>
                      </a:pPr>
                      <a:r>
                        <a:rPr lang="de" sz="700">
                          <a:latin typeface="Arial"/>
                          <a:ea typeface="Arial"/>
                          <a:cs typeface="Arial"/>
                          <a:sym typeface="Arial"/>
                        </a:rPr>
                        <a:t>Eigene Regeln, Gemini Parameter und Filter können gesetzt werden</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lnSpc>
                          <a:spcPct val="100000"/>
                        </a:lnSpc>
                        <a:spcBef>
                          <a:spcPts val="0"/>
                        </a:spcBef>
                        <a:spcAft>
                          <a:spcPts val="0"/>
                        </a:spcAft>
                        <a:buNone/>
                      </a:pPr>
                      <a:r>
                        <a:rPr lang="de" sz="700">
                          <a:latin typeface="Arial"/>
                          <a:ea typeface="Arial"/>
                          <a:cs typeface="Arial"/>
                          <a:sym typeface="Arial"/>
                        </a:rPr>
                        <a:t>Verarbeitet Bild, Ton und Videodateien, Texte können per Prompt abgerufen werden</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lnSpc>
                          <a:spcPct val="100000"/>
                        </a:lnSpc>
                        <a:spcBef>
                          <a:spcPts val="0"/>
                        </a:spcBef>
                        <a:spcAft>
                          <a:spcPts val="0"/>
                        </a:spcAft>
                        <a:buNone/>
                      </a:pPr>
                      <a:r>
                        <a:rPr lang="de" sz="700">
                          <a:latin typeface="Arial"/>
                          <a:ea typeface="Arial"/>
                          <a:cs typeface="Arial"/>
                          <a:sym typeface="Arial"/>
                        </a:rPr>
                        <a:t>Gemini Modelle sind z.T. noch neu, eine Abkündigung ist nicht bekannt, stetiger Fortschritt</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lnSpc>
                          <a:spcPct val="100000"/>
                        </a:lnSpc>
                        <a:spcBef>
                          <a:spcPts val="0"/>
                        </a:spcBef>
                        <a:spcAft>
                          <a:spcPts val="0"/>
                        </a:spcAft>
                        <a:buNone/>
                      </a:pPr>
                      <a:r>
                        <a:rPr lang="de" sz="700">
                          <a:latin typeface="Arial"/>
                          <a:ea typeface="Arial"/>
                          <a:cs typeface="Arial"/>
                          <a:sym typeface="Arial"/>
                        </a:rPr>
                        <a:t>Abhängig von der gewählten Version</a:t>
                      </a:r>
                      <a:endParaRPr sz="700">
                        <a:latin typeface="Arial"/>
                        <a:ea typeface="Arial"/>
                        <a:cs typeface="Arial"/>
                        <a:sym typeface="Arial"/>
                      </a:endParaRPr>
                    </a:p>
                  </a:txBody>
                  <a:tcPr marT="34300" marB="34300" marR="68600" marL="68600">
                    <a:solidFill>
                      <a:srgbClr val="438086">
                        <a:alpha val="16860"/>
                      </a:srgbClr>
                    </a:solidFill>
                  </a:tcPr>
                </a:tc>
              </a:tr>
              <a:tr h="278125">
                <a:tc>
                  <a:txBody>
                    <a:bodyPr/>
                    <a:lstStyle/>
                    <a:p>
                      <a:pPr indent="0" lvl="0" marL="0" marR="0" rtl="0" algn="l">
                        <a:lnSpc>
                          <a:spcPct val="100000"/>
                        </a:lnSpc>
                        <a:spcBef>
                          <a:spcPts val="0"/>
                        </a:spcBef>
                        <a:spcAft>
                          <a:spcPts val="0"/>
                        </a:spcAft>
                        <a:buClr>
                          <a:srgbClr val="000000"/>
                        </a:buClr>
                        <a:buFont typeface="Arial"/>
                        <a:buNone/>
                      </a:pPr>
                      <a:r>
                        <a:rPr lang="de" sz="700">
                          <a:latin typeface="Arial"/>
                          <a:ea typeface="Arial"/>
                          <a:cs typeface="Arial"/>
                          <a:sym typeface="Arial"/>
                        </a:rPr>
                        <a:t>Vertex AI </a:t>
                      </a:r>
                      <a:r>
                        <a:rPr lang="de" sz="700">
                          <a:latin typeface="Arial"/>
                          <a:ea typeface="Arial"/>
                          <a:cs typeface="Arial"/>
                          <a:sym typeface="Arial"/>
                        </a:rPr>
                        <a:t>Vision</a:t>
                      </a:r>
                      <a:endParaRPr sz="700">
                        <a:latin typeface="Arial"/>
                        <a:ea typeface="Arial"/>
                        <a:cs typeface="Arial"/>
                        <a:sym typeface="Arial"/>
                      </a:endParaRPr>
                    </a:p>
                  </a:txBody>
                  <a:tcPr marT="34300" marB="34300" marR="68600" marL="68600">
                    <a:lnB cap="flat" cmpd="sng" w="12700">
                      <a:solidFill>
                        <a:schemeClr val="lt1"/>
                      </a:solidFill>
                      <a:prstDash val="solid"/>
                      <a:round/>
                      <a:headEnd len="sm" w="sm" type="none"/>
                      <a:tailEnd len="sm" w="sm" type="none"/>
                    </a:lnB>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Module für Objekt-, Label- und Landmarken Erkennung</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Out of the box - </a:t>
                      </a:r>
                      <a:r>
                        <a:rPr lang="de" sz="700">
                          <a:latin typeface="Arial"/>
                          <a:ea typeface="Arial"/>
                          <a:cs typeface="Arial"/>
                          <a:sym typeface="Arial"/>
                        </a:rPr>
                        <a:t>parametrierbar</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begrenzt, parallele eigene Modelle</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Module zubuchbar, z.B. Personenzählung, Objekttracking usw.</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Stetige Verbesserung, Gemini Modelle können jedoch </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$ 0,10 je Minute zzgl. Module wie Landmarkenerkennung, Label, </a:t>
                      </a:r>
                      <a:endParaRPr sz="700">
                        <a:latin typeface="Arial"/>
                        <a:ea typeface="Arial"/>
                        <a:cs typeface="Arial"/>
                        <a:sym typeface="Arial"/>
                      </a:endParaRPr>
                    </a:p>
                  </a:txBody>
                  <a:tcPr marT="34300" marB="34300" marR="68600" marL="68600">
                    <a:solidFill>
                      <a:srgbClr val="328D96">
                        <a:alpha val="24710"/>
                      </a:srgbClr>
                    </a:solidFill>
                  </a:tcPr>
                </a:tc>
              </a:tr>
              <a:tr h="278125">
                <a:tc>
                  <a:txBody>
                    <a:bodyPr/>
                    <a:lstStyle/>
                    <a:p>
                      <a:pPr indent="0" lvl="0" marL="0" marR="0" rtl="0" algn="l">
                        <a:lnSpc>
                          <a:spcPct val="100000"/>
                        </a:lnSpc>
                        <a:spcBef>
                          <a:spcPts val="0"/>
                        </a:spcBef>
                        <a:spcAft>
                          <a:spcPts val="0"/>
                        </a:spcAft>
                        <a:buNone/>
                      </a:pPr>
                      <a:r>
                        <a:rPr lang="de" sz="700">
                          <a:latin typeface="Arial"/>
                          <a:ea typeface="Arial"/>
                          <a:cs typeface="Arial"/>
                          <a:sym typeface="Arial"/>
                        </a:rPr>
                        <a:t>OpenCV+</a:t>
                      </a:r>
                      <a:r>
                        <a:rPr lang="de" sz="700">
                          <a:latin typeface="Arial"/>
                          <a:ea typeface="Arial"/>
                          <a:cs typeface="Arial"/>
                          <a:sym typeface="Arial"/>
                        </a:rPr>
                        <a:t>Yolo++</a:t>
                      </a:r>
                      <a:endParaRPr sz="700">
                        <a:latin typeface="Arial"/>
                        <a:ea typeface="Arial"/>
                        <a:cs typeface="Arial"/>
                        <a:sym typeface="Aria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38086">
                        <a:alpha val="1686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Community, Tutorials, </a:t>
                      </a:r>
                      <a:endParaRPr sz="700">
                        <a:latin typeface="Arial"/>
                        <a:ea typeface="Arial"/>
                        <a:cs typeface="Arial"/>
                        <a:sym typeface="Arial"/>
                      </a:endParaRPr>
                    </a:p>
                  </a:txBody>
                  <a:tcPr marT="34300" marB="34300" marR="68600" marL="68600">
                    <a:lnL cap="flat" cmpd="sng" w="12700">
                      <a:solidFill>
                        <a:schemeClr val="lt1"/>
                      </a:solidFill>
                      <a:prstDash val="solid"/>
                      <a:round/>
                      <a:headEnd len="sm" w="sm" type="none"/>
                      <a:tailEnd len="sm" w="sm" type="none"/>
                    </a:lnL>
                    <a:solidFill>
                      <a:srgbClr val="438086">
                        <a:alpha val="16860"/>
                      </a:srgbClr>
                    </a:solidFill>
                  </a:tcPr>
                </a:tc>
                <a:tc>
                  <a:txBody>
                    <a:bodyPr/>
                    <a:lstStyle/>
                    <a:p>
                      <a:pPr indent="0" lvl="0" marL="0" rtl="0" algn="l">
                        <a:spcBef>
                          <a:spcPts val="0"/>
                        </a:spcBef>
                        <a:spcAft>
                          <a:spcPts val="0"/>
                        </a:spcAft>
                        <a:buClr>
                          <a:schemeClr val="dk1"/>
                        </a:buClr>
                        <a:buFont typeface="Arial"/>
                        <a:buNone/>
                      </a:pPr>
                      <a:r>
                        <a:rPr lang="de" sz="700">
                          <a:latin typeface="Arial"/>
                          <a:ea typeface="Arial"/>
                          <a:cs typeface="Arial"/>
                          <a:sym typeface="Arial"/>
                        </a:rPr>
                        <a:t>Viele Beispiel</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Modulweise testbar</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Viele einzelne Softwarebibliotheken verschiedenster Hersteller/Entwickler</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frei kombinierbar mit anderen Modellen oder zur Vorbereitung</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Möglichkeit mehrere Bilder pro Sekunde auszuwerten.</a:t>
                      </a:r>
                      <a:endParaRPr sz="700">
                        <a:latin typeface="Arial"/>
                        <a:ea typeface="Arial"/>
                        <a:cs typeface="Arial"/>
                        <a:sym typeface="Arial"/>
                      </a:endParaRPr>
                    </a:p>
                    <a:p>
                      <a:pPr indent="0" lvl="0" marL="0" marR="0" rtl="0" algn="l">
                        <a:spcBef>
                          <a:spcPts val="0"/>
                        </a:spcBef>
                        <a:spcAft>
                          <a:spcPts val="0"/>
                        </a:spcAft>
                        <a:buNone/>
                      </a:pPr>
                      <a:r>
                        <a:rPr lang="de" sz="700">
                          <a:latin typeface="Arial"/>
                          <a:ea typeface="Arial"/>
                          <a:cs typeface="Arial"/>
                          <a:sym typeface="Arial"/>
                        </a:rPr>
                        <a:t>Flexibel erweiterbar durch eingearbeitete Teammitglieder</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“Prototyp”, </a:t>
                      </a:r>
                      <a:r>
                        <a:rPr lang="de" sz="700">
                          <a:latin typeface="Arial"/>
                          <a:ea typeface="Arial"/>
                          <a:cs typeface="Arial"/>
                          <a:sym typeface="Arial"/>
                        </a:rPr>
                        <a:t>erfordert Know-How und Kenntnisse des Projektteams oder lange Einarbeitung</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rPr lang="de" sz="700">
                          <a:latin typeface="Arial"/>
                          <a:ea typeface="Arial"/>
                          <a:cs typeface="Arial"/>
                          <a:sym typeface="Arial"/>
                        </a:rPr>
                        <a:t>Für das Projekt die geringsten Kosten, ohne “kommerzielle” Lizenzen oder Cloud Gebühren, jedoch keine Landmarkenerkennung</a:t>
                      </a:r>
                      <a:endParaRPr sz="700">
                        <a:latin typeface="Arial"/>
                        <a:ea typeface="Arial"/>
                        <a:cs typeface="Arial"/>
                        <a:sym typeface="Arial"/>
                      </a:endParaRPr>
                    </a:p>
                  </a:txBody>
                  <a:tcPr marT="34300" marB="34300" marR="68600" marL="68600">
                    <a:solidFill>
                      <a:srgbClr val="438086">
                        <a:alpha val="16860"/>
                      </a:srgbClr>
                    </a:solidFill>
                  </a:tcPr>
                </a:tc>
              </a:tr>
              <a:tr h="278125">
                <a:tc>
                  <a:txBody>
                    <a:bodyPr/>
                    <a:lstStyle/>
                    <a:p>
                      <a:pPr indent="0" lvl="0" marL="0" marR="0" rtl="0" algn="l">
                        <a:lnSpc>
                          <a:spcPct val="100000"/>
                        </a:lnSpc>
                        <a:spcBef>
                          <a:spcPts val="0"/>
                        </a:spcBef>
                        <a:spcAft>
                          <a:spcPts val="0"/>
                        </a:spcAft>
                        <a:buNone/>
                      </a:pPr>
                      <a:r>
                        <a:rPr lang="de" sz="700">
                          <a:latin typeface="Arial"/>
                          <a:ea typeface="Arial"/>
                          <a:cs typeface="Arial"/>
                          <a:sym typeface="Arial"/>
                        </a:rPr>
                        <a:t>GPT4 - GPT4V</a:t>
                      </a:r>
                      <a:endParaRPr sz="700">
                        <a:latin typeface="Arial"/>
                        <a:ea typeface="Arial"/>
                        <a:cs typeface="Arial"/>
                        <a:sym typeface="Aria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28D96">
                        <a:alpha val="2471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lnL cap="flat" cmpd="sng" w="12700">
                      <a:solidFill>
                        <a:schemeClr val="lt1"/>
                      </a:solidFill>
                      <a:prstDash val="solid"/>
                      <a:round/>
                      <a:headEnd len="sm" w="sm" type="none"/>
                      <a:tailEnd len="sm" w="sm" type="none"/>
                    </a:lnL>
                    <a:solidFill>
                      <a:srgbClr val="328D96">
                        <a:alpha val="2471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328D96">
                        <a:alpha val="2471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328D96">
                        <a:alpha val="24710"/>
                      </a:srgbClr>
                    </a:solidFill>
                  </a:tcPr>
                </a:tc>
              </a:tr>
              <a:tr h="278125">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lnT cap="flat" cmpd="sng" w="12700">
                      <a:solidFill>
                        <a:schemeClr val="lt1"/>
                      </a:solidFill>
                      <a:prstDash val="solid"/>
                      <a:round/>
                      <a:headEnd len="sm" w="sm" type="none"/>
                      <a:tailEnd len="sm" w="sm" type="none"/>
                    </a:lnT>
                    <a:solidFill>
                      <a:srgbClr val="438086">
                        <a:alpha val="1686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438086">
                        <a:alpha val="16860"/>
                      </a:srgbClr>
                    </a:solidFill>
                  </a:tcPr>
                </a:tc>
                <a:tc>
                  <a:txBody>
                    <a:bodyPr/>
                    <a:lstStyle/>
                    <a:p>
                      <a:pPr indent="0" lvl="0" marL="0" marR="0" rtl="0" algn="l">
                        <a:spcBef>
                          <a:spcPts val="0"/>
                        </a:spcBef>
                        <a:spcAft>
                          <a:spcPts val="0"/>
                        </a:spcAft>
                        <a:buNone/>
                      </a:pPr>
                      <a:r>
                        <a:t/>
                      </a:r>
                      <a:endParaRPr sz="700">
                        <a:latin typeface="Arial"/>
                        <a:ea typeface="Arial"/>
                        <a:cs typeface="Arial"/>
                        <a:sym typeface="Arial"/>
                      </a:endParaRPr>
                    </a:p>
                  </a:txBody>
                  <a:tcPr marT="34300" marB="34300" marR="68600" marL="68600">
                    <a:solidFill>
                      <a:srgbClr val="438086">
                        <a:alpha val="16860"/>
                      </a:srgbClr>
                    </a:solidFill>
                  </a:tcPr>
                </a:tc>
              </a:tr>
            </a:tbl>
          </a:graphicData>
        </a:graphic>
      </p:graphicFrame>
      <p:graphicFrame>
        <p:nvGraphicFramePr>
          <p:cNvPr id="546" name="Google Shape;546;p45"/>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88A88"/>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lnL cap="flat" cmpd="sng" w="12700">
                      <a:solidFill>
                        <a:schemeClr val="lt1"/>
                      </a:solidFill>
                      <a:prstDash val="solid"/>
                      <a:round/>
                      <a:headEnd len="sm" w="sm" type="none"/>
                      <a:tailEnd len="sm" w="sm" type="none"/>
                    </a:lnL>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547" name="Google Shape;547;p45"/>
          <p:cNvSpPr txBox="1"/>
          <p:nvPr>
            <p:ph type="title"/>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1500"/>
              <a:buFont typeface="Arial"/>
              <a:buNone/>
            </a:pPr>
            <a:r>
              <a:rPr lang="de" sz="1500">
                <a:solidFill>
                  <a:schemeClr val="dk1"/>
                </a:solidFill>
                <a:latin typeface="Arial"/>
                <a:ea typeface="Arial"/>
                <a:cs typeface="Arial"/>
                <a:sym typeface="Arial"/>
              </a:rPr>
              <a:t>4️⃣</a:t>
            </a:r>
            <a:r>
              <a:rPr b="1" i="0" lang="de" sz="1500" u="none" cap="none" strike="noStrike">
                <a:solidFill>
                  <a:schemeClr val="dk1"/>
                </a:solidFill>
                <a:latin typeface="Arial"/>
                <a:ea typeface="Arial"/>
                <a:cs typeface="Arial"/>
                <a:sym typeface="Arial"/>
              </a:rPr>
              <a:t> </a:t>
            </a:r>
            <a:r>
              <a:rPr b="1" lang="de" sz="1500">
                <a:solidFill>
                  <a:schemeClr val="dk1"/>
                </a:solidFill>
                <a:latin typeface="Arial"/>
                <a:ea typeface="Arial"/>
                <a:cs typeface="Arial"/>
                <a:sym typeface="Arial"/>
              </a:rPr>
              <a:t>Bewertungsschema visuelle Modelle für Einsteiger</a:t>
            </a:r>
            <a:endParaRPr b="1" sz="1500">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6"/>
          <p:cNvSpPr txBox="1"/>
          <p:nvPr>
            <p:ph idx="12" type="sldNum"/>
          </p:nvPr>
        </p:nvSpPr>
        <p:spPr>
          <a:xfrm>
            <a:off x="6624228" y="0"/>
            <a:ext cx="1221300" cy="276000"/>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r>
              <a:rPr lang="de">
                <a:latin typeface="Verdana"/>
                <a:ea typeface="Verdana"/>
                <a:cs typeface="Verdana"/>
                <a:sym typeface="Verdana"/>
              </a:rPr>
              <a:t>Seite </a:t>
            </a:r>
            <a:fld id="{00000000-1234-1234-1234-123412341234}" type="slidenum">
              <a:rPr lang="de">
                <a:latin typeface="Verdana"/>
                <a:ea typeface="Verdana"/>
                <a:cs typeface="Verdana"/>
                <a:sym typeface="Verdana"/>
              </a:rPr>
              <a:t>‹#›</a:t>
            </a:fld>
            <a:r>
              <a:rPr lang="de">
                <a:latin typeface="Verdana"/>
                <a:ea typeface="Verdana"/>
                <a:cs typeface="Verdana"/>
                <a:sym typeface="Verdana"/>
              </a:rPr>
              <a:t> </a:t>
            </a:r>
            <a:endParaRPr/>
          </a:p>
        </p:txBody>
      </p:sp>
      <p:graphicFrame>
        <p:nvGraphicFramePr>
          <p:cNvPr id="554" name="Google Shape;554;p46"/>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b="1" sz="1200">
                        <a:solidFill>
                          <a:schemeClr val="lt1"/>
                        </a:solidFill>
                        <a:latin typeface="Georgia"/>
                        <a:ea typeface="Georgia"/>
                        <a:cs typeface="Georgia"/>
                        <a:sym typeface="Georgia"/>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555" name="Google Shape;555;p46"/>
          <p:cNvSpPr txBox="1"/>
          <p:nvPr/>
        </p:nvSpPr>
        <p:spPr>
          <a:xfrm>
            <a:off x="0" y="357504"/>
            <a:ext cx="9144000" cy="43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chemeClr val="dk1"/>
              </a:buClr>
              <a:buSzPts val="1500"/>
              <a:buFont typeface="Arial"/>
              <a:buNone/>
            </a:pPr>
            <a:r>
              <a:rPr i="0" lang="de" sz="1500" u="none" cap="none" strike="noStrike">
                <a:solidFill>
                  <a:schemeClr val="dk1"/>
                </a:solidFill>
                <a:latin typeface="Arial"/>
                <a:ea typeface="Arial"/>
                <a:cs typeface="Arial"/>
                <a:sym typeface="Arial"/>
              </a:rPr>
              <a:t>4️⃣</a:t>
            </a:r>
            <a:r>
              <a:rPr i="0" lang="de" sz="1500" u="none" cap="none" strike="noStrike">
                <a:solidFill>
                  <a:schemeClr val="dk1"/>
                </a:solidFill>
                <a:latin typeface="Arial"/>
                <a:ea typeface="Arial"/>
                <a:cs typeface="Arial"/>
                <a:sym typeface="Arial"/>
              </a:rPr>
              <a:t> Chat</a:t>
            </a:r>
            <a:r>
              <a:rPr lang="de" sz="1500">
                <a:solidFill>
                  <a:schemeClr val="dk1"/>
                </a:solidFill>
              </a:rPr>
              <a:t>GPT</a:t>
            </a:r>
            <a:r>
              <a:rPr b="1" lang="de" sz="1500">
                <a:solidFill>
                  <a:schemeClr val="dk1"/>
                </a:solidFill>
              </a:rPr>
              <a:t> | ChatGPT-4V</a:t>
            </a:r>
            <a:endParaRPr sz="1500">
              <a:solidFill>
                <a:schemeClr val="dk2"/>
              </a:solidFill>
              <a:latin typeface="Verdana"/>
              <a:ea typeface="Verdana"/>
              <a:cs typeface="Verdana"/>
              <a:sym typeface="Verdana"/>
            </a:endParaRPr>
          </a:p>
        </p:txBody>
      </p:sp>
      <p:sp>
        <p:nvSpPr>
          <p:cNvPr id="556" name="Google Shape;556;p46"/>
          <p:cNvSpPr txBox="1"/>
          <p:nvPr/>
        </p:nvSpPr>
        <p:spPr>
          <a:xfrm>
            <a:off x="305526" y="1221600"/>
            <a:ext cx="4647000" cy="2169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100"/>
              <a:buFont typeface="Arial"/>
              <a:buNone/>
            </a:pPr>
            <a:r>
              <a:rPr lang="de" sz="1100">
                <a:solidFill>
                  <a:schemeClr val="dk1"/>
                </a:solidFill>
                <a:latin typeface="Arial"/>
                <a:ea typeface="Arial"/>
                <a:cs typeface="Arial"/>
                <a:sym typeface="Arial"/>
              </a:rPr>
              <a:t>Punkt 1: tbd tbd</a:t>
            </a:r>
            <a:endParaRPr sz="1100"/>
          </a:p>
          <a:p>
            <a:pPr indent="0" lvl="0" marL="0" marR="0" rtl="0" algn="l">
              <a:spcBef>
                <a:spcPts val="0"/>
              </a:spcBef>
              <a:spcAft>
                <a:spcPts val="0"/>
              </a:spcAft>
              <a:buClr>
                <a:schemeClr val="dk1"/>
              </a:buClr>
              <a:buSzPts val="1100"/>
              <a:buFont typeface="Georgia"/>
              <a:buNone/>
            </a:pPr>
            <a:r>
              <a:t/>
            </a:r>
            <a:endParaRPr sz="1100">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1 </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0" lvl="1" marL="34290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2</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0" lvl="1" marL="34290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3 </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47"/>
          <p:cNvSpPr txBox="1"/>
          <p:nvPr>
            <p:ph idx="12" type="sldNum"/>
          </p:nvPr>
        </p:nvSpPr>
        <p:spPr>
          <a:xfrm>
            <a:off x="6624228" y="0"/>
            <a:ext cx="1221324" cy="276024"/>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r>
              <a:rPr lang="de">
                <a:latin typeface="Verdana"/>
                <a:ea typeface="Verdana"/>
                <a:cs typeface="Verdana"/>
                <a:sym typeface="Verdana"/>
              </a:rPr>
              <a:t>Seite </a:t>
            </a:r>
            <a:fld id="{00000000-1234-1234-1234-123412341234}" type="slidenum">
              <a:rPr lang="de">
                <a:latin typeface="Verdana"/>
                <a:ea typeface="Verdana"/>
                <a:cs typeface="Verdana"/>
                <a:sym typeface="Verdana"/>
              </a:rPr>
              <a:t>‹#›</a:t>
            </a:fld>
            <a:r>
              <a:rPr lang="de">
                <a:latin typeface="Verdana"/>
                <a:ea typeface="Verdana"/>
                <a:cs typeface="Verdana"/>
                <a:sym typeface="Verdana"/>
              </a:rPr>
              <a:t> </a:t>
            </a:r>
            <a:endParaRPr/>
          </a:p>
        </p:txBody>
      </p:sp>
      <p:graphicFrame>
        <p:nvGraphicFramePr>
          <p:cNvPr id="563" name="Google Shape;563;p47"/>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b="1" sz="1200">
                        <a:solidFill>
                          <a:schemeClr val="lt1"/>
                        </a:solidFill>
                        <a:latin typeface="Georgia"/>
                        <a:ea typeface="Georgia"/>
                        <a:cs typeface="Georgia"/>
                        <a:sym typeface="Georgia"/>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b="1"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564" name="Google Shape;564;p47"/>
          <p:cNvSpPr txBox="1"/>
          <p:nvPr/>
        </p:nvSpPr>
        <p:spPr>
          <a:xfrm>
            <a:off x="0" y="357504"/>
            <a:ext cx="9143999" cy="43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chemeClr val="dk2"/>
              </a:buClr>
              <a:buSzPts val="1500"/>
              <a:buFont typeface="Arial"/>
              <a:buNone/>
            </a:pPr>
            <a:r>
              <a:rPr lang="de" sz="1500">
                <a:solidFill>
                  <a:schemeClr val="dk2"/>
                </a:solidFill>
                <a:latin typeface="Arial"/>
                <a:ea typeface="Arial"/>
                <a:cs typeface="Arial"/>
                <a:sym typeface="Arial"/>
              </a:rPr>
              <a:t>5️⃣</a:t>
            </a:r>
            <a:r>
              <a:rPr lang="de" sz="1500">
                <a:solidFill>
                  <a:schemeClr val="dk2"/>
                </a:solidFill>
                <a:latin typeface="Arial"/>
                <a:ea typeface="Arial"/>
                <a:cs typeface="Arial"/>
                <a:sym typeface="Arial"/>
              </a:rPr>
              <a:t> </a:t>
            </a:r>
            <a:r>
              <a:rPr b="1" lang="de" sz="1500">
                <a:solidFill>
                  <a:schemeClr val="dk1"/>
                </a:solidFill>
              </a:rPr>
              <a:t>Widererkennung von Personen / Charakteren ?</a:t>
            </a:r>
            <a:endParaRPr b="1" sz="1500">
              <a:solidFill>
                <a:schemeClr val="dk2"/>
              </a:solidFill>
              <a:latin typeface="Arial"/>
              <a:ea typeface="Arial"/>
              <a:cs typeface="Arial"/>
              <a:sym typeface="Arial"/>
            </a:endParaRPr>
          </a:p>
        </p:txBody>
      </p:sp>
      <p:sp>
        <p:nvSpPr>
          <p:cNvPr id="565" name="Google Shape;565;p47"/>
          <p:cNvSpPr txBox="1"/>
          <p:nvPr/>
        </p:nvSpPr>
        <p:spPr>
          <a:xfrm>
            <a:off x="305526" y="1221600"/>
            <a:ext cx="4647009" cy="216982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100"/>
              <a:buFont typeface="Arial"/>
              <a:buNone/>
            </a:pPr>
            <a:r>
              <a:rPr lang="de" sz="1100">
                <a:solidFill>
                  <a:schemeClr val="dk1"/>
                </a:solidFill>
                <a:latin typeface="Arial"/>
                <a:ea typeface="Arial"/>
                <a:cs typeface="Arial"/>
                <a:sym typeface="Arial"/>
              </a:rPr>
              <a:t>Punkt 1: tbd tbd</a:t>
            </a:r>
            <a:endParaRPr sz="1100"/>
          </a:p>
          <a:p>
            <a:pPr indent="0" lvl="0" marL="0" marR="0" rtl="0" algn="l">
              <a:spcBef>
                <a:spcPts val="0"/>
              </a:spcBef>
              <a:spcAft>
                <a:spcPts val="0"/>
              </a:spcAft>
              <a:buClr>
                <a:schemeClr val="dk1"/>
              </a:buClr>
              <a:buSzPts val="1100"/>
              <a:buFont typeface="Georgia"/>
              <a:buNone/>
            </a:pPr>
            <a:r>
              <a:t/>
            </a:r>
            <a:endParaRPr sz="1100">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1 </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0" lvl="1" marL="34290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2</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0" lvl="1" marL="34290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3 </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48"/>
          <p:cNvSpPr txBox="1"/>
          <p:nvPr>
            <p:ph idx="12" type="sldNum"/>
          </p:nvPr>
        </p:nvSpPr>
        <p:spPr>
          <a:xfrm>
            <a:off x="6516216" y="0"/>
            <a:ext cx="1329336" cy="276024"/>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r>
              <a:rPr lang="de">
                <a:latin typeface="Verdana"/>
                <a:ea typeface="Verdana"/>
                <a:cs typeface="Verdana"/>
                <a:sym typeface="Verdana"/>
              </a:rPr>
              <a:t>Seite </a:t>
            </a:r>
            <a:fld id="{00000000-1234-1234-1234-123412341234}" type="slidenum">
              <a:rPr lang="de">
                <a:latin typeface="Verdana"/>
                <a:ea typeface="Verdana"/>
                <a:cs typeface="Verdana"/>
                <a:sym typeface="Verdana"/>
              </a:rPr>
              <a:t>‹#›</a:t>
            </a:fld>
            <a:endParaRPr>
              <a:latin typeface="Verdana"/>
              <a:ea typeface="Verdana"/>
              <a:cs typeface="Verdana"/>
              <a:sym typeface="Verdana"/>
            </a:endParaRPr>
          </a:p>
        </p:txBody>
      </p:sp>
      <p:graphicFrame>
        <p:nvGraphicFramePr>
          <p:cNvPr id="571" name="Google Shape;571;p48"/>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572" name="Google Shape;572;p48"/>
          <p:cNvSpPr txBox="1"/>
          <p:nvPr/>
        </p:nvSpPr>
        <p:spPr>
          <a:xfrm>
            <a:off x="0" y="357504"/>
            <a:ext cx="9143999" cy="43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chemeClr val="dk2"/>
              </a:buClr>
              <a:buSzPts val="1500"/>
              <a:buFont typeface="Arial"/>
              <a:buNone/>
            </a:pPr>
            <a:r>
              <a:rPr lang="de" sz="1500">
                <a:solidFill>
                  <a:schemeClr val="dk2"/>
                </a:solidFill>
                <a:latin typeface="Arial"/>
                <a:ea typeface="Arial"/>
                <a:cs typeface="Arial"/>
                <a:sym typeface="Arial"/>
              </a:rPr>
              <a:t>6️⃣ </a:t>
            </a:r>
            <a:r>
              <a:rPr b="1" i="0" lang="de" sz="1500" u="none" cap="none" strike="noStrike">
                <a:solidFill>
                  <a:schemeClr val="dk1"/>
                </a:solidFill>
                <a:latin typeface="Arial"/>
                <a:ea typeface="Arial"/>
                <a:cs typeface="Arial"/>
                <a:sym typeface="Arial"/>
              </a:rPr>
              <a:t>Punkt 6 - Glossar</a:t>
            </a:r>
            <a:endParaRPr b="1" sz="1500">
              <a:solidFill>
                <a:schemeClr val="dk2"/>
              </a:solidFill>
              <a:latin typeface="Arial"/>
              <a:ea typeface="Arial"/>
              <a:cs typeface="Arial"/>
              <a:sym typeface="Arial"/>
            </a:endParaRPr>
          </a:p>
        </p:txBody>
      </p:sp>
      <p:sp>
        <p:nvSpPr>
          <p:cNvPr id="573" name="Google Shape;573;p48"/>
          <p:cNvSpPr txBox="1"/>
          <p:nvPr/>
        </p:nvSpPr>
        <p:spPr>
          <a:xfrm>
            <a:off x="305526" y="1221600"/>
            <a:ext cx="4647009" cy="216982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100"/>
              <a:buFont typeface="Arial"/>
              <a:buNone/>
            </a:pPr>
            <a:r>
              <a:rPr lang="de" sz="1100">
                <a:solidFill>
                  <a:schemeClr val="dk1"/>
                </a:solidFill>
                <a:latin typeface="Arial"/>
                <a:ea typeface="Arial"/>
                <a:cs typeface="Arial"/>
                <a:sym typeface="Arial"/>
              </a:rPr>
              <a:t>Punkt 1: tbd tbd</a:t>
            </a:r>
            <a:endParaRPr sz="1100"/>
          </a:p>
          <a:p>
            <a:pPr indent="0" lvl="0" marL="0" marR="0" rtl="0" algn="l">
              <a:spcBef>
                <a:spcPts val="0"/>
              </a:spcBef>
              <a:spcAft>
                <a:spcPts val="0"/>
              </a:spcAft>
              <a:buClr>
                <a:schemeClr val="dk1"/>
              </a:buClr>
              <a:buSzPts val="1100"/>
              <a:buFont typeface="Georgia"/>
              <a:buNone/>
            </a:pPr>
            <a:r>
              <a:t/>
            </a:r>
            <a:endParaRPr sz="1100">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1 </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0" lvl="1" marL="34290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2</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0" lvl="1" marL="34290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3 </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49"/>
          <p:cNvSpPr txBox="1"/>
          <p:nvPr>
            <p:ph idx="12" type="sldNum"/>
          </p:nvPr>
        </p:nvSpPr>
        <p:spPr>
          <a:xfrm>
            <a:off x="6516216" y="0"/>
            <a:ext cx="1329336" cy="276024"/>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r>
              <a:rPr lang="de">
                <a:latin typeface="Verdana"/>
                <a:ea typeface="Verdana"/>
                <a:cs typeface="Verdana"/>
                <a:sym typeface="Verdana"/>
              </a:rPr>
              <a:t>Seite </a:t>
            </a:r>
            <a:fld id="{00000000-1234-1234-1234-123412341234}" type="slidenum">
              <a:rPr lang="de">
                <a:latin typeface="Verdana"/>
                <a:ea typeface="Verdana"/>
                <a:cs typeface="Verdana"/>
                <a:sym typeface="Verdana"/>
              </a:rPr>
              <a:t>‹#›</a:t>
            </a:fld>
            <a:endParaRPr>
              <a:latin typeface="Verdana"/>
              <a:ea typeface="Verdana"/>
              <a:cs typeface="Verdana"/>
              <a:sym typeface="Verdana"/>
            </a:endParaRPr>
          </a:p>
        </p:txBody>
      </p:sp>
      <p:graphicFrame>
        <p:nvGraphicFramePr>
          <p:cNvPr id="579" name="Google Shape;579;p49"/>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580" name="Google Shape;580;p49"/>
          <p:cNvSpPr txBox="1"/>
          <p:nvPr/>
        </p:nvSpPr>
        <p:spPr>
          <a:xfrm>
            <a:off x="0" y="357504"/>
            <a:ext cx="9143999" cy="43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chemeClr val="dk2"/>
              </a:buClr>
              <a:buSzPts val="1500"/>
              <a:buFont typeface="Arial"/>
              <a:buNone/>
            </a:pPr>
            <a:r>
              <a:rPr lang="de" sz="1500">
                <a:solidFill>
                  <a:schemeClr val="dk2"/>
                </a:solidFill>
                <a:latin typeface="Arial"/>
                <a:ea typeface="Arial"/>
                <a:cs typeface="Arial"/>
                <a:sym typeface="Arial"/>
              </a:rPr>
              <a:t>6️⃣ </a:t>
            </a:r>
            <a:r>
              <a:rPr b="1" i="0" lang="de" sz="1500" u="none" cap="none" strike="noStrike">
                <a:solidFill>
                  <a:schemeClr val="dk1"/>
                </a:solidFill>
                <a:latin typeface="Arial"/>
                <a:ea typeface="Arial"/>
                <a:cs typeface="Arial"/>
                <a:sym typeface="Arial"/>
              </a:rPr>
              <a:t>Punkt 6 - Glossar</a:t>
            </a:r>
            <a:endParaRPr b="1" sz="1500">
              <a:solidFill>
                <a:schemeClr val="dk2"/>
              </a:solidFill>
              <a:latin typeface="Arial"/>
              <a:ea typeface="Arial"/>
              <a:cs typeface="Arial"/>
              <a:sym typeface="Arial"/>
            </a:endParaRPr>
          </a:p>
        </p:txBody>
      </p:sp>
      <p:sp>
        <p:nvSpPr>
          <p:cNvPr id="581" name="Google Shape;581;p49"/>
          <p:cNvSpPr txBox="1"/>
          <p:nvPr/>
        </p:nvSpPr>
        <p:spPr>
          <a:xfrm>
            <a:off x="305526" y="1221600"/>
            <a:ext cx="4647009" cy="216982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100"/>
              <a:buFont typeface="Arial"/>
              <a:buNone/>
            </a:pPr>
            <a:r>
              <a:rPr lang="de" sz="1100">
                <a:solidFill>
                  <a:schemeClr val="dk1"/>
                </a:solidFill>
                <a:latin typeface="Arial"/>
                <a:ea typeface="Arial"/>
                <a:cs typeface="Arial"/>
                <a:sym typeface="Arial"/>
              </a:rPr>
              <a:t>Punkt 1: tbd tbd</a:t>
            </a:r>
            <a:endParaRPr sz="1100"/>
          </a:p>
          <a:p>
            <a:pPr indent="0" lvl="0" marL="0" marR="0" rtl="0" algn="l">
              <a:spcBef>
                <a:spcPts val="0"/>
              </a:spcBef>
              <a:spcAft>
                <a:spcPts val="0"/>
              </a:spcAft>
              <a:buClr>
                <a:schemeClr val="dk1"/>
              </a:buClr>
              <a:buSzPts val="1100"/>
              <a:buFont typeface="Georgia"/>
              <a:buNone/>
            </a:pPr>
            <a:r>
              <a:t/>
            </a:r>
            <a:endParaRPr sz="1100">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1 </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0" lvl="1" marL="34290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2</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0" lvl="1" marL="34290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3 </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0"/>
          <p:cNvSpPr txBox="1"/>
          <p:nvPr>
            <p:ph idx="12" type="sldNum"/>
          </p:nvPr>
        </p:nvSpPr>
        <p:spPr>
          <a:xfrm>
            <a:off x="6516216" y="0"/>
            <a:ext cx="1329336" cy="276024"/>
          </a:xfrm>
          <a:prstGeom prst="rect">
            <a:avLst/>
          </a:prstGeom>
          <a:noFill/>
          <a:ln>
            <a:noFill/>
          </a:ln>
        </p:spPr>
        <p:txBody>
          <a:bodyPr anchorCtr="0" anchor="b" bIns="34275" lIns="68575" spcFirstLastPara="1" rIns="68575" wrap="square" tIns="34275">
            <a:noAutofit/>
          </a:bodyPr>
          <a:lstStyle/>
          <a:p>
            <a:pPr indent="0" lvl="0" marL="0" rtl="0" algn="r">
              <a:spcBef>
                <a:spcPts val="0"/>
              </a:spcBef>
              <a:spcAft>
                <a:spcPts val="0"/>
              </a:spcAft>
              <a:buNone/>
            </a:pPr>
            <a:r>
              <a:rPr lang="de">
                <a:latin typeface="Verdana"/>
                <a:ea typeface="Verdana"/>
                <a:cs typeface="Verdana"/>
                <a:sym typeface="Verdana"/>
              </a:rPr>
              <a:t>Seite </a:t>
            </a:r>
            <a:fld id="{00000000-1234-1234-1234-123412341234}" type="slidenum">
              <a:rPr lang="de">
                <a:latin typeface="Verdana"/>
                <a:ea typeface="Verdana"/>
                <a:cs typeface="Verdana"/>
                <a:sym typeface="Verdana"/>
              </a:rPr>
              <a:t>‹#›</a:t>
            </a:fld>
            <a:endParaRPr>
              <a:latin typeface="Verdana"/>
              <a:ea typeface="Verdana"/>
              <a:cs typeface="Verdana"/>
              <a:sym typeface="Verdana"/>
            </a:endParaRPr>
          </a:p>
        </p:txBody>
      </p:sp>
      <p:graphicFrame>
        <p:nvGraphicFramePr>
          <p:cNvPr id="587" name="Google Shape;587;p50"/>
          <p:cNvGraphicFramePr/>
          <p:nvPr/>
        </p:nvGraphicFramePr>
        <p:xfrm>
          <a:off x="0" y="793362"/>
          <a:ext cx="3000000" cy="3000000"/>
        </p:xfrm>
        <a:graphic>
          <a:graphicData uri="http://schemas.openxmlformats.org/drawingml/2006/table">
            <a:tbl>
              <a:tblPr bandRow="1" firstRow="1">
                <a:noFill/>
                <a:tableStyleId>{A9287C5E-F899-4508-8DEB-B1986BAB9A59}</a:tableStyleId>
              </a:tblPr>
              <a:tblGrid>
                <a:gridCol w="1306275"/>
                <a:gridCol w="1306275"/>
                <a:gridCol w="1306275"/>
                <a:gridCol w="1306275"/>
                <a:gridCol w="1306275"/>
                <a:gridCol w="1306275"/>
                <a:gridCol w="1306275"/>
              </a:tblGrid>
              <a:tr h="224100">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438086"/>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rgbClr val="FFC000"/>
                    </a:solidFill>
                  </a:tcPr>
                </a:tc>
                <a:tc>
                  <a:txBody>
                    <a:bodyPr/>
                    <a:lstStyle/>
                    <a:p>
                      <a:pPr indent="0" lvl="0" marL="0" marR="0" rtl="0" algn="l">
                        <a:spcBef>
                          <a:spcPts val="0"/>
                        </a:spcBef>
                        <a:spcAft>
                          <a:spcPts val="0"/>
                        </a:spcAft>
                        <a:buNone/>
                      </a:pPr>
                      <a:r>
                        <a:t/>
                      </a:r>
                      <a:endParaRPr sz="1200">
                        <a:solidFill>
                          <a:schemeClr val="lt1"/>
                        </a:solidFill>
                      </a:endParaRPr>
                    </a:p>
                  </a:txBody>
                  <a:tcPr marT="34300" marB="34300" marR="68600" marL="68600">
                    <a:solidFill>
                      <a:schemeClr val="lt1"/>
                    </a:solidFill>
                  </a:tcPr>
                </a:tc>
              </a:tr>
            </a:tbl>
          </a:graphicData>
        </a:graphic>
      </p:graphicFrame>
      <p:sp>
        <p:nvSpPr>
          <p:cNvPr id="588" name="Google Shape;588;p50"/>
          <p:cNvSpPr txBox="1"/>
          <p:nvPr/>
        </p:nvSpPr>
        <p:spPr>
          <a:xfrm>
            <a:off x="0" y="357504"/>
            <a:ext cx="9143999" cy="4320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chemeClr val="dk2"/>
              </a:buClr>
              <a:buSzPts val="1500"/>
              <a:buFont typeface="Arial"/>
              <a:buNone/>
            </a:pPr>
            <a:r>
              <a:rPr lang="de" sz="1500">
                <a:solidFill>
                  <a:schemeClr val="dk2"/>
                </a:solidFill>
                <a:latin typeface="Arial"/>
                <a:ea typeface="Arial"/>
                <a:cs typeface="Arial"/>
                <a:sym typeface="Arial"/>
              </a:rPr>
              <a:t>6️⃣ </a:t>
            </a:r>
            <a:r>
              <a:rPr b="1" i="0" lang="de" sz="1500" u="none" cap="none" strike="noStrike">
                <a:solidFill>
                  <a:schemeClr val="dk1"/>
                </a:solidFill>
                <a:latin typeface="Arial"/>
                <a:ea typeface="Arial"/>
                <a:cs typeface="Arial"/>
                <a:sym typeface="Arial"/>
              </a:rPr>
              <a:t>Punkt 6 - Glossar</a:t>
            </a:r>
            <a:endParaRPr b="1" sz="1500">
              <a:solidFill>
                <a:schemeClr val="dk2"/>
              </a:solidFill>
              <a:latin typeface="Arial"/>
              <a:ea typeface="Arial"/>
              <a:cs typeface="Arial"/>
              <a:sym typeface="Arial"/>
            </a:endParaRPr>
          </a:p>
        </p:txBody>
      </p:sp>
      <p:sp>
        <p:nvSpPr>
          <p:cNvPr id="589" name="Google Shape;589;p50"/>
          <p:cNvSpPr txBox="1"/>
          <p:nvPr/>
        </p:nvSpPr>
        <p:spPr>
          <a:xfrm>
            <a:off x="305526" y="1221600"/>
            <a:ext cx="4647009" cy="2169825"/>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Clr>
                <a:schemeClr val="dk1"/>
              </a:buClr>
              <a:buSzPts val="1100"/>
              <a:buFont typeface="Arial"/>
              <a:buNone/>
            </a:pPr>
            <a:r>
              <a:rPr lang="de" sz="1100">
                <a:solidFill>
                  <a:schemeClr val="dk1"/>
                </a:solidFill>
                <a:latin typeface="Arial"/>
                <a:ea typeface="Arial"/>
                <a:cs typeface="Arial"/>
                <a:sym typeface="Arial"/>
              </a:rPr>
              <a:t>Punkt 1: tbd tbd</a:t>
            </a:r>
            <a:endParaRPr sz="1100"/>
          </a:p>
          <a:p>
            <a:pPr indent="0" lvl="0" marL="0" marR="0" rtl="0" algn="l">
              <a:spcBef>
                <a:spcPts val="0"/>
              </a:spcBef>
              <a:spcAft>
                <a:spcPts val="0"/>
              </a:spcAft>
              <a:buClr>
                <a:schemeClr val="dk1"/>
              </a:buClr>
              <a:buSzPts val="1100"/>
              <a:buFont typeface="Georgia"/>
              <a:buNone/>
            </a:pPr>
            <a:r>
              <a:t/>
            </a:r>
            <a:endParaRPr sz="1100">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1 </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0" lvl="1" marL="34290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2</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0" lvl="1" marL="342900" marR="0" rtl="0" algn="l">
              <a:spcBef>
                <a:spcPts val="0"/>
              </a:spcBef>
              <a:spcAft>
                <a:spcPts val="0"/>
              </a:spcAft>
              <a:buNone/>
            </a:pPr>
            <a:r>
              <a:t/>
            </a:r>
            <a:endParaRPr b="0" i="0" sz="1100" u="none" cap="none" strike="noStrike">
              <a:solidFill>
                <a:schemeClr val="dk1"/>
              </a:solidFill>
              <a:latin typeface="Arial"/>
              <a:ea typeface="Arial"/>
              <a:cs typeface="Arial"/>
              <a:sym typeface="Arial"/>
            </a:endParaRPr>
          </a:p>
          <a:p>
            <a:pPr indent="-222250" lvl="0" marL="215900" marR="0" rtl="0" algn="l">
              <a:spcBef>
                <a:spcPts val="0"/>
              </a:spcBef>
              <a:spcAft>
                <a:spcPts val="0"/>
              </a:spcAft>
              <a:buClr>
                <a:schemeClr val="dk1"/>
              </a:buClr>
              <a:buSzPts val="1100"/>
              <a:buFont typeface="Noto Sans Symbols"/>
              <a:buChar char="▪"/>
            </a:pPr>
            <a:r>
              <a:rPr lang="de" sz="1100">
                <a:solidFill>
                  <a:schemeClr val="dk1"/>
                </a:solidFill>
                <a:latin typeface="Arial"/>
                <a:ea typeface="Arial"/>
                <a:cs typeface="Arial"/>
                <a:sym typeface="Arial"/>
              </a:rPr>
              <a:t>Punkt 3 </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a:p>
            <a:pPr indent="-222250" lvl="1" marL="558800" marR="0" rtl="0" algn="l">
              <a:spcBef>
                <a:spcPts val="0"/>
              </a:spcBef>
              <a:spcAft>
                <a:spcPts val="0"/>
              </a:spcAft>
              <a:buClr>
                <a:schemeClr val="dk1"/>
              </a:buClr>
              <a:buSzPts val="1100"/>
              <a:buFont typeface="Noto Sans Symbols"/>
              <a:buChar char="▪"/>
            </a:pPr>
            <a:r>
              <a:rPr b="0" i="0" lang="de" sz="1100" u="none" cap="none" strike="noStrike">
                <a:solidFill>
                  <a:schemeClr val="dk1"/>
                </a:solidFill>
                <a:latin typeface="Arial"/>
                <a:ea typeface="Arial"/>
                <a:cs typeface="Arial"/>
                <a:sym typeface="Arial"/>
              </a:rPr>
              <a:t>TBD</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Rhea">
  <a:themeElements>
    <a:clrScheme name="Rhea">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