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Lst>
  <p:notesMasterIdLst>
    <p:notesMasterId r:id="rId16"/>
  </p:notesMasterIdLst>
  <p:sldIdLst>
    <p:sldId id="256" r:id="rId2"/>
    <p:sldId id="287" r:id="rId3"/>
    <p:sldId id="266" r:id="rId4"/>
    <p:sldId id="288" r:id="rId5"/>
    <p:sldId id="283" r:id="rId6"/>
    <p:sldId id="289" r:id="rId7"/>
    <p:sldId id="290" r:id="rId8"/>
    <p:sldId id="275" r:id="rId9"/>
    <p:sldId id="293" r:id="rId10"/>
    <p:sldId id="271" r:id="rId11"/>
    <p:sldId id="285" r:id="rId12"/>
    <p:sldId id="270" r:id="rId13"/>
    <p:sldId id="291" r:id="rId14"/>
    <p:sldId id="29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38086"/>
    <a:srgbClr val="C4D8DF"/>
    <a:srgbClr val="DFEAEB"/>
    <a:srgbClr val="C3E74F"/>
    <a:srgbClr val="488A88"/>
    <a:srgbClr val="424456"/>
    <a:srgbClr val="F6DC40"/>
    <a:srgbClr val="FFFF4F"/>
    <a:srgbClr val="72AF2F"/>
    <a:srgbClr val="5A8B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6157" autoAdjust="0"/>
    <p:restoredTop sz="96604" autoAdjust="0"/>
  </p:normalViewPr>
  <p:slideViewPr>
    <p:cSldViewPr>
      <p:cViewPr>
        <p:scale>
          <a:sx n="100" d="100"/>
          <a:sy n="100" d="100"/>
        </p:scale>
        <p:origin x="846" y="24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5CE451F-3E05-4335-B799-31A1CA24BC8E}" type="datetimeFigureOut">
              <a:rPr lang="de-DE" smtClean="0"/>
              <a:t>27.04.2025</a:t>
            </a:fld>
            <a:endParaRPr lang="de-DE"/>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9BF85D8-A6AA-4CB5-A30A-03B8A365335B}" type="slidenum">
              <a:rPr lang="de-DE" smtClean="0"/>
              <a:t>‹Nr.›</a:t>
            </a:fld>
            <a:endParaRPr lang="de-DE"/>
          </a:p>
        </p:txBody>
      </p:sp>
    </p:spTree>
    <p:extLst>
      <p:ext uri="{BB962C8B-B14F-4D97-AF65-F5344CB8AC3E}">
        <p14:creationId xmlns:p14="http://schemas.microsoft.com/office/powerpoint/2010/main" val="18058331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Dietmar</a:t>
            </a:r>
          </a:p>
        </p:txBody>
      </p:sp>
      <p:sp>
        <p:nvSpPr>
          <p:cNvPr id="4" name="Foliennummernplatzhalter 3"/>
          <p:cNvSpPr>
            <a:spLocks noGrp="1"/>
          </p:cNvSpPr>
          <p:nvPr>
            <p:ph type="sldNum" sz="quarter" idx="10"/>
          </p:nvPr>
        </p:nvSpPr>
        <p:spPr/>
        <p:txBody>
          <a:bodyPr/>
          <a:lstStyle/>
          <a:p>
            <a:fld id="{D9BF85D8-A6AA-4CB5-A30A-03B8A365335B}" type="slidenum">
              <a:rPr lang="de-DE" smtClean="0"/>
              <a:t>3</a:t>
            </a:fld>
            <a:endParaRPr lang="de-DE"/>
          </a:p>
        </p:txBody>
      </p:sp>
    </p:spTree>
    <p:extLst>
      <p:ext uri="{BB962C8B-B14F-4D97-AF65-F5344CB8AC3E}">
        <p14:creationId xmlns:p14="http://schemas.microsoft.com/office/powerpoint/2010/main" val="20597878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18972-BEB8-AC5B-4D01-183EAD28684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5FB2332-2126-64A4-0D11-76AB5EF67E94}"/>
              </a:ext>
            </a:extLst>
          </p:cNvPr>
          <p:cNvSpPr>
            <a:spLocks noGrp="1" noRot="1" noChangeAspect="1"/>
          </p:cNvSpPr>
          <p:nvPr>
            <p:ph type="sldImg"/>
          </p:nvPr>
        </p:nvSpPr>
        <p:spPr>
          <a:xfrm>
            <a:off x="381000" y="685800"/>
            <a:ext cx="6096000" cy="3429000"/>
          </a:xfrm>
        </p:spPr>
      </p:sp>
      <p:sp>
        <p:nvSpPr>
          <p:cNvPr id="3" name="Notizenplatzhalter 2">
            <a:extLst>
              <a:ext uri="{FF2B5EF4-FFF2-40B4-BE49-F238E27FC236}">
                <a16:creationId xmlns:a16="http://schemas.microsoft.com/office/drawing/2014/main" id="{47DE7B2D-DCFC-991F-ADD9-A7093B6173E4}"/>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Dietmar</a:t>
            </a:r>
          </a:p>
        </p:txBody>
      </p:sp>
      <p:sp>
        <p:nvSpPr>
          <p:cNvPr id="4" name="Foliennummernplatzhalter 3">
            <a:extLst>
              <a:ext uri="{FF2B5EF4-FFF2-40B4-BE49-F238E27FC236}">
                <a16:creationId xmlns:a16="http://schemas.microsoft.com/office/drawing/2014/main" id="{14EFC046-3875-49D8-8DC7-0DAA46C11E3A}"/>
              </a:ext>
            </a:extLst>
          </p:cNvPr>
          <p:cNvSpPr>
            <a:spLocks noGrp="1"/>
          </p:cNvSpPr>
          <p:nvPr>
            <p:ph type="sldNum" sz="quarter" idx="10"/>
          </p:nvPr>
        </p:nvSpPr>
        <p:spPr/>
        <p:txBody>
          <a:bodyPr/>
          <a:lstStyle/>
          <a:p>
            <a:fld id="{D9BF85D8-A6AA-4CB5-A30A-03B8A365335B}" type="slidenum">
              <a:rPr lang="de-DE" smtClean="0"/>
              <a:t>4</a:t>
            </a:fld>
            <a:endParaRPr lang="de-DE"/>
          </a:p>
        </p:txBody>
      </p:sp>
    </p:spTree>
    <p:extLst>
      <p:ext uri="{BB962C8B-B14F-4D97-AF65-F5344CB8AC3E}">
        <p14:creationId xmlns:p14="http://schemas.microsoft.com/office/powerpoint/2010/main" val="14212169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Larissa</a:t>
            </a:r>
          </a:p>
        </p:txBody>
      </p:sp>
      <p:sp>
        <p:nvSpPr>
          <p:cNvPr id="4" name="Foliennummernplatzhalter 3"/>
          <p:cNvSpPr>
            <a:spLocks noGrp="1"/>
          </p:cNvSpPr>
          <p:nvPr>
            <p:ph type="sldNum" sz="quarter" idx="10"/>
          </p:nvPr>
        </p:nvSpPr>
        <p:spPr/>
        <p:txBody>
          <a:bodyPr/>
          <a:lstStyle/>
          <a:p>
            <a:fld id="{D9BF85D8-A6AA-4CB5-A30A-03B8A365335B}" type="slidenum">
              <a:rPr lang="de-DE" smtClean="0"/>
              <a:t>8</a:t>
            </a:fld>
            <a:endParaRPr lang="de-DE"/>
          </a:p>
        </p:txBody>
      </p:sp>
    </p:spTree>
    <p:extLst>
      <p:ext uri="{BB962C8B-B14F-4D97-AF65-F5344CB8AC3E}">
        <p14:creationId xmlns:p14="http://schemas.microsoft.com/office/powerpoint/2010/main" val="21837869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BD10D-5673-B53D-C3B7-C974D0BED16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6823E84-7287-5051-4CE5-C5F66896BA5C}"/>
              </a:ext>
            </a:extLst>
          </p:cNvPr>
          <p:cNvSpPr>
            <a:spLocks noGrp="1" noRot="1" noChangeAspect="1"/>
          </p:cNvSpPr>
          <p:nvPr>
            <p:ph type="sldImg"/>
          </p:nvPr>
        </p:nvSpPr>
        <p:spPr>
          <a:xfrm>
            <a:off x="381000" y="685800"/>
            <a:ext cx="6096000" cy="3429000"/>
          </a:xfrm>
        </p:spPr>
      </p:sp>
      <p:sp>
        <p:nvSpPr>
          <p:cNvPr id="3" name="Notizenplatzhalter 2">
            <a:extLst>
              <a:ext uri="{FF2B5EF4-FFF2-40B4-BE49-F238E27FC236}">
                <a16:creationId xmlns:a16="http://schemas.microsoft.com/office/drawing/2014/main" id="{D5CA76E4-6BE8-47EB-69B3-85F1D60FF298}"/>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Larissa</a:t>
            </a:r>
          </a:p>
        </p:txBody>
      </p:sp>
      <p:sp>
        <p:nvSpPr>
          <p:cNvPr id="4" name="Foliennummernplatzhalter 3">
            <a:extLst>
              <a:ext uri="{FF2B5EF4-FFF2-40B4-BE49-F238E27FC236}">
                <a16:creationId xmlns:a16="http://schemas.microsoft.com/office/drawing/2014/main" id="{64E992B2-3144-4527-0AB7-9265B18EA867}"/>
              </a:ext>
            </a:extLst>
          </p:cNvPr>
          <p:cNvSpPr>
            <a:spLocks noGrp="1"/>
          </p:cNvSpPr>
          <p:nvPr>
            <p:ph type="sldNum" sz="quarter" idx="10"/>
          </p:nvPr>
        </p:nvSpPr>
        <p:spPr/>
        <p:txBody>
          <a:bodyPr/>
          <a:lstStyle/>
          <a:p>
            <a:fld id="{D9BF85D8-A6AA-4CB5-A30A-03B8A365335B}" type="slidenum">
              <a:rPr lang="de-DE" smtClean="0"/>
              <a:t>9</a:t>
            </a:fld>
            <a:endParaRPr lang="de-DE"/>
          </a:p>
        </p:txBody>
      </p:sp>
    </p:spTree>
    <p:extLst>
      <p:ext uri="{BB962C8B-B14F-4D97-AF65-F5344CB8AC3E}">
        <p14:creationId xmlns:p14="http://schemas.microsoft.com/office/powerpoint/2010/main" val="19942097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Phil</a:t>
            </a:r>
          </a:p>
        </p:txBody>
      </p:sp>
      <p:sp>
        <p:nvSpPr>
          <p:cNvPr id="4" name="Foliennummernplatzhalter 3"/>
          <p:cNvSpPr>
            <a:spLocks noGrp="1"/>
          </p:cNvSpPr>
          <p:nvPr>
            <p:ph type="sldNum" sz="quarter" idx="10"/>
          </p:nvPr>
        </p:nvSpPr>
        <p:spPr/>
        <p:txBody>
          <a:bodyPr/>
          <a:lstStyle/>
          <a:p>
            <a:fld id="{D9BF85D8-A6AA-4CB5-A30A-03B8A365335B}" type="slidenum">
              <a:rPr lang="de-DE" smtClean="0"/>
              <a:t>10</a:t>
            </a:fld>
            <a:endParaRPr lang="de-DE"/>
          </a:p>
        </p:txBody>
      </p:sp>
    </p:spTree>
    <p:extLst>
      <p:ext uri="{BB962C8B-B14F-4D97-AF65-F5344CB8AC3E}">
        <p14:creationId xmlns:p14="http://schemas.microsoft.com/office/powerpoint/2010/main" val="24766953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Phil</a:t>
            </a:r>
          </a:p>
        </p:txBody>
      </p:sp>
      <p:sp>
        <p:nvSpPr>
          <p:cNvPr id="4" name="Foliennummernplatzhalter 3"/>
          <p:cNvSpPr>
            <a:spLocks noGrp="1"/>
          </p:cNvSpPr>
          <p:nvPr>
            <p:ph type="sldNum" sz="quarter" idx="10"/>
          </p:nvPr>
        </p:nvSpPr>
        <p:spPr/>
        <p:txBody>
          <a:bodyPr/>
          <a:lstStyle/>
          <a:p>
            <a:fld id="{D9BF85D8-A6AA-4CB5-A30A-03B8A365335B}" type="slidenum">
              <a:rPr lang="de-DE" smtClean="0"/>
              <a:t>11</a:t>
            </a:fld>
            <a:endParaRPr lang="de-DE"/>
          </a:p>
        </p:txBody>
      </p:sp>
    </p:spTree>
    <p:extLst>
      <p:ext uri="{BB962C8B-B14F-4D97-AF65-F5344CB8AC3E}">
        <p14:creationId xmlns:p14="http://schemas.microsoft.com/office/powerpoint/2010/main" val="38671607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3" name="Rechteck 22"/>
          <p:cNvSpPr/>
          <p:nvPr/>
        </p:nvSpPr>
        <p:spPr>
          <a:xfrm flipV="1">
            <a:off x="7213577" y="3810001"/>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4" name="Rechteck 23"/>
          <p:cNvSpPr/>
          <p:nvPr/>
        </p:nvSpPr>
        <p:spPr>
          <a:xfrm flipV="1">
            <a:off x="7213601" y="3897010"/>
            <a:ext cx="49784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5" name="Rechteck 24"/>
          <p:cNvSpPr/>
          <p:nvPr/>
        </p:nvSpPr>
        <p:spPr>
          <a:xfrm flipV="1">
            <a:off x="7213601" y="4115167"/>
            <a:ext cx="49784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6" name="Rechteck 25"/>
          <p:cNvSpPr/>
          <p:nvPr/>
        </p:nvSpPr>
        <p:spPr>
          <a:xfrm flipV="1">
            <a:off x="7213600" y="4164403"/>
            <a:ext cx="262128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7" name="Rechteck 26"/>
          <p:cNvSpPr/>
          <p:nvPr/>
        </p:nvSpPr>
        <p:spPr>
          <a:xfrm flipV="1">
            <a:off x="7213600" y="4199572"/>
            <a:ext cx="262128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useBgFill="1">
        <p:nvSpPr>
          <p:cNvPr id="30" name="Abgerundetes Rechteck 29"/>
          <p:cNvSpPr/>
          <p:nvPr/>
        </p:nvSpPr>
        <p:spPr bwMode="white">
          <a:xfrm>
            <a:off x="7213600" y="3962400"/>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useBgFill="1">
        <p:nvSpPr>
          <p:cNvPr id="31" name="Abgerundetes Rechteck 30"/>
          <p:cNvSpPr/>
          <p:nvPr/>
        </p:nvSpPr>
        <p:spPr bwMode="white">
          <a:xfrm>
            <a:off x="9835343" y="406098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7" name="Rechteck 6"/>
          <p:cNvSpPr/>
          <p:nvPr/>
        </p:nvSpPr>
        <p:spPr>
          <a:xfrm>
            <a:off x="1" y="3649662"/>
            <a:ext cx="12192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hteck 9"/>
          <p:cNvSpPr/>
          <p:nvPr/>
        </p:nvSpPr>
        <p:spPr>
          <a:xfrm>
            <a:off x="1" y="3675528"/>
            <a:ext cx="12192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1" name="Rechteck 10"/>
          <p:cNvSpPr/>
          <p:nvPr/>
        </p:nvSpPr>
        <p:spPr>
          <a:xfrm flipV="1">
            <a:off x="8552068" y="3643090"/>
            <a:ext cx="3639933"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9" name="Rechteck 18"/>
          <p:cNvSpPr/>
          <p:nvPr/>
        </p:nvSpPr>
        <p:spPr>
          <a:xfrm>
            <a:off x="0" y="0"/>
            <a:ext cx="12192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Titel 7"/>
          <p:cNvSpPr>
            <a:spLocks noGrp="1"/>
          </p:cNvSpPr>
          <p:nvPr>
            <p:ph type="ctrTitle"/>
          </p:nvPr>
        </p:nvSpPr>
        <p:spPr>
          <a:xfrm>
            <a:off x="609600" y="2401888"/>
            <a:ext cx="11277600" cy="1470025"/>
          </a:xfrm>
        </p:spPr>
        <p:txBody>
          <a:bodyPr anchor="b"/>
          <a:lstStyle>
            <a:lvl1pPr>
              <a:defRPr sz="4400">
                <a:solidFill>
                  <a:schemeClr val="bg1"/>
                </a:solidFill>
              </a:defRPr>
            </a:lvl1pPr>
          </a:lstStyle>
          <a:p>
            <a:r>
              <a:rPr kumimoji="0" lang="de-DE"/>
              <a:t>Titelmasterformat durch Klicken bearbeiten</a:t>
            </a:r>
            <a:endParaRPr kumimoji="0" lang="en-US"/>
          </a:p>
        </p:txBody>
      </p:sp>
      <p:sp>
        <p:nvSpPr>
          <p:cNvPr id="9" name="Untertitel 8"/>
          <p:cNvSpPr>
            <a:spLocks noGrp="1"/>
          </p:cNvSpPr>
          <p:nvPr>
            <p:ph type="subTitle" idx="1"/>
          </p:nvPr>
        </p:nvSpPr>
        <p:spPr>
          <a:xfrm>
            <a:off x="609600" y="3899938"/>
            <a:ext cx="6604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de-DE"/>
              <a:t>Formatvorlage des Untertitelmasters durch Klicken bearbeiten</a:t>
            </a:r>
            <a:endParaRPr kumimoji="0" lang="en-US"/>
          </a:p>
        </p:txBody>
      </p:sp>
      <p:sp>
        <p:nvSpPr>
          <p:cNvPr id="28" name="Datumsplatzhalter 27"/>
          <p:cNvSpPr>
            <a:spLocks noGrp="1"/>
          </p:cNvSpPr>
          <p:nvPr>
            <p:ph type="dt" sz="half" idx="10"/>
          </p:nvPr>
        </p:nvSpPr>
        <p:spPr>
          <a:xfrm>
            <a:off x="8940800" y="4206240"/>
            <a:ext cx="1280160" cy="457200"/>
          </a:xfrm>
        </p:spPr>
        <p:txBody>
          <a:bodyPr/>
          <a:lstStyle/>
          <a:p>
            <a:fld id="{12C2D4DF-9C07-4E8A-A9C8-699C3432BB19}" type="datetime1">
              <a:rPr lang="de-DE" smtClean="0"/>
              <a:t>27.04.2025</a:t>
            </a:fld>
            <a:endParaRPr lang="en-US"/>
          </a:p>
        </p:txBody>
      </p:sp>
      <p:sp>
        <p:nvSpPr>
          <p:cNvPr id="17" name="Fußzeilenplatzhalter 16"/>
          <p:cNvSpPr>
            <a:spLocks noGrp="1"/>
          </p:cNvSpPr>
          <p:nvPr>
            <p:ph type="ftr" sz="quarter" idx="11"/>
          </p:nvPr>
        </p:nvSpPr>
        <p:spPr>
          <a:xfrm>
            <a:off x="7213600" y="4205288"/>
            <a:ext cx="1727200" cy="457200"/>
          </a:xfrm>
        </p:spPr>
        <p:txBody>
          <a:bodyPr/>
          <a:lstStyle/>
          <a:p>
            <a:endParaRPr lang="en-US"/>
          </a:p>
        </p:txBody>
      </p:sp>
      <p:sp>
        <p:nvSpPr>
          <p:cNvPr id="29" name="Foliennummernplatzhalter 28"/>
          <p:cNvSpPr>
            <a:spLocks noGrp="1"/>
          </p:cNvSpPr>
          <p:nvPr>
            <p:ph type="sldNum" sz="quarter" idx="12"/>
          </p:nvPr>
        </p:nvSpPr>
        <p:spPr>
          <a:xfrm>
            <a:off x="11093451" y="1136"/>
            <a:ext cx="996949" cy="365760"/>
          </a:xfrm>
        </p:spPr>
        <p:txBody>
          <a:bodyPr/>
          <a:lstStyle>
            <a:lvl1pPr algn="r">
              <a:defRPr sz="1800">
                <a:solidFill>
                  <a:schemeClr val="bg1"/>
                </a:solidFill>
              </a:defRPr>
            </a:lvl1pPr>
          </a:lstStyle>
          <a:p>
            <a:fld id="{9E567595-CCD6-4F78-8F27-840D13ABE7E3}" type="slidenum">
              <a:rPr lang="en-US" smtClean="0"/>
              <a:t>‹Nr.›</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de-DE"/>
              <a:t>Titelmasterformat durch Klicken bearbeiten</a:t>
            </a:r>
            <a:endParaRPr kumimoji="0" lang="en-US"/>
          </a:p>
        </p:txBody>
      </p:sp>
      <p:sp>
        <p:nvSpPr>
          <p:cNvPr id="3" name="Inhaltsplatzhalter 2"/>
          <p:cNvSpPr>
            <a:spLocks noGrp="1"/>
          </p:cNvSpPr>
          <p:nvPr>
            <p:ph idx="1"/>
          </p:nvPr>
        </p:nvSpPr>
        <p:spPr/>
        <p:txBody>
          <a:body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4" name="Datumsplatzhalter 3"/>
          <p:cNvSpPr>
            <a:spLocks noGrp="1"/>
          </p:cNvSpPr>
          <p:nvPr>
            <p:ph type="dt" sz="half" idx="10"/>
          </p:nvPr>
        </p:nvSpPr>
        <p:spPr/>
        <p:txBody>
          <a:bodyPr/>
          <a:lstStyle/>
          <a:p>
            <a:fld id="{198E5C24-D96E-4687-A8E5-4115C8070FE3}" type="datetime1">
              <a:rPr lang="de-DE" smtClean="0"/>
              <a:t>27.04.2025</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a:xfrm>
            <a:off x="9418656" y="6391656"/>
            <a:ext cx="2651296" cy="365760"/>
          </a:xfrm>
        </p:spPr>
        <p:txBody>
          <a:bodyPr/>
          <a:lstStyle>
            <a:lvl1pPr>
              <a:defRPr sz="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stStyle>
          <a:p>
            <a:fld id="{08800960-3D65-46F7-85EE-A2D8630D61E5}" type="slidenum">
              <a:rPr lang="en-US" smtClean="0"/>
              <a:pPr/>
              <a:t>‹Nr.›</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963084" y="1981201"/>
            <a:ext cx="103632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de-DE"/>
              <a:t>Titelmasterformat durch Klicken bearbeiten</a:t>
            </a:r>
            <a:endParaRPr kumimoji="0" lang="en-US"/>
          </a:p>
        </p:txBody>
      </p:sp>
      <p:sp>
        <p:nvSpPr>
          <p:cNvPr id="3" name="Textplatzhalter 2"/>
          <p:cNvSpPr>
            <a:spLocks noGrp="1"/>
          </p:cNvSpPr>
          <p:nvPr>
            <p:ph type="body" idx="1"/>
          </p:nvPr>
        </p:nvSpPr>
        <p:spPr>
          <a:xfrm>
            <a:off x="963084" y="3367088"/>
            <a:ext cx="103632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de-DE"/>
              <a:t>Textmasterformat bearbeiten</a:t>
            </a:r>
          </a:p>
        </p:txBody>
      </p:sp>
      <p:sp>
        <p:nvSpPr>
          <p:cNvPr id="4" name="Datumsplatzhalter 3"/>
          <p:cNvSpPr>
            <a:spLocks noGrp="1"/>
          </p:cNvSpPr>
          <p:nvPr>
            <p:ph type="dt" sz="half" idx="10"/>
          </p:nvPr>
        </p:nvSpPr>
        <p:spPr/>
        <p:txBody>
          <a:bodyPr/>
          <a:lstStyle/>
          <a:p>
            <a:fld id="{C455A406-BDB6-48C3-AB72-8B738A1EB34F}" type="datetime1">
              <a:rPr lang="de-DE" smtClean="0"/>
              <a:t>27.04.2025</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08800960-3D65-46F7-85EE-A2D8630D61E5}" type="slidenum">
              <a:rPr lang="en-US" smtClean="0"/>
              <a:t>‹Nr.›</a:t>
            </a:fld>
            <a:endParaRPr lang="en-US"/>
          </a:p>
        </p:txBody>
      </p:sp>
      <p:sp>
        <p:nvSpPr>
          <p:cNvPr id="7" name="Foliennummernplatzhalter 5">
            <a:extLst>
              <a:ext uri="{FF2B5EF4-FFF2-40B4-BE49-F238E27FC236}">
                <a16:creationId xmlns:a16="http://schemas.microsoft.com/office/drawing/2014/main" id="{30DE54EF-D574-6C41-BDE5-35E8D23ABF8C}"/>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de-DE"/>
              <a:t>Titelmasterformat durch Klicken bearbeiten</a:t>
            </a:r>
            <a:endParaRPr kumimoji="0" lang="en-US"/>
          </a:p>
        </p:txBody>
      </p:sp>
      <p:sp>
        <p:nvSpPr>
          <p:cNvPr id="3" name="Inhaltsplatzhalter 2"/>
          <p:cNvSpPr>
            <a:spLocks noGrp="1"/>
          </p:cNvSpPr>
          <p:nvPr>
            <p:ph sz="half" idx="1"/>
          </p:nvPr>
        </p:nvSpPr>
        <p:spPr>
          <a:xfrm>
            <a:off x="609600" y="2249425"/>
            <a:ext cx="53848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4" name="Inhaltsplatzhalter 3"/>
          <p:cNvSpPr>
            <a:spLocks noGrp="1"/>
          </p:cNvSpPr>
          <p:nvPr>
            <p:ph sz="half" idx="2"/>
          </p:nvPr>
        </p:nvSpPr>
        <p:spPr>
          <a:xfrm>
            <a:off x="6197600" y="2249425"/>
            <a:ext cx="53848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5" name="Datumsplatzhalter 4"/>
          <p:cNvSpPr>
            <a:spLocks noGrp="1"/>
          </p:cNvSpPr>
          <p:nvPr>
            <p:ph type="dt" sz="half" idx="10"/>
          </p:nvPr>
        </p:nvSpPr>
        <p:spPr/>
        <p:txBody>
          <a:bodyPr/>
          <a:lstStyle/>
          <a:p>
            <a:fld id="{99C0F66A-EFBE-4D86-B794-B531731BC1EE}" type="datetime1">
              <a:rPr lang="de-DE" smtClean="0"/>
              <a:t>27.04.2025</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08800960-3D65-46F7-85EE-A2D8630D61E5}" type="slidenum">
              <a:rPr lang="en-US" smtClean="0"/>
              <a:t>‹Nr.›</a:t>
            </a:fld>
            <a:endParaRPr lang="en-US"/>
          </a:p>
        </p:txBody>
      </p:sp>
      <p:sp>
        <p:nvSpPr>
          <p:cNvPr id="8" name="Foliennummernplatzhalter 5">
            <a:extLst>
              <a:ext uri="{FF2B5EF4-FFF2-40B4-BE49-F238E27FC236}">
                <a16:creationId xmlns:a16="http://schemas.microsoft.com/office/drawing/2014/main" id="{28A2B9AB-CEFC-4843-A8CE-9D77611F0E5F}"/>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508000" y="1143000"/>
            <a:ext cx="11176000" cy="1069848"/>
          </a:xfrm>
        </p:spPr>
        <p:txBody>
          <a:bodyPr anchor="ctr"/>
          <a:lstStyle>
            <a:lvl1pPr>
              <a:defRPr sz="4000" b="0" i="0" cap="none" baseline="0"/>
            </a:lvl1pPr>
          </a:lstStyle>
          <a:p>
            <a:r>
              <a:rPr kumimoji="0" lang="de-DE"/>
              <a:t>Titelmasterformat durch Klicken bearbeiten</a:t>
            </a:r>
            <a:endParaRPr kumimoji="0" lang="en-US"/>
          </a:p>
        </p:txBody>
      </p:sp>
      <p:sp>
        <p:nvSpPr>
          <p:cNvPr id="3" name="Textplatzhalter 2"/>
          <p:cNvSpPr>
            <a:spLocks noGrp="1"/>
          </p:cNvSpPr>
          <p:nvPr>
            <p:ph type="body" idx="1"/>
          </p:nvPr>
        </p:nvSpPr>
        <p:spPr>
          <a:xfrm>
            <a:off x="508000" y="2244970"/>
            <a:ext cx="5388864"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de-DE"/>
              <a:t>Textmasterformat bearbeiten</a:t>
            </a:r>
          </a:p>
        </p:txBody>
      </p:sp>
      <p:sp>
        <p:nvSpPr>
          <p:cNvPr id="4" name="Textplatzhalter 3"/>
          <p:cNvSpPr>
            <a:spLocks noGrp="1"/>
          </p:cNvSpPr>
          <p:nvPr>
            <p:ph type="body" sz="half" idx="3"/>
          </p:nvPr>
        </p:nvSpPr>
        <p:spPr>
          <a:xfrm>
            <a:off x="6294968" y="2244970"/>
            <a:ext cx="5389033"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de-DE"/>
              <a:t>Textmasterformat bearbeiten</a:t>
            </a:r>
          </a:p>
        </p:txBody>
      </p:sp>
      <p:sp>
        <p:nvSpPr>
          <p:cNvPr id="5" name="Inhaltsplatzhalter 4"/>
          <p:cNvSpPr>
            <a:spLocks noGrp="1"/>
          </p:cNvSpPr>
          <p:nvPr>
            <p:ph sz="quarter" idx="2"/>
          </p:nvPr>
        </p:nvSpPr>
        <p:spPr>
          <a:xfrm>
            <a:off x="508000" y="2708519"/>
            <a:ext cx="5388864"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6" name="Inhaltsplatzhalter 5"/>
          <p:cNvSpPr>
            <a:spLocks noGrp="1"/>
          </p:cNvSpPr>
          <p:nvPr>
            <p:ph sz="quarter" idx="4"/>
          </p:nvPr>
        </p:nvSpPr>
        <p:spPr>
          <a:xfrm>
            <a:off x="6291073" y="2708519"/>
            <a:ext cx="5389033"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26" name="Datumsplatzhalter 25"/>
          <p:cNvSpPr>
            <a:spLocks noGrp="1"/>
          </p:cNvSpPr>
          <p:nvPr>
            <p:ph type="dt" sz="half" idx="10"/>
          </p:nvPr>
        </p:nvSpPr>
        <p:spPr/>
        <p:txBody>
          <a:bodyPr rtlCol="0"/>
          <a:lstStyle/>
          <a:p>
            <a:fld id="{37C69E42-4B2B-491B-A644-815082356129}" type="datetime1">
              <a:rPr lang="de-DE" smtClean="0"/>
              <a:t>27.04.2025</a:t>
            </a:fld>
            <a:endParaRPr lang="en-US"/>
          </a:p>
        </p:txBody>
      </p:sp>
      <p:sp>
        <p:nvSpPr>
          <p:cNvPr id="27" name="Foliennummernplatzhalter 26"/>
          <p:cNvSpPr>
            <a:spLocks noGrp="1"/>
          </p:cNvSpPr>
          <p:nvPr>
            <p:ph type="sldNum" sz="quarter" idx="11"/>
          </p:nvPr>
        </p:nvSpPr>
        <p:spPr/>
        <p:txBody>
          <a:bodyPr rtlCol="0"/>
          <a:lstStyle/>
          <a:p>
            <a:fld id="{08800960-3D65-46F7-85EE-A2D8630D61E5}" type="slidenum">
              <a:rPr lang="en-US" smtClean="0"/>
              <a:t>‹Nr.›</a:t>
            </a:fld>
            <a:endParaRPr lang="en-US"/>
          </a:p>
        </p:txBody>
      </p:sp>
      <p:sp>
        <p:nvSpPr>
          <p:cNvPr id="28" name="Fußzeilenplatzhalter 27"/>
          <p:cNvSpPr>
            <a:spLocks noGrp="1"/>
          </p:cNvSpPr>
          <p:nvPr>
            <p:ph type="ftr" sz="quarter" idx="12"/>
          </p:nvPr>
        </p:nvSpPr>
        <p:spPr/>
        <p:txBody>
          <a:bodyPr rtlCol="0"/>
          <a:lstStyle/>
          <a:p>
            <a:endParaRPr lang="en-US"/>
          </a:p>
        </p:txBody>
      </p:sp>
      <p:sp>
        <p:nvSpPr>
          <p:cNvPr id="10" name="Foliennummernplatzhalter 5">
            <a:extLst>
              <a:ext uri="{FF2B5EF4-FFF2-40B4-BE49-F238E27FC236}">
                <a16:creationId xmlns:a16="http://schemas.microsoft.com/office/drawing/2014/main" id="{FEF4E230-B0C3-CC49-94BB-124CCF0FC893}"/>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a:xfrm>
            <a:off x="609600" y="1143000"/>
            <a:ext cx="10972800" cy="1069848"/>
          </a:xfrm>
        </p:spPr>
        <p:txBody>
          <a:bodyPr anchor="ctr"/>
          <a:lstStyle>
            <a:lvl1pPr>
              <a:defRPr sz="4000">
                <a:solidFill>
                  <a:schemeClr val="tx2"/>
                </a:solidFill>
              </a:defRPr>
            </a:lvl1pPr>
          </a:lstStyle>
          <a:p>
            <a:r>
              <a:rPr kumimoji="0" lang="de-DE"/>
              <a:t>Titelmasterformat durch Klicken bearbeiten</a:t>
            </a:r>
            <a:endParaRPr kumimoji="0" lang="en-US"/>
          </a:p>
        </p:txBody>
      </p:sp>
      <p:sp>
        <p:nvSpPr>
          <p:cNvPr id="3" name="Datumsplatzhalter 2"/>
          <p:cNvSpPr>
            <a:spLocks noGrp="1"/>
          </p:cNvSpPr>
          <p:nvPr>
            <p:ph type="dt" sz="half" idx="10"/>
          </p:nvPr>
        </p:nvSpPr>
        <p:spPr>
          <a:xfrm>
            <a:off x="8778240" y="612648"/>
            <a:ext cx="1276352" cy="457200"/>
          </a:xfrm>
        </p:spPr>
        <p:txBody>
          <a:bodyPr/>
          <a:lstStyle/>
          <a:p>
            <a:fld id="{28581BEF-411F-4C1C-828C-66B57363225F}" type="datetime1">
              <a:rPr lang="de-DE" smtClean="0"/>
              <a:t>27.04.2025</a:t>
            </a:fld>
            <a:endParaRPr lang="en-US"/>
          </a:p>
        </p:txBody>
      </p:sp>
      <p:sp>
        <p:nvSpPr>
          <p:cNvPr id="4" name="Fußzeilenplatzhalter 3"/>
          <p:cNvSpPr>
            <a:spLocks noGrp="1"/>
          </p:cNvSpPr>
          <p:nvPr>
            <p:ph type="ftr" sz="quarter" idx="11"/>
          </p:nvPr>
        </p:nvSpPr>
        <p:spPr>
          <a:xfrm>
            <a:off x="7010400" y="612648"/>
            <a:ext cx="1767840" cy="457200"/>
          </a:xfrm>
        </p:spPr>
        <p:txBody>
          <a:bodyPr/>
          <a:lstStyle/>
          <a:p>
            <a:endParaRPr lang="en-US"/>
          </a:p>
        </p:txBody>
      </p:sp>
      <p:sp>
        <p:nvSpPr>
          <p:cNvPr id="5" name="Foliennummernplatzhalter 4"/>
          <p:cNvSpPr>
            <a:spLocks noGrp="1"/>
          </p:cNvSpPr>
          <p:nvPr>
            <p:ph type="sldNum" sz="quarter" idx="12"/>
          </p:nvPr>
        </p:nvSpPr>
        <p:spPr>
          <a:xfrm>
            <a:off x="10899648" y="2272"/>
            <a:ext cx="1016000" cy="365760"/>
          </a:xfrm>
        </p:spPr>
        <p:txBody>
          <a:bodyPr/>
          <a:lstStyle/>
          <a:p>
            <a:fld id="{08800960-3D65-46F7-85EE-A2D8630D61E5}" type="slidenum">
              <a:rPr lang="en-US" smtClean="0"/>
              <a:t>‹Nr.›</a:t>
            </a:fld>
            <a:endParaRPr lang="en-US"/>
          </a:p>
        </p:txBody>
      </p:sp>
      <p:sp>
        <p:nvSpPr>
          <p:cNvPr id="6" name="Foliennummernplatzhalter 5">
            <a:extLst>
              <a:ext uri="{FF2B5EF4-FFF2-40B4-BE49-F238E27FC236}">
                <a16:creationId xmlns:a16="http://schemas.microsoft.com/office/drawing/2014/main" id="{309B9422-82AE-1D4C-B6B0-865A43630775}"/>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427E4652-83CF-48FF-B07A-5D300D4CA3EB}" type="datetime1">
              <a:rPr lang="de-DE" smtClean="0"/>
              <a:t>27.04.2025</a:t>
            </a:fld>
            <a:endParaRPr lang="en-US"/>
          </a:p>
        </p:txBody>
      </p:sp>
      <p:sp>
        <p:nvSpPr>
          <p:cNvPr id="3" name="Fußzeilenplatzhalter 2"/>
          <p:cNvSpPr>
            <a:spLocks noGrp="1"/>
          </p:cNvSpPr>
          <p:nvPr>
            <p:ph type="ftr" sz="quarter" idx="11"/>
          </p:nvPr>
        </p:nvSpPr>
        <p:spPr/>
        <p:txBody>
          <a:bodyPr/>
          <a:lstStyle/>
          <a:p>
            <a:endParaRPr lang="en-US"/>
          </a:p>
        </p:txBody>
      </p:sp>
      <p:sp>
        <p:nvSpPr>
          <p:cNvPr id="4" name="Foliennummernplatzhalter 3"/>
          <p:cNvSpPr>
            <a:spLocks noGrp="1"/>
          </p:cNvSpPr>
          <p:nvPr>
            <p:ph type="sldNum" sz="quarter" idx="12"/>
          </p:nvPr>
        </p:nvSpPr>
        <p:spPr/>
        <p:txBody>
          <a:bodyPr/>
          <a:lstStyle/>
          <a:p>
            <a:fld id="{08800960-3D65-46F7-85EE-A2D8630D61E5}" type="slidenum">
              <a:rPr lang="en-US" smtClean="0"/>
              <a:t>‹Nr.›</a:t>
            </a:fld>
            <a:endParaRPr lang="en-US"/>
          </a:p>
        </p:txBody>
      </p:sp>
      <p:sp>
        <p:nvSpPr>
          <p:cNvPr id="5" name="Foliennummernplatzhalter 5">
            <a:extLst>
              <a:ext uri="{FF2B5EF4-FFF2-40B4-BE49-F238E27FC236}">
                <a16:creationId xmlns:a16="http://schemas.microsoft.com/office/drawing/2014/main" id="{87ADE735-D8CE-7144-BFF4-464CC69DD30A}"/>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137995" y="1101970"/>
            <a:ext cx="4511040" cy="877824"/>
          </a:xfrm>
        </p:spPr>
        <p:txBody>
          <a:bodyPr anchor="b"/>
          <a:lstStyle>
            <a:lvl1pPr algn="l">
              <a:buNone/>
              <a:defRPr sz="1800" b="1"/>
            </a:lvl1pPr>
          </a:lstStyle>
          <a:p>
            <a:r>
              <a:rPr kumimoji="0" lang="de-DE"/>
              <a:t>Titelmasterformat durch Klicken bearbeiten</a:t>
            </a:r>
            <a:endParaRPr kumimoji="0" lang="en-US"/>
          </a:p>
        </p:txBody>
      </p:sp>
      <p:sp>
        <p:nvSpPr>
          <p:cNvPr id="3" name="Textplatzhalter 2"/>
          <p:cNvSpPr>
            <a:spLocks noGrp="1"/>
          </p:cNvSpPr>
          <p:nvPr>
            <p:ph type="body" idx="2"/>
          </p:nvPr>
        </p:nvSpPr>
        <p:spPr>
          <a:xfrm>
            <a:off x="7137995" y="2010727"/>
            <a:ext cx="451104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de-DE"/>
              <a:t>Textmasterformat bearbeiten</a:t>
            </a:r>
          </a:p>
        </p:txBody>
      </p:sp>
      <p:sp>
        <p:nvSpPr>
          <p:cNvPr id="4" name="Inhaltsplatzhalter 3"/>
          <p:cNvSpPr>
            <a:spLocks noGrp="1"/>
          </p:cNvSpPr>
          <p:nvPr>
            <p:ph sz="half" idx="1"/>
          </p:nvPr>
        </p:nvSpPr>
        <p:spPr>
          <a:xfrm>
            <a:off x="203200" y="776287"/>
            <a:ext cx="6803136"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5" name="Datumsplatzhalter 4"/>
          <p:cNvSpPr>
            <a:spLocks noGrp="1"/>
          </p:cNvSpPr>
          <p:nvPr>
            <p:ph type="dt" sz="half" idx="10"/>
          </p:nvPr>
        </p:nvSpPr>
        <p:spPr/>
        <p:txBody>
          <a:bodyPr/>
          <a:lstStyle/>
          <a:p>
            <a:fld id="{850A2C4E-E099-4331-8BC5-F5919D33FBB0}" type="datetime1">
              <a:rPr lang="de-DE" smtClean="0"/>
              <a:t>27.04.2025</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08800960-3D65-46F7-85EE-A2D8630D61E5}" type="slidenum">
              <a:rPr lang="en-US" smtClean="0"/>
              <a:t>‹Nr.›</a:t>
            </a:fld>
            <a:endParaRPr lang="en-US"/>
          </a:p>
        </p:txBody>
      </p:sp>
      <p:sp>
        <p:nvSpPr>
          <p:cNvPr id="8" name="Foliennummernplatzhalter 5">
            <a:extLst>
              <a:ext uri="{FF2B5EF4-FFF2-40B4-BE49-F238E27FC236}">
                <a16:creationId xmlns:a16="http://schemas.microsoft.com/office/drawing/2014/main" id="{E84BC76B-DD63-3D41-8021-753CA6CA5598}"/>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253913" y="1109161"/>
            <a:ext cx="782404" cy="4681637"/>
          </a:xfrm>
        </p:spPr>
        <p:txBody>
          <a:bodyPr vert="vert270" lIns="45720" tIns="0" rIns="45720" anchor="t"/>
          <a:lstStyle>
            <a:lvl1pPr algn="ctr">
              <a:buNone/>
              <a:defRPr sz="2000" b="1"/>
            </a:lvl1pPr>
          </a:lstStyle>
          <a:p>
            <a:r>
              <a:rPr kumimoji="0" lang="de-DE"/>
              <a:t>Titelmasterformat durch Klicken bearbeiten</a:t>
            </a:r>
            <a:endParaRPr kumimoji="0" lang="en-US"/>
          </a:p>
        </p:txBody>
      </p:sp>
      <p:sp>
        <p:nvSpPr>
          <p:cNvPr id="3" name="Bildplatzhalter 2"/>
          <p:cNvSpPr>
            <a:spLocks noGrp="1"/>
          </p:cNvSpPr>
          <p:nvPr>
            <p:ph type="pic" idx="1"/>
          </p:nvPr>
        </p:nvSpPr>
        <p:spPr>
          <a:xfrm>
            <a:off x="538228" y="1143000"/>
            <a:ext cx="6096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de-DE"/>
              <a:t>Bild durch Klicken auf Symbol hinzufügen</a:t>
            </a:r>
            <a:endParaRPr kumimoji="0" lang="en-US"/>
          </a:p>
        </p:txBody>
      </p:sp>
      <p:sp>
        <p:nvSpPr>
          <p:cNvPr id="4" name="Textplatzhalter 3"/>
          <p:cNvSpPr>
            <a:spLocks noGrp="1"/>
          </p:cNvSpPr>
          <p:nvPr>
            <p:ph type="body" sz="half" idx="2"/>
          </p:nvPr>
        </p:nvSpPr>
        <p:spPr>
          <a:xfrm>
            <a:off x="8117924" y="3274309"/>
            <a:ext cx="34544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de-DE"/>
              <a:t>Textmasterformat bearbeiten</a:t>
            </a:r>
          </a:p>
        </p:txBody>
      </p:sp>
      <p:sp>
        <p:nvSpPr>
          <p:cNvPr id="5" name="Datumsplatzhalter 4"/>
          <p:cNvSpPr>
            <a:spLocks noGrp="1"/>
          </p:cNvSpPr>
          <p:nvPr>
            <p:ph type="dt" sz="half" idx="10"/>
          </p:nvPr>
        </p:nvSpPr>
        <p:spPr/>
        <p:txBody>
          <a:bodyPr/>
          <a:lstStyle/>
          <a:p>
            <a:fld id="{5EB0A2B8-1C71-4F87-BF98-FD09C9576A12}" type="datetime1">
              <a:rPr lang="de-DE" smtClean="0"/>
              <a:t>27.04.2025</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08800960-3D65-46F7-85EE-A2D8630D61E5}" type="slidenum">
              <a:rPr lang="en-US" smtClean="0"/>
              <a:t>‹Nr.›</a:t>
            </a:fld>
            <a:endParaRPr lang="en-US"/>
          </a:p>
        </p:txBody>
      </p:sp>
      <p:sp>
        <p:nvSpPr>
          <p:cNvPr id="8" name="Foliennummernplatzhalter 5">
            <a:extLst>
              <a:ext uri="{FF2B5EF4-FFF2-40B4-BE49-F238E27FC236}">
                <a16:creationId xmlns:a16="http://schemas.microsoft.com/office/drawing/2014/main" id="{F016CFB8-94C7-8342-AE16-44CC68AE3215}"/>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de-DE"/>
              <a:t>Titelmasterformat durch Klicken bearbeiten</a:t>
            </a:r>
            <a:endParaRPr kumimoji="0" lang="en-US"/>
          </a:p>
        </p:txBody>
      </p:sp>
      <p:sp>
        <p:nvSpPr>
          <p:cNvPr id="3" name="Vertikaler Textplatzhalter 2"/>
          <p:cNvSpPr>
            <a:spLocks noGrp="1"/>
          </p:cNvSpPr>
          <p:nvPr>
            <p:ph type="body" orient="vert" idx="1"/>
          </p:nvPr>
        </p:nvSpPr>
        <p:spPr/>
        <p:txBody>
          <a:bodyPr vert="eaVert"/>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4" name="Datumsplatzhalter 3"/>
          <p:cNvSpPr>
            <a:spLocks noGrp="1"/>
          </p:cNvSpPr>
          <p:nvPr>
            <p:ph type="dt" sz="half" idx="10"/>
          </p:nvPr>
        </p:nvSpPr>
        <p:spPr/>
        <p:txBody>
          <a:bodyPr/>
          <a:lstStyle/>
          <a:p>
            <a:fld id="{D4B246B5-51C5-4FE7-B623-37283DCE9607}" type="datetime1">
              <a:rPr lang="de-DE" smtClean="0"/>
              <a:t>27.04.2025</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08800960-3D65-46F7-85EE-A2D8630D61E5}" type="slidenum">
              <a:rPr lang="en-US" smtClean="0"/>
              <a:t>‹Nr.›</a:t>
            </a:fld>
            <a:endParaRPr lang="en-US"/>
          </a:p>
        </p:txBody>
      </p:sp>
      <p:sp>
        <p:nvSpPr>
          <p:cNvPr id="7" name="Foliennummernplatzhalter 5">
            <a:extLst>
              <a:ext uri="{FF2B5EF4-FFF2-40B4-BE49-F238E27FC236}">
                <a16:creationId xmlns:a16="http://schemas.microsoft.com/office/drawing/2014/main" id="{86873E8B-5625-A34E-AB1D-17DCC1E3BC34}"/>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9042400" y="1143000"/>
            <a:ext cx="2540000" cy="5486400"/>
          </a:xfrm>
        </p:spPr>
        <p:txBody>
          <a:bodyPr vert="eaVert"/>
          <a:lstStyle/>
          <a:p>
            <a:r>
              <a:rPr kumimoji="0" lang="de-DE"/>
              <a:t>Titelmasterformat durch Klicken bearbeiten</a:t>
            </a:r>
            <a:endParaRPr kumimoji="0" lang="en-US"/>
          </a:p>
        </p:txBody>
      </p:sp>
      <p:sp>
        <p:nvSpPr>
          <p:cNvPr id="3" name="Vertikaler Textplatzhalter 2"/>
          <p:cNvSpPr>
            <a:spLocks noGrp="1"/>
          </p:cNvSpPr>
          <p:nvPr>
            <p:ph type="body" orient="vert" idx="1"/>
          </p:nvPr>
        </p:nvSpPr>
        <p:spPr>
          <a:xfrm>
            <a:off x="609600" y="1143000"/>
            <a:ext cx="8331200" cy="5486400"/>
          </a:xfrm>
        </p:spPr>
        <p:txBody>
          <a:bodyPr vert="eaVert"/>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4" name="Datumsplatzhalter 3"/>
          <p:cNvSpPr>
            <a:spLocks noGrp="1"/>
          </p:cNvSpPr>
          <p:nvPr>
            <p:ph type="dt" sz="half" idx="10"/>
          </p:nvPr>
        </p:nvSpPr>
        <p:spPr/>
        <p:txBody>
          <a:bodyPr/>
          <a:lstStyle/>
          <a:p>
            <a:fld id="{E7E31108-9016-4212-8567-2FCA934A2626}" type="datetime1">
              <a:rPr lang="de-DE" smtClean="0"/>
              <a:t>27.04.2025</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08800960-3D65-46F7-85EE-A2D8630D61E5}" type="slidenum">
              <a:rPr lang="en-US" smtClean="0"/>
              <a:t>‹Nr.›</a:t>
            </a:fld>
            <a:endParaRPr lang="en-US"/>
          </a:p>
        </p:txBody>
      </p:sp>
      <p:sp>
        <p:nvSpPr>
          <p:cNvPr id="7" name="Foliennummernplatzhalter 5">
            <a:extLst>
              <a:ext uri="{FF2B5EF4-FFF2-40B4-BE49-F238E27FC236}">
                <a16:creationId xmlns:a16="http://schemas.microsoft.com/office/drawing/2014/main" id="{EF4EF544-D00E-E040-834B-1AB2DC675130}"/>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hteck 27"/>
          <p:cNvSpPr/>
          <p:nvPr/>
        </p:nvSpPr>
        <p:spPr>
          <a:xfrm>
            <a:off x="1" y="366819"/>
            <a:ext cx="12192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9" name="Rechteck 28"/>
          <p:cNvSpPr/>
          <p:nvPr/>
        </p:nvSpPr>
        <p:spPr>
          <a:xfrm>
            <a:off x="0" y="-1"/>
            <a:ext cx="12192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0" name="Rechteck 29"/>
          <p:cNvSpPr/>
          <p:nvPr/>
        </p:nvSpPr>
        <p:spPr>
          <a:xfrm>
            <a:off x="1" y="308277"/>
            <a:ext cx="12192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1" name="Rechteck 30"/>
          <p:cNvSpPr/>
          <p:nvPr/>
        </p:nvSpPr>
        <p:spPr>
          <a:xfrm flipV="1">
            <a:off x="7213577" y="360247"/>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hteck 31"/>
          <p:cNvSpPr/>
          <p:nvPr/>
        </p:nvSpPr>
        <p:spPr>
          <a:xfrm flipV="1">
            <a:off x="7213601" y="440113"/>
            <a:ext cx="49784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useBgFill="1">
        <p:nvSpPr>
          <p:cNvPr id="33" name="Abgerundetes Rechteck 32"/>
          <p:cNvSpPr/>
          <p:nvPr/>
        </p:nvSpPr>
        <p:spPr bwMode="white">
          <a:xfrm>
            <a:off x="7209785" y="497504"/>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useBgFill="1">
        <p:nvSpPr>
          <p:cNvPr id="34" name="Abgerundetes Rechteck 33"/>
          <p:cNvSpPr/>
          <p:nvPr/>
        </p:nvSpPr>
        <p:spPr bwMode="white">
          <a:xfrm>
            <a:off x="9831528" y="58894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5" name="Rechteck 34"/>
          <p:cNvSpPr/>
          <p:nvPr/>
        </p:nvSpPr>
        <p:spPr bwMode="invGray">
          <a:xfrm>
            <a:off x="12113288" y="-2001"/>
            <a:ext cx="76835"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6" name="Rechteck 35"/>
          <p:cNvSpPr/>
          <p:nvPr/>
        </p:nvSpPr>
        <p:spPr bwMode="invGray">
          <a:xfrm>
            <a:off x="12059308" y="-2001"/>
            <a:ext cx="3657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7" name="Rechteck 36"/>
          <p:cNvSpPr/>
          <p:nvPr/>
        </p:nvSpPr>
        <p:spPr bwMode="invGray">
          <a:xfrm>
            <a:off x="12033904" y="-2001"/>
            <a:ext cx="12192"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8" name="Rechteck 37"/>
          <p:cNvSpPr/>
          <p:nvPr/>
        </p:nvSpPr>
        <p:spPr bwMode="invGray">
          <a:xfrm>
            <a:off x="11967231" y="-2001"/>
            <a:ext cx="36576"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9" name="Rechteck 38"/>
          <p:cNvSpPr/>
          <p:nvPr/>
        </p:nvSpPr>
        <p:spPr bwMode="invGray">
          <a:xfrm>
            <a:off x="11887569" y="380"/>
            <a:ext cx="73152"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40" name="Rechteck 39"/>
          <p:cNvSpPr/>
          <p:nvPr/>
        </p:nvSpPr>
        <p:spPr bwMode="invGray">
          <a:xfrm>
            <a:off x="11831300" y="380"/>
            <a:ext cx="12192"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Titelplatzhalter 21"/>
          <p:cNvSpPr>
            <a:spLocks noGrp="1"/>
          </p:cNvSpPr>
          <p:nvPr>
            <p:ph type="title"/>
          </p:nvPr>
        </p:nvSpPr>
        <p:spPr>
          <a:xfrm>
            <a:off x="609600" y="1143000"/>
            <a:ext cx="10972800" cy="1066800"/>
          </a:xfrm>
          <a:prstGeom prst="rect">
            <a:avLst/>
          </a:prstGeom>
        </p:spPr>
        <p:txBody>
          <a:bodyPr vert="horz" anchor="ctr">
            <a:normAutofit/>
          </a:bodyPr>
          <a:lstStyle/>
          <a:p>
            <a:r>
              <a:rPr kumimoji="0" lang="de-DE"/>
              <a:t>Titelmasterformat durch Klicken bearbeiten</a:t>
            </a:r>
            <a:endParaRPr kumimoji="0" lang="en-US"/>
          </a:p>
        </p:txBody>
      </p:sp>
      <p:sp>
        <p:nvSpPr>
          <p:cNvPr id="13" name="Textplatzhalter 12"/>
          <p:cNvSpPr>
            <a:spLocks noGrp="1"/>
          </p:cNvSpPr>
          <p:nvPr>
            <p:ph type="body" idx="1"/>
          </p:nvPr>
        </p:nvSpPr>
        <p:spPr>
          <a:xfrm>
            <a:off x="609600" y="2249424"/>
            <a:ext cx="10972800" cy="4325112"/>
          </a:xfrm>
          <a:prstGeom prst="rect">
            <a:avLst/>
          </a:prstGeom>
        </p:spPr>
        <p:txBody>
          <a:bodyPr vert="horz">
            <a:normAutofit/>
          </a:bodyPr>
          <a:lstStyle/>
          <a:p>
            <a:pPr lvl="0" eaLnBrk="1" latinLnBrk="0" hangingPunct="1"/>
            <a:r>
              <a:rPr kumimoji="0" lang="de-DE"/>
              <a:t>Textmasterformat bearbeiten</a:t>
            </a:r>
          </a:p>
          <a:p>
            <a:pPr lvl="1" eaLnBrk="1" latinLnBrk="0" hangingPunct="1"/>
            <a:r>
              <a:rPr kumimoji="0" lang="de-DE"/>
              <a:t>Zweite Ebene</a:t>
            </a:r>
          </a:p>
          <a:p>
            <a:pPr lvl="2" eaLnBrk="1" latinLnBrk="0" hangingPunct="1"/>
            <a:r>
              <a:rPr kumimoji="0" lang="de-DE"/>
              <a:t>Dritte Ebene</a:t>
            </a:r>
          </a:p>
          <a:p>
            <a:pPr lvl="3" eaLnBrk="1" latinLnBrk="0" hangingPunct="1"/>
            <a:r>
              <a:rPr kumimoji="0" lang="de-DE"/>
              <a:t>Vierte Ebene</a:t>
            </a:r>
          </a:p>
          <a:p>
            <a:pPr lvl="4" eaLnBrk="1" latinLnBrk="0" hangingPunct="1"/>
            <a:r>
              <a:rPr kumimoji="0" lang="de-DE"/>
              <a:t>Fünfte Ebene</a:t>
            </a:r>
            <a:endParaRPr kumimoji="0" lang="en-US"/>
          </a:p>
        </p:txBody>
      </p:sp>
      <p:sp>
        <p:nvSpPr>
          <p:cNvPr id="14" name="Datumsplatzhalter 13"/>
          <p:cNvSpPr>
            <a:spLocks noGrp="1"/>
          </p:cNvSpPr>
          <p:nvPr>
            <p:ph type="dt" sz="half" idx="2"/>
          </p:nvPr>
        </p:nvSpPr>
        <p:spPr>
          <a:xfrm>
            <a:off x="8782048" y="612648"/>
            <a:ext cx="1276352" cy="457200"/>
          </a:xfrm>
          <a:prstGeom prst="rect">
            <a:avLst/>
          </a:prstGeom>
        </p:spPr>
        <p:txBody>
          <a:bodyPr vert="horz"/>
          <a:lstStyle>
            <a:lvl1pPr algn="l" eaLnBrk="1" latinLnBrk="0" hangingPunct="1">
              <a:defRPr kumimoji="0" sz="800">
                <a:solidFill>
                  <a:schemeClr val="accent2"/>
                </a:solidFill>
              </a:defRPr>
            </a:lvl1pPr>
          </a:lstStyle>
          <a:p>
            <a:fld id="{D83A9F74-EE4C-49D6-9661-C67699B6A199}" type="datetime1">
              <a:rPr lang="de-DE" smtClean="0"/>
              <a:t>27.04.2025</a:t>
            </a:fld>
            <a:endParaRPr lang="en-US"/>
          </a:p>
        </p:txBody>
      </p:sp>
      <p:sp>
        <p:nvSpPr>
          <p:cNvPr id="3" name="Fußzeilenplatzhalter 2"/>
          <p:cNvSpPr>
            <a:spLocks noGrp="1"/>
          </p:cNvSpPr>
          <p:nvPr>
            <p:ph type="ftr" sz="quarter" idx="3"/>
          </p:nvPr>
        </p:nvSpPr>
        <p:spPr>
          <a:xfrm>
            <a:off x="7010400" y="612648"/>
            <a:ext cx="1767840" cy="457200"/>
          </a:xfrm>
          <a:prstGeom prst="rect">
            <a:avLst/>
          </a:prstGeom>
        </p:spPr>
        <p:txBody>
          <a:bodyPr vert="horz"/>
          <a:lstStyle>
            <a:lvl1pPr algn="r" eaLnBrk="1" latinLnBrk="0" hangingPunct="1">
              <a:defRPr kumimoji="0" sz="800">
                <a:solidFill>
                  <a:schemeClr val="accent2"/>
                </a:solidFill>
              </a:defRPr>
            </a:lvl1pPr>
          </a:lstStyle>
          <a:p>
            <a:endParaRPr lang="en-US"/>
          </a:p>
        </p:txBody>
      </p:sp>
      <p:sp>
        <p:nvSpPr>
          <p:cNvPr id="23" name="Foliennummernplatzhalter 22"/>
          <p:cNvSpPr>
            <a:spLocks noGrp="1"/>
          </p:cNvSpPr>
          <p:nvPr>
            <p:ph type="sldNum" sz="quarter" idx="4"/>
          </p:nvPr>
        </p:nvSpPr>
        <p:spPr>
          <a:xfrm>
            <a:off x="10899648" y="2272"/>
            <a:ext cx="1016000" cy="365760"/>
          </a:xfrm>
          <a:prstGeom prst="rect">
            <a:avLst/>
          </a:prstGeom>
        </p:spPr>
        <p:txBody>
          <a:bodyPr vert="horz" anchor="b"/>
          <a:lstStyle>
            <a:lvl1pPr algn="r" eaLnBrk="1" latinLnBrk="0" hangingPunct="1">
              <a:defRPr kumimoji="0" sz="1800">
                <a:solidFill>
                  <a:srgbClr val="FFFFFF"/>
                </a:solidFill>
              </a:defRPr>
            </a:lvl1pPr>
          </a:lstStyle>
          <a:p>
            <a:fld id="{08800960-3D65-46F7-85EE-A2D8630D61E5}" type="slidenum">
              <a:rPr lang="en-US" smtClean="0"/>
              <a:t>‹Nr.›</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feld 3"/>
          <p:cNvSpPr txBox="1"/>
          <p:nvPr/>
        </p:nvSpPr>
        <p:spPr>
          <a:xfrm>
            <a:off x="407369" y="404664"/>
            <a:ext cx="5688631" cy="2575449"/>
          </a:xfrm>
          <a:prstGeom prst="rect">
            <a:avLst/>
          </a:prstGeom>
          <a:noFill/>
        </p:spPr>
        <p:txBody>
          <a:bodyPr wrap="square">
            <a:spAutoFit/>
          </a:bodyPr>
          <a:lstStyle/>
          <a:p>
            <a:pPr>
              <a:lnSpc>
                <a:spcPct val="150000"/>
              </a:lnSpc>
              <a:defRPr/>
            </a:pPr>
            <a:r>
              <a:rPr lang="de-DE" sz="2400">
                <a:solidFill>
                  <a:schemeClr val="bg1"/>
                </a:solidFill>
                <a:effectLst>
                  <a:outerShdw blurRad="50800" dist="38100" dir="2700000" algn="tl" rotWithShape="0">
                    <a:prstClr val="black">
                      <a:alpha val="40000"/>
                    </a:prstClr>
                  </a:outerShdw>
                </a:effectLst>
                <a:latin typeface="Verdana" panose="020B0604030504040204" pitchFamily="34" charset="0"/>
                <a:ea typeface="Verdana" panose="020B0604030504040204" pitchFamily="34" charset="0"/>
                <a:cs typeface="Verdana" panose="020B0604030504040204" pitchFamily="34" charset="0"/>
              </a:rPr>
              <a:t>Audiodeskription</a:t>
            </a:r>
          </a:p>
          <a:p>
            <a:pPr marL="285750" indent="-285750">
              <a:lnSpc>
                <a:spcPct val="150000"/>
              </a:lnSpc>
              <a:buFontTx/>
              <a:buChar char="-"/>
              <a:defRPr/>
            </a:pPr>
            <a:r>
              <a:rPr lang="de-DE" sz="1400">
                <a:solidFill>
                  <a:schemeClr val="bg1"/>
                </a:solidFill>
                <a:effectLst>
                  <a:outerShdw blurRad="50800" dist="38100" dir="2700000" algn="tl" rotWithShape="0">
                    <a:prstClr val="black">
                      <a:alpha val="40000"/>
                    </a:prstClr>
                  </a:outerShdw>
                </a:effectLst>
                <a:latin typeface="Verdana" panose="020B0604030504040204" pitchFamily="34" charset="0"/>
                <a:ea typeface="Verdana" panose="020B0604030504040204" pitchFamily="34" charset="0"/>
                <a:cs typeface="Verdana" panose="020B0604030504040204" pitchFamily="34" charset="0"/>
              </a:rPr>
              <a:t>KI-Modelle für die Analyse visueller Daten –</a:t>
            </a:r>
          </a:p>
          <a:p>
            <a:pPr>
              <a:lnSpc>
                <a:spcPct val="150000"/>
              </a:lnSpc>
              <a:defRPr/>
            </a:pPr>
            <a:endParaRPr lang="de-DE">
              <a:solidFill>
                <a:schemeClr val="bg1"/>
              </a:solidFill>
              <a:effectLst>
                <a:outerShdw blurRad="50800" dist="38100" dir="2700000" algn="tl" rotWithShape="0">
                  <a:prstClr val="black">
                    <a:alpha val="40000"/>
                  </a:prstClr>
                </a:outerShdw>
              </a:effectLst>
              <a:latin typeface="Verdana" panose="020B0604030504040204" pitchFamily="34" charset="0"/>
              <a:ea typeface="Verdana" panose="020B0604030504040204" pitchFamily="34" charset="0"/>
              <a:cs typeface="Verdana" panose="020B0604030504040204" pitchFamily="34" charset="0"/>
            </a:endParaRPr>
          </a:p>
          <a:p>
            <a:pPr>
              <a:lnSpc>
                <a:spcPct val="150000"/>
              </a:lnSpc>
              <a:defRPr/>
            </a:pPr>
            <a:r>
              <a:rPr lang="de-DE">
                <a:solidFill>
                  <a:schemeClr val="bg1"/>
                </a:solidFill>
                <a:effectLst>
                  <a:outerShdw blurRad="50800" dist="38100" dir="2700000" algn="tl" rotWithShape="0">
                    <a:prstClr val="black">
                      <a:alpha val="40000"/>
                    </a:prstClr>
                  </a:outerShdw>
                </a:effectLst>
                <a:latin typeface="Verdana" panose="020B0604030504040204" pitchFamily="34" charset="0"/>
                <a:ea typeface="Verdana" panose="020B0604030504040204" pitchFamily="34" charset="0"/>
                <a:cs typeface="Verdana" panose="020B0604030504040204" pitchFamily="34" charset="0"/>
              </a:rPr>
              <a:t>06.05. / 07.05.2025</a:t>
            </a:r>
            <a:endParaRPr lang="de-DE" dirty="0">
              <a:solidFill>
                <a:schemeClr val="bg1"/>
              </a:solidFill>
              <a:effectLst>
                <a:outerShdw blurRad="50800" dist="38100" dir="2700000" algn="tl" rotWithShape="0">
                  <a:prstClr val="black">
                    <a:alpha val="40000"/>
                  </a:prstClr>
                </a:outerShdw>
              </a:effectLst>
              <a:latin typeface="Verdana" panose="020B0604030504040204" pitchFamily="34" charset="0"/>
              <a:ea typeface="Verdana" panose="020B0604030504040204" pitchFamily="34" charset="0"/>
              <a:cs typeface="Verdana" panose="020B0604030504040204" pitchFamily="34" charset="0"/>
            </a:endParaRPr>
          </a:p>
          <a:p>
            <a:pPr>
              <a:lnSpc>
                <a:spcPct val="150000"/>
              </a:lnSpc>
              <a:defRPr/>
            </a:pPr>
            <a:endParaRPr lang="de-DE" dirty="0">
              <a:solidFill>
                <a:schemeClr val="bg1"/>
              </a:solidFill>
              <a:effectLst>
                <a:outerShdw blurRad="50800" dist="38100" dir="2700000" algn="tl" rotWithShape="0">
                  <a:prstClr val="black">
                    <a:alpha val="40000"/>
                  </a:prstClr>
                </a:outerShdw>
              </a:effectLst>
              <a:latin typeface="Verdana" panose="020B0604030504040204" pitchFamily="34" charset="0"/>
              <a:ea typeface="Verdana" panose="020B0604030504040204" pitchFamily="34" charset="0"/>
              <a:cs typeface="Verdana" panose="020B0604030504040204" pitchFamily="34" charset="0"/>
            </a:endParaRPr>
          </a:p>
          <a:p>
            <a:pPr>
              <a:lnSpc>
                <a:spcPct val="150000"/>
              </a:lnSpc>
              <a:defRPr/>
            </a:pPr>
            <a:r>
              <a:rPr lang="de-DE">
                <a:solidFill>
                  <a:schemeClr val="bg1"/>
                </a:solidFill>
                <a:effectLst>
                  <a:outerShdw blurRad="50800" dist="38100" dir="2700000" algn="tl" rotWithShape="0">
                    <a:prstClr val="black">
                      <a:alpha val="40000"/>
                    </a:prstClr>
                  </a:outerShdw>
                </a:effectLst>
                <a:latin typeface="Verdana" panose="020B0604030504040204" pitchFamily="34" charset="0"/>
                <a:ea typeface="Verdana" panose="020B0604030504040204" pitchFamily="34" charset="0"/>
                <a:cs typeface="Verdana" panose="020B0604030504040204" pitchFamily="34" charset="0"/>
              </a:rPr>
              <a:t>Projektgruppe</a:t>
            </a:r>
            <a:endParaRPr lang="de-DE" dirty="0">
              <a:solidFill>
                <a:schemeClr val="bg1"/>
              </a:solidFill>
              <a:effectLst>
                <a:outerShdw blurRad="50800" dist="38100" dir="2700000" algn="tl" rotWithShape="0">
                  <a:prstClr val="black">
                    <a:alpha val="40000"/>
                  </a:prstClr>
                </a:outerShdw>
              </a:effectLst>
              <a:latin typeface="Verdana" panose="020B0604030504040204" pitchFamily="34" charset="0"/>
              <a:ea typeface="Verdana" panose="020B0604030504040204" pitchFamily="34" charset="0"/>
              <a:cs typeface="Verdana" panose="020B0604030504040204" pitchFamily="34" charset="0"/>
            </a:endParaRPr>
          </a:p>
        </p:txBody>
      </p:sp>
      <p:sp>
        <p:nvSpPr>
          <p:cNvPr id="5" name="Rectangle 8"/>
          <p:cNvSpPr>
            <a:spLocks noGrp="1" noChangeArrowheads="1"/>
          </p:cNvSpPr>
          <p:nvPr>
            <p:ph type="subTitle" idx="1"/>
          </p:nvPr>
        </p:nvSpPr>
        <p:spPr>
          <a:xfrm>
            <a:off x="335360" y="4293096"/>
            <a:ext cx="4608512" cy="2160240"/>
          </a:xfrm>
        </p:spPr>
        <p:txBody>
          <a:bodyPr rtlCol="0">
            <a:normAutofit/>
          </a:bodyPr>
          <a:lstStyle/>
          <a:p>
            <a:pPr>
              <a:lnSpc>
                <a:spcPct val="150000"/>
              </a:lnSpc>
              <a:defRPr/>
            </a:pPr>
            <a:r>
              <a:rPr lang="de-DE" sz="1400" u="sng">
                <a:latin typeface="Verdana" panose="020B0604030504040204" pitchFamily="34" charset="0"/>
                <a:ea typeface="Verdana" panose="020B0604030504040204" pitchFamily="34" charset="0"/>
                <a:cs typeface="Verdana" panose="020B0604030504040204" pitchFamily="34" charset="0"/>
              </a:rPr>
              <a:t>Referenten</a:t>
            </a:r>
          </a:p>
          <a:p>
            <a:pPr>
              <a:lnSpc>
                <a:spcPct val="150000"/>
              </a:lnSpc>
              <a:defRPr/>
            </a:pPr>
            <a:r>
              <a:rPr lang="de-DE" sz="1400">
                <a:latin typeface="Verdana" panose="020B0604030504040204" pitchFamily="34" charset="0"/>
                <a:ea typeface="Verdana" panose="020B0604030504040204" pitchFamily="34" charset="0"/>
                <a:cs typeface="Verdana" panose="020B0604030504040204" pitchFamily="34" charset="0"/>
              </a:rPr>
              <a:t>Koch, Claus-Peter</a:t>
            </a:r>
          </a:p>
          <a:p>
            <a:pPr>
              <a:lnSpc>
                <a:spcPct val="150000"/>
              </a:lnSpc>
              <a:defRPr/>
            </a:pPr>
            <a:r>
              <a:rPr lang="de-DE" sz="1400">
                <a:latin typeface="Verdana" panose="020B0604030504040204" pitchFamily="34" charset="0"/>
                <a:ea typeface="Verdana" panose="020B0604030504040204" pitchFamily="34" charset="0"/>
                <a:cs typeface="Verdana" panose="020B0604030504040204" pitchFamily="34" charset="0"/>
              </a:rPr>
              <a:t>Neuhalfen, Felicitas</a:t>
            </a:r>
          </a:p>
          <a:p>
            <a:pPr>
              <a:lnSpc>
                <a:spcPct val="150000"/>
              </a:lnSpc>
              <a:defRPr/>
            </a:pPr>
            <a:r>
              <a:rPr lang="de-DE" sz="1400">
                <a:latin typeface="Verdana" panose="020B0604030504040204" pitchFamily="34" charset="0"/>
                <a:ea typeface="Verdana" panose="020B0604030504040204" pitchFamily="34" charset="0"/>
                <a:cs typeface="Verdana" panose="020B0604030504040204" pitchFamily="34" charset="0"/>
              </a:rPr>
              <a:t>Ysop, Dietmar</a:t>
            </a:r>
          </a:p>
        </p:txBody>
      </p:sp>
      <p:pic>
        <p:nvPicPr>
          <p:cNvPr id="3" name="Grafik 2">
            <a:extLst>
              <a:ext uri="{FF2B5EF4-FFF2-40B4-BE49-F238E27FC236}">
                <a16:creationId xmlns:a16="http://schemas.microsoft.com/office/drawing/2014/main" id="{B041DD58-48B2-5F4E-9AFE-53178492BD07}"/>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40216" y="5688429"/>
            <a:ext cx="3841846" cy="941380"/>
          </a:xfrm>
          <a:prstGeom prst="rect">
            <a:avLst/>
          </a:prstGeom>
        </p:spPr>
      </p:pic>
      <p:pic>
        <p:nvPicPr>
          <p:cNvPr id="8" name="Grafik 7" descr="Ein Bild, das Screenshot, Raum, Kreis, Licht enthält.">
            <a:extLst>
              <a:ext uri="{FF2B5EF4-FFF2-40B4-BE49-F238E27FC236}">
                <a16:creationId xmlns:a16="http://schemas.microsoft.com/office/drawing/2014/main" id="{103C4555-7478-07A5-16DE-0B2DFD319860}"/>
              </a:ext>
            </a:extLst>
          </p:cNvPr>
          <p:cNvPicPr>
            <a:picLocks noChangeAspect="1"/>
          </p:cNvPicPr>
          <p:nvPr/>
        </p:nvPicPr>
        <p:blipFill>
          <a:blip r:embed="rId3" cstate="print">
            <a:alphaModFix/>
            <a:extLst>
              <a:ext uri="{28A0092B-C50C-407E-A947-70E740481C1C}">
                <a14:useLocalDpi xmlns:a14="http://schemas.microsoft.com/office/drawing/2010/main" val="0"/>
              </a:ext>
            </a:extLst>
          </a:blip>
          <a:stretch>
            <a:fillRect/>
          </a:stretch>
        </p:blipFill>
        <p:spPr>
          <a:xfrm>
            <a:off x="6096000" y="0"/>
            <a:ext cx="6096000" cy="3708000"/>
          </a:xfrm>
          <a:prstGeom prst="rect">
            <a:avLst/>
          </a:prstGeom>
        </p:spPr>
      </p:pic>
      <p:sp>
        <p:nvSpPr>
          <p:cNvPr id="9" name="Rechteck 8">
            <a:extLst>
              <a:ext uri="{FF2B5EF4-FFF2-40B4-BE49-F238E27FC236}">
                <a16:creationId xmlns:a16="http://schemas.microsoft.com/office/drawing/2014/main" id="{B9EBFDA2-089E-4B05-54A9-EA7E4905ABF5}"/>
              </a:ext>
            </a:extLst>
          </p:cNvPr>
          <p:cNvSpPr/>
          <p:nvPr/>
        </p:nvSpPr>
        <p:spPr>
          <a:xfrm>
            <a:off x="6096000" y="0"/>
            <a:ext cx="6096000" cy="3686400"/>
          </a:xfrm>
          <a:prstGeom prst="rect">
            <a:avLst/>
          </a:prstGeom>
          <a:solidFill>
            <a:srgbClr val="424456">
              <a:alpha val="3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4282094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AEEA5-AD1F-0E8D-3F3A-45518C444A98}"/>
            </a:ext>
          </a:extLst>
        </p:cNvPr>
        <p:cNvGrpSpPr/>
        <p:nvPr/>
      </p:nvGrpSpPr>
      <p:grpSpPr>
        <a:xfrm>
          <a:off x="0" y="0"/>
          <a:ext cx="0" cy="0"/>
          <a:chOff x="0" y="0"/>
          <a:chExt cx="0" cy="0"/>
        </a:xfrm>
      </p:grpSpPr>
      <p:sp>
        <p:nvSpPr>
          <p:cNvPr id="4" name="Foliennummernplatzhalter 5">
            <a:extLst>
              <a:ext uri="{FF2B5EF4-FFF2-40B4-BE49-F238E27FC236}">
                <a16:creationId xmlns:a16="http://schemas.microsoft.com/office/drawing/2014/main" id="{D99FF903-395B-86B0-FF15-CA707FA86056}"/>
              </a:ext>
            </a:extLst>
          </p:cNvPr>
          <p:cNvSpPr>
            <a:spLocks noGrp="1"/>
          </p:cNvSpPr>
          <p:nvPr>
            <p:ph type="sldNum" sz="quarter" idx="12"/>
          </p:nvPr>
        </p:nvSpPr>
        <p:spPr>
          <a:xfrm>
            <a:off x="8832304" y="0"/>
            <a:ext cx="1628432" cy="368032"/>
          </a:xfrm>
        </p:spPr>
        <p:txBody>
          <a:bodyPr/>
          <a:lstStyle/>
          <a:p>
            <a:r>
              <a:rPr lang="de-DE">
                <a:latin typeface="Verdana" panose="020B0604030504040204" pitchFamily="34" charset="0"/>
                <a:ea typeface="Verdana" panose="020B0604030504040204" pitchFamily="34" charset="0"/>
                <a:cs typeface="Verdana" panose="020B0604030504040204" pitchFamily="34" charset="0"/>
              </a:rPr>
              <a:t>Seite </a:t>
            </a:r>
            <a:fld id="{538D1101-B71C-42C1-B823-1158DE9643FE}" type="slidenum">
              <a:rPr lang="de-DE" smtClean="0">
                <a:latin typeface="Verdana" panose="020B0604030504040204" pitchFamily="34" charset="0"/>
                <a:ea typeface="Verdana" panose="020B0604030504040204" pitchFamily="34" charset="0"/>
                <a:cs typeface="Verdana" panose="020B0604030504040204" pitchFamily="34" charset="0"/>
              </a:rPr>
              <a:t>2</a:t>
            </a:fld>
            <a:endParaRPr lang="de-DE">
              <a:latin typeface="Verdana" panose="020B0604030504040204" pitchFamily="34" charset="0"/>
              <a:ea typeface="Verdana" panose="020B0604030504040204" pitchFamily="34" charset="0"/>
              <a:cs typeface="Verdana" panose="020B0604030504040204" pitchFamily="34" charset="0"/>
            </a:endParaRPr>
          </a:p>
        </p:txBody>
      </p:sp>
      <p:sp>
        <p:nvSpPr>
          <p:cNvPr id="8" name="Rectangle 2">
            <a:extLst>
              <a:ext uri="{FF2B5EF4-FFF2-40B4-BE49-F238E27FC236}">
                <a16:creationId xmlns:a16="http://schemas.microsoft.com/office/drawing/2014/main" id="{28681B37-C29A-B7BC-202F-1CCF873BDD4E}"/>
              </a:ext>
            </a:extLst>
          </p:cNvPr>
          <p:cNvSpPr>
            <a:spLocks noChangeArrowheads="1"/>
          </p:cNvSpPr>
          <p:nvPr/>
        </p:nvSpPr>
        <p:spPr bwMode="auto">
          <a:xfrm>
            <a:off x="407368" y="1957482"/>
            <a:ext cx="4164923"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200" b="1" i="0" u="none" strike="noStrike" cap="none" normalizeH="0" baseline="0">
                <a:ln>
                  <a:noFill/>
                </a:ln>
                <a:solidFill>
                  <a:schemeClr val="tx1"/>
                </a:solidFill>
                <a:effectLst/>
                <a:latin typeface="Arial" panose="020B0604020202020204" pitchFamily="34" charset="0"/>
              </a:rPr>
              <a:t>1️⃣ Ausgangslage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1200" b="1" i="0" u="none" strike="noStrike" cap="none" normalizeH="0" baseline="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b="0" i="0" u="none" strike="noStrike" cap="none" normalizeH="0" baseline="0">
                <a:ln>
                  <a:noFill/>
                </a:ln>
                <a:solidFill>
                  <a:schemeClr val="tx1"/>
                </a:solidFill>
                <a:effectLst/>
                <a:latin typeface="Arial" panose="020B0604020202020204" pitchFamily="34" charset="0"/>
              </a:rPr>
              <a:t>Mediennutzung und Barrierefreiheit</a:t>
            </a:r>
            <a:r>
              <a:rPr kumimoji="0" lang="de-DE" altLang="de-DE" sz="1200" i="0" u="none" strike="noStrike" cap="none" normalizeH="0" baseline="0">
                <a:ln>
                  <a:noFill/>
                </a:ln>
                <a:solidFill>
                  <a:schemeClr val="tx1"/>
                </a:solidFill>
                <a:effectLst/>
                <a:latin typeface="Arial" panose="020B060402020202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de-DE" altLang="de-DE" sz="1200">
                <a:latin typeface="Arial" panose="020B0604020202020204" pitchFamily="34" charset="0"/>
              </a:rPr>
              <a:t>Stand der Wissenschaft und t</a:t>
            </a:r>
            <a:r>
              <a:rPr kumimoji="0" lang="de-DE" altLang="de-DE" sz="1200" i="0" u="none" strike="noStrike" cap="none" normalizeH="0" baseline="0">
                <a:ln>
                  <a:noFill/>
                </a:ln>
                <a:solidFill>
                  <a:schemeClr val="tx1"/>
                </a:solidFill>
                <a:effectLst/>
                <a:latin typeface="Arial" panose="020B0604020202020204" pitchFamily="34" charset="0"/>
              </a:rPr>
              <a:t>echnologischer Fortschritt​ </a:t>
            </a:r>
          </a:p>
          <a:p>
            <a:pPr marL="0" marR="0" lvl="0" indent="0" algn="l" defTabSz="914400" rtl="0" eaLnBrk="0" fontAlgn="base" latinLnBrk="0" hangingPunct="0">
              <a:lnSpc>
                <a:spcPct val="100000"/>
              </a:lnSpc>
              <a:spcBef>
                <a:spcPct val="0"/>
              </a:spcBef>
              <a:spcAft>
                <a:spcPct val="0"/>
              </a:spcAft>
              <a:buClrTx/>
              <a:buSzTx/>
              <a:tabLst/>
            </a:pPr>
            <a:endParaRPr lang="de-DE" altLang="de-DE" sz="120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de-DE" altLang="de-DE" sz="12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200" b="1" i="0" u="none" strike="noStrike" cap="none" normalizeH="0" baseline="0">
                <a:ln>
                  <a:noFill/>
                </a:ln>
                <a:solidFill>
                  <a:schemeClr val="tx1"/>
                </a:solidFill>
                <a:effectLst/>
                <a:latin typeface="Arial" panose="020B0604020202020204" pitchFamily="34" charset="0"/>
              </a:rPr>
              <a:t>2️⃣  Data Pipeline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1200" b="1" i="0" u="none" strike="noStrike" cap="none" normalizeH="0" baseline="0">
              <a:ln>
                <a:noFill/>
              </a:ln>
              <a:solidFill>
                <a:schemeClr val="tx1"/>
              </a:solidFill>
              <a:effectLst/>
              <a:latin typeface="Arial" panose="020B0604020202020204" pitchFamily="34" charset="0"/>
            </a:endParaRPr>
          </a:p>
          <a:p>
            <a:pPr marL="171450" marR="0" lvl="0" indent="-1714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a:ln>
                  <a:noFill/>
                </a:ln>
                <a:solidFill>
                  <a:schemeClr val="tx1"/>
                </a:solidFill>
                <a:effectLst/>
                <a:latin typeface="Arial" panose="020B0604020202020204" pitchFamily="34" charset="0"/>
              </a:rPr>
              <a:t>Eingabe &amp; Vorverarbeitung </a:t>
            </a:r>
          </a:p>
          <a:p>
            <a:pPr marL="171450" marR="0" lvl="0" indent="-1714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a:ln>
                  <a:noFill/>
                </a:ln>
                <a:solidFill>
                  <a:schemeClr val="tx1"/>
                </a:solidFill>
                <a:effectLst/>
                <a:latin typeface="Arial" panose="020B0604020202020204" pitchFamily="34" charset="0"/>
              </a:rPr>
              <a:t>Visuelle Analyse &amp; Beschreibung </a:t>
            </a:r>
          </a:p>
          <a:p>
            <a:pPr marL="171450" marR="0" lvl="0" indent="-1714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a:ln>
                  <a:noFill/>
                </a:ln>
                <a:solidFill>
                  <a:schemeClr val="tx1"/>
                </a:solidFill>
                <a:effectLst/>
                <a:latin typeface="Arial" panose="020B0604020202020204" pitchFamily="34" charset="0"/>
              </a:rPr>
              <a:t>Ausgabe, Evaluation &amp; Optimierung</a:t>
            </a:r>
          </a:p>
          <a:p>
            <a:pPr marL="171450" marR="0" lvl="0" indent="-1714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lang="de-DE" altLang="de-DE" sz="1200">
              <a:latin typeface="Arial" panose="020B0604020202020204" pitchFamily="34" charset="0"/>
            </a:endParaRPr>
          </a:p>
          <a:p>
            <a:pPr marR="0" lvl="0" algn="just" defTabSz="914400" rtl="0" eaLnBrk="0" fontAlgn="base" latinLnBrk="0" hangingPunct="0">
              <a:lnSpc>
                <a:spcPct val="100000"/>
              </a:lnSpc>
              <a:spcBef>
                <a:spcPct val="0"/>
              </a:spcBef>
              <a:spcAft>
                <a:spcPct val="0"/>
              </a:spcAft>
              <a:buClrTx/>
              <a:buSzTx/>
              <a:tabLst/>
            </a:pPr>
            <a:endParaRPr lang="de-DE" altLang="de-DE" sz="120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200" i="0" u="none" strike="noStrike" cap="none" normalizeH="0" baseline="0">
                <a:ln>
                  <a:noFill/>
                </a:ln>
                <a:solidFill>
                  <a:schemeClr val="tx1"/>
                </a:solidFill>
                <a:effectLst/>
                <a:latin typeface="Arial" panose="020B0604020202020204" pitchFamily="34" charset="0"/>
              </a:rPr>
              <a:t>3️⃣ </a:t>
            </a:r>
            <a:r>
              <a:rPr kumimoji="0" lang="de-DE" altLang="de-DE" sz="1200" b="1" i="0" u="none" strike="noStrike" cap="none" normalizeH="0" baseline="0">
                <a:ln>
                  <a:noFill/>
                </a:ln>
                <a:solidFill>
                  <a:schemeClr val="tx1"/>
                </a:solidFill>
                <a:effectLst/>
                <a:latin typeface="Arial" panose="020B0604020202020204" pitchFamily="34" charset="0"/>
              </a:rPr>
              <a:t> Modell-Kriterien und Bewertung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1200" i="0" u="none" strike="noStrike" cap="none" normalizeH="0" baseline="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a:ln>
                  <a:noFill/>
                </a:ln>
                <a:solidFill>
                  <a:schemeClr val="tx1"/>
                </a:solidFill>
                <a:effectLst/>
                <a:latin typeface="Arial" panose="020B0604020202020204" pitchFamily="34" charset="0"/>
              </a:rPr>
              <a:t>Heatmap möglicher Modelle </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a:ln>
                  <a:noFill/>
                </a:ln>
                <a:solidFill>
                  <a:schemeClr val="tx1"/>
                </a:solidFill>
                <a:effectLst/>
                <a:latin typeface="Arial" panose="020B0604020202020204" pitchFamily="34" charset="0"/>
              </a:rPr>
              <a:t>Prozess und Modell</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de-DE" altLang="de-DE" sz="1200" b="0">
                <a:latin typeface="Arial" panose="020B0604020202020204" pitchFamily="34" charset="0"/>
              </a:rPr>
              <a:t>…</a:t>
            </a:r>
            <a:endParaRPr kumimoji="0" lang="de-DE" altLang="de-DE" sz="1200" b="0" i="0" u="none" strike="noStrike" cap="none" normalizeH="0" baseline="0">
              <a:ln>
                <a:noFill/>
              </a:ln>
              <a:solidFill>
                <a:schemeClr val="tx1"/>
              </a:solidFill>
              <a:effectLst/>
              <a:latin typeface="Arial" panose="020B0604020202020204" pitchFamily="34" charset="0"/>
            </a:endParaRPr>
          </a:p>
        </p:txBody>
      </p:sp>
      <p:sp>
        <p:nvSpPr>
          <p:cNvPr id="10" name="Rectangle 1">
            <a:extLst>
              <a:ext uri="{FF2B5EF4-FFF2-40B4-BE49-F238E27FC236}">
                <a16:creationId xmlns:a16="http://schemas.microsoft.com/office/drawing/2014/main" id="{190B9A6A-8FDF-C676-74F4-EF61914813DE}"/>
              </a:ext>
            </a:extLst>
          </p:cNvPr>
          <p:cNvSpPr>
            <a:spLocks noChangeArrowheads="1"/>
          </p:cNvSpPr>
          <p:nvPr/>
        </p:nvSpPr>
        <p:spPr bwMode="auto">
          <a:xfrm>
            <a:off x="7132037" y="1958637"/>
            <a:ext cx="2132315"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200" i="0" u="none" strike="noStrike" cap="none" normalizeH="0" baseline="0">
                <a:ln>
                  <a:noFill/>
                </a:ln>
                <a:solidFill>
                  <a:schemeClr val="tx1"/>
                </a:solidFill>
                <a:effectLst/>
                <a:latin typeface="Arial" panose="020B0604020202020204" pitchFamily="34" charset="0"/>
              </a:rPr>
              <a:t>​4️⃣ </a:t>
            </a:r>
            <a:r>
              <a:rPr kumimoji="0" lang="de-DE" altLang="de-DE" sz="1200" b="1" i="0" u="none" strike="noStrike" cap="none" normalizeH="0" baseline="0">
                <a:ln>
                  <a:noFill/>
                </a:ln>
                <a:solidFill>
                  <a:schemeClr val="tx1"/>
                </a:solidFill>
                <a:effectLst/>
                <a:latin typeface="Arial" panose="020B0604020202020204" pitchFamily="34" charset="0"/>
              </a:rPr>
              <a:t> Weitere Modellansätze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1200" i="0" u="none" strike="noStrike" cap="none" normalizeH="0" baseline="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a:ln>
                  <a:noFill/>
                </a:ln>
                <a:solidFill>
                  <a:schemeClr val="tx1"/>
                </a:solidFill>
                <a:effectLst/>
                <a:latin typeface="Arial" panose="020B0604020202020204" pitchFamily="34" charset="0"/>
              </a:rPr>
              <a:t>Vertex AI </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a:ln>
                  <a:noFill/>
                </a:ln>
                <a:solidFill>
                  <a:schemeClr val="tx1"/>
                </a:solidFill>
                <a:effectLst/>
                <a:latin typeface="Arial" panose="020B0604020202020204" pitchFamily="34" charset="0"/>
              </a:rPr>
              <a:t>Gemini AI </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a:ln>
                  <a:noFill/>
                </a:ln>
                <a:solidFill>
                  <a:schemeClr val="tx1"/>
                </a:solidFill>
                <a:effectLst/>
                <a:latin typeface="Arial" panose="020B0604020202020204" pitchFamily="34" charset="0"/>
              </a:rPr>
              <a:t>tbd </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a:ln>
                  <a:noFill/>
                </a:ln>
                <a:solidFill>
                  <a:schemeClr val="tx1"/>
                </a:solidFill>
                <a:effectLst/>
                <a:latin typeface="Arial" panose="020B0604020202020204" pitchFamily="34" charset="0"/>
              </a:rPr>
              <a:t>​tbd</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lang="de-DE" altLang="de-DE" sz="1200">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de-DE" altLang="de-DE" sz="1200" i="0" u="none" strike="noStrike" cap="none" normalizeH="0" baseline="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lang="de-DE" altLang="de-DE" sz="1200">
              <a:latin typeface="Arial" panose="020B0604020202020204" pitchFamily="34" charset="0"/>
            </a:endParaRPr>
          </a:p>
          <a:p>
            <a:pPr>
              <a:buNone/>
            </a:pPr>
            <a:r>
              <a:rPr lang="de-DE" sz="1200">
                <a:latin typeface="Arial" panose="020B0604020202020204" pitchFamily="34" charset="0"/>
                <a:cs typeface="Arial" panose="020B0604020202020204" pitchFamily="34" charset="0"/>
              </a:rPr>
              <a:t>5️⃣ </a:t>
            </a:r>
            <a:r>
              <a:rPr kumimoji="0" lang="de-DE" altLang="de-DE" sz="1200" b="1" i="0" u="none" strike="noStrike" cap="none" normalizeH="0" baseline="0">
                <a:ln>
                  <a:noFill/>
                </a:ln>
                <a:solidFill>
                  <a:schemeClr val="tx1"/>
                </a:solidFill>
                <a:effectLst/>
                <a:latin typeface="Arial" panose="020B0604020202020204" pitchFamily="34" charset="0"/>
              </a:rPr>
              <a:t> Fazit</a:t>
            </a:r>
            <a:endParaRPr lang="de-DE" sz="1200" b="1">
              <a:latin typeface="Arial" panose="020B0604020202020204" pitchFamily="34" charset="0"/>
              <a:cs typeface="Arial" panose="020B0604020202020204" pitchFamily="34" charset="0"/>
            </a:endParaRPr>
          </a:p>
          <a:p>
            <a:pPr>
              <a:buNone/>
            </a:pPr>
            <a:endParaRPr lang="de-DE" sz="1200">
              <a:latin typeface="Arial" panose="020B0604020202020204" pitchFamily="34" charset="0"/>
              <a:cs typeface="Arial" panose="020B0604020202020204" pitchFamily="34" charset="0"/>
            </a:endParaRPr>
          </a:p>
          <a:p>
            <a:pPr marL="171450" indent="-171450">
              <a:buFont typeface="Wingdings" panose="05000000000000000000" pitchFamily="2" charset="2"/>
              <a:buChar char="§"/>
            </a:pPr>
            <a:r>
              <a:rPr lang="de-DE" sz="1200">
                <a:latin typeface="Arial" panose="020B0604020202020204" pitchFamily="34" charset="0"/>
                <a:cs typeface="Arial" panose="020B0604020202020204" pitchFamily="34" charset="0"/>
              </a:rPr>
              <a:t>tbd</a:t>
            </a:r>
          </a:p>
          <a:p>
            <a:pPr marL="171450" indent="-171450">
              <a:buFont typeface="Wingdings" panose="05000000000000000000" pitchFamily="2" charset="2"/>
              <a:buChar char="§"/>
            </a:pPr>
            <a:r>
              <a:rPr lang="de-DE" sz="1200">
                <a:latin typeface="Arial" panose="020B0604020202020204" pitchFamily="34" charset="0"/>
                <a:cs typeface="Arial" panose="020B0604020202020204" pitchFamily="34" charset="0"/>
              </a:rPr>
              <a:t>tbd</a:t>
            </a:r>
          </a:p>
          <a:p>
            <a:pPr marL="171450" indent="-171450">
              <a:buFont typeface="Wingdings" panose="05000000000000000000" pitchFamily="2" charset="2"/>
              <a:buChar char="§"/>
            </a:pPr>
            <a:r>
              <a:rPr lang="de-DE" sz="1200">
                <a:latin typeface="Arial" panose="020B0604020202020204" pitchFamily="34" charset="0"/>
                <a:cs typeface="Arial" panose="020B0604020202020204" pitchFamily="34" charset="0"/>
              </a:rPr>
              <a:t>tbd</a:t>
            </a:r>
          </a:p>
          <a:p>
            <a:pPr>
              <a:buFont typeface="Arial" panose="020B0604020202020204" pitchFamily="34" charset="0"/>
              <a:buChar char="•"/>
            </a:pPr>
            <a:endParaRPr lang="de-DE" sz="1200">
              <a:latin typeface="Arial" panose="020B0604020202020204" pitchFamily="34" charset="0"/>
              <a:cs typeface="Arial" panose="020B0604020202020204" pitchFamily="34" charset="0"/>
            </a:endParaRPr>
          </a:p>
          <a:p>
            <a:endParaRPr lang="de-DE" sz="1200">
              <a:latin typeface="Arial" panose="020B0604020202020204" pitchFamily="34" charset="0"/>
              <a:cs typeface="Arial" panose="020B0604020202020204" pitchFamily="34" charset="0"/>
            </a:endParaRPr>
          </a:p>
          <a:p>
            <a:pPr>
              <a:buNone/>
            </a:pPr>
            <a:r>
              <a:rPr lang="de-DE" sz="1200">
                <a:latin typeface="Arial" panose="020B0604020202020204" pitchFamily="34" charset="0"/>
                <a:cs typeface="Arial" panose="020B0604020202020204" pitchFamily="34" charset="0"/>
              </a:rPr>
              <a:t>6️⃣ </a:t>
            </a:r>
            <a:r>
              <a:rPr kumimoji="0" lang="de-DE" altLang="de-DE" sz="1200" b="1" i="0" u="none" strike="noStrike" cap="none" normalizeH="0" baseline="0">
                <a:ln>
                  <a:noFill/>
                </a:ln>
                <a:solidFill>
                  <a:schemeClr val="tx1"/>
                </a:solidFill>
                <a:effectLst/>
                <a:latin typeface="Arial" panose="020B0604020202020204" pitchFamily="34" charset="0"/>
              </a:rPr>
              <a:t> Backup</a:t>
            </a:r>
            <a:endParaRPr lang="de-DE" sz="1200" b="1">
              <a:latin typeface="Arial" panose="020B0604020202020204" pitchFamily="34" charset="0"/>
              <a:cs typeface="Arial" panose="020B0604020202020204" pitchFamily="34" charset="0"/>
            </a:endParaRPr>
          </a:p>
          <a:p>
            <a:pPr>
              <a:buNone/>
            </a:pPr>
            <a:endParaRPr lang="de-DE" sz="1200">
              <a:latin typeface="Arial" panose="020B0604020202020204" pitchFamily="34" charset="0"/>
              <a:cs typeface="Arial" panose="020B0604020202020204" pitchFamily="34" charset="0"/>
            </a:endParaRPr>
          </a:p>
          <a:p>
            <a:pPr marL="171450" indent="-171450">
              <a:buFont typeface="Wingdings" panose="05000000000000000000" pitchFamily="2" charset="2"/>
              <a:buChar char="§"/>
            </a:pPr>
            <a:r>
              <a:rPr lang="de-DE" sz="1200">
                <a:latin typeface="Arial" panose="020B0604020202020204" pitchFamily="34" charset="0"/>
                <a:cs typeface="Arial" panose="020B0604020202020204" pitchFamily="34" charset="0"/>
              </a:rPr>
              <a:t>Glossar</a:t>
            </a:r>
          </a:p>
          <a:p>
            <a:pPr marL="171450" indent="-171450">
              <a:buFont typeface="Wingdings" panose="05000000000000000000" pitchFamily="2" charset="2"/>
              <a:buChar char="§"/>
            </a:pPr>
            <a:r>
              <a:rPr kumimoji="0" lang="de-DE" altLang="de-DE" sz="1200" b="0" i="0" u="none" strike="noStrike" cap="none" normalizeH="0" baseline="0">
                <a:ln>
                  <a:noFill/>
                </a:ln>
                <a:solidFill>
                  <a:schemeClr val="tx1"/>
                </a:solidFill>
                <a:effectLst/>
                <a:latin typeface="Arial" panose="020B0604020202020204" pitchFamily="34" charset="0"/>
                <a:cs typeface="Arial" panose="020B0604020202020204" pitchFamily="34" charset="0"/>
              </a:rPr>
              <a:t>Bildnachweise</a:t>
            </a:r>
          </a:p>
          <a:p>
            <a:pPr marL="171450" indent="-171450">
              <a:buFont typeface="Wingdings" panose="05000000000000000000" pitchFamily="2" charset="2"/>
              <a:buChar char="§"/>
            </a:pPr>
            <a:endParaRPr kumimoji="0" lang="de-DE" altLang="de-DE" sz="1800" b="0" i="0" u="none" strike="noStrike" cap="none" normalizeH="0" baseline="0">
              <a:ln>
                <a:noFill/>
              </a:ln>
              <a:solidFill>
                <a:schemeClr val="tx1"/>
              </a:solidFill>
              <a:effectLst/>
              <a:latin typeface="Arial" panose="020B0604020202020204" pitchFamily="34" charset="0"/>
            </a:endParaRPr>
          </a:p>
        </p:txBody>
      </p:sp>
      <p:sp>
        <p:nvSpPr>
          <p:cNvPr id="11" name="Pfeil: Fünfeck 10">
            <a:extLst>
              <a:ext uri="{FF2B5EF4-FFF2-40B4-BE49-F238E27FC236}">
                <a16:creationId xmlns:a16="http://schemas.microsoft.com/office/drawing/2014/main" id="{80C701F5-8F51-7B03-F27D-7409A90DEF57}"/>
              </a:ext>
            </a:extLst>
          </p:cNvPr>
          <p:cNvSpPr/>
          <p:nvPr/>
        </p:nvSpPr>
        <p:spPr>
          <a:xfrm>
            <a:off x="551384" y="980728"/>
            <a:ext cx="1763688" cy="360040"/>
          </a:xfrm>
          <a:prstGeom prst="homePlate">
            <a:avLst/>
          </a:prstGeom>
          <a:solidFill>
            <a:srgbClr val="4380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400">
                <a:latin typeface="Verdana" panose="020B0604030504040204" pitchFamily="34" charset="0"/>
                <a:ea typeface="Verdana" panose="020B0604030504040204" pitchFamily="34" charset="0"/>
                <a:cs typeface="Verdana" panose="020B0604030504040204" pitchFamily="34" charset="0"/>
              </a:rPr>
              <a:t>Agenda</a:t>
            </a:r>
          </a:p>
        </p:txBody>
      </p:sp>
    </p:spTree>
    <p:extLst>
      <p:ext uri="{BB962C8B-B14F-4D97-AF65-F5344CB8AC3E}">
        <p14:creationId xmlns:p14="http://schemas.microsoft.com/office/powerpoint/2010/main" val="39256136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0" y="476672"/>
            <a:ext cx="12192000" cy="576000"/>
          </a:xfrm>
        </p:spPr>
        <p:txBody>
          <a:bodyPr>
            <a:noAutofit/>
          </a:bodyPr>
          <a:lstStyle/>
          <a:p>
            <a:r>
              <a:rPr kumimoji="0" lang="de-DE" altLang="de-DE" sz="2000" b="1" i="0" u="none" strike="noStrike" cap="none" normalizeH="0" baseline="0">
                <a:ln>
                  <a:noFill/>
                </a:ln>
                <a:solidFill>
                  <a:schemeClr val="tx1"/>
                </a:solidFill>
                <a:effectLst/>
                <a:latin typeface="Arial" panose="020B0604020202020204" pitchFamily="34" charset="0"/>
              </a:rPr>
              <a:t>1️⃣ Ausgangslage - Mediennutzung und Barrierefreiheit</a:t>
            </a:r>
            <a:endParaRPr lang="de-DE" sz="2400" b="1" dirty="0">
              <a:latin typeface="Arial" panose="020B0604020202020204" pitchFamily="34" charset="0"/>
              <a:ea typeface="Verdana" panose="020B0604030504040204" pitchFamily="34" charset="0"/>
              <a:cs typeface="Arial" panose="020B0604020202020204" pitchFamily="34" charset="0"/>
            </a:endParaRPr>
          </a:p>
        </p:txBody>
      </p:sp>
      <p:graphicFrame>
        <p:nvGraphicFramePr>
          <p:cNvPr id="44" name="Tabelle 43"/>
          <p:cNvGraphicFramePr>
            <a:graphicFrameLocks noGrp="1"/>
          </p:cNvGraphicFramePr>
          <p:nvPr>
            <p:extLst>
              <p:ext uri="{D42A27DB-BD31-4B8C-83A1-F6EECF244321}">
                <p14:modId xmlns:p14="http://schemas.microsoft.com/office/powerpoint/2010/main" val="394492477"/>
              </p:ext>
            </p:extLst>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a:solidFill>
                          <a:schemeClr val="bg1"/>
                        </a:solidFill>
                      </a:endParaRPr>
                    </a:p>
                  </a:txBody>
                  <a:tcPr>
                    <a:solidFill>
                      <a:srgbClr val="FFC000"/>
                    </a:solidFill>
                  </a:tcPr>
                </a:tc>
                <a:tc>
                  <a:txBody>
                    <a:bodyPr/>
                    <a:lstStyle/>
                    <a:p>
                      <a:endParaRPr lang="de-DE" sz="1600" dirty="0">
                        <a:solidFill>
                          <a:schemeClr val="bg1"/>
                        </a:solidFill>
                      </a:endParaRPr>
                    </a:p>
                  </a:txBody>
                  <a:tcPr>
                    <a:solidFill>
                      <a:schemeClr val="bg1"/>
                    </a:solidFill>
                  </a:tcPr>
                </a:tc>
                <a:tc>
                  <a:txBody>
                    <a:bodyPr/>
                    <a:lstStyle/>
                    <a:p>
                      <a:endParaRPr lang="de-DE" sz="1600" b="1">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pic>
        <p:nvPicPr>
          <p:cNvPr id="6" name="Grafik 5" descr="Ein Bild, das Text, Screenshot, Diagramm, Schrift enthält.&#10;&#10;KI-generierte Inhalte können fehlerhaft sein.">
            <a:extLst>
              <a:ext uri="{FF2B5EF4-FFF2-40B4-BE49-F238E27FC236}">
                <a16:creationId xmlns:a16="http://schemas.microsoft.com/office/drawing/2014/main" id="{12D12562-3F34-A2F9-14FE-5F05E50ABC26}"/>
              </a:ext>
            </a:extLst>
          </p:cNvPr>
          <p:cNvPicPr>
            <a:picLocks noChangeAspect="1"/>
          </p:cNvPicPr>
          <p:nvPr/>
        </p:nvPicPr>
        <p:blipFill>
          <a:blip r:embed="rId3"/>
          <a:stretch>
            <a:fillRect/>
          </a:stretch>
        </p:blipFill>
        <p:spPr>
          <a:xfrm>
            <a:off x="6451692" y="2060848"/>
            <a:ext cx="5333262" cy="3555508"/>
          </a:xfrm>
          <a:prstGeom prst="rect">
            <a:avLst/>
          </a:prstGeom>
          <a:ln>
            <a:solidFill>
              <a:srgbClr val="438086"/>
            </a:solidFill>
          </a:ln>
        </p:spPr>
      </p:pic>
      <p:sp>
        <p:nvSpPr>
          <p:cNvPr id="8" name="Textfeld 7">
            <a:extLst>
              <a:ext uri="{FF2B5EF4-FFF2-40B4-BE49-F238E27FC236}">
                <a16:creationId xmlns:a16="http://schemas.microsoft.com/office/drawing/2014/main" id="{8AAC14A9-08B7-82D6-CFAD-EECE030AA113}"/>
              </a:ext>
            </a:extLst>
          </p:cNvPr>
          <p:cNvSpPr txBox="1"/>
          <p:nvPr/>
        </p:nvSpPr>
        <p:spPr>
          <a:xfrm>
            <a:off x="479376" y="2060848"/>
            <a:ext cx="5503540" cy="1443152"/>
          </a:xfrm>
          <a:prstGeom prst="rect">
            <a:avLst/>
          </a:prstGeom>
          <a:noFill/>
          <a:ln>
            <a:solidFill>
              <a:srgbClr val="438086"/>
            </a:solidFill>
          </a:ln>
        </p:spPr>
        <p:txBody>
          <a:bodyPr wrap="square">
            <a:spAutoFit/>
          </a:bodyPr>
          <a:lstStyle/>
          <a:p>
            <a:pPr algn="just">
              <a:lnSpc>
                <a:spcPct val="150000"/>
              </a:lnSpc>
            </a:pPr>
            <a:r>
              <a:rPr lang="de-DE" sz="1200">
                <a:latin typeface="Arial" panose="020B0604020202020204" pitchFamily="34" charset="0"/>
                <a:cs typeface="Arial" panose="020B0604020202020204" pitchFamily="34" charset="0"/>
              </a:rPr>
              <a:t>Audiodeskriptionen sind essenziell, um blinden und sehbehinderten Menschen den Zugang zu audiovisuellen Inhalten wie Filmen, Serien und Nachrichten zu ermöglichen. Die manuelle Erstellung dieser Beschreibungen ist jedoch zeit- und kostenintensiv und kann mit dem steigenden Bedarf an barrierefreiem Content kaum Schritt halten.</a:t>
            </a:r>
          </a:p>
        </p:txBody>
      </p:sp>
      <p:sp>
        <p:nvSpPr>
          <p:cNvPr id="9" name="Textfeld 8">
            <a:extLst>
              <a:ext uri="{FF2B5EF4-FFF2-40B4-BE49-F238E27FC236}">
                <a16:creationId xmlns:a16="http://schemas.microsoft.com/office/drawing/2014/main" id="{F8FEE055-6984-21EB-BA28-F6CFB693CC17}"/>
              </a:ext>
            </a:extLst>
          </p:cNvPr>
          <p:cNvSpPr txBox="1"/>
          <p:nvPr/>
        </p:nvSpPr>
        <p:spPr>
          <a:xfrm>
            <a:off x="407368" y="1499416"/>
            <a:ext cx="8136904" cy="307777"/>
          </a:xfrm>
          <a:prstGeom prst="rect">
            <a:avLst/>
          </a:prstGeom>
          <a:noFill/>
        </p:spPr>
        <p:txBody>
          <a:bodyPr wrap="square">
            <a:spAutoFit/>
          </a:bodyPr>
          <a:lstStyle/>
          <a:p>
            <a:r>
              <a:rPr lang="de-DE" sz="1400" b="1">
                <a:latin typeface="Arial" panose="020B0604020202020204" pitchFamily="34" charset="0"/>
                <a:cs typeface="Arial" panose="020B0604020202020204" pitchFamily="34" charset="0"/>
              </a:rPr>
              <a:t>Entwicklung einer KI-Lösung für Audiodeskriptionen</a:t>
            </a:r>
          </a:p>
        </p:txBody>
      </p:sp>
      <p:sp>
        <p:nvSpPr>
          <p:cNvPr id="10" name="Gleichschenkliges Dreieck 9">
            <a:extLst>
              <a:ext uri="{FF2B5EF4-FFF2-40B4-BE49-F238E27FC236}">
                <a16:creationId xmlns:a16="http://schemas.microsoft.com/office/drawing/2014/main" id="{F9EDF81D-1169-A549-7E65-EC908C651D5C}"/>
              </a:ext>
            </a:extLst>
          </p:cNvPr>
          <p:cNvSpPr/>
          <p:nvPr/>
        </p:nvSpPr>
        <p:spPr>
          <a:xfrm rot="5400000">
            <a:off x="409521" y="4520846"/>
            <a:ext cx="432048" cy="252028"/>
          </a:xfrm>
          <a:prstGeom prst="triangle">
            <a:avLst/>
          </a:prstGeom>
          <a:solidFill>
            <a:srgbClr val="488A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feld 10">
            <a:extLst>
              <a:ext uri="{FF2B5EF4-FFF2-40B4-BE49-F238E27FC236}">
                <a16:creationId xmlns:a16="http://schemas.microsoft.com/office/drawing/2014/main" id="{EC05B794-F985-9DFA-B177-CE3D92A9FA43}"/>
              </a:ext>
            </a:extLst>
          </p:cNvPr>
          <p:cNvSpPr txBox="1"/>
          <p:nvPr/>
        </p:nvSpPr>
        <p:spPr>
          <a:xfrm>
            <a:off x="839416" y="3677364"/>
            <a:ext cx="5143500" cy="1938992"/>
          </a:xfrm>
          <a:prstGeom prst="rect">
            <a:avLst/>
          </a:prstGeom>
          <a:noFill/>
          <a:ln>
            <a:solidFill>
              <a:srgbClr val="438086"/>
            </a:solidFill>
          </a:ln>
        </p:spPr>
        <p:txBody>
          <a:bodyPr wrap="square">
            <a:spAutoFit/>
          </a:bodyPr>
          <a:lstStyle/>
          <a:p>
            <a:pPr algn="just">
              <a:buNone/>
            </a:pPr>
            <a:r>
              <a:rPr lang="de-DE" sz="1200">
                <a:latin typeface="Arial" panose="020B0604020202020204" pitchFamily="34" charset="0"/>
                <a:cs typeface="Arial" panose="020B0604020202020204" pitchFamily="34" charset="0"/>
              </a:rPr>
              <a:t>Die aktuelle Forschung zeigt deutlich:</a:t>
            </a:r>
          </a:p>
          <a:p>
            <a:pPr algn="just">
              <a:buNone/>
            </a:pPr>
            <a:br>
              <a:rPr lang="de-DE" sz="1200">
                <a:latin typeface="Arial" panose="020B0604020202020204" pitchFamily="34" charset="0"/>
                <a:cs typeface="Arial" panose="020B0604020202020204" pitchFamily="34" charset="0"/>
              </a:rPr>
            </a:br>
            <a:r>
              <a:rPr lang="de-DE" sz="1200" b="1">
                <a:latin typeface="Arial" panose="020B0604020202020204" pitchFamily="34" charset="0"/>
                <a:cs typeface="Arial" panose="020B0604020202020204" pitchFamily="34" charset="0"/>
              </a:rPr>
              <a:t>Technologische Grundlagen für eine automatisierte Erstellung von Audiodeskriptionen sind vorhanden.</a:t>
            </a:r>
          </a:p>
          <a:p>
            <a:pPr algn="just">
              <a:buNone/>
            </a:pPr>
            <a:endParaRPr lang="de-DE" sz="1200">
              <a:latin typeface="Arial" panose="020B0604020202020204" pitchFamily="34" charset="0"/>
              <a:cs typeface="Arial" panose="020B0604020202020204" pitchFamily="34" charset="0"/>
            </a:endParaRPr>
          </a:p>
          <a:p>
            <a:pPr algn="just"/>
            <a:r>
              <a:rPr lang="de-DE" sz="1200">
                <a:latin typeface="Arial" panose="020B0604020202020204" pitchFamily="34" charset="0"/>
                <a:cs typeface="Arial" panose="020B0604020202020204" pitchFamily="34" charset="0"/>
              </a:rPr>
              <a:t>Mehrere Ansätze sind praxistauglich und kombinierbar – insbesondere durch den Einsatz </a:t>
            </a:r>
            <a:r>
              <a:rPr lang="de-DE" sz="1200" b="1">
                <a:latin typeface="Arial" panose="020B0604020202020204" pitchFamily="34" charset="0"/>
                <a:cs typeface="Arial" panose="020B0604020202020204" pitchFamily="34" charset="0"/>
              </a:rPr>
              <a:t>zero-shot-fähiger Vision-Language-Modelle</a:t>
            </a:r>
            <a:r>
              <a:rPr lang="de-DE" sz="1200">
                <a:latin typeface="Arial" panose="020B0604020202020204" pitchFamily="34" charset="0"/>
                <a:cs typeface="Arial" panose="020B0604020202020204" pitchFamily="34" charset="0"/>
              </a:rPr>
              <a:t>, </a:t>
            </a:r>
            <a:r>
              <a:rPr lang="de-DE" sz="1200" b="1">
                <a:latin typeface="Arial" panose="020B0604020202020204" pitchFamily="34" charset="0"/>
                <a:cs typeface="Arial" panose="020B0604020202020204" pitchFamily="34" charset="0"/>
              </a:rPr>
              <a:t>regelbasiertem Post-Editing</a:t>
            </a:r>
            <a:r>
              <a:rPr lang="de-DE" sz="1200">
                <a:latin typeface="Arial" panose="020B0604020202020204" pitchFamily="34" charset="0"/>
                <a:cs typeface="Arial" panose="020B0604020202020204" pitchFamily="34" charset="0"/>
              </a:rPr>
              <a:t> und </a:t>
            </a:r>
            <a:r>
              <a:rPr lang="de-DE" sz="1200" b="1">
                <a:latin typeface="Arial" panose="020B0604020202020204" pitchFamily="34" charset="0"/>
                <a:cs typeface="Arial" panose="020B0604020202020204" pitchFamily="34" charset="0"/>
              </a:rPr>
              <a:t>modularer Systemarchitektur</a:t>
            </a:r>
            <a:r>
              <a:rPr lang="de-DE" sz="1200">
                <a:latin typeface="Arial" panose="020B0604020202020204" pitchFamily="34" charset="0"/>
                <a:cs typeface="Arial" panose="020B0604020202020204" pitchFamily="34" charset="0"/>
              </a:rPr>
              <a:t>. Damit wird es möglich, den bisherigen manuellen Aufwand erheblich zu reduzieren.</a:t>
            </a:r>
          </a:p>
        </p:txBody>
      </p:sp>
      <p:sp>
        <p:nvSpPr>
          <p:cNvPr id="13" name="Textfeld 12">
            <a:extLst>
              <a:ext uri="{FF2B5EF4-FFF2-40B4-BE49-F238E27FC236}">
                <a16:creationId xmlns:a16="http://schemas.microsoft.com/office/drawing/2014/main" id="{E268691F-06B9-A702-1059-E8F84732523A}"/>
              </a:ext>
            </a:extLst>
          </p:cNvPr>
          <p:cNvSpPr txBox="1"/>
          <p:nvPr/>
        </p:nvSpPr>
        <p:spPr>
          <a:xfrm>
            <a:off x="6451692" y="5677073"/>
            <a:ext cx="3373412" cy="246221"/>
          </a:xfrm>
          <a:prstGeom prst="rect">
            <a:avLst/>
          </a:prstGeom>
          <a:noFill/>
        </p:spPr>
        <p:txBody>
          <a:bodyPr wrap="square">
            <a:spAutoFit/>
          </a:bodyPr>
          <a:lstStyle/>
          <a:p>
            <a:pPr>
              <a:buNone/>
            </a:pPr>
            <a:r>
              <a:rPr lang="de-DE" sz="1000">
                <a:latin typeface="Arial" panose="020B0604020202020204" pitchFamily="34" charset="0"/>
                <a:cs typeface="Arial" panose="020B0604020202020204" pitchFamily="34" charset="0"/>
              </a:rPr>
              <a:t>Quelle: Eigene Darstellung.</a:t>
            </a:r>
          </a:p>
        </p:txBody>
      </p:sp>
      <p:sp>
        <p:nvSpPr>
          <p:cNvPr id="14" name="Textfeld 13">
            <a:extLst>
              <a:ext uri="{FF2B5EF4-FFF2-40B4-BE49-F238E27FC236}">
                <a16:creationId xmlns:a16="http://schemas.microsoft.com/office/drawing/2014/main" id="{CCC9F7C5-DDE7-C22D-A78A-A8A9828D4902}"/>
              </a:ext>
            </a:extLst>
          </p:cNvPr>
          <p:cNvSpPr txBox="1"/>
          <p:nvPr/>
        </p:nvSpPr>
        <p:spPr>
          <a:xfrm>
            <a:off x="10282162" y="5284937"/>
            <a:ext cx="1501204" cy="246221"/>
          </a:xfrm>
          <a:prstGeom prst="rect">
            <a:avLst/>
          </a:prstGeom>
          <a:noFill/>
        </p:spPr>
        <p:txBody>
          <a:bodyPr wrap="square">
            <a:spAutoFit/>
          </a:bodyPr>
          <a:lstStyle/>
          <a:p>
            <a:pPr>
              <a:buNone/>
            </a:pPr>
            <a:r>
              <a:rPr lang="de-DE" sz="1000">
                <a:latin typeface="Arial" panose="020B0604020202020204" pitchFamily="34" charset="0"/>
                <a:cs typeface="Arial" panose="020B0604020202020204" pitchFamily="34" charset="0"/>
              </a:rPr>
              <a:t>AD = Audiodeskription</a:t>
            </a:r>
          </a:p>
        </p:txBody>
      </p:sp>
    </p:spTree>
    <p:extLst>
      <p:ext uri="{BB962C8B-B14F-4D97-AF65-F5344CB8AC3E}">
        <p14:creationId xmlns:p14="http://schemas.microsoft.com/office/powerpoint/2010/main" val="471555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C9108-1CE2-B466-73E9-D3573F7F027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35D0753-5476-20BD-4117-60B65085F6F6}"/>
              </a:ext>
            </a:extLst>
          </p:cNvPr>
          <p:cNvSpPr>
            <a:spLocks noGrp="1"/>
          </p:cNvSpPr>
          <p:nvPr>
            <p:ph type="title"/>
          </p:nvPr>
        </p:nvSpPr>
        <p:spPr>
          <a:xfrm>
            <a:off x="0" y="476672"/>
            <a:ext cx="12192000" cy="576000"/>
          </a:xfrm>
        </p:spPr>
        <p:txBody>
          <a:bodyPr>
            <a:noAutofit/>
          </a:bodyPr>
          <a:lstStyle/>
          <a:p>
            <a:r>
              <a:rPr kumimoji="0" lang="de-DE" altLang="de-DE" sz="2000" b="1" i="0" u="none" strike="noStrike" cap="none" normalizeH="0" baseline="0">
                <a:ln>
                  <a:noFill/>
                </a:ln>
                <a:solidFill>
                  <a:schemeClr val="tx1"/>
                </a:solidFill>
                <a:effectLst/>
                <a:latin typeface="Arial" panose="020B0604020202020204" pitchFamily="34" charset="0"/>
              </a:rPr>
              <a:t>1️⃣ Ausgangslage - Stand der Wissenschaft und technologischer Fortschritt​</a:t>
            </a:r>
            <a:endParaRPr lang="de-DE" sz="2400" b="1" dirty="0">
              <a:latin typeface="Arial" panose="020B0604020202020204" pitchFamily="34" charset="0"/>
              <a:ea typeface="Verdana" panose="020B0604030504040204" pitchFamily="34" charset="0"/>
              <a:cs typeface="Arial" panose="020B0604020202020204" pitchFamily="34" charset="0"/>
            </a:endParaRPr>
          </a:p>
        </p:txBody>
      </p:sp>
      <p:graphicFrame>
        <p:nvGraphicFramePr>
          <p:cNvPr id="44" name="Tabelle 43">
            <a:extLst>
              <a:ext uri="{FF2B5EF4-FFF2-40B4-BE49-F238E27FC236}">
                <a16:creationId xmlns:a16="http://schemas.microsoft.com/office/drawing/2014/main" id="{9E569E89-8594-6474-5E38-BED14EC4E822}"/>
              </a:ext>
            </a:extLst>
          </p:cNvPr>
          <p:cNvGraphicFramePr>
            <a:graphicFrameLocks noGrp="1"/>
          </p:cNvGraphicFramePr>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a:solidFill>
                          <a:schemeClr val="bg1"/>
                        </a:solidFill>
                      </a:endParaRPr>
                    </a:p>
                  </a:txBody>
                  <a:tcPr>
                    <a:solidFill>
                      <a:srgbClr val="FFC000"/>
                    </a:solidFill>
                  </a:tcPr>
                </a:tc>
                <a:tc>
                  <a:txBody>
                    <a:bodyPr/>
                    <a:lstStyle/>
                    <a:p>
                      <a:endParaRPr lang="de-DE" sz="1600" dirty="0">
                        <a:solidFill>
                          <a:schemeClr val="bg1"/>
                        </a:solidFill>
                      </a:endParaRPr>
                    </a:p>
                  </a:txBody>
                  <a:tcPr>
                    <a:solidFill>
                      <a:schemeClr val="bg1"/>
                    </a:solidFill>
                  </a:tcPr>
                </a:tc>
                <a:tc>
                  <a:txBody>
                    <a:bodyPr/>
                    <a:lstStyle/>
                    <a:p>
                      <a:endParaRPr lang="de-DE" sz="1600" b="1">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pic>
        <p:nvPicPr>
          <p:cNvPr id="6" name="Grafik 5">
            <a:extLst>
              <a:ext uri="{FF2B5EF4-FFF2-40B4-BE49-F238E27FC236}">
                <a16:creationId xmlns:a16="http://schemas.microsoft.com/office/drawing/2014/main" id="{498D2FE1-2F82-DF56-9CF9-1E0688F3EA07}"/>
              </a:ext>
            </a:extLst>
          </p:cNvPr>
          <p:cNvPicPr>
            <a:picLocks noChangeAspect="1"/>
          </p:cNvPicPr>
          <p:nvPr/>
        </p:nvPicPr>
        <p:blipFill>
          <a:blip r:embed="rId3"/>
          <a:stretch>
            <a:fillRect/>
          </a:stretch>
        </p:blipFill>
        <p:spPr>
          <a:xfrm>
            <a:off x="479374" y="1913514"/>
            <a:ext cx="11593290" cy="3171670"/>
          </a:xfrm>
          <a:prstGeom prst="rect">
            <a:avLst/>
          </a:prstGeom>
          <a:ln>
            <a:solidFill>
              <a:srgbClr val="438086"/>
            </a:solidFill>
          </a:ln>
        </p:spPr>
      </p:pic>
      <p:sp>
        <p:nvSpPr>
          <p:cNvPr id="8" name="Textfeld 7">
            <a:extLst>
              <a:ext uri="{FF2B5EF4-FFF2-40B4-BE49-F238E27FC236}">
                <a16:creationId xmlns:a16="http://schemas.microsoft.com/office/drawing/2014/main" id="{FB5A0F6D-7F76-ECCA-A5DF-E5827AE92C11}"/>
              </a:ext>
            </a:extLst>
          </p:cNvPr>
          <p:cNvSpPr txBox="1"/>
          <p:nvPr/>
        </p:nvSpPr>
        <p:spPr>
          <a:xfrm>
            <a:off x="407368" y="1499416"/>
            <a:ext cx="8136904" cy="307777"/>
          </a:xfrm>
          <a:prstGeom prst="rect">
            <a:avLst/>
          </a:prstGeom>
          <a:noFill/>
        </p:spPr>
        <p:txBody>
          <a:bodyPr wrap="square">
            <a:spAutoFit/>
          </a:bodyPr>
          <a:lstStyle/>
          <a:p>
            <a:r>
              <a:rPr lang="de-DE" sz="1400" b="1">
                <a:latin typeface="Arial" panose="020B0604020202020204" pitchFamily="34" charset="0"/>
                <a:cs typeface="Arial" panose="020B0604020202020204" pitchFamily="34" charset="0"/>
              </a:rPr>
              <a:t>Systematische Gegenüberstellung aktueller Paper zur visuellen Analyse für Audiodeskription</a:t>
            </a:r>
          </a:p>
        </p:txBody>
      </p:sp>
      <p:sp>
        <p:nvSpPr>
          <p:cNvPr id="9" name="Gleichschenkliges Dreieck 8">
            <a:extLst>
              <a:ext uri="{FF2B5EF4-FFF2-40B4-BE49-F238E27FC236}">
                <a16:creationId xmlns:a16="http://schemas.microsoft.com/office/drawing/2014/main" id="{DECE2A43-1AB2-9610-478D-6B34D3E5FEAE}"/>
              </a:ext>
            </a:extLst>
          </p:cNvPr>
          <p:cNvSpPr/>
          <p:nvPr/>
        </p:nvSpPr>
        <p:spPr>
          <a:xfrm rot="5400000">
            <a:off x="389364" y="5886349"/>
            <a:ext cx="432048" cy="252028"/>
          </a:xfrm>
          <a:prstGeom prst="triangle">
            <a:avLst/>
          </a:prstGeom>
          <a:solidFill>
            <a:srgbClr val="488A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Rectangle 3">
            <a:extLst>
              <a:ext uri="{FF2B5EF4-FFF2-40B4-BE49-F238E27FC236}">
                <a16:creationId xmlns:a16="http://schemas.microsoft.com/office/drawing/2014/main" id="{42E45C66-D9EE-C4B8-636D-D7A7E0C7CD71}"/>
              </a:ext>
            </a:extLst>
          </p:cNvPr>
          <p:cNvSpPr>
            <a:spLocks noChangeArrowheads="1"/>
          </p:cNvSpPr>
          <p:nvPr/>
        </p:nvSpPr>
        <p:spPr bwMode="auto">
          <a:xfrm>
            <a:off x="839416" y="5427587"/>
            <a:ext cx="11089232"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de-DE" altLang="de-DE" sz="1000" b="0" i="0" u="none" strike="noStrike" cap="none" normalizeH="0" baseline="0">
                <a:ln>
                  <a:noFill/>
                </a:ln>
                <a:solidFill>
                  <a:schemeClr val="tx1"/>
                </a:solidFill>
                <a:effectLst/>
                <a:latin typeface="Arial" panose="020B0604020202020204" pitchFamily="34" charset="0"/>
              </a:rPr>
              <a:t>Die vergleichende Analyse zeigt, dass mehrere aktuelle Modelle zur automatisierten Audiodeskription bereits praxisnah einsetzbar sind. Besonders das Framework von Gao et al. (2024) bietet eine tragfähige Struktur zur Systementwicklung. Modelle wie </a:t>
            </a:r>
            <a:r>
              <a:rPr kumimoji="0" lang="de-DE" altLang="de-DE" sz="1000" b="1" i="0" u="none" strike="noStrike" cap="none" normalizeH="0" baseline="0">
                <a:ln>
                  <a:noFill/>
                </a:ln>
                <a:solidFill>
                  <a:schemeClr val="tx1"/>
                </a:solidFill>
                <a:effectLst/>
                <a:latin typeface="Arial" panose="020B0604020202020204" pitchFamily="34" charset="0"/>
              </a:rPr>
              <a:t>AutoAD III</a:t>
            </a:r>
            <a:r>
              <a:rPr kumimoji="0" lang="de-DE" altLang="de-DE" sz="1000" b="0" i="0" u="none" strike="noStrike" cap="none" normalizeH="0" baseline="0">
                <a:ln>
                  <a:noFill/>
                </a:ln>
                <a:solidFill>
                  <a:schemeClr val="tx1"/>
                </a:solidFill>
                <a:effectLst/>
                <a:latin typeface="Arial" panose="020B0604020202020204" pitchFamily="34" charset="0"/>
              </a:rPr>
              <a:t> und </a:t>
            </a:r>
            <a:r>
              <a:rPr kumimoji="0" lang="de-DE" altLang="de-DE" sz="1000" b="1" i="0" u="none" strike="noStrike" cap="none" normalizeH="0" baseline="0">
                <a:ln>
                  <a:noFill/>
                </a:ln>
                <a:solidFill>
                  <a:schemeClr val="tx1"/>
                </a:solidFill>
                <a:effectLst/>
                <a:latin typeface="Arial" panose="020B0604020202020204" pitchFamily="34" charset="0"/>
              </a:rPr>
              <a:t>AutoAD-Zero</a:t>
            </a:r>
            <a:r>
              <a:rPr kumimoji="0" lang="de-DE" altLang="de-DE" sz="1000" b="0" i="0" u="none" strike="noStrike" cap="none" normalizeH="0" baseline="0">
                <a:ln>
                  <a:noFill/>
                </a:ln>
                <a:solidFill>
                  <a:schemeClr val="tx1"/>
                </a:solidFill>
                <a:effectLst/>
                <a:latin typeface="Arial" panose="020B0604020202020204" pitchFamily="34" charset="0"/>
              </a:rPr>
              <a:t> eignen sich als direkte Grundlage – letzteres insbesondere durch seinen zero-shot-Ansatz bei geringem Trainingsaufwand. Ergänzende Arbeiten wie </a:t>
            </a:r>
            <a:r>
              <a:rPr kumimoji="0" lang="de-DE" altLang="de-DE" sz="1000" b="1" i="0" u="none" strike="noStrike" cap="none" normalizeH="0" baseline="0">
                <a:ln>
                  <a:noFill/>
                </a:ln>
                <a:solidFill>
                  <a:schemeClr val="tx1"/>
                </a:solidFill>
                <a:effectLst/>
                <a:latin typeface="Arial" panose="020B0604020202020204" pitchFamily="34" charset="0"/>
              </a:rPr>
              <a:t>LLaVA-MR</a:t>
            </a:r>
            <a:r>
              <a:rPr kumimoji="0" lang="de-DE" altLang="de-DE" sz="1000" b="0" i="0" u="none" strike="noStrike" cap="none" normalizeH="0" baseline="0">
                <a:ln>
                  <a:noFill/>
                </a:ln>
                <a:solidFill>
                  <a:schemeClr val="tx1"/>
                </a:solidFill>
                <a:effectLst/>
                <a:latin typeface="Arial" panose="020B0604020202020204" pitchFamily="34" charset="0"/>
              </a:rPr>
              <a:t> oder </a:t>
            </a:r>
            <a:r>
              <a:rPr kumimoji="0" lang="de-DE" altLang="de-DE" sz="1000" b="1" i="0" u="none" strike="noStrike" cap="none" normalizeH="0" baseline="0">
                <a:ln>
                  <a:noFill/>
                </a:ln>
                <a:solidFill>
                  <a:schemeClr val="tx1"/>
                </a:solidFill>
                <a:effectLst/>
                <a:latin typeface="Arial" panose="020B0604020202020204" pitchFamily="34" charset="0"/>
              </a:rPr>
              <a:t>VidChain</a:t>
            </a:r>
            <a:r>
              <a:rPr kumimoji="0" lang="de-DE" altLang="de-DE" sz="1000" b="0" i="0" u="none" strike="noStrike" cap="none" normalizeH="0" baseline="0">
                <a:ln>
                  <a:noFill/>
                </a:ln>
                <a:solidFill>
                  <a:schemeClr val="tx1"/>
                </a:solidFill>
                <a:effectLst/>
                <a:latin typeface="Arial" panose="020B0604020202020204" pitchFamily="34" charset="0"/>
              </a:rPr>
              <a:t> adressieren Teilaspekte wie Zeitmarkenerkennung und Ereignisverkettung und können zur Optimierung einzelner Module herangezogen werden.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de-DE" altLang="de-DE" sz="1000" b="0" i="0" u="none" strike="noStrike" cap="none" normalizeH="0" baseline="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de-DE" altLang="de-DE" sz="1000" b="0" i="0" u="none" strike="noStrike" cap="none" normalizeH="0" baseline="0">
                <a:ln>
                  <a:noFill/>
                </a:ln>
                <a:solidFill>
                  <a:schemeClr val="tx1"/>
                </a:solidFill>
                <a:effectLst/>
                <a:latin typeface="Arial" panose="020B0604020202020204" pitchFamily="34" charset="0"/>
              </a:rPr>
              <a:t>Insgesamt ist ein Prototyp auf Basis existierender Open-Source-Komponenten mit vertretbarem Aufwand umsetzbar. Empfohlen wird auf Basis verfügbarer paper eine Kombination aus </a:t>
            </a:r>
            <a:r>
              <a:rPr kumimoji="0" lang="de-DE" altLang="de-DE" sz="1000" b="1" i="0" u="none" strike="noStrike" cap="none" normalizeH="0" baseline="0">
                <a:ln>
                  <a:noFill/>
                </a:ln>
                <a:solidFill>
                  <a:schemeClr val="tx1"/>
                </a:solidFill>
                <a:effectLst/>
                <a:latin typeface="Arial" panose="020B0604020202020204" pitchFamily="34" charset="0"/>
              </a:rPr>
              <a:t>zero-shot Captioning</a:t>
            </a:r>
            <a:r>
              <a:rPr kumimoji="0" lang="de-DE" altLang="de-DE" sz="1000" b="0" i="0" u="none" strike="noStrike" cap="none" normalizeH="0" baseline="0">
                <a:ln>
                  <a:noFill/>
                </a:ln>
                <a:solidFill>
                  <a:schemeClr val="tx1"/>
                </a:solidFill>
                <a:effectLst/>
                <a:latin typeface="Arial" panose="020B0604020202020204" pitchFamily="34" charset="0"/>
              </a:rPr>
              <a:t>, </a:t>
            </a:r>
            <a:r>
              <a:rPr kumimoji="0" lang="de-DE" altLang="de-DE" sz="1000" b="1" i="0" u="none" strike="noStrike" cap="none" normalizeH="0" baseline="0">
                <a:ln>
                  <a:noFill/>
                </a:ln>
                <a:solidFill>
                  <a:schemeClr val="tx1"/>
                </a:solidFill>
                <a:effectLst/>
                <a:latin typeface="Arial" panose="020B0604020202020204" pitchFamily="34" charset="0"/>
              </a:rPr>
              <a:t>regelbasiertem Post-Editing</a:t>
            </a:r>
            <a:r>
              <a:rPr kumimoji="0" lang="de-DE" altLang="de-DE" sz="1000" b="0" i="0" u="none" strike="noStrike" cap="none" normalizeH="0" baseline="0">
                <a:ln>
                  <a:noFill/>
                </a:ln>
                <a:solidFill>
                  <a:schemeClr val="tx1"/>
                </a:solidFill>
                <a:effectLst/>
                <a:latin typeface="Arial" panose="020B0604020202020204" pitchFamily="34" charset="0"/>
              </a:rPr>
              <a:t> und </a:t>
            </a:r>
            <a:r>
              <a:rPr kumimoji="0" lang="de-DE" altLang="de-DE" sz="1000" b="1" i="0" u="none" strike="noStrike" cap="none" normalizeH="0" baseline="0">
                <a:ln>
                  <a:noFill/>
                </a:ln>
                <a:solidFill>
                  <a:schemeClr val="tx1"/>
                </a:solidFill>
                <a:effectLst/>
                <a:latin typeface="Arial" panose="020B0604020202020204" pitchFamily="34" charset="0"/>
              </a:rPr>
              <a:t>nutzerzentrierter Evaluation</a:t>
            </a:r>
            <a:r>
              <a:rPr kumimoji="0" lang="de-DE" altLang="de-DE" sz="1000" b="0" i="0" u="none" strike="noStrike" cap="none" normalizeH="0" baseline="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2198933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elle 43">
            <a:extLst>
              <a:ext uri="{FF2B5EF4-FFF2-40B4-BE49-F238E27FC236}">
                <a16:creationId xmlns:a16="http://schemas.microsoft.com/office/drawing/2014/main" id="{D0C400BB-09BD-3E17-70A5-06A821838AEC}"/>
              </a:ext>
            </a:extLst>
          </p:cNvPr>
          <p:cNvGraphicFramePr>
            <a:graphicFrameLocks noGrp="1"/>
          </p:cNvGraphicFramePr>
          <p:nvPr>
            <p:extLst>
              <p:ext uri="{D42A27DB-BD31-4B8C-83A1-F6EECF244321}">
                <p14:modId xmlns:p14="http://schemas.microsoft.com/office/powerpoint/2010/main" val="477210767"/>
              </p:ext>
            </p:extLst>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a:solidFill>
                          <a:schemeClr val="bg1"/>
                        </a:solidFill>
                      </a:endParaRPr>
                    </a:p>
                  </a:txBody>
                  <a:tcPr>
                    <a:solidFill>
                      <a:srgbClr val="438086"/>
                    </a:solidFill>
                  </a:tcPr>
                </a:tc>
                <a:tc>
                  <a:txBody>
                    <a:bodyPr/>
                    <a:lstStyle/>
                    <a:p>
                      <a:endParaRPr lang="de-DE" sz="1600" dirty="0">
                        <a:solidFill>
                          <a:schemeClr val="bg1"/>
                        </a:solidFill>
                      </a:endParaRPr>
                    </a:p>
                  </a:txBody>
                  <a:tcPr>
                    <a:solidFill>
                      <a:srgbClr val="FFC000"/>
                    </a:solidFill>
                  </a:tcPr>
                </a:tc>
                <a:tc>
                  <a:txBody>
                    <a:bodyPr/>
                    <a:lstStyle/>
                    <a:p>
                      <a:endParaRPr lang="de-DE" sz="1600" b="1">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sp>
        <p:nvSpPr>
          <p:cNvPr id="19" name="Titel 1">
            <a:extLst>
              <a:ext uri="{FF2B5EF4-FFF2-40B4-BE49-F238E27FC236}">
                <a16:creationId xmlns:a16="http://schemas.microsoft.com/office/drawing/2014/main" id="{71ECED2B-BEDC-4033-205E-E54D660F836C}"/>
              </a:ext>
            </a:extLst>
          </p:cNvPr>
          <p:cNvSpPr>
            <a:spLocks noGrp="1"/>
          </p:cNvSpPr>
          <p:nvPr>
            <p:ph type="title"/>
          </p:nvPr>
        </p:nvSpPr>
        <p:spPr>
          <a:xfrm>
            <a:off x="0" y="476672"/>
            <a:ext cx="12192000" cy="576000"/>
          </a:xfrm>
        </p:spPr>
        <p:txBody>
          <a:bodyPr>
            <a:noAutofit/>
          </a:bodyPr>
          <a:lstStyle/>
          <a:p>
            <a:r>
              <a:rPr kumimoji="0" lang="de-DE" altLang="de-DE" sz="2000" b="1" i="0" u="none" strike="noStrike" cap="none" normalizeH="0" baseline="0">
                <a:ln>
                  <a:noFill/>
                </a:ln>
                <a:solidFill>
                  <a:schemeClr val="tx1"/>
                </a:solidFill>
                <a:effectLst/>
                <a:latin typeface="Arial" panose="020B0604020202020204" pitchFamily="34" charset="0"/>
              </a:rPr>
              <a:t>2️⃣ Data Pipeline - Eingabe &amp; Vorverarbeitung</a:t>
            </a:r>
            <a:endParaRPr lang="de-DE" sz="2000" b="1" dirty="0">
              <a:latin typeface="Arial" panose="020B0604020202020204" pitchFamily="34" charset="0"/>
              <a:ea typeface="Verdana" panose="020B0604030504040204" pitchFamily="34" charset="0"/>
              <a:cs typeface="Arial" panose="020B0604020202020204" pitchFamily="34" charset="0"/>
            </a:endParaRPr>
          </a:p>
        </p:txBody>
      </p:sp>
      <p:sp>
        <p:nvSpPr>
          <p:cNvPr id="7" name="Textfeld 6">
            <a:extLst>
              <a:ext uri="{FF2B5EF4-FFF2-40B4-BE49-F238E27FC236}">
                <a16:creationId xmlns:a16="http://schemas.microsoft.com/office/drawing/2014/main" id="{C9996FEF-6C68-0266-5C78-6EBFDB0D5977}"/>
              </a:ext>
            </a:extLst>
          </p:cNvPr>
          <p:cNvSpPr txBox="1"/>
          <p:nvPr/>
        </p:nvSpPr>
        <p:spPr>
          <a:xfrm>
            <a:off x="407368" y="1499416"/>
            <a:ext cx="8136904" cy="307777"/>
          </a:xfrm>
          <a:prstGeom prst="rect">
            <a:avLst/>
          </a:prstGeom>
          <a:noFill/>
        </p:spPr>
        <p:txBody>
          <a:bodyPr wrap="square">
            <a:spAutoFit/>
          </a:bodyPr>
          <a:lstStyle/>
          <a:p>
            <a:r>
              <a:rPr lang="de-DE" sz="1400" b="1">
                <a:latin typeface="Arial" panose="020B0604020202020204" pitchFamily="34" charset="0"/>
                <a:cs typeface="Arial" panose="020B0604020202020204" pitchFamily="34" charset="0"/>
              </a:rPr>
              <a:t>Eingabe- und Vorverarbeitungsstufe für KI-gestützte Audiodeskription</a:t>
            </a:r>
          </a:p>
        </p:txBody>
      </p:sp>
      <p:grpSp>
        <p:nvGrpSpPr>
          <p:cNvPr id="85" name="Gruppieren 84">
            <a:extLst>
              <a:ext uri="{FF2B5EF4-FFF2-40B4-BE49-F238E27FC236}">
                <a16:creationId xmlns:a16="http://schemas.microsoft.com/office/drawing/2014/main" id="{B3FEC42E-EE21-78FE-B12A-BD4BFEE1799D}"/>
              </a:ext>
            </a:extLst>
          </p:cNvPr>
          <p:cNvGrpSpPr/>
          <p:nvPr/>
        </p:nvGrpSpPr>
        <p:grpSpPr>
          <a:xfrm>
            <a:off x="479376" y="1914265"/>
            <a:ext cx="7632848" cy="4139248"/>
            <a:chOff x="335360" y="2132856"/>
            <a:chExt cx="7632848" cy="4106703"/>
          </a:xfrm>
        </p:grpSpPr>
        <p:sp>
          <p:nvSpPr>
            <p:cNvPr id="9" name="Rounded Rectangle 2">
              <a:extLst>
                <a:ext uri="{FF2B5EF4-FFF2-40B4-BE49-F238E27FC236}">
                  <a16:creationId xmlns:a16="http://schemas.microsoft.com/office/drawing/2014/main" id="{DBE3DD8A-8F33-6680-AA90-89B366851079}"/>
                </a:ext>
              </a:extLst>
            </p:cNvPr>
            <p:cNvSpPr/>
            <p:nvPr/>
          </p:nvSpPr>
          <p:spPr>
            <a:xfrm>
              <a:off x="457201" y="2248565"/>
              <a:ext cx="1887488" cy="536029"/>
            </a:xfrm>
            <a:prstGeom prst="roundRect">
              <a:avLst/>
            </a:prstGeom>
            <a:solidFill>
              <a:srgbClr val="C4D8D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solidFill>
                  <a:schemeClr val="tx1"/>
                </a:solidFill>
                <a:latin typeface="Arial" panose="020B0604020202020204" pitchFamily="34" charset="0"/>
                <a:cs typeface="Arial" panose="020B0604020202020204" pitchFamily="34" charset="0"/>
              </a:endParaRPr>
            </a:p>
            <a:p>
              <a:pPr>
                <a:defRPr sz="1600" b="1">
                  <a:solidFill>
                    <a:srgbClr val="212121"/>
                  </a:solidFill>
                </a:defRPr>
              </a:pPr>
              <a:r>
                <a:rPr sz="1000">
                  <a:solidFill>
                    <a:schemeClr val="tx1"/>
                  </a:solidFill>
                  <a:latin typeface="Arial" panose="020B0604020202020204" pitchFamily="34" charset="0"/>
                  <a:cs typeface="Arial" panose="020B0604020202020204" pitchFamily="34" charset="0"/>
                </a:rPr>
                <a:t>📽️ Video (MP4, MXF)</a:t>
              </a:r>
            </a:p>
            <a:p>
              <a:pPr>
                <a:defRPr sz="1200">
                  <a:solidFill>
                    <a:srgbClr val="212121"/>
                  </a:solidFill>
                </a:defRPr>
              </a:pPr>
              <a:r>
                <a:rPr sz="1000">
                  <a:solidFill>
                    <a:schemeClr val="tx1"/>
                  </a:solidFill>
                  <a:latin typeface="Arial" panose="020B0604020202020204" pitchFamily="34" charset="0"/>
                  <a:cs typeface="Arial" panose="020B0604020202020204" pitchFamily="34" charset="0"/>
                </a:rPr>
                <a:t>Videodateien</a:t>
              </a:r>
            </a:p>
          </p:txBody>
        </p:sp>
        <p:sp>
          <p:nvSpPr>
            <p:cNvPr id="10" name="Rounded Rectangle 3">
              <a:extLst>
                <a:ext uri="{FF2B5EF4-FFF2-40B4-BE49-F238E27FC236}">
                  <a16:creationId xmlns:a16="http://schemas.microsoft.com/office/drawing/2014/main" id="{EF52DC4E-E59D-E5DA-A703-32C5B379BDDD}"/>
                </a:ext>
              </a:extLst>
            </p:cNvPr>
            <p:cNvSpPr/>
            <p:nvPr/>
          </p:nvSpPr>
          <p:spPr>
            <a:xfrm>
              <a:off x="3200401" y="2248565"/>
              <a:ext cx="1887488" cy="536029"/>
            </a:xfrm>
            <a:prstGeom prst="roundRect">
              <a:avLst/>
            </a:prstGeom>
            <a:solidFill>
              <a:srgbClr val="C4D8D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solidFill>
                  <a:schemeClr val="tx1"/>
                </a:solidFill>
                <a:latin typeface="Arial" panose="020B0604020202020204" pitchFamily="34" charset="0"/>
                <a:cs typeface="Arial" panose="020B0604020202020204" pitchFamily="34" charset="0"/>
              </a:endParaRPr>
            </a:p>
            <a:p>
              <a:pPr>
                <a:defRPr sz="1600" b="1">
                  <a:solidFill>
                    <a:srgbClr val="212121"/>
                  </a:solidFill>
                </a:defRPr>
              </a:pPr>
              <a:r>
                <a:rPr sz="1000">
                  <a:solidFill>
                    <a:schemeClr val="tx1"/>
                  </a:solidFill>
                  <a:latin typeface="Arial" panose="020B0604020202020204" pitchFamily="34" charset="0"/>
                  <a:cs typeface="Arial" panose="020B0604020202020204" pitchFamily="34" charset="0"/>
                </a:rPr>
                <a:t>🎵 Audio (WAV)</a:t>
              </a:r>
            </a:p>
            <a:p>
              <a:pPr>
                <a:defRPr sz="1200">
                  <a:solidFill>
                    <a:srgbClr val="212121"/>
                  </a:solidFill>
                </a:defRPr>
              </a:pPr>
              <a:r>
                <a:rPr sz="1000">
                  <a:solidFill>
                    <a:schemeClr val="tx1"/>
                  </a:solidFill>
                  <a:latin typeface="Arial" panose="020B0604020202020204" pitchFamily="34" charset="0"/>
                  <a:cs typeface="Arial" panose="020B0604020202020204" pitchFamily="34" charset="0"/>
                </a:rPr>
                <a:t>Audiodateien</a:t>
              </a:r>
            </a:p>
          </p:txBody>
        </p:sp>
        <p:sp>
          <p:nvSpPr>
            <p:cNvPr id="11" name="Rounded Rectangle 4">
              <a:extLst>
                <a:ext uri="{FF2B5EF4-FFF2-40B4-BE49-F238E27FC236}">
                  <a16:creationId xmlns:a16="http://schemas.microsoft.com/office/drawing/2014/main" id="{B194A6C5-9F4D-97D9-66FF-CDE78FAF5C24}"/>
                </a:ext>
              </a:extLst>
            </p:cNvPr>
            <p:cNvSpPr/>
            <p:nvPr/>
          </p:nvSpPr>
          <p:spPr>
            <a:xfrm>
              <a:off x="5943601" y="2248565"/>
              <a:ext cx="1887488" cy="536029"/>
            </a:xfrm>
            <a:prstGeom prst="roundRect">
              <a:avLst/>
            </a:prstGeom>
            <a:solidFill>
              <a:srgbClr val="C4D8D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solidFill>
                  <a:schemeClr val="tx1"/>
                </a:solidFill>
                <a:latin typeface="Arial" panose="020B0604020202020204" pitchFamily="34" charset="0"/>
                <a:cs typeface="Arial" panose="020B0604020202020204" pitchFamily="34" charset="0"/>
              </a:endParaRPr>
            </a:p>
            <a:p>
              <a:pPr>
                <a:defRPr sz="1600" b="1">
                  <a:solidFill>
                    <a:srgbClr val="212121"/>
                  </a:solidFill>
                </a:defRPr>
              </a:pPr>
              <a:r>
                <a:rPr sz="1000">
                  <a:solidFill>
                    <a:schemeClr val="tx1"/>
                  </a:solidFill>
                  <a:latin typeface="Arial" panose="020B0604020202020204" pitchFamily="34" charset="0"/>
                  <a:cs typeface="Arial" panose="020B0604020202020204" pitchFamily="34" charset="0"/>
                </a:rPr>
                <a:t>📂 Metadaten (XML, JSON)</a:t>
              </a:r>
            </a:p>
            <a:p>
              <a:pPr>
                <a:defRPr sz="1200">
                  <a:solidFill>
                    <a:srgbClr val="212121"/>
                  </a:solidFill>
                </a:defRPr>
              </a:pPr>
              <a:r>
                <a:rPr sz="1000">
                  <a:solidFill>
                    <a:schemeClr val="tx1"/>
                  </a:solidFill>
                  <a:latin typeface="Arial" panose="020B0604020202020204" pitchFamily="34" charset="0"/>
                  <a:cs typeface="Arial" panose="020B0604020202020204" pitchFamily="34" charset="0"/>
                </a:rPr>
                <a:t>Strukturdaten</a:t>
              </a:r>
            </a:p>
          </p:txBody>
        </p:sp>
        <p:sp>
          <p:nvSpPr>
            <p:cNvPr id="12" name="Rounded Rectangle 5">
              <a:extLst>
                <a:ext uri="{FF2B5EF4-FFF2-40B4-BE49-F238E27FC236}">
                  <a16:creationId xmlns:a16="http://schemas.microsoft.com/office/drawing/2014/main" id="{E1FCAD99-DA49-C220-F97E-641059A823C4}"/>
                </a:ext>
              </a:extLst>
            </p:cNvPr>
            <p:cNvSpPr/>
            <p:nvPr/>
          </p:nvSpPr>
          <p:spPr>
            <a:xfrm>
              <a:off x="460479" y="3293108"/>
              <a:ext cx="1887488" cy="536029"/>
            </a:xfrm>
            <a:prstGeom prst="roundRect">
              <a:avLst/>
            </a:prstGeom>
            <a:solidFill>
              <a:srgbClr val="C4D8D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solidFill>
                  <a:schemeClr val="tx1"/>
                </a:solidFill>
                <a:latin typeface="Arial" panose="020B0604020202020204" pitchFamily="34" charset="0"/>
                <a:cs typeface="Arial" panose="020B0604020202020204" pitchFamily="34" charset="0"/>
              </a:endParaRPr>
            </a:p>
            <a:p>
              <a:pPr>
                <a:defRPr sz="1600" b="1">
                  <a:solidFill>
                    <a:srgbClr val="FFFFFF"/>
                  </a:solidFill>
                </a:defRPr>
              </a:pPr>
              <a:r>
                <a:rPr sz="1000">
                  <a:solidFill>
                    <a:schemeClr val="tx1"/>
                  </a:solidFill>
                  <a:latin typeface="Arial" panose="020B0604020202020204" pitchFamily="34" charset="0"/>
                  <a:cs typeface="Arial" panose="020B0604020202020204" pitchFamily="34" charset="0"/>
                </a:rPr>
                <a:t>📷 Frame-Extraktion</a:t>
              </a:r>
            </a:p>
            <a:p>
              <a:pPr>
                <a:defRPr sz="1200">
                  <a:solidFill>
                    <a:srgbClr val="FFFFFF"/>
                  </a:solidFill>
                </a:defRPr>
              </a:pPr>
              <a:r>
                <a:rPr sz="1000">
                  <a:solidFill>
                    <a:schemeClr val="tx1"/>
                  </a:solidFill>
                  <a:latin typeface="Arial" panose="020B0604020202020204" pitchFamily="34" charset="0"/>
                  <a:cs typeface="Arial" panose="020B0604020202020204" pitchFamily="34" charset="0"/>
                </a:rPr>
                <a:t>Frames + Zeitstempel</a:t>
              </a:r>
            </a:p>
          </p:txBody>
        </p:sp>
        <p:sp>
          <p:nvSpPr>
            <p:cNvPr id="13" name="Rounded Rectangle 6">
              <a:extLst>
                <a:ext uri="{FF2B5EF4-FFF2-40B4-BE49-F238E27FC236}">
                  <a16:creationId xmlns:a16="http://schemas.microsoft.com/office/drawing/2014/main" id="{A52BFF74-FB38-A2BE-B7E6-0C4D46B17FC5}"/>
                </a:ext>
              </a:extLst>
            </p:cNvPr>
            <p:cNvSpPr/>
            <p:nvPr/>
          </p:nvSpPr>
          <p:spPr>
            <a:xfrm>
              <a:off x="3202567" y="3293107"/>
              <a:ext cx="1887488" cy="536029"/>
            </a:xfrm>
            <a:prstGeom prst="roundRect">
              <a:avLst/>
            </a:prstGeom>
            <a:solidFill>
              <a:srgbClr val="C4D8D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solidFill>
                  <a:schemeClr val="tx1"/>
                </a:solidFill>
                <a:latin typeface="Arial" panose="020B0604020202020204" pitchFamily="34" charset="0"/>
                <a:cs typeface="Arial" panose="020B0604020202020204" pitchFamily="34" charset="0"/>
              </a:endParaRPr>
            </a:p>
            <a:p>
              <a:pPr>
                <a:defRPr sz="1600" b="1">
                  <a:solidFill>
                    <a:srgbClr val="FFFFFF"/>
                  </a:solidFill>
                </a:defRPr>
              </a:pPr>
              <a:r>
                <a:rPr sz="1000">
                  <a:solidFill>
                    <a:schemeClr val="tx1"/>
                  </a:solidFill>
                  <a:latin typeface="Arial" panose="020B0604020202020204" pitchFamily="34" charset="0"/>
                  <a:cs typeface="Arial" panose="020B0604020202020204" pitchFamily="34" charset="0"/>
                </a:rPr>
                <a:t>🎧 Audioanalyse</a:t>
              </a:r>
            </a:p>
            <a:p>
              <a:pPr>
                <a:defRPr sz="1200">
                  <a:solidFill>
                    <a:srgbClr val="FFFFFF"/>
                  </a:solidFill>
                </a:defRPr>
              </a:pPr>
              <a:r>
                <a:rPr sz="1000">
                  <a:solidFill>
                    <a:schemeClr val="tx1"/>
                  </a:solidFill>
                  <a:latin typeface="Arial" panose="020B0604020202020204" pitchFamily="34" charset="0"/>
                  <a:cs typeface="Arial" panose="020B0604020202020204" pitchFamily="34" charset="0"/>
                </a:rPr>
                <a:t>Stille-/Lautstärkeprofile</a:t>
              </a:r>
            </a:p>
          </p:txBody>
        </p:sp>
        <p:sp>
          <p:nvSpPr>
            <p:cNvPr id="14" name="Rounded Rectangle 7">
              <a:extLst>
                <a:ext uri="{FF2B5EF4-FFF2-40B4-BE49-F238E27FC236}">
                  <a16:creationId xmlns:a16="http://schemas.microsoft.com/office/drawing/2014/main" id="{15DF539C-DA8D-4BA6-3059-E2141920CD72}"/>
                </a:ext>
              </a:extLst>
            </p:cNvPr>
            <p:cNvSpPr/>
            <p:nvPr/>
          </p:nvSpPr>
          <p:spPr>
            <a:xfrm>
              <a:off x="5943601" y="3289997"/>
              <a:ext cx="1887488" cy="536029"/>
            </a:xfrm>
            <a:prstGeom prst="roundRect">
              <a:avLst/>
            </a:prstGeom>
            <a:solidFill>
              <a:srgbClr val="C4D8D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solidFill>
                  <a:schemeClr val="tx1"/>
                </a:solidFill>
                <a:latin typeface="Arial" panose="020B0604020202020204" pitchFamily="34" charset="0"/>
                <a:cs typeface="Arial" panose="020B0604020202020204" pitchFamily="34" charset="0"/>
              </a:endParaRPr>
            </a:p>
            <a:p>
              <a:pPr>
                <a:defRPr sz="1600" b="1">
                  <a:solidFill>
                    <a:srgbClr val="FFFFFF"/>
                  </a:solidFill>
                </a:defRPr>
              </a:pPr>
              <a:r>
                <a:rPr sz="1000">
                  <a:solidFill>
                    <a:schemeClr val="tx1"/>
                  </a:solidFill>
                  <a:latin typeface="Arial" panose="020B0604020202020204" pitchFamily="34" charset="0"/>
                  <a:cs typeface="Arial" panose="020B0604020202020204" pitchFamily="34" charset="0"/>
                </a:rPr>
                <a:t>📑 Metadaten-Parsing</a:t>
              </a:r>
            </a:p>
            <a:p>
              <a:pPr>
                <a:defRPr sz="1200">
                  <a:solidFill>
                    <a:srgbClr val="FFFFFF"/>
                  </a:solidFill>
                </a:defRPr>
              </a:pPr>
              <a:r>
                <a:rPr sz="1000">
                  <a:solidFill>
                    <a:schemeClr val="tx1"/>
                  </a:solidFill>
                  <a:latin typeface="Arial" panose="020B0604020202020204" pitchFamily="34" charset="0"/>
                  <a:cs typeface="Arial" panose="020B0604020202020204" pitchFamily="34" charset="0"/>
                </a:rPr>
                <a:t>Kapitel, Inhalte, Rechte</a:t>
              </a:r>
            </a:p>
          </p:txBody>
        </p:sp>
        <p:sp>
          <p:nvSpPr>
            <p:cNvPr id="15" name="Rounded Rectangle 8">
              <a:extLst>
                <a:ext uri="{FF2B5EF4-FFF2-40B4-BE49-F238E27FC236}">
                  <a16:creationId xmlns:a16="http://schemas.microsoft.com/office/drawing/2014/main" id="{61B12D43-1EA9-A5B0-0102-6CEEDBEE7AA9}"/>
                </a:ext>
              </a:extLst>
            </p:cNvPr>
            <p:cNvSpPr/>
            <p:nvPr/>
          </p:nvSpPr>
          <p:spPr>
            <a:xfrm>
              <a:off x="1879510" y="4514779"/>
              <a:ext cx="4152473" cy="536029"/>
            </a:xfrm>
            <a:prstGeom prst="roundRect">
              <a:avLst/>
            </a:prstGeom>
            <a:solidFill>
              <a:srgbClr val="C4D8D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solidFill>
                  <a:schemeClr val="tx1"/>
                </a:solidFill>
                <a:latin typeface="Arial" panose="020B0604020202020204" pitchFamily="34" charset="0"/>
                <a:cs typeface="Arial" panose="020B0604020202020204" pitchFamily="34" charset="0"/>
              </a:endParaRPr>
            </a:p>
            <a:p>
              <a:pPr>
                <a:defRPr sz="1600" b="1">
                  <a:solidFill>
                    <a:srgbClr val="FFFFFF"/>
                  </a:solidFill>
                </a:defRPr>
              </a:pPr>
              <a:r>
                <a:rPr sz="1000">
                  <a:solidFill>
                    <a:schemeClr val="tx1"/>
                  </a:solidFill>
                  <a:latin typeface="Arial" panose="020B0604020202020204" pitchFamily="34" charset="0"/>
                  <a:cs typeface="Arial" panose="020B0604020202020204" pitchFamily="34" charset="0"/>
                </a:rPr>
                <a:t>♻️ Synchronisation</a:t>
              </a:r>
            </a:p>
            <a:p>
              <a:pPr>
                <a:defRPr sz="1200">
                  <a:solidFill>
                    <a:srgbClr val="FFFFFF"/>
                  </a:solidFill>
                </a:defRPr>
              </a:pPr>
              <a:r>
                <a:rPr sz="1000">
                  <a:solidFill>
                    <a:schemeClr val="tx1"/>
                  </a:solidFill>
                  <a:latin typeface="Arial" panose="020B0604020202020204" pitchFamily="34" charset="0"/>
                  <a:cs typeface="Arial" panose="020B0604020202020204" pitchFamily="34" charset="0"/>
                </a:rPr>
                <a:t>Bild-, Audio-, Metadatenabgleich</a:t>
              </a:r>
            </a:p>
          </p:txBody>
        </p:sp>
        <p:sp>
          <p:nvSpPr>
            <p:cNvPr id="16" name="Rounded Rectangle 9">
              <a:extLst>
                <a:ext uri="{FF2B5EF4-FFF2-40B4-BE49-F238E27FC236}">
                  <a16:creationId xmlns:a16="http://schemas.microsoft.com/office/drawing/2014/main" id="{44BD7B35-33F4-91E5-0931-A26DFE88F52C}"/>
                </a:ext>
              </a:extLst>
            </p:cNvPr>
            <p:cNvSpPr/>
            <p:nvPr/>
          </p:nvSpPr>
          <p:spPr>
            <a:xfrm>
              <a:off x="1879510" y="5546710"/>
              <a:ext cx="4152473" cy="536029"/>
            </a:xfrm>
            <a:prstGeom prst="roundRect">
              <a:avLst/>
            </a:prstGeom>
            <a:solidFill>
              <a:srgbClr val="C4D8D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a:solidFill>
                  <a:schemeClr val="tx1"/>
                </a:solidFill>
                <a:latin typeface="Arial" panose="020B0604020202020204" pitchFamily="34" charset="0"/>
                <a:cs typeface="Arial" panose="020B0604020202020204" pitchFamily="34" charset="0"/>
              </a:endParaRPr>
            </a:p>
            <a:p>
              <a:pPr>
                <a:defRPr sz="1600" b="1">
                  <a:solidFill>
                    <a:srgbClr val="212121"/>
                  </a:solidFill>
                </a:defRPr>
              </a:pPr>
              <a:r>
                <a:rPr sz="1000">
                  <a:solidFill>
                    <a:schemeClr val="tx1"/>
                  </a:solidFill>
                  <a:latin typeface="Arial" panose="020B0604020202020204" pitchFamily="34" charset="0"/>
                  <a:cs typeface="Arial" panose="020B0604020202020204" pitchFamily="34" charset="0"/>
                </a:rPr>
                <a:t>📂 Vorverarbeitete Datenpakete</a:t>
              </a:r>
            </a:p>
            <a:p>
              <a:pPr>
                <a:defRPr sz="1200">
                  <a:solidFill>
                    <a:srgbClr val="212121"/>
                  </a:solidFill>
                </a:defRPr>
              </a:pPr>
              <a:r>
                <a:rPr sz="1000">
                  <a:solidFill>
                    <a:schemeClr val="tx1"/>
                  </a:solidFill>
                  <a:latin typeface="Arial" panose="020B0604020202020204" pitchFamily="34" charset="0"/>
                  <a:cs typeface="Arial" panose="020B0604020202020204" pitchFamily="34" charset="0"/>
                </a:rPr>
                <a:t>Frames + Audiosegmente + Kontextdaten</a:t>
              </a:r>
            </a:p>
          </p:txBody>
        </p:sp>
        <p:cxnSp>
          <p:nvCxnSpPr>
            <p:cNvPr id="27" name="Gerade Verbindung mit Pfeil 26">
              <a:extLst>
                <a:ext uri="{FF2B5EF4-FFF2-40B4-BE49-F238E27FC236}">
                  <a16:creationId xmlns:a16="http://schemas.microsoft.com/office/drawing/2014/main" id="{525DE968-2E77-8BDC-AA1B-576A0E589BD3}"/>
                </a:ext>
              </a:extLst>
            </p:cNvPr>
            <p:cNvCxnSpPr>
              <a:cxnSpLocks/>
              <a:stCxn id="9" idx="2"/>
              <a:endCxn id="12" idx="0"/>
            </p:cNvCxnSpPr>
            <p:nvPr/>
          </p:nvCxnSpPr>
          <p:spPr>
            <a:xfrm>
              <a:off x="1400945" y="2784594"/>
              <a:ext cx="3278" cy="5085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Gerade Verbindung mit Pfeil 28">
              <a:extLst>
                <a:ext uri="{FF2B5EF4-FFF2-40B4-BE49-F238E27FC236}">
                  <a16:creationId xmlns:a16="http://schemas.microsoft.com/office/drawing/2014/main" id="{DF40E789-8397-386B-D496-F6E4C2317866}"/>
                </a:ext>
              </a:extLst>
            </p:cNvPr>
            <p:cNvCxnSpPr>
              <a:cxnSpLocks/>
              <a:stCxn id="10" idx="2"/>
              <a:endCxn id="13" idx="0"/>
            </p:cNvCxnSpPr>
            <p:nvPr/>
          </p:nvCxnSpPr>
          <p:spPr>
            <a:xfrm>
              <a:off x="4144145" y="2784594"/>
              <a:ext cx="2166" cy="5085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Gerade Verbindung mit Pfeil 30">
              <a:extLst>
                <a:ext uri="{FF2B5EF4-FFF2-40B4-BE49-F238E27FC236}">
                  <a16:creationId xmlns:a16="http://schemas.microsoft.com/office/drawing/2014/main" id="{26BAD445-2CC4-0331-149C-8B698E35FCE9}"/>
                </a:ext>
              </a:extLst>
            </p:cNvPr>
            <p:cNvCxnSpPr>
              <a:cxnSpLocks/>
              <a:stCxn id="11" idx="2"/>
              <a:endCxn id="14" idx="0"/>
            </p:cNvCxnSpPr>
            <p:nvPr/>
          </p:nvCxnSpPr>
          <p:spPr>
            <a:xfrm>
              <a:off x="6887345" y="2784594"/>
              <a:ext cx="0" cy="5054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Verbinder: gekrümmt 32">
              <a:extLst>
                <a:ext uri="{FF2B5EF4-FFF2-40B4-BE49-F238E27FC236}">
                  <a16:creationId xmlns:a16="http://schemas.microsoft.com/office/drawing/2014/main" id="{33C3055C-E3ED-445F-71E0-CF10AF12A34B}"/>
                </a:ext>
              </a:extLst>
            </p:cNvPr>
            <p:cNvCxnSpPr>
              <a:cxnSpLocks/>
              <a:stCxn id="12" idx="2"/>
              <a:endCxn id="15" idx="0"/>
            </p:cNvCxnSpPr>
            <p:nvPr/>
          </p:nvCxnSpPr>
          <p:spPr>
            <a:xfrm rot="16200000" flipH="1">
              <a:off x="2337164" y="2896196"/>
              <a:ext cx="685642" cy="2551524"/>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Verbinder: gekrümmt 34">
              <a:extLst>
                <a:ext uri="{FF2B5EF4-FFF2-40B4-BE49-F238E27FC236}">
                  <a16:creationId xmlns:a16="http://schemas.microsoft.com/office/drawing/2014/main" id="{240DC3D3-96A4-A16E-3412-35976CCD5C30}"/>
                </a:ext>
              </a:extLst>
            </p:cNvPr>
            <p:cNvCxnSpPr>
              <a:cxnSpLocks/>
              <a:stCxn id="13" idx="2"/>
              <a:endCxn id="15" idx="0"/>
            </p:cNvCxnSpPr>
            <p:nvPr/>
          </p:nvCxnSpPr>
          <p:spPr>
            <a:xfrm rot="5400000">
              <a:off x="3708208" y="4076675"/>
              <a:ext cx="685643" cy="190564"/>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Verbinder: gekrümmt 40">
              <a:extLst>
                <a:ext uri="{FF2B5EF4-FFF2-40B4-BE49-F238E27FC236}">
                  <a16:creationId xmlns:a16="http://schemas.microsoft.com/office/drawing/2014/main" id="{2DAD0C12-9DC1-14AE-A3AB-009EA59AE980}"/>
                </a:ext>
              </a:extLst>
            </p:cNvPr>
            <p:cNvCxnSpPr>
              <a:cxnSpLocks/>
              <a:stCxn id="14" idx="2"/>
              <a:endCxn id="15" idx="0"/>
            </p:cNvCxnSpPr>
            <p:nvPr/>
          </p:nvCxnSpPr>
          <p:spPr>
            <a:xfrm rot="5400000">
              <a:off x="5077170" y="2704603"/>
              <a:ext cx="688753" cy="2931598"/>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Gerade Verbindung mit Pfeil 42">
              <a:extLst>
                <a:ext uri="{FF2B5EF4-FFF2-40B4-BE49-F238E27FC236}">
                  <a16:creationId xmlns:a16="http://schemas.microsoft.com/office/drawing/2014/main" id="{B40614E8-3085-AE91-367B-29D8BBA7EDA1}"/>
                </a:ext>
              </a:extLst>
            </p:cNvPr>
            <p:cNvCxnSpPr>
              <a:cxnSpLocks/>
              <a:stCxn id="15" idx="2"/>
              <a:endCxn id="16" idx="0"/>
            </p:cNvCxnSpPr>
            <p:nvPr/>
          </p:nvCxnSpPr>
          <p:spPr>
            <a:xfrm>
              <a:off x="3955747" y="5050808"/>
              <a:ext cx="0" cy="4959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Rechteck 75">
              <a:extLst>
                <a:ext uri="{FF2B5EF4-FFF2-40B4-BE49-F238E27FC236}">
                  <a16:creationId xmlns:a16="http://schemas.microsoft.com/office/drawing/2014/main" id="{9108F29D-851B-5800-7804-395A854BB1BE}"/>
                </a:ext>
              </a:extLst>
            </p:cNvPr>
            <p:cNvSpPr/>
            <p:nvPr/>
          </p:nvSpPr>
          <p:spPr>
            <a:xfrm>
              <a:off x="335360" y="2132856"/>
              <a:ext cx="7632848" cy="4106703"/>
            </a:xfrm>
            <a:prstGeom prst="rect">
              <a:avLst/>
            </a:prstGeom>
            <a:solidFill>
              <a:srgbClr val="438086">
                <a:alpha val="16863"/>
              </a:srgbClr>
            </a:solidFill>
            <a:ln>
              <a:solidFill>
                <a:srgbClr val="4380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86" name="Textfeld 85">
            <a:extLst>
              <a:ext uri="{FF2B5EF4-FFF2-40B4-BE49-F238E27FC236}">
                <a16:creationId xmlns:a16="http://schemas.microsoft.com/office/drawing/2014/main" id="{3B2EFB8D-EEC4-40E1-F511-204463D092EF}"/>
              </a:ext>
            </a:extLst>
          </p:cNvPr>
          <p:cNvSpPr txBox="1"/>
          <p:nvPr/>
        </p:nvSpPr>
        <p:spPr>
          <a:xfrm>
            <a:off x="8400256" y="1913513"/>
            <a:ext cx="3312368" cy="4140000"/>
          </a:xfrm>
          <a:prstGeom prst="rect">
            <a:avLst/>
          </a:prstGeom>
          <a:noFill/>
          <a:ln>
            <a:solidFill>
              <a:srgbClr val="438086"/>
            </a:solidFill>
          </a:ln>
        </p:spPr>
        <p:txBody>
          <a:bodyPr wrap="square" rtlCol="0">
            <a:spAutoFit/>
          </a:bodyPr>
          <a:lstStyle/>
          <a:p>
            <a:pPr algn="just">
              <a:buNone/>
            </a:pPr>
            <a:r>
              <a:rPr lang="de-DE" sz="1050">
                <a:latin typeface="Arial" panose="020B0604020202020204" pitchFamily="34" charset="0"/>
                <a:cs typeface="Arial" panose="020B0604020202020204" pitchFamily="34" charset="0"/>
              </a:rPr>
              <a:t>In der Vorverarbeitungsphase werden Video-, Audio- und Metadatenquellen getrennt aufbereitet und synchronisiert, um eine strukturierte Grundlage für die KI-gestützte Analyse zu schaffen.</a:t>
            </a:r>
          </a:p>
          <a:p>
            <a:pPr algn="just">
              <a:buNone/>
            </a:pPr>
            <a:endParaRPr lang="de-DE" sz="1050">
              <a:latin typeface="Arial" panose="020B0604020202020204" pitchFamily="34" charset="0"/>
              <a:cs typeface="Arial" panose="020B0604020202020204" pitchFamily="34" charset="0"/>
            </a:endParaRPr>
          </a:p>
          <a:p>
            <a:pPr marL="171450" indent="-171450" algn="just">
              <a:buFont typeface="Wingdings" panose="05000000000000000000" pitchFamily="2" charset="2"/>
              <a:buChar char="§"/>
            </a:pPr>
            <a:r>
              <a:rPr lang="de-DE" sz="1050">
                <a:latin typeface="Arial" panose="020B0604020202020204" pitchFamily="34" charset="0"/>
                <a:cs typeface="Arial" panose="020B0604020202020204" pitchFamily="34" charset="0"/>
              </a:rPr>
              <a:t>Aus Videodateien werden über die </a:t>
            </a:r>
            <a:r>
              <a:rPr lang="de-DE" sz="1050" b="1">
                <a:latin typeface="Arial" panose="020B0604020202020204" pitchFamily="34" charset="0"/>
                <a:cs typeface="Arial" panose="020B0604020202020204" pitchFamily="34" charset="0"/>
              </a:rPr>
              <a:t>Frame-Extraktion</a:t>
            </a:r>
            <a:r>
              <a:rPr lang="de-DE" sz="1050">
                <a:latin typeface="Arial" panose="020B0604020202020204" pitchFamily="34" charset="0"/>
                <a:cs typeface="Arial" panose="020B0604020202020204" pitchFamily="34" charset="0"/>
              </a:rPr>
              <a:t> Einzelbilder mit präziser Zeitreferenz erzeugt.</a:t>
            </a:r>
          </a:p>
          <a:p>
            <a:pPr marL="171450" indent="-171450" algn="just">
              <a:buFont typeface="Wingdings" panose="05000000000000000000" pitchFamily="2" charset="2"/>
              <a:buChar char="§"/>
            </a:pPr>
            <a:r>
              <a:rPr lang="de-DE" sz="1050">
                <a:latin typeface="Arial" panose="020B0604020202020204" pitchFamily="34" charset="0"/>
                <a:cs typeface="Arial" panose="020B0604020202020204" pitchFamily="34" charset="0"/>
              </a:rPr>
              <a:t>Audiodateien werden durch </a:t>
            </a:r>
            <a:r>
              <a:rPr lang="de-DE" sz="1050" b="1">
                <a:latin typeface="Arial" panose="020B0604020202020204" pitchFamily="34" charset="0"/>
                <a:cs typeface="Arial" panose="020B0604020202020204" pitchFamily="34" charset="0"/>
              </a:rPr>
              <a:t>Audioanalyse</a:t>
            </a:r>
            <a:r>
              <a:rPr lang="de-DE" sz="1050">
                <a:latin typeface="Arial" panose="020B0604020202020204" pitchFamily="34" charset="0"/>
                <a:cs typeface="Arial" panose="020B0604020202020204" pitchFamily="34" charset="0"/>
              </a:rPr>
              <a:t> in Lautstärke- und Stilleprofile segmentiert.</a:t>
            </a:r>
          </a:p>
          <a:p>
            <a:pPr marL="171450" indent="-171450" algn="just">
              <a:buFont typeface="Wingdings" panose="05000000000000000000" pitchFamily="2" charset="2"/>
              <a:buChar char="§"/>
            </a:pPr>
            <a:r>
              <a:rPr lang="de-DE" sz="1050">
                <a:latin typeface="Arial" panose="020B0604020202020204" pitchFamily="34" charset="0"/>
                <a:cs typeface="Arial" panose="020B0604020202020204" pitchFamily="34" charset="0"/>
              </a:rPr>
              <a:t>Metadaten wie Kapitelstrukturen und Rechteinformationen werden mittels </a:t>
            </a:r>
            <a:r>
              <a:rPr lang="de-DE" sz="1050" b="1">
                <a:latin typeface="Arial" panose="020B0604020202020204" pitchFamily="34" charset="0"/>
                <a:cs typeface="Arial" panose="020B0604020202020204" pitchFamily="34" charset="0"/>
              </a:rPr>
              <a:t>Parsing</a:t>
            </a:r>
            <a:r>
              <a:rPr lang="de-DE" sz="1050">
                <a:latin typeface="Arial" panose="020B0604020202020204" pitchFamily="34" charset="0"/>
                <a:cs typeface="Arial" panose="020B0604020202020204" pitchFamily="34" charset="0"/>
              </a:rPr>
              <a:t> extrahiert und strukturiert.</a:t>
            </a:r>
          </a:p>
          <a:p>
            <a:pPr algn="just"/>
            <a:endParaRPr lang="de-DE" sz="1050">
              <a:latin typeface="Arial" panose="020B0604020202020204" pitchFamily="34" charset="0"/>
              <a:cs typeface="Arial" panose="020B0604020202020204" pitchFamily="34" charset="0"/>
            </a:endParaRPr>
          </a:p>
          <a:p>
            <a:pPr algn="just">
              <a:buNone/>
            </a:pPr>
            <a:r>
              <a:rPr lang="de-DE" sz="1050">
                <a:latin typeface="Arial" panose="020B0604020202020204" pitchFamily="34" charset="0"/>
                <a:cs typeface="Arial" panose="020B0604020202020204" pitchFamily="34" charset="0"/>
              </a:rPr>
              <a:t>Anschließend erfolgt eine umfassende </a:t>
            </a:r>
            <a:r>
              <a:rPr lang="de-DE" sz="1050" b="1">
                <a:latin typeface="Arial" panose="020B0604020202020204" pitchFamily="34" charset="0"/>
                <a:cs typeface="Arial" panose="020B0604020202020204" pitchFamily="34" charset="0"/>
              </a:rPr>
              <a:t>Synchronisation</a:t>
            </a:r>
            <a:r>
              <a:rPr lang="de-DE" sz="1050">
                <a:latin typeface="Arial" panose="020B0604020202020204" pitchFamily="34" charset="0"/>
                <a:cs typeface="Arial" panose="020B0604020202020204" pitchFamily="34" charset="0"/>
              </a:rPr>
              <a:t>: Die extrahierten Bild-, Ton- und Kontextdaten werden zeitlich und inhaltlich aufeinander abgestimmt.</a:t>
            </a:r>
          </a:p>
          <a:p>
            <a:pPr algn="just">
              <a:buNone/>
            </a:pPr>
            <a:endParaRPr lang="de-DE" sz="1050">
              <a:latin typeface="Arial" panose="020B0604020202020204" pitchFamily="34" charset="0"/>
              <a:cs typeface="Arial" panose="020B0604020202020204" pitchFamily="34" charset="0"/>
            </a:endParaRPr>
          </a:p>
          <a:p>
            <a:pPr algn="just"/>
            <a:r>
              <a:rPr lang="de-DE" sz="1050">
                <a:latin typeface="Arial" panose="020B0604020202020204" pitchFamily="34" charset="0"/>
                <a:cs typeface="Arial" panose="020B0604020202020204" pitchFamily="34" charset="0"/>
              </a:rPr>
              <a:t>Das Ergebnis sind </a:t>
            </a:r>
            <a:r>
              <a:rPr lang="de-DE" sz="1050" b="1">
                <a:latin typeface="Arial" panose="020B0604020202020204" pitchFamily="34" charset="0"/>
                <a:cs typeface="Arial" panose="020B0604020202020204" pitchFamily="34" charset="0"/>
              </a:rPr>
              <a:t>vorverarbeitete Datenpakete</a:t>
            </a:r>
            <a:r>
              <a:rPr lang="de-DE" sz="1050">
                <a:latin typeface="Arial" panose="020B0604020202020204" pitchFamily="34" charset="0"/>
                <a:cs typeface="Arial" panose="020B0604020202020204" pitchFamily="34" charset="0"/>
              </a:rPr>
              <a:t>, die synchronisierte Frames, Audiosegmente und Kontextinformationen enthalten. Diese Pakete bilden die robuste Grundlage für die nachfolgende visuelle Analyse, Caption-Generierung und Optimierungs-schritte.</a:t>
            </a:r>
          </a:p>
        </p:txBody>
      </p:sp>
      <p:sp>
        <p:nvSpPr>
          <p:cNvPr id="87" name="Textfeld 86">
            <a:extLst>
              <a:ext uri="{FF2B5EF4-FFF2-40B4-BE49-F238E27FC236}">
                <a16:creationId xmlns:a16="http://schemas.microsoft.com/office/drawing/2014/main" id="{42A7672C-6763-BD07-4D23-7EB777321C02}"/>
              </a:ext>
            </a:extLst>
          </p:cNvPr>
          <p:cNvSpPr txBox="1"/>
          <p:nvPr/>
        </p:nvSpPr>
        <p:spPr>
          <a:xfrm>
            <a:off x="407368" y="6093296"/>
            <a:ext cx="3373412" cy="246221"/>
          </a:xfrm>
          <a:prstGeom prst="rect">
            <a:avLst/>
          </a:prstGeom>
          <a:noFill/>
        </p:spPr>
        <p:txBody>
          <a:bodyPr wrap="square">
            <a:spAutoFit/>
          </a:bodyPr>
          <a:lstStyle/>
          <a:p>
            <a:pPr>
              <a:buNone/>
            </a:pPr>
            <a:r>
              <a:rPr lang="de-DE" sz="1000">
                <a:latin typeface="Arial" panose="020B0604020202020204" pitchFamily="34" charset="0"/>
                <a:cs typeface="Arial" panose="020B0604020202020204" pitchFamily="34" charset="0"/>
              </a:rPr>
              <a:t>Quelle: Eigene Darstellung.</a:t>
            </a:r>
          </a:p>
        </p:txBody>
      </p:sp>
    </p:spTree>
    <p:extLst>
      <p:ext uri="{BB962C8B-B14F-4D97-AF65-F5344CB8AC3E}">
        <p14:creationId xmlns:p14="http://schemas.microsoft.com/office/powerpoint/2010/main" val="2148771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F2159-77DA-D525-89F2-5D4A44D62487}"/>
            </a:ext>
          </a:extLst>
        </p:cNvPr>
        <p:cNvGrpSpPr/>
        <p:nvPr/>
      </p:nvGrpSpPr>
      <p:grpSpPr>
        <a:xfrm>
          <a:off x="0" y="0"/>
          <a:ext cx="0" cy="0"/>
          <a:chOff x="0" y="0"/>
          <a:chExt cx="0" cy="0"/>
        </a:xfrm>
      </p:grpSpPr>
      <p:graphicFrame>
        <p:nvGraphicFramePr>
          <p:cNvPr id="4" name="Tabelle 43">
            <a:extLst>
              <a:ext uri="{FF2B5EF4-FFF2-40B4-BE49-F238E27FC236}">
                <a16:creationId xmlns:a16="http://schemas.microsoft.com/office/drawing/2014/main" id="{C320BB4C-3048-B098-7E21-AF514E4A168D}"/>
              </a:ext>
            </a:extLst>
          </p:cNvPr>
          <p:cNvGraphicFramePr>
            <a:graphicFrameLocks noGrp="1"/>
          </p:cNvGraphicFramePr>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a:solidFill>
                          <a:schemeClr val="bg1"/>
                        </a:solidFill>
                      </a:endParaRPr>
                    </a:p>
                  </a:txBody>
                  <a:tcPr>
                    <a:solidFill>
                      <a:srgbClr val="438086"/>
                    </a:solidFill>
                  </a:tcPr>
                </a:tc>
                <a:tc>
                  <a:txBody>
                    <a:bodyPr/>
                    <a:lstStyle/>
                    <a:p>
                      <a:endParaRPr lang="de-DE" sz="1600" dirty="0">
                        <a:solidFill>
                          <a:schemeClr val="bg1"/>
                        </a:solidFill>
                      </a:endParaRPr>
                    </a:p>
                  </a:txBody>
                  <a:tcPr>
                    <a:solidFill>
                      <a:srgbClr val="FFC000"/>
                    </a:solidFill>
                  </a:tcPr>
                </a:tc>
                <a:tc>
                  <a:txBody>
                    <a:bodyPr/>
                    <a:lstStyle/>
                    <a:p>
                      <a:endParaRPr lang="de-DE" sz="1600" b="1">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sp>
        <p:nvSpPr>
          <p:cNvPr id="19" name="Titel 1">
            <a:extLst>
              <a:ext uri="{FF2B5EF4-FFF2-40B4-BE49-F238E27FC236}">
                <a16:creationId xmlns:a16="http://schemas.microsoft.com/office/drawing/2014/main" id="{6B91B476-1BA2-7F1F-D277-AEB1B8C85645}"/>
              </a:ext>
            </a:extLst>
          </p:cNvPr>
          <p:cNvSpPr>
            <a:spLocks noGrp="1"/>
          </p:cNvSpPr>
          <p:nvPr>
            <p:ph type="title"/>
          </p:nvPr>
        </p:nvSpPr>
        <p:spPr>
          <a:xfrm>
            <a:off x="0" y="476672"/>
            <a:ext cx="12192000" cy="576000"/>
          </a:xfrm>
        </p:spPr>
        <p:txBody>
          <a:bodyPr>
            <a:noAutofit/>
          </a:bodyPr>
          <a:lstStyle/>
          <a:p>
            <a:r>
              <a:rPr kumimoji="0" lang="de-DE" altLang="de-DE" sz="2000" b="1" i="0" u="none" strike="noStrike" cap="none" normalizeH="0" baseline="0">
                <a:ln>
                  <a:noFill/>
                </a:ln>
                <a:solidFill>
                  <a:schemeClr val="tx1"/>
                </a:solidFill>
                <a:effectLst/>
                <a:latin typeface="Arial" panose="020B0604020202020204" pitchFamily="34" charset="0"/>
              </a:rPr>
              <a:t>2️⃣ Data Pipeline - Visuelle Analyse &amp; Beschreibung</a:t>
            </a:r>
            <a:endParaRPr lang="de-DE" sz="2000" b="1" dirty="0">
              <a:latin typeface="Arial" panose="020B0604020202020204" pitchFamily="34" charset="0"/>
              <a:ea typeface="Verdana" panose="020B0604030504040204" pitchFamily="34" charset="0"/>
              <a:cs typeface="Arial" panose="020B0604020202020204" pitchFamily="34" charset="0"/>
            </a:endParaRPr>
          </a:p>
        </p:txBody>
      </p:sp>
      <p:grpSp>
        <p:nvGrpSpPr>
          <p:cNvPr id="11" name="Gruppieren 10">
            <a:extLst>
              <a:ext uri="{FF2B5EF4-FFF2-40B4-BE49-F238E27FC236}">
                <a16:creationId xmlns:a16="http://schemas.microsoft.com/office/drawing/2014/main" id="{77DB97F8-D43C-7E8A-1861-F22D418DFB43}"/>
              </a:ext>
            </a:extLst>
          </p:cNvPr>
          <p:cNvGrpSpPr/>
          <p:nvPr/>
        </p:nvGrpSpPr>
        <p:grpSpPr>
          <a:xfrm>
            <a:off x="1169343" y="1913513"/>
            <a:ext cx="3528392" cy="4320480"/>
            <a:chOff x="3431704" y="1700808"/>
            <a:chExt cx="3528392" cy="4320480"/>
          </a:xfrm>
        </p:grpSpPr>
        <p:sp>
          <p:nvSpPr>
            <p:cNvPr id="3" name="Rounded Rectangle 2">
              <a:extLst>
                <a:ext uri="{FF2B5EF4-FFF2-40B4-BE49-F238E27FC236}">
                  <a16:creationId xmlns:a16="http://schemas.microsoft.com/office/drawing/2014/main" id="{2162B855-C4A2-51B1-CAEB-6788B3D59016}"/>
                </a:ext>
              </a:extLst>
            </p:cNvPr>
            <p:cNvSpPr/>
            <p:nvPr/>
          </p:nvSpPr>
          <p:spPr>
            <a:xfrm>
              <a:off x="3540299" y="1792779"/>
              <a:ext cx="3280792" cy="404584"/>
            </a:xfrm>
            <a:prstGeom prst="roundRect">
              <a:avLst/>
            </a:prstGeom>
            <a:solidFill>
              <a:schemeClr val="accent6">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defRPr sz="1400" b="1">
                  <a:solidFill>
                    <a:srgbClr val="212121"/>
                  </a:solidFill>
                </a:defRPr>
              </a:pPr>
              <a:r>
                <a:rPr sz="1050">
                  <a:solidFill>
                    <a:schemeClr val="tx1"/>
                  </a:solidFill>
                  <a:latin typeface="Arial" panose="020B0604020202020204" pitchFamily="34" charset="0"/>
                  <a:cs typeface="Arial" panose="020B0604020202020204" pitchFamily="34" charset="0"/>
                </a:rPr>
                <a:t>📂 Vorverarbeitete Datenpakete</a:t>
              </a:r>
            </a:p>
            <a:p>
              <a:pPr>
                <a:defRPr sz="1400">
                  <a:solidFill>
                    <a:srgbClr val="212121"/>
                  </a:solidFill>
                </a:defRPr>
              </a:pPr>
              <a:r>
                <a:rPr sz="1050">
                  <a:solidFill>
                    <a:schemeClr val="tx1"/>
                  </a:solidFill>
                  <a:latin typeface="Arial" panose="020B0604020202020204" pitchFamily="34" charset="0"/>
                  <a:cs typeface="Arial" panose="020B0604020202020204" pitchFamily="34" charset="0"/>
                </a:rPr>
                <a:t>Frames, Audiodaten, Metadaten</a:t>
              </a:r>
            </a:p>
          </p:txBody>
        </p:sp>
        <p:sp>
          <p:nvSpPr>
            <p:cNvPr id="5" name="Rounded Rectangle 3">
              <a:extLst>
                <a:ext uri="{FF2B5EF4-FFF2-40B4-BE49-F238E27FC236}">
                  <a16:creationId xmlns:a16="http://schemas.microsoft.com/office/drawing/2014/main" id="{EF1EE441-054C-AC25-24D3-9E248E032DEF}"/>
                </a:ext>
              </a:extLst>
            </p:cNvPr>
            <p:cNvSpPr/>
            <p:nvPr/>
          </p:nvSpPr>
          <p:spPr>
            <a:xfrm>
              <a:off x="3540299" y="2537711"/>
              <a:ext cx="3280792" cy="404584"/>
            </a:xfrm>
            <a:prstGeom prst="roundRect">
              <a:avLst/>
            </a:prstGeom>
            <a:solidFill>
              <a:schemeClr val="accent6">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defRPr sz="1400" b="1">
                  <a:solidFill>
                    <a:srgbClr val="FFFFFF"/>
                  </a:solidFill>
                </a:defRPr>
              </a:pPr>
              <a:r>
                <a:rPr sz="1050">
                  <a:solidFill>
                    <a:schemeClr val="tx1"/>
                  </a:solidFill>
                  <a:latin typeface="Arial" panose="020B0604020202020204" pitchFamily="34" charset="0"/>
                  <a:cs typeface="Arial" panose="020B0604020202020204" pitchFamily="34" charset="0"/>
                </a:rPr>
                <a:t>🎥 Szenenerkennung</a:t>
              </a:r>
            </a:p>
            <a:p>
              <a:pPr>
                <a:defRPr sz="1400">
                  <a:solidFill>
                    <a:srgbClr val="FFFFFF"/>
                  </a:solidFill>
                </a:defRPr>
              </a:pPr>
              <a:r>
                <a:rPr sz="1050">
                  <a:solidFill>
                    <a:schemeClr val="tx1"/>
                  </a:solidFill>
                  <a:latin typeface="Arial" panose="020B0604020202020204" pitchFamily="34" charset="0"/>
                  <a:cs typeface="Arial" panose="020B0604020202020204" pitchFamily="34" charset="0"/>
                </a:rPr>
                <a:t>Visuelle Segmentierung</a:t>
              </a:r>
            </a:p>
          </p:txBody>
        </p:sp>
        <p:sp>
          <p:nvSpPr>
            <p:cNvPr id="6" name="Rounded Rectangle 4">
              <a:extLst>
                <a:ext uri="{FF2B5EF4-FFF2-40B4-BE49-F238E27FC236}">
                  <a16:creationId xmlns:a16="http://schemas.microsoft.com/office/drawing/2014/main" id="{9C3998BA-1517-0C74-B684-27D4B6EFE0EC}"/>
                </a:ext>
              </a:extLst>
            </p:cNvPr>
            <p:cNvSpPr/>
            <p:nvPr/>
          </p:nvSpPr>
          <p:spPr>
            <a:xfrm>
              <a:off x="3540299" y="3277895"/>
              <a:ext cx="3280792" cy="404584"/>
            </a:xfrm>
            <a:prstGeom prst="roundRect">
              <a:avLst/>
            </a:prstGeom>
            <a:solidFill>
              <a:schemeClr val="accent6">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defRPr sz="1400" b="1">
                  <a:solidFill>
                    <a:srgbClr val="FFFFFF"/>
                  </a:solidFill>
                </a:defRPr>
              </a:pPr>
              <a:r>
                <a:rPr sz="1050">
                  <a:solidFill>
                    <a:schemeClr val="tx1"/>
                  </a:solidFill>
                  <a:latin typeface="Arial" panose="020B0604020202020204" pitchFamily="34" charset="0"/>
                  <a:cs typeface="Arial" panose="020B0604020202020204" pitchFamily="34" charset="0"/>
                </a:rPr>
                <a:t>🧠 Objekt- &amp; Kontextanalyse</a:t>
              </a:r>
            </a:p>
            <a:p>
              <a:pPr>
                <a:defRPr sz="1400">
                  <a:solidFill>
                    <a:srgbClr val="FFFFFF"/>
                  </a:solidFill>
                </a:defRPr>
              </a:pPr>
              <a:r>
                <a:rPr sz="1050">
                  <a:solidFill>
                    <a:schemeClr val="tx1"/>
                  </a:solidFill>
                  <a:latin typeface="Arial" panose="020B0604020202020204" pitchFamily="34" charset="0"/>
                  <a:cs typeface="Arial" panose="020B0604020202020204" pitchFamily="34" charset="0"/>
                </a:rPr>
                <a:t>Personen, Objekte, Handlungen</a:t>
              </a:r>
            </a:p>
          </p:txBody>
        </p:sp>
        <p:sp>
          <p:nvSpPr>
            <p:cNvPr id="7" name="Rounded Rectangle 5">
              <a:extLst>
                <a:ext uri="{FF2B5EF4-FFF2-40B4-BE49-F238E27FC236}">
                  <a16:creationId xmlns:a16="http://schemas.microsoft.com/office/drawing/2014/main" id="{FC047422-0E3D-6382-1B1C-404BE4C76650}"/>
                </a:ext>
              </a:extLst>
            </p:cNvPr>
            <p:cNvSpPr/>
            <p:nvPr/>
          </p:nvSpPr>
          <p:spPr>
            <a:xfrm>
              <a:off x="3540299" y="4018079"/>
              <a:ext cx="3280792" cy="404584"/>
            </a:xfrm>
            <a:prstGeom prst="roundRect">
              <a:avLst/>
            </a:prstGeom>
            <a:solidFill>
              <a:schemeClr val="accent6">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defRPr sz="1400" b="1">
                  <a:solidFill>
                    <a:srgbClr val="FFFFFF"/>
                  </a:solidFill>
                </a:defRPr>
              </a:pPr>
              <a:r>
                <a:rPr sz="1050">
                  <a:solidFill>
                    <a:schemeClr val="tx1"/>
                  </a:solidFill>
                  <a:latin typeface="Arial" panose="020B0604020202020204" pitchFamily="34" charset="0"/>
                  <a:cs typeface="Arial" panose="020B0604020202020204" pitchFamily="34" charset="0"/>
                </a:rPr>
                <a:t>📝 Caption-Generierung</a:t>
              </a:r>
            </a:p>
            <a:p>
              <a:pPr>
                <a:defRPr sz="1400">
                  <a:solidFill>
                    <a:srgbClr val="FFFFFF"/>
                  </a:solidFill>
                </a:defRPr>
              </a:pPr>
              <a:r>
                <a:rPr sz="1050">
                  <a:solidFill>
                    <a:schemeClr val="tx1"/>
                  </a:solidFill>
                  <a:latin typeface="Arial" panose="020B0604020202020204" pitchFamily="34" charset="0"/>
                  <a:cs typeface="Arial" panose="020B0604020202020204" pitchFamily="34" charset="0"/>
                </a:rPr>
                <a:t>Erstellung präziser Beschreibungen</a:t>
              </a:r>
            </a:p>
          </p:txBody>
        </p:sp>
        <p:sp>
          <p:nvSpPr>
            <p:cNvPr id="8" name="Rounded Rectangle 6">
              <a:extLst>
                <a:ext uri="{FF2B5EF4-FFF2-40B4-BE49-F238E27FC236}">
                  <a16:creationId xmlns:a16="http://schemas.microsoft.com/office/drawing/2014/main" id="{B8737552-D456-0F41-04C3-36AA42ABBD5A}"/>
                </a:ext>
              </a:extLst>
            </p:cNvPr>
            <p:cNvSpPr/>
            <p:nvPr/>
          </p:nvSpPr>
          <p:spPr>
            <a:xfrm>
              <a:off x="3519736" y="5498447"/>
              <a:ext cx="3280792" cy="404584"/>
            </a:xfrm>
            <a:prstGeom prst="roundRect">
              <a:avLst/>
            </a:prstGeom>
            <a:solidFill>
              <a:schemeClr val="accent6">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defRPr sz="1400" b="1">
                  <a:solidFill>
                    <a:srgbClr val="FFFFFF"/>
                  </a:solidFill>
                </a:defRPr>
              </a:pPr>
              <a:r>
                <a:rPr sz="1050">
                  <a:solidFill>
                    <a:schemeClr val="tx1"/>
                  </a:solidFill>
                  <a:latin typeface="Arial" panose="020B0604020202020204" pitchFamily="34" charset="0"/>
                  <a:cs typeface="Arial" panose="020B0604020202020204" pitchFamily="34" charset="0"/>
                </a:rPr>
                <a:t>✅ Qualitätsfilterung</a:t>
              </a:r>
            </a:p>
            <a:p>
              <a:pPr>
                <a:defRPr sz="1400">
                  <a:solidFill>
                    <a:srgbClr val="FFFFFF"/>
                  </a:solidFill>
                </a:defRPr>
              </a:pPr>
              <a:r>
                <a:rPr sz="1050">
                  <a:solidFill>
                    <a:schemeClr val="tx1"/>
                  </a:solidFill>
                  <a:latin typeface="Arial" panose="020B0604020202020204" pitchFamily="34" charset="0"/>
                  <a:cs typeface="Arial" panose="020B0604020202020204" pitchFamily="34" charset="0"/>
                </a:rPr>
                <a:t>Prüfung auf Relevanz und Lesbarkeit</a:t>
              </a:r>
            </a:p>
          </p:txBody>
        </p:sp>
        <p:sp>
          <p:nvSpPr>
            <p:cNvPr id="9" name="Rounded Rectangle 7">
              <a:extLst>
                <a:ext uri="{FF2B5EF4-FFF2-40B4-BE49-F238E27FC236}">
                  <a16:creationId xmlns:a16="http://schemas.microsoft.com/office/drawing/2014/main" id="{AB7F0896-9E95-9D2B-38BD-10D7369CA56F}"/>
                </a:ext>
              </a:extLst>
            </p:cNvPr>
            <p:cNvSpPr/>
            <p:nvPr/>
          </p:nvSpPr>
          <p:spPr>
            <a:xfrm>
              <a:off x="3519736" y="4758263"/>
              <a:ext cx="3280792" cy="404584"/>
            </a:xfrm>
            <a:prstGeom prst="roundRect">
              <a:avLst/>
            </a:prstGeom>
            <a:solidFill>
              <a:schemeClr val="accent6">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defRPr sz="1400" b="1">
                  <a:solidFill>
                    <a:srgbClr val="212121"/>
                  </a:solidFill>
                </a:defRPr>
              </a:pPr>
              <a:r>
                <a:rPr sz="1050">
                  <a:solidFill>
                    <a:schemeClr val="tx1"/>
                  </a:solidFill>
                  <a:latin typeface="Arial" panose="020B0604020202020204" pitchFamily="34" charset="0"/>
                  <a:cs typeface="Arial" panose="020B0604020202020204" pitchFamily="34" charset="0"/>
                </a:rPr>
                <a:t>🚀 Übergabe an Feinschliff</a:t>
              </a:r>
            </a:p>
            <a:p>
              <a:pPr>
                <a:defRPr sz="1400">
                  <a:solidFill>
                    <a:srgbClr val="212121"/>
                  </a:solidFill>
                </a:defRPr>
              </a:pPr>
              <a:r>
                <a:rPr sz="1050">
                  <a:solidFill>
                    <a:schemeClr val="tx1"/>
                  </a:solidFill>
                  <a:latin typeface="Arial" panose="020B0604020202020204" pitchFamily="34" charset="0"/>
                  <a:cs typeface="Arial" panose="020B0604020202020204" pitchFamily="34" charset="0"/>
                </a:rPr>
                <a:t>Optimierung durch sprachliche Modelle</a:t>
              </a:r>
            </a:p>
          </p:txBody>
        </p:sp>
        <p:sp>
          <p:nvSpPr>
            <p:cNvPr id="10" name="Rechteck 9">
              <a:extLst>
                <a:ext uri="{FF2B5EF4-FFF2-40B4-BE49-F238E27FC236}">
                  <a16:creationId xmlns:a16="http://schemas.microsoft.com/office/drawing/2014/main" id="{6B2F6905-50D7-35DF-2F4E-C0BF543D80DB}"/>
                </a:ext>
              </a:extLst>
            </p:cNvPr>
            <p:cNvSpPr/>
            <p:nvPr/>
          </p:nvSpPr>
          <p:spPr>
            <a:xfrm>
              <a:off x="3431704" y="1700808"/>
              <a:ext cx="3528392" cy="4320480"/>
            </a:xfrm>
            <a:prstGeom prst="rect">
              <a:avLst/>
            </a:prstGeom>
            <a:solidFill>
              <a:srgbClr val="438086">
                <a:alpha val="16863"/>
              </a:srgbClr>
            </a:solidFill>
            <a:ln>
              <a:solidFill>
                <a:srgbClr val="4380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12" name="Textfeld 11">
            <a:extLst>
              <a:ext uri="{FF2B5EF4-FFF2-40B4-BE49-F238E27FC236}">
                <a16:creationId xmlns:a16="http://schemas.microsoft.com/office/drawing/2014/main" id="{10CE143F-E4A2-7DD6-9A50-E883D6FD6FFB}"/>
              </a:ext>
            </a:extLst>
          </p:cNvPr>
          <p:cNvSpPr txBox="1"/>
          <p:nvPr/>
        </p:nvSpPr>
        <p:spPr>
          <a:xfrm>
            <a:off x="407368" y="1499416"/>
            <a:ext cx="8136904" cy="307777"/>
          </a:xfrm>
          <a:prstGeom prst="rect">
            <a:avLst/>
          </a:prstGeom>
          <a:noFill/>
        </p:spPr>
        <p:txBody>
          <a:bodyPr wrap="square">
            <a:spAutoFit/>
          </a:bodyPr>
          <a:lstStyle/>
          <a:p>
            <a:r>
              <a:rPr lang="de-DE" sz="1400" b="1">
                <a:latin typeface="Arial" panose="020B0604020202020204" pitchFamily="34" charset="0"/>
                <a:cs typeface="Arial" panose="020B0604020202020204" pitchFamily="34" charset="0"/>
              </a:rPr>
              <a:t>Strukturierte Prozesskette: Visuelle Analyse und Beschreibung</a:t>
            </a:r>
          </a:p>
        </p:txBody>
      </p:sp>
      <p:sp>
        <p:nvSpPr>
          <p:cNvPr id="13" name="Textfeld 12">
            <a:extLst>
              <a:ext uri="{FF2B5EF4-FFF2-40B4-BE49-F238E27FC236}">
                <a16:creationId xmlns:a16="http://schemas.microsoft.com/office/drawing/2014/main" id="{BDBBEAD7-96D1-362C-4F4E-A200E26922FA}"/>
              </a:ext>
            </a:extLst>
          </p:cNvPr>
          <p:cNvSpPr txBox="1"/>
          <p:nvPr/>
        </p:nvSpPr>
        <p:spPr>
          <a:xfrm>
            <a:off x="5633839" y="1913513"/>
            <a:ext cx="5070673" cy="4320000"/>
          </a:xfrm>
          <a:prstGeom prst="rect">
            <a:avLst/>
          </a:prstGeom>
          <a:noFill/>
          <a:ln>
            <a:solidFill>
              <a:srgbClr val="438086"/>
            </a:solidFill>
          </a:ln>
        </p:spPr>
        <p:txBody>
          <a:bodyPr wrap="square" rtlCol="0">
            <a:spAutoFit/>
          </a:bodyPr>
          <a:lstStyle/>
          <a:p>
            <a:pPr marL="171450" indent="-171450" algn="just">
              <a:buFont typeface="Wingdings" panose="05000000000000000000" pitchFamily="2" charset="2"/>
              <a:buChar char="§"/>
            </a:pPr>
            <a:r>
              <a:rPr lang="de-DE" sz="1050">
                <a:latin typeface="Arial" panose="020B0604020202020204" pitchFamily="34" charset="0"/>
                <a:cs typeface="Arial" panose="020B0604020202020204" pitchFamily="34" charset="0"/>
              </a:rPr>
              <a:t>Vorverarbeitete Datenpakete bündeln strukturierte Bild-, Audio- und Kontextinformationen und dienen als robuste Grundlage für die Analyse</a:t>
            </a:r>
          </a:p>
          <a:p>
            <a:pPr algn="just">
              <a:buNone/>
            </a:pPr>
            <a:endParaRPr lang="de-DE" sz="1050">
              <a:latin typeface="Arial" panose="020B0604020202020204" pitchFamily="34" charset="0"/>
              <a:cs typeface="Arial" panose="020B0604020202020204" pitchFamily="34" charset="0"/>
            </a:endParaRPr>
          </a:p>
          <a:p>
            <a:pPr marL="171450" indent="-171450" algn="just">
              <a:buFont typeface="Wingdings" panose="05000000000000000000" pitchFamily="2" charset="2"/>
              <a:buChar char="§"/>
            </a:pPr>
            <a:r>
              <a:rPr lang="de-DE" sz="1050">
                <a:latin typeface="Arial" panose="020B0604020202020204" pitchFamily="34" charset="0"/>
                <a:cs typeface="Arial" panose="020B0604020202020204" pitchFamily="34" charset="0"/>
              </a:rPr>
              <a:t>Im Schritt der Szenenerkennung erfolgt eine automatische Segmentierung des Bildmaterials in logische Szeneneinheiten, die visuell kohärente Abschnitte definieren. Diese Segmentierung ist entscheidend, um einzelne Bildausschnitte sinnvoll beschreiben zu können.</a:t>
            </a:r>
          </a:p>
          <a:p>
            <a:pPr marL="171450" indent="-171450" algn="just">
              <a:buFont typeface="Wingdings" panose="05000000000000000000" pitchFamily="2" charset="2"/>
              <a:buChar char="§"/>
            </a:pPr>
            <a:endParaRPr lang="de-DE" sz="1050">
              <a:latin typeface="Arial" panose="020B0604020202020204" pitchFamily="34" charset="0"/>
              <a:cs typeface="Arial" panose="020B0604020202020204" pitchFamily="34" charset="0"/>
            </a:endParaRPr>
          </a:p>
          <a:p>
            <a:pPr marL="171450" indent="-171450" algn="just">
              <a:buFont typeface="Wingdings" panose="05000000000000000000" pitchFamily="2" charset="2"/>
              <a:buChar char="§"/>
            </a:pPr>
            <a:r>
              <a:rPr lang="de-DE" sz="1050">
                <a:latin typeface="Arial" panose="020B0604020202020204" pitchFamily="34" charset="0"/>
                <a:cs typeface="Arial" panose="020B0604020202020204" pitchFamily="34" charset="0"/>
              </a:rPr>
              <a:t>Die Objekt- und Kontextanalyse identifiziert innerhalb jeder Szene zentrale Elemente wie Personen, Objekte, Handlungen und Stimmungen. Dabei werden semantische Beziehungen (z. B. „Person hält einen Gegenstand“) erkannt und kontextualisiert.</a:t>
            </a:r>
          </a:p>
          <a:p>
            <a:pPr marL="171450" indent="-171450" algn="just">
              <a:buFont typeface="Wingdings" panose="05000000000000000000" pitchFamily="2" charset="2"/>
              <a:buChar char="§"/>
            </a:pPr>
            <a:endParaRPr lang="de-DE" sz="1050">
              <a:latin typeface="Arial" panose="020B0604020202020204" pitchFamily="34" charset="0"/>
              <a:cs typeface="Arial" panose="020B0604020202020204" pitchFamily="34" charset="0"/>
            </a:endParaRPr>
          </a:p>
          <a:p>
            <a:pPr marL="171450" indent="-171450" algn="just">
              <a:buFont typeface="Wingdings" panose="05000000000000000000" pitchFamily="2" charset="2"/>
              <a:buChar char="§"/>
            </a:pPr>
            <a:r>
              <a:rPr lang="de-DE" sz="1050">
                <a:latin typeface="Arial" panose="020B0604020202020204" pitchFamily="34" charset="0"/>
                <a:cs typeface="Arial" panose="020B0604020202020204" pitchFamily="34" charset="0"/>
              </a:rPr>
              <a:t>Aufbauend auf diesen Erkenntnissen erstellt die Caption-Generierung präzise, sprachlich gut strukturierte Kurzbeschreibungen. Hier wird darauf geachtet, dass die Beschreibungen sowohl informativ als auch sprachlich klar und kompakt sind.</a:t>
            </a:r>
          </a:p>
          <a:p>
            <a:pPr marL="171450" indent="-171450" algn="just">
              <a:buFont typeface="Wingdings" panose="05000000000000000000" pitchFamily="2" charset="2"/>
              <a:buChar char="§"/>
            </a:pPr>
            <a:endParaRPr lang="de-DE" sz="1050">
              <a:latin typeface="Arial" panose="020B0604020202020204" pitchFamily="34" charset="0"/>
              <a:cs typeface="Arial" panose="020B0604020202020204" pitchFamily="34" charset="0"/>
            </a:endParaRPr>
          </a:p>
          <a:p>
            <a:pPr marL="171450" indent="-171450" algn="just">
              <a:buFont typeface="Wingdings" panose="05000000000000000000" pitchFamily="2" charset="2"/>
              <a:buChar char="§"/>
            </a:pPr>
            <a:r>
              <a:rPr lang="de-DE" sz="1050">
                <a:latin typeface="Arial" panose="020B0604020202020204" pitchFamily="34" charset="0"/>
                <a:cs typeface="Arial" panose="020B0604020202020204" pitchFamily="34" charset="0"/>
              </a:rPr>
              <a:t>Anschließend prüft die Qualitätsfilterung die erzeugten Beschreibungen hinsichtlich inhaltlicher Relevanz, Verständlichkeit, Redundanzfreiheit und stilistischer Konsistenz. Nur geprüfte Captions werden weiterverwendet.</a:t>
            </a:r>
          </a:p>
          <a:p>
            <a:pPr marL="171450" indent="-171450" algn="just">
              <a:buFont typeface="Wingdings" panose="05000000000000000000" pitchFamily="2" charset="2"/>
              <a:buChar char="§"/>
            </a:pPr>
            <a:endParaRPr lang="de-DE" sz="1050">
              <a:latin typeface="Arial" panose="020B0604020202020204" pitchFamily="34" charset="0"/>
              <a:cs typeface="Arial" panose="020B0604020202020204" pitchFamily="34" charset="0"/>
            </a:endParaRPr>
          </a:p>
          <a:p>
            <a:pPr marL="171450" indent="-171450" algn="just">
              <a:buFont typeface="Wingdings" panose="05000000000000000000" pitchFamily="2" charset="2"/>
              <a:buChar char="§"/>
            </a:pPr>
            <a:r>
              <a:rPr lang="de-DE" sz="1050">
                <a:latin typeface="Arial" panose="020B0604020202020204" pitchFamily="34" charset="0"/>
                <a:cs typeface="Arial" panose="020B0604020202020204" pitchFamily="34" charset="0"/>
              </a:rPr>
              <a:t>Die qualitätsgeprüften Texte werden schließlich an ein Modul für den sprachlichen Feinschliff übergeben, das stilistische Optimierungen vornimmt, um die Texte an die Zielgruppe (z. B. Audiodeskriptionsnormen, Senderstandards) anzupassen.</a:t>
            </a:r>
          </a:p>
        </p:txBody>
      </p:sp>
      <p:sp>
        <p:nvSpPr>
          <p:cNvPr id="15" name="Gleichschenkliges Dreieck 14">
            <a:extLst>
              <a:ext uri="{FF2B5EF4-FFF2-40B4-BE49-F238E27FC236}">
                <a16:creationId xmlns:a16="http://schemas.microsoft.com/office/drawing/2014/main" id="{B6A79751-FD53-02DA-4B09-1775E48C879D}"/>
              </a:ext>
            </a:extLst>
          </p:cNvPr>
          <p:cNvSpPr/>
          <p:nvPr/>
        </p:nvSpPr>
        <p:spPr>
          <a:xfrm rot="5400000">
            <a:off x="4361629" y="3900359"/>
            <a:ext cx="1608316" cy="346308"/>
          </a:xfrm>
          <a:prstGeom prst="triangl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6" name="Ellipse 15">
            <a:extLst>
              <a:ext uri="{FF2B5EF4-FFF2-40B4-BE49-F238E27FC236}">
                <a16:creationId xmlns:a16="http://schemas.microsoft.com/office/drawing/2014/main" id="{13CA5E5B-917A-8528-DBF8-2AE766FD091C}"/>
              </a:ext>
            </a:extLst>
          </p:cNvPr>
          <p:cNvSpPr/>
          <p:nvPr/>
        </p:nvSpPr>
        <p:spPr>
          <a:xfrm>
            <a:off x="520688" y="1973458"/>
            <a:ext cx="468635" cy="46863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050" b="1">
                <a:solidFill>
                  <a:schemeClr val="tx1"/>
                </a:solidFill>
                <a:latin typeface="Arial" panose="020B0604020202020204" pitchFamily="34" charset="0"/>
                <a:cs typeface="Arial" panose="020B0604020202020204" pitchFamily="34" charset="0"/>
              </a:rPr>
              <a:t>1.</a:t>
            </a:r>
          </a:p>
        </p:txBody>
      </p:sp>
      <p:sp>
        <p:nvSpPr>
          <p:cNvPr id="17" name="Ellipse 16">
            <a:extLst>
              <a:ext uri="{FF2B5EF4-FFF2-40B4-BE49-F238E27FC236}">
                <a16:creationId xmlns:a16="http://schemas.microsoft.com/office/drawing/2014/main" id="{DB78043C-D255-D196-8249-B40F36FCD3FB}"/>
              </a:ext>
            </a:extLst>
          </p:cNvPr>
          <p:cNvSpPr/>
          <p:nvPr/>
        </p:nvSpPr>
        <p:spPr>
          <a:xfrm>
            <a:off x="520688" y="2722973"/>
            <a:ext cx="468635" cy="46863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050" b="1">
                <a:solidFill>
                  <a:schemeClr val="tx1"/>
                </a:solidFill>
                <a:latin typeface="Arial" panose="020B0604020202020204" pitchFamily="34" charset="0"/>
                <a:cs typeface="Arial" panose="020B0604020202020204" pitchFamily="34" charset="0"/>
              </a:rPr>
              <a:t>2.</a:t>
            </a:r>
          </a:p>
        </p:txBody>
      </p:sp>
      <p:sp>
        <p:nvSpPr>
          <p:cNvPr id="18" name="Ellipse 17">
            <a:extLst>
              <a:ext uri="{FF2B5EF4-FFF2-40B4-BE49-F238E27FC236}">
                <a16:creationId xmlns:a16="http://schemas.microsoft.com/office/drawing/2014/main" id="{003A1096-AEDA-8EB8-302E-C0423A51CF62}"/>
              </a:ext>
            </a:extLst>
          </p:cNvPr>
          <p:cNvSpPr/>
          <p:nvPr/>
        </p:nvSpPr>
        <p:spPr>
          <a:xfrm>
            <a:off x="511407" y="3432075"/>
            <a:ext cx="468635" cy="46863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050" b="1">
                <a:solidFill>
                  <a:schemeClr val="tx1"/>
                </a:solidFill>
                <a:latin typeface="Arial" panose="020B0604020202020204" pitchFamily="34" charset="0"/>
                <a:cs typeface="Arial" panose="020B0604020202020204" pitchFamily="34" charset="0"/>
              </a:rPr>
              <a:t>3.</a:t>
            </a:r>
          </a:p>
        </p:txBody>
      </p:sp>
      <p:sp>
        <p:nvSpPr>
          <p:cNvPr id="20" name="Ellipse 19">
            <a:extLst>
              <a:ext uri="{FF2B5EF4-FFF2-40B4-BE49-F238E27FC236}">
                <a16:creationId xmlns:a16="http://schemas.microsoft.com/office/drawing/2014/main" id="{35D9F351-E6B5-F3A9-0A6F-AA3C98E04067}"/>
              </a:ext>
            </a:extLst>
          </p:cNvPr>
          <p:cNvSpPr/>
          <p:nvPr/>
        </p:nvSpPr>
        <p:spPr>
          <a:xfrm>
            <a:off x="511406" y="4198758"/>
            <a:ext cx="468635" cy="46863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050" b="1">
                <a:solidFill>
                  <a:schemeClr val="tx1"/>
                </a:solidFill>
                <a:latin typeface="Arial" panose="020B0604020202020204" pitchFamily="34" charset="0"/>
                <a:cs typeface="Arial" panose="020B0604020202020204" pitchFamily="34" charset="0"/>
              </a:rPr>
              <a:t>4.</a:t>
            </a:r>
          </a:p>
        </p:txBody>
      </p:sp>
      <p:sp>
        <p:nvSpPr>
          <p:cNvPr id="21" name="Ellipse 20">
            <a:extLst>
              <a:ext uri="{FF2B5EF4-FFF2-40B4-BE49-F238E27FC236}">
                <a16:creationId xmlns:a16="http://schemas.microsoft.com/office/drawing/2014/main" id="{0E63C48D-67BB-500B-8561-695F43819D11}"/>
              </a:ext>
            </a:extLst>
          </p:cNvPr>
          <p:cNvSpPr/>
          <p:nvPr/>
        </p:nvSpPr>
        <p:spPr>
          <a:xfrm>
            <a:off x="510407" y="4938942"/>
            <a:ext cx="468635" cy="46863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050" b="1">
                <a:solidFill>
                  <a:schemeClr val="tx1"/>
                </a:solidFill>
                <a:latin typeface="Arial" panose="020B0604020202020204" pitchFamily="34" charset="0"/>
                <a:cs typeface="Arial" panose="020B0604020202020204" pitchFamily="34" charset="0"/>
              </a:rPr>
              <a:t>5.</a:t>
            </a:r>
          </a:p>
        </p:txBody>
      </p:sp>
      <p:sp>
        <p:nvSpPr>
          <p:cNvPr id="22" name="Ellipse 21">
            <a:extLst>
              <a:ext uri="{FF2B5EF4-FFF2-40B4-BE49-F238E27FC236}">
                <a16:creationId xmlns:a16="http://schemas.microsoft.com/office/drawing/2014/main" id="{8AAFA18C-1D53-B055-858C-A526CA508F27}"/>
              </a:ext>
            </a:extLst>
          </p:cNvPr>
          <p:cNvSpPr/>
          <p:nvPr/>
        </p:nvSpPr>
        <p:spPr>
          <a:xfrm>
            <a:off x="510407" y="5679126"/>
            <a:ext cx="468635" cy="46863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050" b="1">
                <a:solidFill>
                  <a:schemeClr val="tx1"/>
                </a:solidFill>
                <a:latin typeface="Arial" panose="020B0604020202020204" pitchFamily="34" charset="0"/>
                <a:cs typeface="Arial" panose="020B0604020202020204" pitchFamily="34" charset="0"/>
              </a:rPr>
              <a:t>6.</a:t>
            </a:r>
          </a:p>
        </p:txBody>
      </p:sp>
      <p:sp>
        <p:nvSpPr>
          <p:cNvPr id="23" name="Textfeld 22">
            <a:extLst>
              <a:ext uri="{FF2B5EF4-FFF2-40B4-BE49-F238E27FC236}">
                <a16:creationId xmlns:a16="http://schemas.microsoft.com/office/drawing/2014/main" id="{421DF03C-9D82-93EF-2BFA-DBE1E83BA438}"/>
              </a:ext>
            </a:extLst>
          </p:cNvPr>
          <p:cNvSpPr txBox="1"/>
          <p:nvPr/>
        </p:nvSpPr>
        <p:spPr>
          <a:xfrm>
            <a:off x="1127448" y="6237312"/>
            <a:ext cx="3373412" cy="246221"/>
          </a:xfrm>
          <a:prstGeom prst="rect">
            <a:avLst/>
          </a:prstGeom>
          <a:noFill/>
        </p:spPr>
        <p:txBody>
          <a:bodyPr wrap="square">
            <a:spAutoFit/>
          </a:bodyPr>
          <a:lstStyle/>
          <a:p>
            <a:pPr>
              <a:buNone/>
            </a:pPr>
            <a:r>
              <a:rPr lang="de-DE" sz="1000">
                <a:latin typeface="Arial" panose="020B0604020202020204" pitchFamily="34" charset="0"/>
                <a:cs typeface="Arial" panose="020B0604020202020204" pitchFamily="34" charset="0"/>
              </a:rPr>
              <a:t>Quelle: Eigene Darstellung.</a:t>
            </a:r>
          </a:p>
        </p:txBody>
      </p:sp>
    </p:spTree>
    <p:extLst>
      <p:ext uri="{BB962C8B-B14F-4D97-AF65-F5344CB8AC3E}">
        <p14:creationId xmlns:p14="http://schemas.microsoft.com/office/powerpoint/2010/main" val="17852472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CC9B9-EE4E-0ABC-9971-A381CC6ACFBD}"/>
            </a:ext>
          </a:extLst>
        </p:cNvPr>
        <p:cNvGrpSpPr/>
        <p:nvPr/>
      </p:nvGrpSpPr>
      <p:grpSpPr>
        <a:xfrm>
          <a:off x="0" y="0"/>
          <a:ext cx="0" cy="0"/>
          <a:chOff x="0" y="0"/>
          <a:chExt cx="0" cy="0"/>
        </a:xfrm>
      </p:grpSpPr>
      <p:graphicFrame>
        <p:nvGraphicFramePr>
          <p:cNvPr id="4" name="Tabelle 43">
            <a:extLst>
              <a:ext uri="{FF2B5EF4-FFF2-40B4-BE49-F238E27FC236}">
                <a16:creationId xmlns:a16="http://schemas.microsoft.com/office/drawing/2014/main" id="{9AB1E8C8-6A05-EFF7-DA0B-D2325776020E}"/>
              </a:ext>
            </a:extLst>
          </p:cNvPr>
          <p:cNvGraphicFramePr>
            <a:graphicFrameLocks noGrp="1"/>
          </p:cNvGraphicFramePr>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a:solidFill>
                          <a:schemeClr val="bg1"/>
                        </a:solidFill>
                      </a:endParaRPr>
                    </a:p>
                  </a:txBody>
                  <a:tcPr>
                    <a:solidFill>
                      <a:srgbClr val="438086"/>
                    </a:solidFill>
                  </a:tcPr>
                </a:tc>
                <a:tc>
                  <a:txBody>
                    <a:bodyPr/>
                    <a:lstStyle/>
                    <a:p>
                      <a:endParaRPr lang="de-DE" sz="1600" dirty="0">
                        <a:solidFill>
                          <a:schemeClr val="bg1"/>
                        </a:solidFill>
                      </a:endParaRPr>
                    </a:p>
                  </a:txBody>
                  <a:tcPr>
                    <a:solidFill>
                      <a:srgbClr val="FFC000"/>
                    </a:solidFill>
                  </a:tcPr>
                </a:tc>
                <a:tc>
                  <a:txBody>
                    <a:bodyPr/>
                    <a:lstStyle/>
                    <a:p>
                      <a:endParaRPr lang="de-DE" sz="1600" b="1">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sp>
        <p:nvSpPr>
          <p:cNvPr id="19" name="Titel 1">
            <a:extLst>
              <a:ext uri="{FF2B5EF4-FFF2-40B4-BE49-F238E27FC236}">
                <a16:creationId xmlns:a16="http://schemas.microsoft.com/office/drawing/2014/main" id="{EB7ACC83-023C-E888-D134-68F5D6B63B01}"/>
              </a:ext>
            </a:extLst>
          </p:cNvPr>
          <p:cNvSpPr>
            <a:spLocks noGrp="1"/>
          </p:cNvSpPr>
          <p:nvPr>
            <p:ph type="title"/>
          </p:nvPr>
        </p:nvSpPr>
        <p:spPr>
          <a:xfrm>
            <a:off x="0" y="476672"/>
            <a:ext cx="12192000" cy="576000"/>
          </a:xfrm>
        </p:spPr>
        <p:txBody>
          <a:bodyPr>
            <a:noAutofit/>
          </a:bodyPr>
          <a:lstStyle/>
          <a:p>
            <a:r>
              <a:rPr kumimoji="0" lang="de-DE" altLang="de-DE" sz="2000" b="1" i="0" u="none" strike="noStrike" cap="none" normalizeH="0" baseline="0">
                <a:ln>
                  <a:noFill/>
                </a:ln>
                <a:solidFill>
                  <a:schemeClr val="tx1"/>
                </a:solidFill>
                <a:effectLst/>
                <a:latin typeface="Arial" panose="020B0604020202020204" pitchFamily="34" charset="0"/>
              </a:rPr>
              <a:t>2️⃣ Data Pipeline - Ausgabe, Evaluation &amp; Optimierung</a:t>
            </a:r>
            <a:endParaRPr lang="de-DE" sz="2000" b="1" dirty="0">
              <a:latin typeface="Arial" panose="020B0604020202020204" pitchFamily="34" charset="0"/>
              <a:ea typeface="Verdana" panose="020B0604030504040204" pitchFamily="34" charset="0"/>
              <a:cs typeface="Arial" panose="020B0604020202020204" pitchFamily="34" charset="0"/>
            </a:endParaRPr>
          </a:p>
        </p:txBody>
      </p:sp>
      <p:sp>
        <p:nvSpPr>
          <p:cNvPr id="3" name="Textfeld 2">
            <a:extLst>
              <a:ext uri="{FF2B5EF4-FFF2-40B4-BE49-F238E27FC236}">
                <a16:creationId xmlns:a16="http://schemas.microsoft.com/office/drawing/2014/main" id="{56A67294-E782-32D8-01D5-44DF24FADC7F}"/>
              </a:ext>
            </a:extLst>
          </p:cNvPr>
          <p:cNvSpPr txBox="1"/>
          <p:nvPr/>
        </p:nvSpPr>
        <p:spPr>
          <a:xfrm>
            <a:off x="407368" y="1499416"/>
            <a:ext cx="8136904" cy="307777"/>
          </a:xfrm>
          <a:prstGeom prst="rect">
            <a:avLst/>
          </a:prstGeom>
          <a:noFill/>
        </p:spPr>
        <p:txBody>
          <a:bodyPr wrap="square">
            <a:spAutoFit/>
          </a:bodyPr>
          <a:lstStyle/>
          <a:p>
            <a:r>
              <a:rPr lang="de-DE" sz="1400" b="1">
                <a:latin typeface="Arial" panose="020B0604020202020204" pitchFamily="34" charset="0"/>
                <a:cs typeface="Arial" panose="020B0604020202020204" pitchFamily="34" charset="0"/>
              </a:rPr>
              <a:t>Strukturierte Prozesskette: Visuelle Analyse und Beschreibung</a:t>
            </a:r>
          </a:p>
        </p:txBody>
      </p:sp>
      <p:grpSp>
        <p:nvGrpSpPr>
          <p:cNvPr id="17" name="Gruppieren 16">
            <a:extLst>
              <a:ext uri="{FF2B5EF4-FFF2-40B4-BE49-F238E27FC236}">
                <a16:creationId xmlns:a16="http://schemas.microsoft.com/office/drawing/2014/main" id="{A83D7A10-F334-E2F4-3080-B64074A008CC}"/>
              </a:ext>
            </a:extLst>
          </p:cNvPr>
          <p:cNvGrpSpPr/>
          <p:nvPr/>
        </p:nvGrpSpPr>
        <p:grpSpPr>
          <a:xfrm>
            <a:off x="1141587" y="2058450"/>
            <a:ext cx="5156298" cy="2839239"/>
            <a:chOff x="2091830" y="2112858"/>
            <a:chExt cx="5156298" cy="2684293"/>
          </a:xfrm>
        </p:grpSpPr>
        <p:sp>
          <p:nvSpPr>
            <p:cNvPr id="5" name="Rounded Rectangle 2">
              <a:extLst>
                <a:ext uri="{FF2B5EF4-FFF2-40B4-BE49-F238E27FC236}">
                  <a16:creationId xmlns:a16="http://schemas.microsoft.com/office/drawing/2014/main" id="{98CF7CC0-DB28-395D-A104-494393C1B35E}"/>
                </a:ext>
              </a:extLst>
            </p:cNvPr>
            <p:cNvSpPr/>
            <p:nvPr/>
          </p:nvSpPr>
          <p:spPr>
            <a:xfrm>
              <a:off x="2207568" y="2204864"/>
              <a:ext cx="4896544" cy="504056"/>
            </a:xfrm>
            <a:prstGeom prst="roundRect">
              <a:avLst/>
            </a:prstGeom>
            <a:solidFill>
              <a:srgbClr val="C4D8DF"/>
            </a:solidFill>
          </p:spPr>
          <p:style>
            <a:lnRef idx="1">
              <a:schemeClr val="accent1"/>
            </a:lnRef>
            <a:fillRef idx="3">
              <a:schemeClr val="accent1"/>
            </a:fillRef>
            <a:effectRef idx="2">
              <a:schemeClr val="accent1"/>
            </a:effectRef>
            <a:fontRef idx="minor">
              <a:schemeClr val="lt1"/>
            </a:fontRef>
          </p:style>
          <p:txBody>
            <a:bodyPr rtlCol="0" anchor="t"/>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defRPr sz="1800" b="1">
                  <a:solidFill>
                    <a:srgbClr val="212121"/>
                  </a:solidFill>
                </a:defRPr>
              </a:pPr>
              <a:r>
                <a:rPr sz="1050">
                  <a:latin typeface="Arial" panose="020B0604020202020204" pitchFamily="34" charset="0"/>
                  <a:cs typeface="Arial" panose="020B0604020202020204" pitchFamily="34" charset="0"/>
                </a:rPr>
                <a:t>📄 Ausgabe-Generierung</a:t>
              </a:r>
            </a:p>
            <a:p>
              <a:pPr>
                <a:defRPr sz="1400">
                  <a:solidFill>
                    <a:srgbClr val="212121"/>
                  </a:solidFill>
                </a:defRPr>
              </a:pPr>
              <a:r>
                <a:rPr sz="1050">
                  <a:latin typeface="Arial" panose="020B0604020202020204" pitchFamily="34" charset="0"/>
                  <a:cs typeface="Arial" panose="020B0604020202020204" pitchFamily="34" charset="0"/>
                </a:rPr>
                <a:t>Erstellung von Audiodeskriptionsskripten auf Basis der Captions.</a:t>
              </a:r>
            </a:p>
          </p:txBody>
        </p:sp>
        <p:sp>
          <p:nvSpPr>
            <p:cNvPr id="6" name="Rounded Rectangle 3">
              <a:extLst>
                <a:ext uri="{FF2B5EF4-FFF2-40B4-BE49-F238E27FC236}">
                  <a16:creationId xmlns:a16="http://schemas.microsoft.com/office/drawing/2014/main" id="{FDC7564D-B855-DBB8-C138-FD432A23FCD0}"/>
                </a:ext>
              </a:extLst>
            </p:cNvPr>
            <p:cNvSpPr/>
            <p:nvPr/>
          </p:nvSpPr>
          <p:spPr>
            <a:xfrm>
              <a:off x="2207568" y="3176972"/>
              <a:ext cx="4896544" cy="504056"/>
            </a:xfrm>
            <a:prstGeom prst="roundRect">
              <a:avLst/>
            </a:prstGeom>
            <a:solidFill>
              <a:srgbClr val="C4D8DF"/>
            </a:solidFill>
          </p:spPr>
          <p:style>
            <a:lnRef idx="1">
              <a:schemeClr val="accent1"/>
            </a:lnRef>
            <a:fillRef idx="3">
              <a:schemeClr val="accent1"/>
            </a:fillRef>
            <a:effectRef idx="2">
              <a:schemeClr val="accent1"/>
            </a:effectRef>
            <a:fontRef idx="minor">
              <a:schemeClr val="lt1"/>
            </a:fontRef>
          </p:style>
          <p:txBody>
            <a:bodyPr rtlCol="0" anchor="t"/>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defRPr sz="1800" b="1">
                  <a:solidFill>
                    <a:srgbClr val="212121"/>
                  </a:solidFill>
                </a:defRPr>
              </a:pPr>
              <a:r>
                <a:rPr sz="1050">
                  <a:latin typeface="Arial" panose="020B0604020202020204" pitchFamily="34" charset="0"/>
                  <a:cs typeface="Arial" panose="020B0604020202020204" pitchFamily="34" charset="0"/>
                </a:rPr>
                <a:t>✅ Evaluation &amp; Review</a:t>
              </a:r>
            </a:p>
            <a:p>
              <a:pPr>
                <a:defRPr sz="1400">
                  <a:solidFill>
                    <a:srgbClr val="212121"/>
                  </a:solidFill>
                </a:defRPr>
              </a:pPr>
              <a:r>
                <a:rPr sz="1050">
                  <a:latin typeface="Arial" panose="020B0604020202020204" pitchFamily="34" charset="0"/>
                  <a:cs typeface="Arial" panose="020B0604020202020204" pitchFamily="34" charset="0"/>
                </a:rPr>
                <a:t>Prüfung der Audiodeskriptionen auf Verständlichkeit, Präzision und Wirkung.</a:t>
              </a:r>
            </a:p>
          </p:txBody>
        </p:sp>
        <p:sp>
          <p:nvSpPr>
            <p:cNvPr id="7" name="Rounded Rectangle 4">
              <a:extLst>
                <a:ext uri="{FF2B5EF4-FFF2-40B4-BE49-F238E27FC236}">
                  <a16:creationId xmlns:a16="http://schemas.microsoft.com/office/drawing/2014/main" id="{ABA3C5C7-8A7F-8A4A-FA1A-CDF0D098FBFB}"/>
                </a:ext>
              </a:extLst>
            </p:cNvPr>
            <p:cNvSpPr/>
            <p:nvPr/>
          </p:nvSpPr>
          <p:spPr>
            <a:xfrm>
              <a:off x="2207568" y="4149080"/>
              <a:ext cx="4896544" cy="504056"/>
            </a:xfrm>
            <a:prstGeom prst="roundRect">
              <a:avLst/>
            </a:prstGeom>
            <a:solidFill>
              <a:srgbClr val="C4D8DF"/>
            </a:solidFill>
          </p:spPr>
          <p:style>
            <a:lnRef idx="1">
              <a:schemeClr val="accent1"/>
            </a:lnRef>
            <a:fillRef idx="3">
              <a:schemeClr val="accent1"/>
            </a:fillRef>
            <a:effectRef idx="2">
              <a:schemeClr val="accent1"/>
            </a:effectRef>
            <a:fontRef idx="minor">
              <a:schemeClr val="lt1"/>
            </a:fontRef>
          </p:style>
          <p:txBody>
            <a:bodyPr rtlCol="0" anchor="t"/>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defRPr sz="1800" b="1">
                  <a:solidFill>
                    <a:srgbClr val="212121"/>
                  </a:solidFill>
                </a:defRPr>
              </a:pPr>
              <a:r>
                <a:rPr sz="1050">
                  <a:latin typeface="Arial" panose="020B0604020202020204" pitchFamily="34" charset="0"/>
                  <a:cs typeface="Arial" panose="020B0604020202020204" pitchFamily="34" charset="0"/>
                </a:rPr>
                <a:t>🔧 Optimierung &amp; Nachbesserung</a:t>
              </a:r>
            </a:p>
            <a:p>
              <a:pPr>
                <a:defRPr sz="1400">
                  <a:solidFill>
                    <a:srgbClr val="212121"/>
                  </a:solidFill>
                </a:defRPr>
              </a:pPr>
              <a:r>
                <a:rPr sz="1050">
                  <a:latin typeface="Arial" panose="020B0604020202020204" pitchFamily="34" charset="0"/>
                  <a:cs typeface="Arial" panose="020B0604020202020204" pitchFamily="34" charset="0"/>
                </a:rPr>
                <a:t>Anpassung und Verbesserung basierend auf den Evaluationsrückmeldungen.</a:t>
              </a:r>
            </a:p>
          </p:txBody>
        </p:sp>
        <p:sp>
          <p:nvSpPr>
            <p:cNvPr id="16" name="Rechteck 15">
              <a:extLst>
                <a:ext uri="{FF2B5EF4-FFF2-40B4-BE49-F238E27FC236}">
                  <a16:creationId xmlns:a16="http://schemas.microsoft.com/office/drawing/2014/main" id="{AF39F225-8D1E-3FFF-A1C9-E80DCF15C4B9}"/>
                </a:ext>
              </a:extLst>
            </p:cNvPr>
            <p:cNvSpPr/>
            <p:nvPr/>
          </p:nvSpPr>
          <p:spPr>
            <a:xfrm>
              <a:off x="2091830" y="2112858"/>
              <a:ext cx="5156298" cy="2684293"/>
            </a:xfrm>
            <a:prstGeom prst="rect">
              <a:avLst/>
            </a:prstGeom>
            <a:solidFill>
              <a:srgbClr val="438086">
                <a:alpha val="16863"/>
              </a:srgbClr>
            </a:solidFill>
            <a:ln>
              <a:solidFill>
                <a:srgbClr val="4380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18" name="Ellipse 17">
            <a:extLst>
              <a:ext uri="{FF2B5EF4-FFF2-40B4-BE49-F238E27FC236}">
                <a16:creationId xmlns:a16="http://schemas.microsoft.com/office/drawing/2014/main" id="{BB21D63C-D2F6-C1ED-D7D1-90F4CD1A3219}"/>
              </a:ext>
            </a:extLst>
          </p:cNvPr>
          <p:cNvSpPr/>
          <p:nvPr/>
        </p:nvSpPr>
        <p:spPr>
          <a:xfrm>
            <a:off x="520688" y="2173925"/>
            <a:ext cx="468635" cy="46863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050" b="1">
                <a:solidFill>
                  <a:schemeClr val="tx1"/>
                </a:solidFill>
                <a:latin typeface="Arial" panose="020B0604020202020204" pitchFamily="34" charset="0"/>
                <a:cs typeface="Arial" panose="020B0604020202020204" pitchFamily="34" charset="0"/>
              </a:rPr>
              <a:t>1.</a:t>
            </a:r>
          </a:p>
        </p:txBody>
      </p:sp>
      <p:sp>
        <p:nvSpPr>
          <p:cNvPr id="20" name="Ellipse 19">
            <a:extLst>
              <a:ext uri="{FF2B5EF4-FFF2-40B4-BE49-F238E27FC236}">
                <a16:creationId xmlns:a16="http://schemas.microsoft.com/office/drawing/2014/main" id="{8FD82D6F-7AE5-ABC9-567D-9B2488C0E3DC}"/>
              </a:ext>
            </a:extLst>
          </p:cNvPr>
          <p:cNvSpPr/>
          <p:nvPr/>
        </p:nvSpPr>
        <p:spPr>
          <a:xfrm>
            <a:off x="528936" y="3137299"/>
            <a:ext cx="468635" cy="46863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050" b="1">
                <a:solidFill>
                  <a:schemeClr val="tx1"/>
                </a:solidFill>
                <a:latin typeface="Arial" panose="020B0604020202020204" pitchFamily="34" charset="0"/>
                <a:cs typeface="Arial" panose="020B0604020202020204" pitchFamily="34" charset="0"/>
              </a:rPr>
              <a:t>2.</a:t>
            </a:r>
          </a:p>
        </p:txBody>
      </p:sp>
      <p:sp>
        <p:nvSpPr>
          <p:cNvPr id="21" name="Ellipse 20">
            <a:extLst>
              <a:ext uri="{FF2B5EF4-FFF2-40B4-BE49-F238E27FC236}">
                <a16:creationId xmlns:a16="http://schemas.microsoft.com/office/drawing/2014/main" id="{EBB9039B-892F-07DC-DFF8-8727DF9294D4}"/>
              </a:ext>
            </a:extLst>
          </p:cNvPr>
          <p:cNvSpPr/>
          <p:nvPr/>
        </p:nvSpPr>
        <p:spPr>
          <a:xfrm>
            <a:off x="520688" y="4112382"/>
            <a:ext cx="468635" cy="468635"/>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050" b="1">
                <a:solidFill>
                  <a:schemeClr val="tx1"/>
                </a:solidFill>
                <a:latin typeface="Arial" panose="020B0604020202020204" pitchFamily="34" charset="0"/>
                <a:cs typeface="Arial" panose="020B0604020202020204" pitchFamily="34" charset="0"/>
              </a:rPr>
              <a:t>3.</a:t>
            </a:r>
          </a:p>
        </p:txBody>
      </p:sp>
      <p:sp>
        <p:nvSpPr>
          <p:cNvPr id="22" name="Textfeld 21">
            <a:extLst>
              <a:ext uri="{FF2B5EF4-FFF2-40B4-BE49-F238E27FC236}">
                <a16:creationId xmlns:a16="http://schemas.microsoft.com/office/drawing/2014/main" id="{85EC0390-DFA4-C759-BB31-2859FFAB5969}"/>
              </a:ext>
            </a:extLst>
          </p:cNvPr>
          <p:cNvSpPr txBox="1"/>
          <p:nvPr/>
        </p:nvSpPr>
        <p:spPr>
          <a:xfrm>
            <a:off x="6641951" y="2060848"/>
            <a:ext cx="5070673" cy="2839239"/>
          </a:xfrm>
          <a:prstGeom prst="rect">
            <a:avLst/>
          </a:prstGeom>
          <a:noFill/>
          <a:ln>
            <a:solidFill>
              <a:srgbClr val="438086"/>
            </a:solidFill>
          </a:ln>
        </p:spPr>
        <p:txBody>
          <a:bodyPr wrap="square" rtlCol="0">
            <a:spAutoFit/>
          </a:bodyPr>
          <a:lstStyle/>
          <a:p>
            <a:pPr marL="171450" indent="-171450" algn="just">
              <a:buFont typeface="Wingdings" panose="05000000000000000000" pitchFamily="2" charset="2"/>
              <a:buChar char="§"/>
            </a:pPr>
            <a:r>
              <a:rPr lang="de-DE" sz="1050">
                <a:latin typeface="Arial" panose="020B0604020202020204" pitchFamily="34" charset="0"/>
                <a:cs typeface="Arial" panose="020B0604020202020204" pitchFamily="34" charset="0"/>
              </a:rPr>
              <a:t>Ausgabe-Generierung: Die qualitätsgeprüften Captions werden in ein standardisiertes Format überführt (z. B. Audiodeskriptionsskripte), das für die Sprachsynthese (Text-to-Speech) oder für die manuelle Sprachaufnahme geeignet ist.</a:t>
            </a:r>
          </a:p>
          <a:p>
            <a:pPr marL="171450" indent="-171450" algn="just">
              <a:buFont typeface="Wingdings" panose="05000000000000000000" pitchFamily="2" charset="2"/>
              <a:buChar char="§"/>
            </a:pPr>
            <a:endParaRPr lang="de-DE" sz="1050">
              <a:latin typeface="Arial" panose="020B0604020202020204" pitchFamily="34" charset="0"/>
              <a:cs typeface="Arial" panose="020B0604020202020204" pitchFamily="34" charset="0"/>
            </a:endParaRPr>
          </a:p>
          <a:p>
            <a:pPr marL="171450" indent="-171450" algn="just">
              <a:buFont typeface="Wingdings" panose="05000000000000000000" pitchFamily="2" charset="2"/>
              <a:buChar char="§"/>
            </a:pPr>
            <a:r>
              <a:rPr lang="de-DE" sz="1050">
                <a:latin typeface="Arial" panose="020B0604020202020204" pitchFamily="34" charset="0"/>
                <a:cs typeface="Arial" panose="020B0604020202020204" pitchFamily="34" charset="0"/>
              </a:rPr>
              <a:t>Evaluation und Review: In dieser Phase erfolgt eine strukturierte Überprüfung der generierten Audiodeskriptionen. Hierbei werden Aspekte wie Verständlichkeit, Synchronität mit dem Bildmaterial, sprachliche Präzision und emotionale Wirkung bewertet.Je nach Anforderung werden sowohl automatische Evaluationsmetriken als auch menschliche Reviewprozesse eingesetzt.</a:t>
            </a:r>
          </a:p>
          <a:p>
            <a:pPr marL="171450" indent="-171450" algn="just">
              <a:buFont typeface="Wingdings" panose="05000000000000000000" pitchFamily="2" charset="2"/>
              <a:buChar char="§"/>
            </a:pPr>
            <a:endParaRPr lang="de-DE" sz="1050">
              <a:latin typeface="Arial" panose="020B0604020202020204" pitchFamily="34" charset="0"/>
              <a:cs typeface="Arial" panose="020B0604020202020204" pitchFamily="34" charset="0"/>
            </a:endParaRPr>
          </a:p>
          <a:p>
            <a:pPr marL="171450" indent="-171450" algn="just">
              <a:buFont typeface="Wingdings" panose="05000000000000000000" pitchFamily="2" charset="2"/>
              <a:buChar char="§"/>
            </a:pPr>
            <a:r>
              <a:rPr lang="de-DE" sz="1050">
                <a:latin typeface="Arial" panose="020B0604020202020204" pitchFamily="34" charset="0"/>
                <a:cs typeface="Arial" panose="020B0604020202020204" pitchFamily="34" charset="0"/>
              </a:rPr>
              <a:t>Optimierung und Nachbesserung: Basierend auf den Evaluationsrückmeldungen werden gezielte Korrekturen vorgenommen. Dies betrifft sowohl inhaltliche Anpassungen (z. B. präzisere Beschreibungen) als auch stilistische Optimierungen (z. B. bessere Fluss der Sätze, zielgruppengerechte Ausdrucksweise).</a:t>
            </a:r>
          </a:p>
        </p:txBody>
      </p:sp>
      <p:sp>
        <p:nvSpPr>
          <p:cNvPr id="23" name="Textfeld 22">
            <a:extLst>
              <a:ext uri="{FF2B5EF4-FFF2-40B4-BE49-F238E27FC236}">
                <a16:creationId xmlns:a16="http://schemas.microsoft.com/office/drawing/2014/main" id="{1FA5C1F9-BDE1-E539-B893-4C598A8573A7}"/>
              </a:ext>
            </a:extLst>
          </p:cNvPr>
          <p:cNvSpPr txBox="1"/>
          <p:nvPr/>
        </p:nvSpPr>
        <p:spPr>
          <a:xfrm>
            <a:off x="1055440" y="4910971"/>
            <a:ext cx="3373412" cy="246221"/>
          </a:xfrm>
          <a:prstGeom prst="rect">
            <a:avLst/>
          </a:prstGeom>
          <a:noFill/>
        </p:spPr>
        <p:txBody>
          <a:bodyPr wrap="square">
            <a:spAutoFit/>
          </a:bodyPr>
          <a:lstStyle/>
          <a:p>
            <a:pPr>
              <a:buNone/>
            </a:pPr>
            <a:r>
              <a:rPr lang="de-DE" sz="1000">
                <a:latin typeface="Arial" panose="020B0604020202020204" pitchFamily="34" charset="0"/>
                <a:cs typeface="Arial" panose="020B0604020202020204" pitchFamily="34" charset="0"/>
              </a:rPr>
              <a:t>Quelle: Eigene Darstellung.</a:t>
            </a:r>
          </a:p>
        </p:txBody>
      </p:sp>
    </p:spTree>
    <p:extLst>
      <p:ext uri="{BB962C8B-B14F-4D97-AF65-F5344CB8AC3E}">
        <p14:creationId xmlns:p14="http://schemas.microsoft.com/office/powerpoint/2010/main" val="1615908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Foliennummernplatzhalter 5"/>
          <p:cNvSpPr>
            <a:spLocks noGrp="1"/>
          </p:cNvSpPr>
          <p:nvPr>
            <p:ph type="sldNum" sz="quarter" idx="12"/>
          </p:nvPr>
        </p:nvSpPr>
        <p:spPr>
          <a:xfrm>
            <a:off x="8832304" y="0"/>
            <a:ext cx="1628432" cy="368032"/>
          </a:xfrm>
        </p:spPr>
        <p:txBody>
          <a:bodyPr/>
          <a:lstStyle/>
          <a:p>
            <a:r>
              <a:rPr lang="de-DE">
                <a:latin typeface="Verdana" panose="020B0604030504040204" pitchFamily="34" charset="0"/>
                <a:ea typeface="Verdana" panose="020B0604030504040204" pitchFamily="34" charset="0"/>
                <a:cs typeface="Verdana" panose="020B0604030504040204" pitchFamily="34" charset="0"/>
              </a:rPr>
              <a:t>Seite </a:t>
            </a:r>
            <a:fld id="{538D1101-B71C-42C1-B823-1158DE9643FE}" type="slidenum">
              <a:rPr lang="de-DE" smtClean="0">
                <a:latin typeface="Verdana" panose="020B0604030504040204" pitchFamily="34" charset="0"/>
                <a:ea typeface="Verdana" panose="020B0604030504040204" pitchFamily="34" charset="0"/>
                <a:cs typeface="Verdana" panose="020B0604030504040204" pitchFamily="34" charset="0"/>
              </a:rPr>
              <a:t>8</a:t>
            </a:fld>
            <a:r>
              <a:rPr lang="de-DE">
                <a:latin typeface="Verdana" panose="020B0604030504040204" pitchFamily="34" charset="0"/>
                <a:ea typeface="Verdana" panose="020B0604030504040204" pitchFamily="34" charset="0"/>
                <a:cs typeface="Verdana" panose="020B0604030504040204" pitchFamily="34" charset="0"/>
              </a:rPr>
              <a:t> </a:t>
            </a:r>
          </a:p>
        </p:txBody>
      </p:sp>
      <p:graphicFrame>
        <p:nvGraphicFramePr>
          <p:cNvPr id="44" name="Tabelle 43"/>
          <p:cNvGraphicFramePr>
            <a:graphicFrameLocks noGrp="1"/>
          </p:cNvGraphicFramePr>
          <p:nvPr>
            <p:extLst>
              <p:ext uri="{D42A27DB-BD31-4B8C-83A1-F6EECF244321}">
                <p14:modId xmlns:p14="http://schemas.microsoft.com/office/powerpoint/2010/main" val="3412236246"/>
              </p:ext>
            </p:extLst>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dirty="0">
                        <a:solidFill>
                          <a:schemeClr val="bg1"/>
                        </a:solidFill>
                      </a:endParaRPr>
                    </a:p>
                  </a:txBody>
                  <a:tcPr>
                    <a:solidFill>
                      <a:srgbClr val="438086"/>
                    </a:solidFill>
                  </a:tcPr>
                </a:tc>
                <a:tc>
                  <a:txBody>
                    <a:bodyPr/>
                    <a:lstStyle/>
                    <a:p>
                      <a:endParaRPr lang="de-DE" sz="1600" dirty="0">
                        <a:solidFill>
                          <a:schemeClr val="bg1"/>
                        </a:solidFill>
                      </a:endParaRPr>
                    </a:p>
                  </a:txBody>
                  <a:tcPr>
                    <a:solidFill>
                      <a:srgbClr val="438086"/>
                    </a:solidFill>
                  </a:tcPr>
                </a:tc>
                <a:tc>
                  <a:txBody>
                    <a:bodyPr/>
                    <a:lstStyle/>
                    <a:p>
                      <a:endParaRPr lang="de-DE" sz="1600" b="1" dirty="0">
                        <a:solidFill>
                          <a:schemeClr val="bg1"/>
                        </a:solidFill>
                      </a:endParaRPr>
                    </a:p>
                  </a:txBody>
                  <a:tcPr>
                    <a:solidFill>
                      <a:srgbClr val="FFC000"/>
                    </a:solidFill>
                  </a:tcPr>
                </a:tc>
                <a:tc>
                  <a:txBody>
                    <a:bodyPr/>
                    <a:lstStyle/>
                    <a:p>
                      <a:endParaRPr lang="de-DE" sz="1600" dirty="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sp>
        <p:nvSpPr>
          <p:cNvPr id="9" name="Titel 1">
            <a:extLst>
              <a:ext uri="{FF2B5EF4-FFF2-40B4-BE49-F238E27FC236}">
                <a16:creationId xmlns:a16="http://schemas.microsoft.com/office/drawing/2014/main" id="{91CBE2C3-755A-EAB2-FF90-759C22CF37C6}"/>
              </a:ext>
            </a:extLst>
          </p:cNvPr>
          <p:cNvSpPr>
            <a:spLocks noGrp="1"/>
          </p:cNvSpPr>
          <p:nvPr>
            <p:ph type="title"/>
          </p:nvPr>
        </p:nvSpPr>
        <p:spPr>
          <a:xfrm>
            <a:off x="0" y="476672"/>
            <a:ext cx="12192000" cy="576000"/>
          </a:xfrm>
        </p:spPr>
        <p:txBody>
          <a:bodyPr>
            <a:noAutofit/>
          </a:bodyPr>
          <a:lstStyle/>
          <a:p>
            <a:r>
              <a:rPr lang="de-DE" altLang="de-DE" sz="2000">
                <a:latin typeface="Arial" panose="020B0604020202020204" pitchFamily="34" charset="0"/>
                <a:cs typeface="Arial" panose="020B0604020202020204" pitchFamily="34" charset="0"/>
              </a:rPr>
              <a:t>3️⃣ </a:t>
            </a:r>
            <a:r>
              <a:rPr kumimoji="0" lang="de-DE" altLang="de-DE" sz="2000" b="1" i="0" u="none" strike="noStrike" cap="none" normalizeH="0" baseline="0">
                <a:ln>
                  <a:noFill/>
                </a:ln>
                <a:solidFill>
                  <a:schemeClr val="tx1"/>
                </a:solidFill>
                <a:effectLst/>
                <a:latin typeface="Arial" panose="020B0604020202020204" pitchFamily="34" charset="0"/>
              </a:rPr>
              <a:t>Punkt 3 – Heatmap möglicher Modelle</a:t>
            </a:r>
            <a:endParaRPr lang="de-DE" sz="2400" b="1" dirty="0">
              <a:latin typeface="Arial" panose="020B0604020202020204" pitchFamily="34" charset="0"/>
              <a:ea typeface="Verdana" panose="020B0604030504040204" pitchFamily="34" charset="0"/>
              <a:cs typeface="Arial" panose="020B0604020202020204" pitchFamily="34" charset="0"/>
            </a:endParaRPr>
          </a:p>
        </p:txBody>
      </p:sp>
      <p:pic>
        <p:nvPicPr>
          <p:cNvPr id="4" name="Grafik 3">
            <a:extLst>
              <a:ext uri="{FF2B5EF4-FFF2-40B4-BE49-F238E27FC236}">
                <a16:creationId xmlns:a16="http://schemas.microsoft.com/office/drawing/2014/main" id="{85381C29-6E22-EB55-9778-A8726C3C5248}"/>
              </a:ext>
            </a:extLst>
          </p:cNvPr>
          <p:cNvPicPr>
            <a:picLocks noChangeAspect="1"/>
          </p:cNvPicPr>
          <p:nvPr/>
        </p:nvPicPr>
        <p:blipFill>
          <a:blip r:embed="rId3"/>
          <a:stretch>
            <a:fillRect/>
          </a:stretch>
        </p:blipFill>
        <p:spPr>
          <a:xfrm>
            <a:off x="504056" y="1844824"/>
            <a:ext cx="9336360" cy="4640280"/>
          </a:xfrm>
          <a:prstGeom prst="rect">
            <a:avLst/>
          </a:prstGeom>
          <a:ln>
            <a:solidFill>
              <a:srgbClr val="438086"/>
            </a:solidFill>
          </a:ln>
        </p:spPr>
      </p:pic>
      <p:sp>
        <p:nvSpPr>
          <p:cNvPr id="5" name="Textfeld 4">
            <a:extLst>
              <a:ext uri="{FF2B5EF4-FFF2-40B4-BE49-F238E27FC236}">
                <a16:creationId xmlns:a16="http://schemas.microsoft.com/office/drawing/2014/main" id="{6181B12C-5A29-A5FA-87E0-9BB4FB620A44}"/>
              </a:ext>
            </a:extLst>
          </p:cNvPr>
          <p:cNvSpPr txBox="1"/>
          <p:nvPr/>
        </p:nvSpPr>
        <p:spPr>
          <a:xfrm>
            <a:off x="407368" y="1499416"/>
            <a:ext cx="8136904" cy="307777"/>
          </a:xfrm>
          <a:prstGeom prst="rect">
            <a:avLst/>
          </a:prstGeom>
          <a:noFill/>
        </p:spPr>
        <p:txBody>
          <a:bodyPr wrap="square">
            <a:spAutoFit/>
          </a:bodyPr>
          <a:lstStyle/>
          <a:p>
            <a:r>
              <a:rPr lang="de-DE" sz="1400" b="1">
                <a:latin typeface="Arial" panose="020B0604020202020204" pitchFamily="34" charset="0"/>
                <a:cs typeface="Arial" panose="020B0604020202020204" pitchFamily="34" charset="0"/>
              </a:rPr>
              <a:t>Vergleich der KI-Modelle anhand zentraler Qualitätskriterien</a:t>
            </a:r>
          </a:p>
        </p:txBody>
      </p:sp>
      <p:sp>
        <p:nvSpPr>
          <p:cNvPr id="6" name="Textfeld 5">
            <a:extLst>
              <a:ext uri="{FF2B5EF4-FFF2-40B4-BE49-F238E27FC236}">
                <a16:creationId xmlns:a16="http://schemas.microsoft.com/office/drawing/2014/main" id="{6E2CC5CB-8BCD-3A1E-73DF-CD265B43A8D0}"/>
              </a:ext>
            </a:extLst>
          </p:cNvPr>
          <p:cNvSpPr txBox="1"/>
          <p:nvPr/>
        </p:nvSpPr>
        <p:spPr>
          <a:xfrm>
            <a:off x="407368" y="6485104"/>
            <a:ext cx="3373412" cy="246221"/>
          </a:xfrm>
          <a:prstGeom prst="rect">
            <a:avLst/>
          </a:prstGeom>
          <a:noFill/>
        </p:spPr>
        <p:txBody>
          <a:bodyPr wrap="square">
            <a:spAutoFit/>
          </a:bodyPr>
          <a:lstStyle/>
          <a:p>
            <a:pPr>
              <a:buNone/>
            </a:pPr>
            <a:r>
              <a:rPr lang="de-DE" sz="1000">
                <a:latin typeface="Arial" panose="020B0604020202020204" pitchFamily="34" charset="0"/>
                <a:cs typeface="Arial" panose="020B0604020202020204" pitchFamily="34" charset="0"/>
              </a:rPr>
              <a:t>Quelle: Eigene Darstellung.</a:t>
            </a:r>
          </a:p>
        </p:txBody>
      </p:sp>
    </p:spTree>
    <p:extLst>
      <p:ext uri="{BB962C8B-B14F-4D97-AF65-F5344CB8AC3E}">
        <p14:creationId xmlns:p14="http://schemas.microsoft.com/office/powerpoint/2010/main" val="1068059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18354-A575-72E9-6559-084185575443}"/>
            </a:ext>
          </a:extLst>
        </p:cNvPr>
        <p:cNvGrpSpPr/>
        <p:nvPr/>
      </p:nvGrpSpPr>
      <p:grpSpPr>
        <a:xfrm>
          <a:off x="0" y="0"/>
          <a:ext cx="0" cy="0"/>
          <a:chOff x="0" y="0"/>
          <a:chExt cx="0" cy="0"/>
        </a:xfrm>
      </p:grpSpPr>
      <p:sp>
        <p:nvSpPr>
          <p:cNvPr id="43" name="Foliennummernplatzhalter 5">
            <a:extLst>
              <a:ext uri="{FF2B5EF4-FFF2-40B4-BE49-F238E27FC236}">
                <a16:creationId xmlns:a16="http://schemas.microsoft.com/office/drawing/2014/main" id="{A3E366E1-0178-7DFE-5228-946501AF7C7A}"/>
              </a:ext>
            </a:extLst>
          </p:cNvPr>
          <p:cNvSpPr>
            <a:spLocks noGrp="1"/>
          </p:cNvSpPr>
          <p:nvPr>
            <p:ph type="sldNum" sz="quarter" idx="12"/>
          </p:nvPr>
        </p:nvSpPr>
        <p:spPr>
          <a:xfrm>
            <a:off x="8832304" y="0"/>
            <a:ext cx="1628432" cy="368032"/>
          </a:xfrm>
        </p:spPr>
        <p:txBody>
          <a:bodyPr/>
          <a:lstStyle/>
          <a:p>
            <a:r>
              <a:rPr lang="de-DE">
                <a:latin typeface="Verdana" panose="020B0604030504040204" pitchFamily="34" charset="0"/>
                <a:ea typeface="Verdana" panose="020B0604030504040204" pitchFamily="34" charset="0"/>
                <a:cs typeface="Verdana" panose="020B0604030504040204" pitchFamily="34" charset="0"/>
              </a:rPr>
              <a:t>Seite </a:t>
            </a:r>
            <a:fld id="{538D1101-B71C-42C1-B823-1158DE9643FE}" type="slidenum">
              <a:rPr lang="de-DE" smtClean="0">
                <a:latin typeface="Verdana" panose="020B0604030504040204" pitchFamily="34" charset="0"/>
                <a:ea typeface="Verdana" panose="020B0604030504040204" pitchFamily="34" charset="0"/>
                <a:cs typeface="Verdana" panose="020B0604030504040204" pitchFamily="34" charset="0"/>
              </a:rPr>
              <a:t>9</a:t>
            </a:fld>
            <a:r>
              <a:rPr lang="de-DE">
                <a:latin typeface="Verdana" panose="020B0604030504040204" pitchFamily="34" charset="0"/>
                <a:ea typeface="Verdana" panose="020B0604030504040204" pitchFamily="34" charset="0"/>
                <a:cs typeface="Verdana" panose="020B0604030504040204" pitchFamily="34" charset="0"/>
              </a:rPr>
              <a:t> </a:t>
            </a:r>
          </a:p>
        </p:txBody>
      </p:sp>
      <p:graphicFrame>
        <p:nvGraphicFramePr>
          <p:cNvPr id="44" name="Tabelle 43">
            <a:extLst>
              <a:ext uri="{FF2B5EF4-FFF2-40B4-BE49-F238E27FC236}">
                <a16:creationId xmlns:a16="http://schemas.microsoft.com/office/drawing/2014/main" id="{C737D91F-CC14-7466-F942-8935E992951C}"/>
              </a:ext>
            </a:extLst>
          </p:cNvPr>
          <p:cNvGraphicFramePr>
            <a:graphicFrameLocks noGrp="1"/>
          </p:cNvGraphicFramePr>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dirty="0">
                        <a:solidFill>
                          <a:schemeClr val="bg1"/>
                        </a:solidFill>
                      </a:endParaRPr>
                    </a:p>
                  </a:txBody>
                  <a:tcPr>
                    <a:solidFill>
                      <a:srgbClr val="438086"/>
                    </a:solidFill>
                  </a:tcPr>
                </a:tc>
                <a:tc>
                  <a:txBody>
                    <a:bodyPr/>
                    <a:lstStyle/>
                    <a:p>
                      <a:endParaRPr lang="de-DE" sz="1600" dirty="0">
                        <a:solidFill>
                          <a:schemeClr val="bg1"/>
                        </a:solidFill>
                      </a:endParaRPr>
                    </a:p>
                  </a:txBody>
                  <a:tcPr>
                    <a:solidFill>
                      <a:srgbClr val="438086"/>
                    </a:solidFill>
                  </a:tcPr>
                </a:tc>
                <a:tc>
                  <a:txBody>
                    <a:bodyPr/>
                    <a:lstStyle/>
                    <a:p>
                      <a:endParaRPr lang="de-DE" sz="1600" b="1" dirty="0">
                        <a:solidFill>
                          <a:schemeClr val="bg1"/>
                        </a:solidFill>
                      </a:endParaRPr>
                    </a:p>
                  </a:txBody>
                  <a:tcPr>
                    <a:solidFill>
                      <a:srgbClr val="FFC000"/>
                    </a:solidFill>
                  </a:tcPr>
                </a:tc>
                <a:tc>
                  <a:txBody>
                    <a:bodyPr/>
                    <a:lstStyle/>
                    <a:p>
                      <a:endParaRPr lang="de-DE" sz="1600" dirty="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sp>
        <p:nvSpPr>
          <p:cNvPr id="9" name="Titel 1">
            <a:extLst>
              <a:ext uri="{FF2B5EF4-FFF2-40B4-BE49-F238E27FC236}">
                <a16:creationId xmlns:a16="http://schemas.microsoft.com/office/drawing/2014/main" id="{7C5FDC13-80B1-7EFC-755D-2AA5FA5FCED9}"/>
              </a:ext>
            </a:extLst>
          </p:cNvPr>
          <p:cNvSpPr>
            <a:spLocks noGrp="1"/>
          </p:cNvSpPr>
          <p:nvPr>
            <p:ph type="title"/>
          </p:nvPr>
        </p:nvSpPr>
        <p:spPr>
          <a:xfrm>
            <a:off x="0" y="476672"/>
            <a:ext cx="12192000" cy="576000"/>
          </a:xfrm>
        </p:spPr>
        <p:txBody>
          <a:bodyPr>
            <a:noAutofit/>
          </a:bodyPr>
          <a:lstStyle/>
          <a:p>
            <a:r>
              <a:rPr lang="de-DE" altLang="de-DE" sz="2000">
                <a:latin typeface="Arial" panose="020B0604020202020204" pitchFamily="34" charset="0"/>
                <a:cs typeface="Arial" panose="020B0604020202020204" pitchFamily="34" charset="0"/>
              </a:rPr>
              <a:t>3️⃣ </a:t>
            </a:r>
            <a:r>
              <a:rPr kumimoji="0" lang="de-DE" altLang="de-DE" sz="2000" b="1" i="0" u="none" strike="noStrike" cap="none" normalizeH="0" baseline="0">
                <a:ln>
                  <a:noFill/>
                </a:ln>
                <a:solidFill>
                  <a:schemeClr val="tx1"/>
                </a:solidFill>
                <a:effectLst/>
                <a:latin typeface="Arial" panose="020B0604020202020204" pitchFamily="34" charset="0"/>
              </a:rPr>
              <a:t>Punkt 3 – Prozess und Modell</a:t>
            </a:r>
            <a:endParaRPr lang="de-DE" sz="2400" b="1" dirty="0">
              <a:latin typeface="Arial" panose="020B0604020202020204" pitchFamily="34" charset="0"/>
              <a:ea typeface="Verdana" panose="020B0604030504040204" pitchFamily="34" charset="0"/>
              <a:cs typeface="Arial" panose="020B0604020202020204" pitchFamily="34" charset="0"/>
            </a:endParaRPr>
          </a:p>
        </p:txBody>
      </p:sp>
      <p:pic>
        <p:nvPicPr>
          <p:cNvPr id="3" name="Grafik 2">
            <a:extLst>
              <a:ext uri="{FF2B5EF4-FFF2-40B4-BE49-F238E27FC236}">
                <a16:creationId xmlns:a16="http://schemas.microsoft.com/office/drawing/2014/main" id="{D37267F5-DA7A-EADA-3F36-9351408F9199}"/>
              </a:ext>
            </a:extLst>
          </p:cNvPr>
          <p:cNvPicPr>
            <a:picLocks noChangeAspect="1"/>
          </p:cNvPicPr>
          <p:nvPr/>
        </p:nvPicPr>
        <p:blipFill>
          <a:blip r:embed="rId3"/>
          <a:stretch>
            <a:fillRect/>
          </a:stretch>
        </p:blipFill>
        <p:spPr>
          <a:xfrm>
            <a:off x="5879976" y="1913513"/>
            <a:ext cx="6048672" cy="2463620"/>
          </a:xfrm>
          <a:prstGeom prst="rect">
            <a:avLst/>
          </a:prstGeom>
          <a:ln>
            <a:solidFill>
              <a:srgbClr val="438086"/>
            </a:solidFill>
          </a:ln>
        </p:spPr>
      </p:pic>
      <p:sp>
        <p:nvSpPr>
          <p:cNvPr id="5" name="Textfeld 4">
            <a:extLst>
              <a:ext uri="{FF2B5EF4-FFF2-40B4-BE49-F238E27FC236}">
                <a16:creationId xmlns:a16="http://schemas.microsoft.com/office/drawing/2014/main" id="{52CB6E6A-0C35-359A-E830-0306197D28FD}"/>
              </a:ext>
            </a:extLst>
          </p:cNvPr>
          <p:cNvSpPr txBox="1"/>
          <p:nvPr/>
        </p:nvSpPr>
        <p:spPr>
          <a:xfrm>
            <a:off x="407368" y="1499416"/>
            <a:ext cx="8136904" cy="307777"/>
          </a:xfrm>
          <a:prstGeom prst="rect">
            <a:avLst/>
          </a:prstGeom>
          <a:noFill/>
        </p:spPr>
        <p:txBody>
          <a:bodyPr wrap="square">
            <a:spAutoFit/>
          </a:bodyPr>
          <a:lstStyle/>
          <a:p>
            <a:r>
              <a:rPr lang="de-DE" sz="1400" b="1">
                <a:latin typeface="Arial" panose="020B0604020202020204" pitchFamily="34" charset="0"/>
                <a:cs typeface="Arial" panose="020B0604020202020204" pitchFamily="34" charset="0"/>
              </a:rPr>
              <a:t>Empfehlung auf Basis wissenschaftlicher Evaluierung</a:t>
            </a:r>
          </a:p>
        </p:txBody>
      </p:sp>
      <p:sp>
        <p:nvSpPr>
          <p:cNvPr id="8" name="Textfeld 7">
            <a:extLst>
              <a:ext uri="{FF2B5EF4-FFF2-40B4-BE49-F238E27FC236}">
                <a16:creationId xmlns:a16="http://schemas.microsoft.com/office/drawing/2014/main" id="{6AE0C9DC-E161-6433-86B5-84ED8E39E3B3}"/>
              </a:ext>
            </a:extLst>
          </p:cNvPr>
          <p:cNvSpPr txBox="1"/>
          <p:nvPr/>
        </p:nvSpPr>
        <p:spPr>
          <a:xfrm>
            <a:off x="479376" y="1913513"/>
            <a:ext cx="4752528" cy="4616648"/>
          </a:xfrm>
          <a:prstGeom prst="rect">
            <a:avLst/>
          </a:prstGeom>
          <a:noFill/>
          <a:ln>
            <a:solidFill>
              <a:srgbClr val="438086"/>
            </a:solidFill>
          </a:ln>
        </p:spPr>
        <p:txBody>
          <a:bodyPr wrap="square">
            <a:spAutoFit/>
          </a:bodyPr>
          <a:lstStyle/>
          <a:p>
            <a:pPr algn="just"/>
            <a:r>
              <a:rPr lang="de-DE" sz="1050">
                <a:latin typeface="Arial" panose="020B0604020202020204" pitchFamily="34" charset="0"/>
                <a:cs typeface="Arial" panose="020B0604020202020204" pitchFamily="34" charset="0"/>
              </a:rPr>
              <a:t>✅ Hohe Flexibilität und Skalierbarkeit:Durch die modulare Trennung von Vorverarbeitung, visueller Analyse, sprachlicher Optimierung und Ausgabe kann das System flexibel an neue Anforderungen (z. B. Formate, Barrierefreiheitsstandards) angepasst werden.</a:t>
            </a:r>
          </a:p>
          <a:p>
            <a:pPr algn="just"/>
            <a:endParaRPr lang="de-DE" sz="1050">
              <a:latin typeface="Arial" panose="020B0604020202020204" pitchFamily="34" charset="0"/>
              <a:cs typeface="Arial" panose="020B0604020202020204" pitchFamily="34" charset="0"/>
            </a:endParaRPr>
          </a:p>
          <a:p>
            <a:pPr algn="just"/>
            <a:r>
              <a:rPr lang="de-DE" sz="1050">
                <a:latin typeface="Arial" panose="020B0604020202020204" pitchFamily="34" charset="0"/>
                <a:cs typeface="Arial" panose="020B0604020202020204" pitchFamily="34" charset="0"/>
              </a:rPr>
              <a:t>✅ Zero-Shot-Fähigkeit der Hauptmodelle:AutoAD-Zero und LLaVA-MR erlauben den direkten Einsatz auf neuen Inhalten ohne aufwändiges Fine-Tuning – ein entscheidender Vorteil für wechselnde Programmformate und hohe Aktualitätsanforderungen.</a:t>
            </a:r>
          </a:p>
          <a:p>
            <a:pPr algn="just"/>
            <a:endParaRPr lang="de-DE" sz="1050">
              <a:latin typeface="Arial" panose="020B0604020202020204" pitchFamily="34" charset="0"/>
              <a:cs typeface="Arial" panose="020B0604020202020204" pitchFamily="34" charset="0"/>
            </a:endParaRPr>
          </a:p>
          <a:p>
            <a:pPr algn="just"/>
            <a:r>
              <a:rPr lang="de-DE" sz="1050">
                <a:latin typeface="Arial" panose="020B0604020202020204" pitchFamily="34" charset="0"/>
                <a:cs typeface="Arial" panose="020B0604020202020204" pitchFamily="34" charset="0"/>
              </a:rPr>
              <a:t>✅ Qualität durch mehrstufige Optimierung:Die nachgelagerte Optimierung mit spezialisierten Modellen (VidChain, BLIP-2, GIT) gewährleistet eine hohe sprachliche und inhaltliche Qualität der Audiodeskriptionen, was insbesondere bei öffentlich-rechtlichen Produktionen hohe Relevanz besitzt.</a:t>
            </a:r>
          </a:p>
          <a:p>
            <a:pPr algn="just"/>
            <a:endParaRPr lang="de-DE" sz="1050">
              <a:latin typeface="Arial" panose="020B0604020202020204" pitchFamily="34" charset="0"/>
              <a:cs typeface="Arial" panose="020B0604020202020204" pitchFamily="34" charset="0"/>
            </a:endParaRPr>
          </a:p>
          <a:p>
            <a:pPr algn="just"/>
            <a:r>
              <a:rPr lang="de-DE" sz="1050">
                <a:latin typeface="Arial" panose="020B0604020202020204" pitchFamily="34" charset="0"/>
                <a:cs typeface="Arial" panose="020B0604020202020204" pitchFamily="34" charset="0"/>
              </a:rPr>
              <a:t>✅ Rechtssicherheit und Transparenz:Durch klare Trennung von Modellen und nachvollziehbare Verarbeitungsschritte wird die Nachvollziehbarkeit der automatisierten Entscheidungen erhöht – ein zentraler Aspekt für Datenschutz, BITV-Compliance und interne Prüfprozesse.</a:t>
            </a:r>
          </a:p>
          <a:p>
            <a:pPr algn="just"/>
            <a:endParaRPr lang="de-DE" sz="1050">
              <a:latin typeface="Arial" panose="020B0604020202020204" pitchFamily="34" charset="0"/>
              <a:cs typeface="Arial" panose="020B0604020202020204" pitchFamily="34" charset="0"/>
            </a:endParaRPr>
          </a:p>
          <a:p>
            <a:pPr algn="just"/>
            <a:r>
              <a:rPr lang="de-DE" sz="1050">
                <a:latin typeface="Arial" panose="020B0604020202020204" pitchFamily="34" charset="0"/>
                <a:cs typeface="Arial" panose="020B0604020202020204" pitchFamily="34" charset="0"/>
              </a:rPr>
              <a:t>✅ Kosteneffizienz:Die Architektur reduziert langfristige Anpassungs- und Wartungskosten, da keine spezifische Nachschulung der Hauptmodelle für jede einzelne Produktion erforderlich ist.</a:t>
            </a:r>
          </a:p>
          <a:p>
            <a:pPr algn="just"/>
            <a:endParaRPr lang="de-DE" sz="1050">
              <a:latin typeface="Arial" panose="020B0604020202020204" pitchFamily="34" charset="0"/>
              <a:cs typeface="Arial" panose="020B0604020202020204" pitchFamily="34" charset="0"/>
            </a:endParaRPr>
          </a:p>
          <a:p>
            <a:pPr algn="just"/>
            <a:r>
              <a:rPr lang="de-DE" sz="1050">
                <a:latin typeface="Arial" panose="020B0604020202020204" pitchFamily="34" charset="0"/>
                <a:cs typeface="Arial" panose="020B0604020202020204" pitchFamily="34" charset="0"/>
              </a:rPr>
              <a:t>✅ Zukunftssicherheit:Die gewählte Struktur erlaubt die einfache Integration zukünftiger Entwicklungen im Bereich KI-gestützter Sprachgenerierung oder Videoanalyse, ohne die bestehende Pipeline grundlegend umbauen zu müssen.</a:t>
            </a:r>
          </a:p>
        </p:txBody>
      </p:sp>
      <p:sp>
        <p:nvSpPr>
          <p:cNvPr id="10" name="Gleichschenkliges Dreieck 9">
            <a:extLst>
              <a:ext uri="{FF2B5EF4-FFF2-40B4-BE49-F238E27FC236}">
                <a16:creationId xmlns:a16="http://schemas.microsoft.com/office/drawing/2014/main" id="{2F0A14F6-BEA2-6A39-2D41-40B2226D1D04}"/>
              </a:ext>
            </a:extLst>
          </p:cNvPr>
          <p:cNvSpPr/>
          <p:nvPr/>
        </p:nvSpPr>
        <p:spPr>
          <a:xfrm rot="5400000">
            <a:off x="4702247" y="2972169"/>
            <a:ext cx="1608316" cy="346308"/>
          </a:xfrm>
          <a:prstGeom prst="triangl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hteck 10">
            <a:extLst>
              <a:ext uri="{FF2B5EF4-FFF2-40B4-BE49-F238E27FC236}">
                <a16:creationId xmlns:a16="http://schemas.microsoft.com/office/drawing/2014/main" id="{13FC5B42-5CDF-B871-F585-F9E84F5F553C}"/>
              </a:ext>
            </a:extLst>
          </p:cNvPr>
          <p:cNvSpPr/>
          <p:nvPr/>
        </p:nvSpPr>
        <p:spPr>
          <a:xfrm>
            <a:off x="5780906" y="1807193"/>
            <a:ext cx="6219750" cy="2701927"/>
          </a:xfrm>
          <a:prstGeom prst="rect">
            <a:avLst/>
          </a:prstGeom>
          <a:solidFill>
            <a:srgbClr val="438086">
              <a:alpha val="16863"/>
            </a:srgbClr>
          </a:solidFill>
          <a:ln>
            <a:solidFill>
              <a:srgbClr val="4380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Textfeld 12">
            <a:extLst>
              <a:ext uri="{FF2B5EF4-FFF2-40B4-BE49-F238E27FC236}">
                <a16:creationId xmlns:a16="http://schemas.microsoft.com/office/drawing/2014/main" id="{1E12932F-3D1F-B0F5-1987-50807D8EE31B}"/>
              </a:ext>
            </a:extLst>
          </p:cNvPr>
          <p:cNvSpPr txBox="1"/>
          <p:nvPr/>
        </p:nvSpPr>
        <p:spPr>
          <a:xfrm>
            <a:off x="5780905" y="4816897"/>
            <a:ext cx="6219750" cy="1345048"/>
          </a:xfrm>
          <a:prstGeom prst="rect">
            <a:avLst/>
          </a:prstGeom>
          <a:noFill/>
        </p:spPr>
        <p:txBody>
          <a:bodyPr wrap="square">
            <a:spAutoFit/>
          </a:bodyPr>
          <a:lstStyle/>
          <a:p>
            <a:pPr algn="just">
              <a:lnSpc>
                <a:spcPct val="150000"/>
              </a:lnSpc>
            </a:pPr>
            <a:r>
              <a:rPr lang="de-DE" sz="1400" b="1">
                <a:latin typeface="Arial" panose="020B0604020202020204" pitchFamily="34" charset="0"/>
                <a:cs typeface="Arial" panose="020B0604020202020204" pitchFamily="34" charset="0"/>
              </a:rPr>
              <a:t>Die vorgeschlagene Architektur bietet dem MDR eine robuste, skalierbare und qualitativ hochwertige Grundlage für die KI-gestützte Erstellung von Audiodeskriptionen, die den hohen Anforderungen an Barrierefreiheit, Effizienz und inhaltliche Qualität gerecht wird.</a:t>
            </a:r>
          </a:p>
        </p:txBody>
      </p:sp>
    </p:spTree>
    <p:extLst>
      <p:ext uri="{BB962C8B-B14F-4D97-AF65-F5344CB8AC3E}">
        <p14:creationId xmlns:p14="http://schemas.microsoft.com/office/powerpoint/2010/main" val="9813961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Foliennummernplatzhalter 5"/>
          <p:cNvSpPr>
            <a:spLocks noGrp="1"/>
          </p:cNvSpPr>
          <p:nvPr>
            <p:ph type="sldNum" sz="quarter" idx="12"/>
          </p:nvPr>
        </p:nvSpPr>
        <p:spPr>
          <a:xfrm>
            <a:off x="8832304" y="0"/>
            <a:ext cx="1628432" cy="368032"/>
          </a:xfrm>
        </p:spPr>
        <p:txBody>
          <a:bodyPr/>
          <a:lstStyle/>
          <a:p>
            <a:r>
              <a:rPr lang="de-DE">
                <a:latin typeface="Verdana" panose="020B0604030504040204" pitchFamily="34" charset="0"/>
                <a:ea typeface="Verdana" panose="020B0604030504040204" pitchFamily="34" charset="0"/>
                <a:cs typeface="Verdana" panose="020B0604030504040204" pitchFamily="34" charset="0"/>
              </a:rPr>
              <a:t>Seite </a:t>
            </a:r>
            <a:fld id="{538D1101-B71C-42C1-B823-1158DE9643FE}" type="slidenum">
              <a:rPr lang="de-DE" smtClean="0">
                <a:latin typeface="Verdana" panose="020B0604030504040204" pitchFamily="34" charset="0"/>
                <a:ea typeface="Verdana" panose="020B0604030504040204" pitchFamily="34" charset="0"/>
                <a:cs typeface="Verdana" panose="020B0604030504040204" pitchFamily="34" charset="0"/>
              </a:rPr>
              <a:t>10</a:t>
            </a:fld>
            <a:r>
              <a:rPr lang="de-DE">
                <a:latin typeface="Verdana" panose="020B0604030504040204" pitchFamily="34" charset="0"/>
                <a:ea typeface="Verdana" panose="020B0604030504040204" pitchFamily="34" charset="0"/>
                <a:cs typeface="Verdana" panose="020B0604030504040204" pitchFamily="34" charset="0"/>
              </a:rPr>
              <a:t> </a:t>
            </a:r>
          </a:p>
        </p:txBody>
      </p:sp>
      <p:graphicFrame>
        <p:nvGraphicFramePr>
          <p:cNvPr id="44" name="Tabelle 43"/>
          <p:cNvGraphicFramePr>
            <a:graphicFrameLocks noGrp="1"/>
          </p:cNvGraphicFramePr>
          <p:nvPr>
            <p:extLst>
              <p:ext uri="{D42A27DB-BD31-4B8C-83A1-F6EECF244321}">
                <p14:modId xmlns:p14="http://schemas.microsoft.com/office/powerpoint/2010/main" val="3236536304"/>
              </p:ext>
            </p:extLst>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dirty="0">
                        <a:solidFill>
                          <a:schemeClr val="bg1"/>
                        </a:solidFill>
                      </a:endParaRPr>
                    </a:p>
                  </a:txBody>
                  <a:tcPr>
                    <a:solidFill>
                      <a:srgbClr val="438086"/>
                    </a:solidFill>
                  </a:tcPr>
                </a:tc>
                <a:tc>
                  <a:txBody>
                    <a:bodyPr/>
                    <a:lstStyle/>
                    <a:p>
                      <a:endParaRPr kumimoji="0" lang="de-DE" sz="1600" b="1" kern="1200">
                        <a:solidFill>
                          <a:schemeClr val="bg1"/>
                        </a:solidFill>
                        <a:latin typeface="+mn-lt"/>
                        <a:ea typeface="+mn-ea"/>
                        <a:cs typeface="+mn-cs"/>
                      </a:endParaRPr>
                    </a:p>
                  </a:txBody>
                  <a:tcPr>
                    <a:solidFill>
                      <a:srgbClr val="438086"/>
                    </a:solidFill>
                  </a:tcPr>
                </a:tc>
                <a:tc>
                  <a:txBody>
                    <a:bodyPr/>
                    <a:lstStyle/>
                    <a:p>
                      <a:endParaRPr lang="de-DE" sz="1600" b="1" dirty="0">
                        <a:solidFill>
                          <a:schemeClr val="bg1"/>
                        </a:solidFill>
                      </a:endParaRPr>
                    </a:p>
                  </a:txBody>
                  <a:tcPr>
                    <a:solidFill>
                      <a:srgbClr val="438086"/>
                    </a:solidFill>
                  </a:tcPr>
                </a:tc>
                <a:tc>
                  <a:txBody>
                    <a:bodyPr/>
                    <a:lstStyle/>
                    <a:p>
                      <a:endParaRPr lang="de-DE" sz="1600" dirty="0">
                        <a:solidFill>
                          <a:schemeClr val="bg1"/>
                        </a:solidFill>
                      </a:endParaRPr>
                    </a:p>
                  </a:txBody>
                  <a:tcPr>
                    <a:solidFill>
                      <a:srgbClr val="FFC000"/>
                    </a:solidFill>
                  </a:tcPr>
                </a:tc>
                <a:tc>
                  <a:txBody>
                    <a:bodyPr/>
                    <a:lstStyle/>
                    <a:p>
                      <a:endParaRPr lang="de-DE" sz="1600" dirty="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sp>
        <p:nvSpPr>
          <p:cNvPr id="10" name="Titel 1">
            <a:extLst>
              <a:ext uri="{FF2B5EF4-FFF2-40B4-BE49-F238E27FC236}">
                <a16:creationId xmlns:a16="http://schemas.microsoft.com/office/drawing/2014/main" id="{CC429978-3636-4B4A-B4C7-6C0315F97873}"/>
              </a:ext>
            </a:extLst>
          </p:cNvPr>
          <p:cNvSpPr txBox="1">
            <a:spLocks/>
          </p:cNvSpPr>
          <p:nvPr/>
        </p:nvSpPr>
        <p:spPr>
          <a:xfrm>
            <a:off x="0" y="476672"/>
            <a:ext cx="12191998" cy="576000"/>
          </a:xfrm>
          <a:prstGeom prst="rect">
            <a:avLst/>
          </a:prstGeom>
        </p:spPr>
        <p:txBody>
          <a:bodyPr vert="horz" anchor="ctr">
            <a:noAutofit/>
          </a:bodyPr>
          <a:lstStyle>
            <a:lvl1pPr algn="l" rtl="0" eaLnBrk="1" latinLnBrk="0" hangingPunct="1">
              <a:spcBef>
                <a:spcPct val="0"/>
              </a:spcBef>
              <a:buNone/>
              <a:defRPr kumimoji="0" sz="4000" kern="1200">
                <a:solidFill>
                  <a:schemeClr val="tx2"/>
                </a:solidFill>
                <a:latin typeface="+mj-lt"/>
                <a:ea typeface="+mj-ea"/>
                <a:cs typeface="+mj-cs"/>
              </a:defRPr>
            </a:lvl1pPr>
          </a:lstStyle>
          <a:p>
            <a:r>
              <a:rPr kumimoji="0" lang="de-DE" altLang="de-DE" sz="2000" i="0" u="none" strike="noStrike" cap="none" normalizeH="0" baseline="0">
                <a:ln>
                  <a:noFill/>
                </a:ln>
                <a:solidFill>
                  <a:schemeClr val="tx1"/>
                </a:solidFill>
                <a:effectLst/>
                <a:latin typeface="Arial" panose="020B0604020202020204" pitchFamily="34" charset="0"/>
              </a:rPr>
              <a:t>4️⃣ </a:t>
            </a:r>
            <a:r>
              <a:rPr kumimoji="0" lang="de-DE" altLang="de-DE" sz="2000" b="1" i="0" u="none" strike="noStrike" cap="none" normalizeH="0" baseline="0">
                <a:ln>
                  <a:noFill/>
                </a:ln>
                <a:solidFill>
                  <a:schemeClr val="tx1"/>
                </a:solidFill>
                <a:effectLst/>
                <a:latin typeface="Arial" panose="020B0604020202020204" pitchFamily="34" charset="0"/>
              </a:rPr>
              <a:t>Punkt 4</a:t>
            </a:r>
            <a:endParaRPr lang="de-DE" sz="2000" dirty="0">
              <a:latin typeface="Verdana" panose="020B0604030504040204" pitchFamily="34" charset="0"/>
              <a:ea typeface="Verdana" panose="020B0604030504040204" pitchFamily="34" charset="0"/>
              <a:cs typeface="Verdana" panose="020B0604030504040204" pitchFamily="34" charset="0"/>
            </a:endParaRPr>
          </a:p>
        </p:txBody>
      </p:sp>
      <p:sp>
        <p:nvSpPr>
          <p:cNvPr id="2" name="Textfeld 1">
            <a:extLst>
              <a:ext uri="{FF2B5EF4-FFF2-40B4-BE49-F238E27FC236}">
                <a16:creationId xmlns:a16="http://schemas.microsoft.com/office/drawing/2014/main" id="{9E431BF7-E73B-C3F4-DD72-1668BB7C37AA}"/>
              </a:ext>
            </a:extLst>
          </p:cNvPr>
          <p:cNvSpPr txBox="1"/>
          <p:nvPr/>
        </p:nvSpPr>
        <p:spPr>
          <a:xfrm>
            <a:off x="407368" y="1628800"/>
            <a:ext cx="6196012" cy="2893100"/>
          </a:xfrm>
          <a:prstGeom prst="rect">
            <a:avLst/>
          </a:prstGeom>
          <a:noFill/>
        </p:spPr>
        <p:txBody>
          <a:bodyPr wrap="square">
            <a:spAutoFit/>
          </a:bodyPr>
          <a:lstStyle/>
          <a:p>
            <a:pPr>
              <a:buNone/>
            </a:pPr>
            <a:r>
              <a:rPr lang="de-DE" sz="1400">
                <a:latin typeface="Arial" panose="020B0604020202020204" pitchFamily="34" charset="0"/>
                <a:cs typeface="Arial" panose="020B0604020202020204" pitchFamily="34" charset="0"/>
              </a:rPr>
              <a:t>Punkt 1: tbd tbd</a:t>
            </a:r>
          </a:p>
          <a:p>
            <a:pPr>
              <a:buNone/>
            </a:pPr>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1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2</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3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p:txBody>
      </p:sp>
    </p:spTree>
    <p:extLst>
      <p:ext uri="{BB962C8B-B14F-4D97-AF65-F5344CB8AC3E}">
        <p14:creationId xmlns:p14="http://schemas.microsoft.com/office/powerpoint/2010/main" val="30426592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Foliennummernplatzhalter 5"/>
          <p:cNvSpPr>
            <a:spLocks noGrp="1"/>
          </p:cNvSpPr>
          <p:nvPr>
            <p:ph type="sldNum" sz="quarter" idx="12"/>
          </p:nvPr>
        </p:nvSpPr>
        <p:spPr>
          <a:xfrm>
            <a:off x="8832304" y="0"/>
            <a:ext cx="1628432" cy="368032"/>
          </a:xfrm>
        </p:spPr>
        <p:txBody>
          <a:bodyPr/>
          <a:lstStyle/>
          <a:p>
            <a:r>
              <a:rPr lang="de-DE">
                <a:latin typeface="Verdana" panose="020B0604030504040204" pitchFamily="34" charset="0"/>
                <a:ea typeface="Verdana" panose="020B0604030504040204" pitchFamily="34" charset="0"/>
                <a:cs typeface="Verdana" panose="020B0604030504040204" pitchFamily="34" charset="0"/>
              </a:rPr>
              <a:t>Seite </a:t>
            </a:r>
            <a:fld id="{538D1101-B71C-42C1-B823-1158DE9643FE}" type="slidenum">
              <a:rPr lang="de-DE" smtClean="0">
                <a:latin typeface="Verdana" panose="020B0604030504040204" pitchFamily="34" charset="0"/>
                <a:ea typeface="Verdana" panose="020B0604030504040204" pitchFamily="34" charset="0"/>
                <a:cs typeface="Verdana" panose="020B0604030504040204" pitchFamily="34" charset="0"/>
              </a:rPr>
              <a:t>11</a:t>
            </a:fld>
            <a:r>
              <a:rPr lang="de-DE">
                <a:latin typeface="Verdana" panose="020B0604030504040204" pitchFamily="34" charset="0"/>
                <a:ea typeface="Verdana" panose="020B0604030504040204" pitchFamily="34" charset="0"/>
                <a:cs typeface="Verdana" panose="020B0604030504040204" pitchFamily="34" charset="0"/>
              </a:rPr>
              <a:t> </a:t>
            </a:r>
          </a:p>
        </p:txBody>
      </p:sp>
      <p:graphicFrame>
        <p:nvGraphicFramePr>
          <p:cNvPr id="44" name="Tabelle 43"/>
          <p:cNvGraphicFramePr>
            <a:graphicFrameLocks noGrp="1"/>
          </p:cNvGraphicFramePr>
          <p:nvPr>
            <p:extLst>
              <p:ext uri="{D42A27DB-BD31-4B8C-83A1-F6EECF244321}">
                <p14:modId xmlns:p14="http://schemas.microsoft.com/office/powerpoint/2010/main" val="3219621214"/>
              </p:ext>
            </p:extLst>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dirty="0">
                        <a:solidFill>
                          <a:schemeClr val="bg1"/>
                        </a:solidFill>
                      </a:endParaRPr>
                    </a:p>
                  </a:txBody>
                  <a:tcPr>
                    <a:solidFill>
                      <a:srgbClr val="438086"/>
                    </a:solidFill>
                  </a:tcPr>
                </a:tc>
                <a:tc>
                  <a:txBody>
                    <a:bodyPr/>
                    <a:lstStyle/>
                    <a:p>
                      <a:endParaRPr kumimoji="0" lang="de-DE" sz="1600" b="1" kern="1200">
                        <a:solidFill>
                          <a:schemeClr val="bg1"/>
                        </a:solidFill>
                        <a:latin typeface="+mn-lt"/>
                        <a:ea typeface="+mn-ea"/>
                        <a:cs typeface="+mn-cs"/>
                      </a:endParaRPr>
                    </a:p>
                  </a:txBody>
                  <a:tcPr>
                    <a:solidFill>
                      <a:srgbClr val="438086"/>
                    </a:solidFill>
                  </a:tcPr>
                </a:tc>
                <a:tc>
                  <a:txBody>
                    <a:bodyPr/>
                    <a:lstStyle/>
                    <a:p>
                      <a:endParaRPr lang="de-DE" sz="1600" b="1" dirty="0">
                        <a:solidFill>
                          <a:schemeClr val="bg1"/>
                        </a:solidFill>
                      </a:endParaRPr>
                    </a:p>
                  </a:txBody>
                  <a:tcPr>
                    <a:solidFill>
                      <a:srgbClr val="438086"/>
                    </a:solidFill>
                  </a:tcPr>
                </a:tc>
                <a:tc>
                  <a:txBody>
                    <a:bodyPr/>
                    <a:lstStyle/>
                    <a:p>
                      <a:endParaRPr lang="de-DE" sz="1600" dirty="0">
                        <a:solidFill>
                          <a:schemeClr val="bg1"/>
                        </a:solidFill>
                      </a:endParaRPr>
                    </a:p>
                  </a:txBody>
                  <a:tcPr>
                    <a:solidFill>
                      <a:srgbClr val="438086"/>
                    </a:solidFill>
                  </a:tcPr>
                </a:tc>
                <a:tc>
                  <a:txBody>
                    <a:bodyPr/>
                    <a:lstStyle/>
                    <a:p>
                      <a:endParaRPr lang="de-DE" sz="1600" dirty="0">
                        <a:solidFill>
                          <a:schemeClr val="bg1"/>
                        </a:solidFill>
                      </a:endParaRPr>
                    </a:p>
                  </a:txBody>
                  <a:tcPr>
                    <a:solidFill>
                      <a:srgbClr val="FFC000"/>
                    </a:solidFill>
                  </a:tcPr>
                </a:tc>
                <a:tc>
                  <a:txBody>
                    <a:bodyPr/>
                    <a:lstStyle/>
                    <a:p>
                      <a:endParaRPr lang="de-DE" sz="1600">
                        <a:solidFill>
                          <a:schemeClr val="bg1"/>
                        </a:solidFill>
                      </a:endParaRPr>
                    </a:p>
                  </a:txBody>
                  <a:tcPr>
                    <a:solidFill>
                      <a:schemeClr val="bg1"/>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sp>
        <p:nvSpPr>
          <p:cNvPr id="10" name="Titel 1">
            <a:extLst>
              <a:ext uri="{FF2B5EF4-FFF2-40B4-BE49-F238E27FC236}">
                <a16:creationId xmlns:a16="http://schemas.microsoft.com/office/drawing/2014/main" id="{CC429978-3636-4B4A-B4C7-6C0315F97873}"/>
              </a:ext>
            </a:extLst>
          </p:cNvPr>
          <p:cNvSpPr txBox="1">
            <a:spLocks/>
          </p:cNvSpPr>
          <p:nvPr/>
        </p:nvSpPr>
        <p:spPr>
          <a:xfrm>
            <a:off x="0" y="476672"/>
            <a:ext cx="12191998" cy="576000"/>
          </a:xfrm>
          <a:prstGeom prst="rect">
            <a:avLst/>
          </a:prstGeom>
        </p:spPr>
        <p:txBody>
          <a:bodyPr vert="horz" anchor="ctr">
            <a:no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buNone/>
            </a:pPr>
            <a:r>
              <a:rPr lang="de-DE" sz="2000">
                <a:latin typeface="Arial" panose="020B0604020202020204" pitchFamily="34" charset="0"/>
                <a:cs typeface="Arial" panose="020B0604020202020204" pitchFamily="34" charset="0"/>
              </a:rPr>
              <a:t>5️⃣ </a:t>
            </a:r>
            <a:r>
              <a:rPr kumimoji="0" lang="de-DE" altLang="de-DE" sz="2000" b="1" i="0" u="none" strike="noStrike" cap="none" normalizeH="0" baseline="0">
                <a:ln>
                  <a:noFill/>
                </a:ln>
                <a:solidFill>
                  <a:schemeClr val="tx1"/>
                </a:solidFill>
                <a:effectLst/>
                <a:latin typeface="Arial" panose="020B0604020202020204" pitchFamily="34" charset="0"/>
              </a:rPr>
              <a:t>Punkt 5</a:t>
            </a:r>
            <a:endParaRPr lang="de-DE" sz="2000" b="1">
              <a:latin typeface="Arial" panose="020B0604020202020204" pitchFamily="34" charset="0"/>
              <a:cs typeface="Arial" panose="020B0604020202020204" pitchFamily="34" charset="0"/>
            </a:endParaRPr>
          </a:p>
        </p:txBody>
      </p:sp>
      <p:sp>
        <p:nvSpPr>
          <p:cNvPr id="2" name="Textfeld 1">
            <a:extLst>
              <a:ext uri="{FF2B5EF4-FFF2-40B4-BE49-F238E27FC236}">
                <a16:creationId xmlns:a16="http://schemas.microsoft.com/office/drawing/2014/main" id="{7599820A-AD65-BBB1-AB31-2372787A9443}"/>
              </a:ext>
            </a:extLst>
          </p:cNvPr>
          <p:cNvSpPr txBox="1"/>
          <p:nvPr/>
        </p:nvSpPr>
        <p:spPr>
          <a:xfrm>
            <a:off x="407368" y="1628800"/>
            <a:ext cx="6196012" cy="2893100"/>
          </a:xfrm>
          <a:prstGeom prst="rect">
            <a:avLst/>
          </a:prstGeom>
          <a:noFill/>
        </p:spPr>
        <p:txBody>
          <a:bodyPr wrap="square">
            <a:spAutoFit/>
          </a:bodyPr>
          <a:lstStyle/>
          <a:p>
            <a:pPr>
              <a:buNone/>
            </a:pPr>
            <a:r>
              <a:rPr lang="de-DE" sz="1400">
                <a:latin typeface="Arial" panose="020B0604020202020204" pitchFamily="34" charset="0"/>
                <a:cs typeface="Arial" panose="020B0604020202020204" pitchFamily="34" charset="0"/>
              </a:rPr>
              <a:t>Punkt 1: tbd tbd</a:t>
            </a:r>
          </a:p>
          <a:p>
            <a:pPr>
              <a:buNone/>
            </a:pPr>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1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2</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3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p:txBody>
      </p:sp>
    </p:spTree>
    <p:extLst>
      <p:ext uri="{BB962C8B-B14F-4D97-AF65-F5344CB8AC3E}">
        <p14:creationId xmlns:p14="http://schemas.microsoft.com/office/powerpoint/2010/main" val="27774355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nummernplatzhalter 5"/>
          <p:cNvSpPr>
            <a:spLocks noGrp="1"/>
          </p:cNvSpPr>
          <p:nvPr>
            <p:ph type="sldNum" sz="quarter" idx="12"/>
          </p:nvPr>
        </p:nvSpPr>
        <p:spPr>
          <a:xfrm>
            <a:off x="8688288" y="0"/>
            <a:ext cx="1772448" cy="368032"/>
          </a:xfrm>
        </p:spPr>
        <p:txBody>
          <a:bodyPr/>
          <a:lstStyle/>
          <a:p>
            <a:r>
              <a:rPr lang="de-DE">
                <a:latin typeface="Verdana" panose="020B0604030504040204" pitchFamily="34" charset="0"/>
                <a:ea typeface="Verdana" panose="020B0604030504040204" pitchFamily="34" charset="0"/>
                <a:cs typeface="Verdana" panose="020B0604030504040204" pitchFamily="34" charset="0"/>
              </a:rPr>
              <a:t>Seite </a:t>
            </a:r>
            <a:fld id="{538D1101-B71C-42C1-B823-1158DE9643FE}" type="slidenum">
              <a:rPr lang="de-DE" smtClean="0">
                <a:latin typeface="Verdana" panose="020B0604030504040204" pitchFamily="34" charset="0"/>
                <a:ea typeface="Verdana" panose="020B0604030504040204" pitchFamily="34" charset="0"/>
                <a:cs typeface="Verdana" panose="020B0604030504040204" pitchFamily="34" charset="0"/>
              </a:rPr>
              <a:t>12</a:t>
            </a:fld>
            <a:endParaRPr lang="de-DE">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8" name="Tabelle 7"/>
          <p:cNvGraphicFramePr>
            <a:graphicFrameLocks noGrp="1"/>
          </p:cNvGraphicFramePr>
          <p:nvPr>
            <p:extLst>
              <p:ext uri="{D42A27DB-BD31-4B8C-83A1-F6EECF244321}">
                <p14:modId xmlns:p14="http://schemas.microsoft.com/office/powerpoint/2010/main" val="461619535"/>
              </p:ext>
            </p:extLst>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dirty="0">
                        <a:solidFill>
                          <a:schemeClr val="bg1"/>
                        </a:solidFill>
                      </a:endParaRPr>
                    </a:p>
                  </a:txBody>
                  <a:tcPr>
                    <a:solidFill>
                      <a:srgbClr val="438086"/>
                    </a:solidFill>
                  </a:tcPr>
                </a:tc>
                <a:tc>
                  <a:txBody>
                    <a:bodyPr/>
                    <a:lstStyle/>
                    <a:p>
                      <a:endParaRPr lang="de-DE" sz="1600">
                        <a:solidFill>
                          <a:schemeClr val="bg1"/>
                        </a:solidFill>
                      </a:endParaRPr>
                    </a:p>
                  </a:txBody>
                  <a:tcPr>
                    <a:solidFill>
                      <a:srgbClr val="438086"/>
                    </a:solidFill>
                  </a:tcPr>
                </a:tc>
                <a:tc>
                  <a:txBody>
                    <a:bodyPr/>
                    <a:lstStyle/>
                    <a:p>
                      <a:endParaRPr lang="de-DE" sz="1600">
                        <a:solidFill>
                          <a:schemeClr val="bg1"/>
                        </a:solidFill>
                      </a:endParaRPr>
                    </a:p>
                  </a:txBody>
                  <a:tcPr>
                    <a:solidFill>
                      <a:srgbClr val="438086"/>
                    </a:solidFill>
                  </a:tcPr>
                </a:tc>
                <a:tc>
                  <a:txBody>
                    <a:bodyPr/>
                    <a:lstStyle/>
                    <a:p>
                      <a:endParaRPr lang="de-DE" sz="1600">
                        <a:solidFill>
                          <a:schemeClr val="bg1"/>
                        </a:solidFill>
                      </a:endParaRPr>
                    </a:p>
                  </a:txBody>
                  <a:tcPr>
                    <a:solidFill>
                      <a:srgbClr val="438086"/>
                    </a:solidFill>
                  </a:tcPr>
                </a:tc>
                <a:tc>
                  <a:txBody>
                    <a:bodyPr/>
                    <a:lstStyle/>
                    <a:p>
                      <a:endParaRPr lang="de-DE" sz="1600">
                        <a:solidFill>
                          <a:schemeClr val="bg1"/>
                        </a:solidFill>
                      </a:endParaRPr>
                    </a:p>
                  </a:txBody>
                  <a:tcPr>
                    <a:solidFill>
                      <a:srgbClr val="438086"/>
                    </a:solidFill>
                  </a:tcPr>
                </a:tc>
                <a:tc>
                  <a:txBody>
                    <a:bodyPr/>
                    <a:lstStyle/>
                    <a:p>
                      <a:endParaRPr lang="de-DE" sz="1600">
                        <a:solidFill>
                          <a:schemeClr val="bg1"/>
                        </a:solidFill>
                      </a:endParaRPr>
                    </a:p>
                  </a:txBody>
                  <a:tcPr>
                    <a:solidFill>
                      <a:srgbClr val="FFC000"/>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sp>
        <p:nvSpPr>
          <p:cNvPr id="10" name="Titel 1">
            <a:extLst>
              <a:ext uri="{FF2B5EF4-FFF2-40B4-BE49-F238E27FC236}">
                <a16:creationId xmlns:a16="http://schemas.microsoft.com/office/drawing/2014/main" id="{AD18ADAA-B318-9D41-A82D-BC6358346B90}"/>
              </a:ext>
            </a:extLst>
          </p:cNvPr>
          <p:cNvSpPr txBox="1">
            <a:spLocks/>
          </p:cNvSpPr>
          <p:nvPr/>
        </p:nvSpPr>
        <p:spPr>
          <a:xfrm>
            <a:off x="0" y="476672"/>
            <a:ext cx="12191998" cy="576000"/>
          </a:xfrm>
          <a:prstGeom prst="rect">
            <a:avLst/>
          </a:prstGeom>
        </p:spPr>
        <p:txBody>
          <a:bodyPr vert="horz" anchor="ctr">
            <a:no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buNone/>
            </a:pPr>
            <a:r>
              <a:rPr lang="de-DE" sz="2000">
                <a:latin typeface="Arial" panose="020B0604020202020204" pitchFamily="34" charset="0"/>
                <a:cs typeface="Arial" panose="020B0604020202020204" pitchFamily="34" charset="0"/>
              </a:rPr>
              <a:t>6️⃣ </a:t>
            </a:r>
            <a:r>
              <a:rPr kumimoji="0" lang="de-DE" altLang="de-DE" sz="2000" b="1" i="0" u="none" strike="noStrike" cap="none" normalizeH="0" baseline="0">
                <a:ln>
                  <a:noFill/>
                </a:ln>
                <a:solidFill>
                  <a:schemeClr val="tx1"/>
                </a:solidFill>
                <a:effectLst/>
                <a:latin typeface="Arial" panose="020B0604020202020204" pitchFamily="34" charset="0"/>
              </a:rPr>
              <a:t>Punkt 6 - Glossar</a:t>
            </a:r>
            <a:endParaRPr lang="de-DE" sz="2000" b="1">
              <a:latin typeface="Arial" panose="020B0604020202020204" pitchFamily="34" charset="0"/>
              <a:cs typeface="Arial" panose="020B0604020202020204" pitchFamily="34" charset="0"/>
            </a:endParaRPr>
          </a:p>
        </p:txBody>
      </p:sp>
      <p:sp>
        <p:nvSpPr>
          <p:cNvPr id="2" name="Textfeld 1">
            <a:extLst>
              <a:ext uri="{FF2B5EF4-FFF2-40B4-BE49-F238E27FC236}">
                <a16:creationId xmlns:a16="http://schemas.microsoft.com/office/drawing/2014/main" id="{010B89CF-0B5E-B430-BD36-EB4867F7A460}"/>
              </a:ext>
            </a:extLst>
          </p:cNvPr>
          <p:cNvSpPr txBox="1"/>
          <p:nvPr/>
        </p:nvSpPr>
        <p:spPr>
          <a:xfrm>
            <a:off x="407368" y="1628800"/>
            <a:ext cx="6196012" cy="2893100"/>
          </a:xfrm>
          <a:prstGeom prst="rect">
            <a:avLst/>
          </a:prstGeom>
          <a:noFill/>
        </p:spPr>
        <p:txBody>
          <a:bodyPr wrap="square">
            <a:spAutoFit/>
          </a:bodyPr>
          <a:lstStyle/>
          <a:p>
            <a:pPr>
              <a:buNone/>
            </a:pPr>
            <a:r>
              <a:rPr lang="de-DE" sz="1400">
                <a:latin typeface="Arial" panose="020B0604020202020204" pitchFamily="34" charset="0"/>
                <a:cs typeface="Arial" panose="020B0604020202020204" pitchFamily="34" charset="0"/>
              </a:rPr>
              <a:t>Punkt 1: tbd tbd</a:t>
            </a:r>
          </a:p>
          <a:p>
            <a:pPr>
              <a:buNone/>
            </a:pPr>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1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2</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3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p:txBody>
      </p:sp>
    </p:spTree>
    <p:extLst>
      <p:ext uri="{BB962C8B-B14F-4D97-AF65-F5344CB8AC3E}">
        <p14:creationId xmlns:p14="http://schemas.microsoft.com/office/powerpoint/2010/main" val="23973183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ED0F4-4372-B66D-1A10-2416551B9EB6}"/>
            </a:ext>
          </a:extLst>
        </p:cNvPr>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63312E76-11BB-D989-1B05-E696C46B3653}"/>
              </a:ext>
            </a:extLst>
          </p:cNvPr>
          <p:cNvSpPr>
            <a:spLocks noGrp="1"/>
          </p:cNvSpPr>
          <p:nvPr>
            <p:ph type="sldNum" sz="quarter" idx="12"/>
          </p:nvPr>
        </p:nvSpPr>
        <p:spPr>
          <a:xfrm>
            <a:off x="8688288" y="0"/>
            <a:ext cx="1772448" cy="368032"/>
          </a:xfrm>
        </p:spPr>
        <p:txBody>
          <a:bodyPr/>
          <a:lstStyle/>
          <a:p>
            <a:r>
              <a:rPr lang="de-DE">
                <a:latin typeface="Verdana" panose="020B0604030504040204" pitchFamily="34" charset="0"/>
                <a:ea typeface="Verdana" panose="020B0604030504040204" pitchFamily="34" charset="0"/>
                <a:cs typeface="Verdana" panose="020B0604030504040204" pitchFamily="34" charset="0"/>
              </a:rPr>
              <a:t>Seite </a:t>
            </a:r>
            <a:fld id="{538D1101-B71C-42C1-B823-1158DE9643FE}" type="slidenum">
              <a:rPr lang="de-DE" smtClean="0">
                <a:latin typeface="Verdana" panose="020B0604030504040204" pitchFamily="34" charset="0"/>
                <a:ea typeface="Verdana" panose="020B0604030504040204" pitchFamily="34" charset="0"/>
                <a:cs typeface="Verdana" panose="020B0604030504040204" pitchFamily="34" charset="0"/>
              </a:rPr>
              <a:t>13</a:t>
            </a:fld>
            <a:endParaRPr lang="de-DE">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8" name="Tabelle 7">
            <a:extLst>
              <a:ext uri="{FF2B5EF4-FFF2-40B4-BE49-F238E27FC236}">
                <a16:creationId xmlns:a16="http://schemas.microsoft.com/office/drawing/2014/main" id="{74556CF9-839B-085F-F325-1E8D1B26354C}"/>
              </a:ext>
            </a:extLst>
          </p:cNvPr>
          <p:cNvGraphicFramePr>
            <a:graphicFrameLocks noGrp="1"/>
          </p:cNvGraphicFramePr>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dirty="0">
                        <a:solidFill>
                          <a:schemeClr val="bg1"/>
                        </a:solidFill>
                      </a:endParaRPr>
                    </a:p>
                  </a:txBody>
                  <a:tcPr>
                    <a:solidFill>
                      <a:srgbClr val="438086"/>
                    </a:solidFill>
                  </a:tcPr>
                </a:tc>
                <a:tc>
                  <a:txBody>
                    <a:bodyPr/>
                    <a:lstStyle/>
                    <a:p>
                      <a:endParaRPr lang="de-DE" sz="1600">
                        <a:solidFill>
                          <a:schemeClr val="bg1"/>
                        </a:solidFill>
                      </a:endParaRPr>
                    </a:p>
                  </a:txBody>
                  <a:tcPr>
                    <a:solidFill>
                      <a:srgbClr val="438086"/>
                    </a:solidFill>
                  </a:tcPr>
                </a:tc>
                <a:tc>
                  <a:txBody>
                    <a:bodyPr/>
                    <a:lstStyle/>
                    <a:p>
                      <a:endParaRPr lang="de-DE" sz="1600">
                        <a:solidFill>
                          <a:schemeClr val="bg1"/>
                        </a:solidFill>
                      </a:endParaRPr>
                    </a:p>
                  </a:txBody>
                  <a:tcPr>
                    <a:solidFill>
                      <a:srgbClr val="438086"/>
                    </a:solidFill>
                  </a:tcPr>
                </a:tc>
                <a:tc>
                  <a:txBody>
                    <a:bodyPr/>
                    <a:lstStyle/>
                    <a:p>
                      <a:endParaRPr lang="de-DE" sz="1600">
                        <a:solidFill>
                          <a:schemeClr val="bg1"/>
                        </a:solidFill>
                      </a:endParaRPr>
                    </a:p>
                  </a:txBody>
                  <a:tcPr>
                    <a:solidFill>
                      <a:srgbClr val="438086"/>
                    </a:solidFill>
                  </a:tcPr>
                </a:tc>
                <a:tc>
                  <a:txBody>
                    <a:bodyPr/>
                    <a:lstStyle/>
                    <a:p>
                      <a:endParaRPr lang="de-DE" sz="1600">
                        <a:solidFill>
                          <a:schemeClr val="bg1"/>
                        </a:solidFill>
                      </a:endParaRPr>
                    </a:p>
                  </a:txBody>
                  <a:tcPr>
                    <a:solidFill>
                      <a:srgbClr val="438086"/>
                    </a:solidFill>
                  </a:tcPr>
                </a:tc>
                <a:tc>
                  <a:txBody>
                    <a:bodyPr/>
                    <a:lstStyle/>
                    <a:p>
                      <a:endParaRPr lang="de-DE" sz="1600">
                        <a:solidFill>
                          <a:schemeClr val="bg1"/>
                        </a:solidFill>
                      </a:endParaRPr>
                    </a:p>
                  </a:txBody>
                  <a:tcPr>
                    <a:solidFill>
                      <a:srgbClr val="FFC000"/>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sp>
        <p:nvSpPr>
          <p:cNvPr id="10" name="Titel 1">
            <a:extLst>
              <a:ext uri="{FF2B5EF4-FFF2-40B4-BE49-F238E27FC236}">
                <a16:creationId xmlns:a16="http://schemas.microsoft.com/office/drawing/2014/main" id="{D04B19B7-8AAF-DCE6-E3F0-D5F93D60482D}"/>
              </a:ext>
            </a:extLst>
          </p:cNvPr>
          <p:cNvSpPr txBox="1">
            <a:spLocks/>
          </p:cNvSpPr>
          <p:nvPr/>
        </p:nvSpPr>
        <p:spPr>
          <a:xfrm>
            <a:off x="0" y="476672"/>
            <a:ext cx="12191998" cy="576000"/>
          </a:xfrm>
          <a:prstGeom prst="rect">
            <a:avLst/>
          </a:prstGeom>
        </p:spPr>
        <p:txBody>
          <a:bodyPr vert="horz" anchor="ctr">
            <a:no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buNone/>
            </a:pPr>
            <a:r>
              <a:rPr lang="de-DE" sz="2000">
                <a:latin typeface="Arial" panose="020B0604020202020204" pitchFamily="34" charset="0"/>
                <a:cs typeface="Arial" panose="020B0604020202020204" pitchFamily="34" charset="0"/>
              </a:rPr>
              <a:t>6️⃣ </a:t>
            </a:r>
            <a:r>
              <a:rPr kumimoji="0" lang="de-DE" altLang="de-DE" sz="2000" b="1" i="0" u="none" strike="noStrike" cap="none" normalizeH="0" baseline="0">
                <a:ln>
                  <a:noFill/>
                </a:ln>
                <a:solidFill>
                  <a:schemeClr val="tx1"/>
                </a:solidFill>
                <a:effectLst/>
                <a:latin typeface="Arial" panose="020B0604020202020204" pitchFamily="34" charset="0"/>
              </a:rPr>
              <a:t>Punkt 6 - Glossar</a:t>
            </a:r>
            <a:endParaRPr lang="de-DE" sz="2000" b="1">
              <a:latin typeface="Arial" panose="020B0604020202020204" pitchFamily="34" charset="0"/>
              <a:cs typeface="Arial" panose="020B0604020202020204" pitchFamily="34" charset="0"/>
            </a:endParaRPr>
          </a:p>
        </p:txBody>
      </p:sp>
      <p:sp>
        <p:nvSpPr>
          <p:cNvPr id="2" name="Textfeld 1">
            <a:extLst>
              <a:ext uri="{FF2B5EF4-FFF2-40B4-BE49-F238E27FC236}">
                <a16:creationId xmlns:a16="http://schemas.microsoft.com/office/drawing/2014/main" id="{975678AA-AAD9-A2A2-C60A-9560CE7BA222}"/>
              </a:ext>
            </a:extLst>
          </p:cNvPr>
          <p:cNvSpPr txBox="1"/>
          <p:nvPr/>
        </p:nvSpPr>
        <p:spPr>
          <a:xfrm>
            <a:off x="407368" y="1628800"/>
            <a:ext cx="6196012" cy="2893100"/>
          </a:xfrm>
          <a:prstGeom prst="rect">
            <a:avLst/>
          </a:prstGeom>
          <a:noFill/>
        </p:spPr>
        <p:txBody>
          <a:bodyPr wrap="square">
            <a:spAutoFit/>
          </a:bodyPr>
          <a:lstStyle/>
          <a:p>
            <a:pPr>
              <a:buNone/>
            </a:pPr>
            <a:r>
              <a:rPr lang="de-DE" sz="1400">
                <a:latin typeface="Arial" panose="020B0604020202020204" pitchFamily="34" charset="0"/>
                <a:cs typeface="Arial" panose="020B0604020202020204" pitchFamily="34" charset="0"/>
              </a:rPr>
              <a:t>Punkt 1: tbd tbd</a:t>
            </a:r>
          </a:p>
          <a:p>
            <a:pPr>
              <a:buNone/>
            </a:pPr>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1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2</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3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p:txBody>
      </p:sp>
    </p:spTree>
    <p:extLst>
      <p:ext uri="{BB962C8B-B14F-4D97-AF65-F5344CB8AC3E}">
        <p14:creationId xmlns:p14="http://schemas.microsoft.com/office/powerpoint/2010/main" val="17068732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B6A20-C653-61A4-8926-19FAA9E68C00}"/>
            </a:ext>
          </a:extLst>
        </p:cNvPr>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8BA61458-3868-3731-884D-0B0210615194}"/>
              </a:ext>
            </a:extLst>
          </p:cNvPr>
          <p:cNvSpPr>
            <a:spLocks noGrp="1"/>
          </p:cNvSpPr>
          <p:nvPr>
            <p:ph type="sldNum" sz="quarter" idx="12"/>
          </p:nvPr>
        </p:nvSpPr>
        <p:spPr>
          <a:xfrm>
            <a:off x="8688288" y="0"/>
            <a:ext cx="1772448" cy="368032"/>
          </a:xfrm>
        </p:spPr>
        <p:txBody>
          <a:bodyPr/>
          <a:lstStyle/>
          <a:p>
            <a:r>
              <a:rPr lang="de-DE">
                <a:latin typeface="Verdana" panose="020B0604030504040204" pitchFamily="34" charset="0"/>
                <a:ea typeface="Verdana" panose="020B0604030504040204" pitchFamily="34" charset="0"/>
                <a:cs typeface="Verdana" panose="020B0604030504040204" pitchFamily="34" charset="0"/>
              </a:rPr>
              <a:t>Seite </a:t>
            </a:r>
            <a:fld id="{538D1101-B71C-42C1-B823-1158DE9643FE}" type="slidenum">
              <a:rPr lang="de-DE" smtClean="0">
                <a:latin typeface="Verdana" panose="020B0604030504040204" pitchFamily="34" charset="0"/>
                <a:ea typeface="Verdana" panose="020B0604030504040204" pitchFamily="34" charset="0"/>
                <a:cs typeface="Verdana" panose="020B0604030504040204" pitchFamily="34" charset="0"/>
              </a:rPr>
              <a:t>14</a:t>
            </a:fld>
            <a:endParaRPr lang="de-DE">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8" name="Tabelle 7">
            <a:extLst>
              <a:ext uri="{FF2B5EF4-FFF2-40B4-BE49-F238E27FC236}">
                <a16:creationId xmlns:a16="http://schemas.microsoft.com/office/drawing/2014/main" id="{DCFAF724-E9A8-35B7-7367-BDEDF1DF9048}"/>
              </a:ext>
            </a:extLst>
          </p:cNvPr>
          <p:cNvGraphicFramePr>
            <a:graphicFrameLocks noGrp="1"/>
          </p:cNvGraphicFramePr>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dirty="0">
                        <a:solidFill>
                          <a:schemeClr val="bg1"/>
                        </a:solidFill>
                      </a:endParaRPr>
                    </a:p>
                  </a:txBody>
                  <a:tcPr>
                    <a:solidFill>
                      <a:srgbClr val="438086"/>
                    </a:solidFill>
                  </a:tcPr>
                </a:tc>
                <a:tc>
                  <a:txBody>
                    <a:bodyPr/>
                    <a:lstStyle/>
                    <a:p>
                      <a:endParaRPr lang="de-DE" sz="1600">
                        <a:solidFill>
                          <a:schemeClr val="bg1"/>
                        </a:solidFill>
                      </a:endParaRPr>
                    </a:p>
                  </a:txBody>
                  <a:tcPr>
                    <a:solidFill>
                      <a:srgbClr val="438086"/>
                    </a:solidFill>
                  </a:tcPr>
                </a:tc>
                <a:tc>
                  <a:txBody>
                    <a:bodyPr/>
                    <a:lstStyle/>
                    <a:p>
                      <a:endParaRPr lang="de-DE" sz="1600">
                        <a:solidFill>
                          <a:schemeClr val="bg1"/>
                        </a:solidFill>
                      </a:endParaRPr>
                    </a:p>
                  </a:txBody>
                  <a:tcPr>
                    <a:solidFill>
                      <a:srgbClr val="438086"/>
                    </a:solidFill>
                  </a:tcPr>
                </a:tc>
                <a:tc>
                  <a:txBody>
                    <a:bodyPr/>
                    <a:lstStyle/>
                    <a:p>
                      <a:endParaRPr lang="de-DE" sz="1600">
                        <a:solidFill>
                          <a:schemeClr val="bg1"/>
                        </a:solidFill>
                      </a:endParaRPr>
                    </a:p>
                  </a:txBody>
                  <a:tcPr>
                    <a:solidFill>
                      <a:srgbClr val="438086"/>
                    </a:solidFill>
                  </a:tcPr>
                </a:tc>
                <a:tc>
                  <a:txBody>
                    <a:bodyPr/>
                    <a:lstStyle/>
                    <a:p>
                      <a:endParaRPr lang="de-DE" sz="1600">
                        <a:solidFill>
                          <a:schemeClr val="bg1"/>
                        </a:solidFill>
                      </a:endParaRPr>
                    </a:p>
                  </a:txBody>
                  <a:tcPr>
                    <a:solidFill>
                      <a:srgbClr val="438086"/>
                    </a:solidFill>
                  </a:tcPr>
                </a:tc>
                <a:tc>
                  <a:txBody>
                    <a:bodyPr/>
                    <a:lstStyle/>
                    <a:p>
                      <a:endParaRPr lang="de-DE" sz="1600">
                        <a:solidFill>
                          <a:schemeClr val="bg1"/>
                        </a:solidFill>
                      </a:endParaRPr>
                    </a:p>
                  </a:txBody>
                  <a:tcPr>
                    <a:solidFill>
                      <a:srgbClr val="FFC000"/>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sp>
        <p:nvSpPr>
          <p:cNvPr id="10" name="Titel 1">
            <a:extLst>
              <a:ext uri="{FF2B5EF4-FFF2-40B4-BE49-F238E27FC236}">
                <a16:creationId xmlns:a16="http://schemas.microsoft.com/office/drawing/2014/main" id="{A8D8FCED-C635-D171-9D1C-CF5EE04344FD}"/>
              </a:ext>
            </a:extLst>
          </p:cNvPr>
          <p:cNvSpPr txBox="1">
            <a:spLocks/>
          </p:cNvSpPr>
          <p:nvPr/>
        </p:nvSpPr>
        <p:spPr>
          <a:xfrm>
            <a:off x="0" y="476672"/>
            <a:ext cx="12191998" cy="576000"/>
          </a:xfrm>
          <a:prstGeom prst="rect">
            <a:avLst/>
          </a:prstGeom>
        </p:spPr>
        <p:txBody>
          <a:bodyPr vert="horz" anchor="ctr">
            <a:no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buNone/>
            </a:pPr>
            <a:r>
              <a:rPr lang="de-DE" sz="2000">
                <a:latin typeface="Arial" panose="020B0604020202020204" pitchFamily="34" charset="0"/>
                <a:cs typeface="Arial" panose="020B0604020202020204" pitchFamily="34" charset="0"/>
              </a:rPr>
              <a:t>6️⃣ </a:t>
            </a:r>
            <a:r>
              <a:rPr kumimoji="0" lang="de-DE" altLang="de-DE" sz="2000" b="1" i="0" u="none" strike="noStrike" cap="none" normalizeH="0" baseline="0">
                <a:ln>
                  <a:noFill/>
                </a:ln>
                <a:solidFill>
                  <a:schemeClr val="tx1"/>
                </a:solidFill>
                <a:effectLst/>
                <a:latin typeface="Arial" panose="020B0604020202020204" pitchFamily="34" charset="0"/>
              </a:rPr>
              <a:t>Punkt 6 - Glossar</a:t>
            </a:r>
            <a:endParaRPr lang="de-DE" sz="2000" b="1">
              <a:latin typeface="Arial" panose="020B0604020202020204" pitchFamily="34" charset="0"/>
              <a:cs typeface="Arial" panose="020B0604020202020204" pitchFamily="34" charset="0"/>
            </a:endParaRPr>
          </a:p>
        </p:txBody>
      </p:sp>
      <p:sp>
        <p:nvSpPr>
          <p:cNvPr id="2" name="Textfeld 1">
            <a:extLst>
              <a:ext uri="{FF2B5EF4-FFF2-40B4-BE49-F238E27FC236}">
                <a16:creationId xmlns:a16="http://schemas.microsoft.com/office/drawing/2014/main" id="{1D60C47C-DD3F-BBA3-50AF-BA2C9B44CE82}"/>
              </a:ext>
            </a:extLst>
          </p:cNvPr>
          <p:cNvSpPr txBox="1"/>
          <p:nvPr/>
        </p:nvSpPr>
        <p:spPr>
          <a:xfrm>
            <a:off x="407368" y="1628800"/>
            <a:ext cx="6196012" cy="2893100"/>
          </a:xfrm>
          <a:prstGeom prst="rect">
            <a:avLst/>
          </a:prstGeom>
          <a:noFill/>
        </p:spPr>
        <p:txBody>
          <a:bodyPr wrap="square">
            <a:spAutoFit/>
          </a:bodyPr>
          <a:lstStyle/>
          <a:p>
            <a:pPr>
              <a:buNone/>
            </a:pPr>
            <a:r>
              <a:rPr lang="de-DE" sz="1400">
                <a:latin typeface="Arial" panose="020B0604020202020204" pitchFamily="34" charset="0"/>
                <a:cs typeface="Arial" panose="020B0604020202020204" pitchFamily="34" charset="0"/>
              </a:rPr>
              <a:t>Punkt 1: tbd tbd</a:t>
            </a:r>
          </a:p>
          <a:p>
            <a:pPr>
              <a:buNone/>
            </a:pPr>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1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2</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3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p:txBody>
      </p:sp>
    </p:spTree>
    <p:extLst>
      <p:ext uri="{BB962C8B-B14F-4D97-AF65-F5344CB8AC3E}">
        <p14:creationId xmlns:p14="http://schemas.microsoft.com/office/powerpoint/2010/main" val="14738611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Rhea">
  <a:themeElements>
    <a:clrScheme name="Rhea">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Rhea">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Rhea">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0</TotalTime>
  <Words>1334</Words>
  <Application>Microsoft Office PowerPoint</Application>
  <PresentationFormat>Breitbild</PresentationFormat>
  <Paragraphs>255</Paragraphs>
  <Slides>14</Slides>
  <Notes>6</Notes>
  <HiddenSlides>0</HiddenSlides>
  <MMClips>0</MMClips>
  <ScaleCrop>false</ScaleCrop>
  <HeadingPairs>
    <vt:vector size="6" baseType="variant">
      <vt:variant>
        <vt:lpstr>Verwendete Schriftarten</vt:lpstr>
      </vt:variant>
      <vt:variant>
        <vt:i4>7</vt:i4>
      </vt:variant>
      <vt:variant>
        <vt:lpstr>Design</vt:lpstr>
      </vt:variant>
      <vt:variant>
        <vt:i4>1</vt:i4>
      </vt:variant>
      <vt:variant>
        <vt:lpstr>Folientitel</vt:lpstr>
      </vt:variant>
      <vt:variant>
        <vt:i4>14</vt:i4>
      </vt:variant>
    </vt:vector>
  </HeadingPairs>
  <TitlesOfParts>
    <vt:vector size="22" baseType="lpstr">
      <vt:lpstr>Arial</vt:lpstr>
      <vt:lpstr>Calibri</vt:lpstr>
      <vt:lpstr>Georgia</vt:lpstr>
      <vt:lpstr>Trebuchet MS</vt:lpstr>
      <vt:lpstr>Verdana</vt:lpstr>
      <vt:lpstr>Wingdings</vt:lpstr>
      <vt:lpstr>Wingdings 2</vt:lpstr>
      <vt:lpstr>Rhea</vt:lpstr>
      <vt:lpstr>PowerPoint-Präsentation</vt:lpstr>
      <vt:lpstr>PowerPoint-Präsentation</vt:lpstr>
      <vt:lpstr>1️⃣ Ausgangslage - Mediennutzung und Barrierefreiheit</vt:lpstr>
      <vt:lpstr>1️⃣ Ausgangslage - Stand der Wissenschaft und technologischer Fortschritt​</vt:lpstr>
      <vt:lpstr>2️⃣ Data Pipeline - Eingabe &amp; Vorverarbeitung</vt:lpstr>
      <vt:lpstr>2️⃣ Data Pipeline - Visuelle Analyse &amp; Beschreibung</vt:lpstr>
      <vt:lpstr>2️⃣ Data Pipeline - Ausgabe, Evaluation &amp; Optimierung</vt:lpstr>
      <vt:lpstr>3️⃣ Punkt 3 – Heatmap möglicher Modelle</vt:lpstr>
      <vt:lpstr>3️⃣ Punkt 3 – Prozess und Modell</vt:lpstr>
      <vt:lpstr>PowerPoint-Präsentation</vt:lpstr>
      <vt:lpstr>PowerPoint-Präsentation</vt:lpstr>
      <vt:lpstr>PowerPoint-Präsentation</vt:lpstr>
      <vt:lpstr>PowerPoint-Präsentation</vt:lpstr>
      <vt:lpstr>PowerPoint-Präsentation</vt:lpstr>
    </vt:vector>
  </TitlesOfParts>
  <Company>Elster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Balczukat, Phil</dc:creator>
  <cp:lastModifiedBy>Dietmar Ysop</cp:lastModifiedBy>
  <cp:revision>442</cp:revision>
  <dcterms:created xsi:type="dcterms:W3CDTF">2012-01-31T07:49:28Z</dcterms:created>
  <dcterms:modified xsi:type="dcterms:W3CDTF">2025-04-27T14:11:55Z</dcterms:modified>
</cp:coreProperties>
</file>